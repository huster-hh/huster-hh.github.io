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7" r:id="rId12"/>
    <p:sldId id="269" r:id="rId13"/>
    <p:sldId id="268" r:id="rId14"/>
    <p:sldId id="270" r:id="rId15"/>
    <p:sldId id="271" r:id="rId16"/>
    <p:sldId id="272" r:id="rId17"/>
    <p:sldId id="273" r:id="rId18"/>
    <p:sldId id="274" r:id="rId19"/>
    <p:sldId id="275" r:id="rId20"/>
    <p:sldId id="276" r:id="rId21"/>
    <p:sldId id="277" r:id="rId22"/>
    <p:sldId id="278" r:id="rId23"/>
    <p:sldId id="279" r:id="rId24"/>
    <p:sldId id="280"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zixuan" initials="wz" lastIdx="1" clrIdx="0">
    <p:extLst>
      <p:ext uri="{19B8F6BF-5375-455C-9EA6-DF929625EA0E}">
        <p15:presenceInfo xmlns:p15="http://schemas.microsoft.com/office/powerpoint/2012/main" userId="08da07bdbb4e51a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FBFBF"/>
    <a:srgbClr val="2F5597"/>
    <a:srgbClr val="FFE699"/>
    <a:srgbClr val="BF9000"/>
    <a:srgbClr val="FFF2CC"/>
    <a:srgbClr val="8FAADC"/>
    <a:srgbClr val="DAE3F3"/>
    <a:srgbClr val="2B6DA9"/>
    <a:srgbClr val="D7DFEF"/>
    <a:srgbClr val="B4C7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492" autoAdjust="0"/>
  </p:normalViewPr>
  <p:slideViewPr>
    <p:cSldViewPr snapToGrid="0">
      <p:cViewPr varScale="1">
        <p:scale>
          <a:sx n="59" d="100"/>
          <a:sy n="59" d="100"/>
        </p:scale>
        <p:origin x="921"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86A74B-90B4-49B3-8540-9DCC25687AD4}" type="datetimeFigureOut">
              <a:rPr lang="zh-CN" altLang="en-US" smtClean="0"/>
              <a:t>2026/4/22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16F632-9E5A-4BCB-8828-44EC5B8D49D6}" type="slidenum">
              <a:rPr lang="zh-CN" altLang="en-US" smtClean="0"/>
              <a:t>‹#›</a:t>
            </a:fld>
            <a:endParaRPr lang="zh-CN" altLang="en-US"/>
          </a:p>
        </p:txBody>
      </p:sp>
    </p:spTree>
    <p:extLst>
      <p:ext uri="{BB962C8B-B14F-4D97-AF65-F5344CB8AC3E}">
        <p14:creationId xmlns:p14="http://schemas.microsoft.com/office/powerpoint/2010/main" val="2547682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Good morning everyone. I’m Zixuan Wang from Huazhong University of Science and Technology.</a:t>
            </a:r>
          </a:p>
          <a:p>
            <a:r>
              <a:rPr lang="en-US" altLang="zh-CN" dirty="0"/>
              <a:t>Today, I am going to present our research on </a:t>
            </a:r>
            <a:r>
              <a:rPr lang="en-US" altLang="zh-CN" sz="1200" dirty="0">
                <a:latin typeface="Calibri" panose="020F0502020204030204" pitchFamily="34" charset="0"/>
                <a:ea typeface="Calibri" panose="020F0502020204030204" pitchFamily="34" charset="0"/>
                <a:cs typeface="Calibri" panose="020F0502020204030204" pitchFamily="34" charset="0"/>
              </a:rPr>
              <a:t>Achieving Hierarchical Fault Tolerance in Distributed shared memory Through Atomic Execution Protection</a:t>
            </a:r>
            <a:r>
              <a:rPr lang="en-US" altLang="zh-CN" dirty="0"/>
              <a:t>.</a:t>
            </a: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1</a:t>
            </a:fld>
            <a:endParaRPr lang="zh-CN" altLang="en-US"/>
          </a:p>
        </p:txBody>
      </p:sp>
    </p:spTree>
    <p:extLst>
      <p:ext uri="{BB962C8B-B14F-4D97-AF65-F5344CB8AC3E}">
        <p14:creationId xmlns:p14="http://schemas.microsoft.com/office/powerpoint/2010/main" val="1923502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traditional cross-node data sharing systems, data typically goes through multiple copies as well as serialization and deserialization. This introduces significant overhead and leads to high latency. With CXL type 3, however, we gain a cache-coherent memory sharing mechanism, which makes cross-node shared data structures practical. Under this model, Clients on different machines can directly communicate through the DSM. Overall, CXL 3.0 shifts distributed shared memory from being merely feasible to being truly efficient, providing a powerful new infrastructure foundation for building cross-node systems.</a:t>
            </a:r>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3</a:t>
            </a:fld>
            <a:endParaRPr lang="zh-CN" altLang="en-US"/>
          </a:p>
        </p:txBody>
      </p:sp>
    </p:spTree>
    <p:extLst>
      <p:ext uri="{BB962C8B-B14F-4D97-AF65-F5344CB8AC3E}">
        <p14:creationId xmlns:p14="http://schemas.microsoft.com/office/powerpoint/2010/main" val="754465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然而，</a:t>
            </a:r>
            <a:r>
              <a:rPr lang="en-US" altLang="zh-CN" dirty="0"/>
              <a:t>DSM</a:t>
            </a:r>
            <a:r>
              <a:rPr lang="zh-CN" altLang="en-US" dirty="0"/>
              <a:t>内存管理系统面临部分错误挑战，当多个</a:t>
            </a:r>
            <a:r>
              <a:rPr lang="en-US" altLang="zh-CN" dirty="0"/>
              <a:t>client</a:t>
            </a:r>
            <a:r>
              <a:rPr lang="zh-CN" altLang="en-US" dirty="0"/>
              <a:t>共享一个内存分配器时，</a:t>
            </a:r>
            <a:r>
              <a:rPr lang="en-US" altLang="zh-CN" dirty="0"/>
              <a:t>client</a:t>
            </a:r>
            <a:r>
              <a:rPr lang="zh-CN" altLang="en-US" dirty="0"/>
              <a:t>的任意崩溃就会导致内存分配器内部状态损坏，考虑上图的这样一种情况：当</a:t>
            </a:r>
            <a:r>
              <a:rPr lang="en-US" altLang="zh-CN" dirty="0"/>
              <a:t>client 1</a:t>
            </a:r>
            <a:r>
              <a:rPr lang="zh-CN" altLang="en-US" dirty="0"/>
              <a:t>进行内存分配时，其需要查找</a:t>
            </a:r>
            <a:r>
              <a:rPr lang="en-US" altLang="zh-CN" dirty="0" err="1"/>
              <a:t>freelist</a:t>
            </a:r>
            <a:r>
              <a:rPr lang="en-US" altLang="zh-CN" dirty="0"/>
              <a:t>,</a:t>
            </a:r>
            <a:r>
              <a:rPr lang="zh-CN" altLang="en-US" dirty="0"/>
              <a:t>由于多个</a:t>
            </a:r>
            <a:r>
              <a:rPr lang="en-US" altLang="zh-CN" dirty="0"/>
              <a:t>client</a:t>
            </a:r>
            <a:r>
              <a:rPr lang="zh-CN" altLang="en-US" dirty="0"/>
              <a:t>的内存分配可能同时进行，因此</a:t>
            </a:r>
            <a:r>
              <a:rPr lang="en-US" altLang="zh-CN" dirty="0" err="1"/>
              <a:t>freelist</a:t>
            </a:r>
            <a:r>
              <a:rPr lang="zh-CN" altLang="en-US" dirty="0"/>
              <a:t>需要进行锁等同步原语进行控制，当</a:t>
            </a:r>
            <a:r>
              <a:rPr lang="en-US" altLang="zh-CN" dirty="0"/>
              <a:t>client 1</a:t>
            </a:r>
            <a:r>
              <a:rPr lang="zh-CN" altLang="en-US" dirty="0"/>
              <a:t>在持锁期间被</a:t>
            </a:r>
            <a:r>
              <a:rPr lang="en-US" altLang="zh-CN" dirty="0"/>
              <a:t>OS </a:t>
            </a:r>
            <a:r>
              <a:rPr lang="zh-CN" altLang="en-US" dirty="0"/>
              <a:t>终止执行，那么该锁将无人释放，因此造成系统全局死锁。同样的问题也会造成内存分配器元数据更新不一致，从而导致系统崩溃。</a:t>
            </a:r>
            <a:endParaRPr lang="en-US" altLang="zh-CN" dirty="0"/>
          </a:p>
          <a:p>
            <a:endParaRPr lang="en-US" altLang="zh-CN" dirty="0"/>
          </a:p>
          <a:p>
            <a:r>
              <a:rPr lang="en-US" altLang="zh-CN" dirty="0"/>
              <a:t>However, DSM memory management faces a critical challenge under partial failures. When multiple clients share a single memory allocator, the crash of any client can corrupt the allocator’s internal state.</a:t>
            </a:r>
          </a:p>
          <a:p>
            <a:r>
              <a:rPr lang="en-US" altLang="zh-CN" dirty="0"/>
              <a:t>Consider this example: when Client 1 performs a memory allocation, it must traverse the </a:t>
            </a:r>
            <a:r>
              <a:rPr lang="en-US" altLang="zh-CN" dirty="0" err="1"/>
              <a:t>freelist</a:t>
            </a:r>
            <a:r>
              <a:rPr lang="en-US" altLang="zh-CN" dirty="0"/>
              <a:t>, which is protected by locks due to concurrent access. If Client 1 is terminated by the OS while holding the lock, the lock is never released, leading to a global deadlock.</a:t>
            </a:r>
          </a:p>
          <a:p>
            <a:r>
              <a:rPr lang="en-US" altLang="zh-CN" dirty="0"/>
              <a:t>Similar issues arise during metadata updates,</a:t>
            </a:r>
            <a:r>
              <a:rPr lang="zh-CN" altLang="en-US" dirty="0"/>
              <a:t> </a:t>
            </a:r>
            <a:r>
              <a:rPr lang="en-US" altLang="zh-CN" dirty="0"/>
              <a:t>and</a:t>
            </a:r>
            <a:r>
              <a:rPr lang="zh-CN" altLang="en-US" dirty="0"/>
              <a:t> </a:t>
            </a:r>
            <a:r>
              <a:rPr lang="en-US" altLang="zh-CN" dirty="0"/>
              <a:t>unexpected client failures can leave the allocator in an inconsistent state, ultimately causing system-wide crashes.</a:t>
            </a: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4</a:t>
            </a:fld>
            <a:endParaRPr lang="zh-CN" altLang="en-US"/>
          </a:p>
        </p:txBody>
      </p:sp>
    </p:spTree>
    <p:extLst>
      <p:ext uri="{BB962C8B-B14F-4D97-AF65-F5344CB8AC3E}">
        <p14:creationId xmlns:p14="http://schemas.microsoft.com/office/powerpoint/2010/main" val="3586643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针对这个问题，现有研究主要通过三类方案来解决</a:t>
            </a:r>
            <a:r>
              <a:rPr lang="zh-CN" altLang="en-US" dirty="0">
                <a:sym typeface="Wingdings" panose="05000000000000000000" pitchFamily="2" charset="2"/>
              </a:rPr>
              <a:t>：第一种方法从分布式应用的工作流入手，针对预先固定工作流为每一个</a:t>
            </a:r>
            <a:r>
              <a:rPr lang="en-US" altLang="zh-CN" dirty="0">
                <a:sym typeface="Wingdings" panose="05000000000000000000" pitchFamily="2" charset="2"/>
              </a:rPr>
              <a:t>client</a:t>
            </a:r>
            <a:r>
              <a:rPr lang="zh-CN" altLang="en-US" dirty="0">
                <a:sym typeface="Wingdings" panose="05000000000000000000" pitchFamily="2" charset="2"/>
              </a:rPr>
              <a:t>定制专属内存通信信道，当</a:t>
            </a:r>
            <a:r>
              <a:rPr lang="en-US" altLang="zh-CN" dirty="0">
                <a:sym typeface="Wingdings" panose="05000000000000000000" pitchFamily="2" charset="2"/>
              </a:rPr>
              <a:t>client</a:t>
            </a:r>
            <a:r>
              <a:rPr lang="zh-CN" altLang="en-US" dirty="0">
                <a:sym typeface="Wingdings" panose="05000000000000000000" pitchFamily="2" charset="2"/>
              </a:rPr>
              <a:t>失败，系统仅需将相关的固定信道销毁即可，这样的系统无法面对复杂多变的工作流</a:t>
            </a:r>
            <a:endParaRPr lang="en-US" altLang="zh-CN" dirty="0">
              <a:sym typeface="Wingdings" panose="05000000000000000000" pitchFamily="2" charset="2"/>
            </a:endParaRPr>
          </a:p>
          <a:p>
            <a:endParaRPr lang="en-US" altLang="zh-CN" dirty="0">
              <a:sym typeface="Wingdings" panose="05000000000000000000" pitchFamily="2" charset="2"/>
            </a:endParaRPr>
          </a:p>
          <a:p>
            <a:r>
              <a:rPr lang="zh-CN" altLang="en-US" dirty="0">
                <a:sym typeface="Wingdings" panose="05000000000000000000" pitchFamily="2" charset="2"/>
              </a:rPr>
              <a:t>第二种方案采用基于日志的阻塞式恢复算法，当死锁发生时，系统需要等待恢复进程开始工作并基于日志进行恢复，因此会引入全局停顿问题</a:t>
            </a:r>
            <a:endParaRPr lang="en-US" altLang="zh-CN" dirty="0">
              <a:sym typeface="Wingdings" panose="05000000000000000000" pitchFamily="2" charset="2"/>
            </a:endParaRPr>
          </a:p>
          <a:p>
            <a:endParaRPr lang="en-US" altLang="zh-CN" dirty="0">
              <a:sym typeface="Wingdings" panose="05000000000000000000" pitchFamily="2" charset="2"/>
            </a:endParaRPr>
          </a:p>
          <a:p>
            <a:r>
              <a:rPr lang="zh-CN" altLang="en-US" dirty="0">
                <a:sym typeface="Wingdings" panose="05000000000000000000" pitchFamily="2" charset="2"/>
              </a:rPr>
              <a:t>第三种方案采用基于时代矩阵的分布式事务算法，在保证无锁的同时，通过日志确保了内存管理关键步骤的原子性，但是这也在内存分配的关键路径引入了多次内存屏障与</a:t>
            </a:r>
            <a:r>
              <a:rPr lang="en-US" altLang="zh-CN" dirty="0">
                <a:sym typeface="Wingdings" panose="05000000000000000000" pitchFamily="2" charset="2"/>
              </a:rPr>
              <a:t>cache flush</a:t>
            </a:r>
            <a:r>
              <a:rPr lang="zh-CN" altLang="en-US" dirty="0">
                <a:sym typeface="Wingdings" panose="05000000000000000000" pitchFamily="2" charset="2"/>
              </a:rPr>
              <a:t>指令，经过我们的测量，这部分的开销占据内存分配总开销的</a:t>
            </a:r>
            <a:r>
              <a:rPr lang="en-US" altLang="zh-CN" dirty="0">
                <a:sym typeface="Wingdings" panose="05000000000000000000" pitchFamily="2" charset="2"/>
              </a:rPr>
              <a:t>49.86%</a:t>
            </a:r>
            <a:r>
              <a:rPr lang="zh-CN" altLang="en-US" dirty="0">
                <a:sym typeface="Wingdings" panose="05000000000000000000" pitchFamily="2" charset="2"/>
              </a:rPr>
              <a:t>以上</a:t>
            </a:r>
            <a:endParaRPr lang="en-US" altLang="zh-CN" dirty="0">
              <a:sym typeface="Wingdings" panose="05000000000000000000" pitchFamily="2" charset="2"/>
            </a:endParaRPr>
          </a:p>
          <a:p>
            <a:endParaRPr lang="en-US" altLang="zh-CN" dirty="0">
              <a:sym typeface="Wingdings" panose="05000000000000000000" pitchFamily="2" charset="2"/>
            </a:endParaRPr>
          </a:p>
          <a:p>
            <a:r>
              <a:rPr lang="zh-CN" altLang="en-US" dirty="0">
                <a:sym typeface="Wingdings" panose="05000000000000000000" pitchFamily="2" charset="2"/>
              </a:rPr>
              <a:t>因此，尽管</a:t>
            </a:r>
            <a:r>
              <a:rPr lang="en-US" altLang="zh-CN" dirty="0">
                <a:sym typeface="Wingdings" panose="05000000000000000000" pitchFamily="2" charset="2"/>
              </a:rPr>
              <a:t>DSM</a:t>
            </a:r>
            <a:r>
              <a:rPr lang="zh-CN" altLang="en-US" dirty="0">
                <a:sym typeface="Wingdings" panose="05000000000000000000" pitchFamily="2" charset="2"/>
              </a:rPr>
              <a:t>系统可以降低数据传递开销，但是软件管理开销极大</a:t>
            </a:r>
            <a:endParaRPr lang="en-US" altLang="zh-CN" dirty="0">
              <a:sym typeface="Wingdings" panose="05000000000000000000" pitchFamily="2" charset="2"/>
            </a:endParaRPr>
          </a:p>
          <a:p>
            <a:endParaRPr lang="en-US" altLang="zh-CN" dirty="0">
              <a:sym typeface="Wingdings" panose="05000000000000000000" pitchFamily="2" charset="2"/>
            </a:endParaRPr>
          </a:p>
          <a:p>
            <a:endParaRPr lang="en-US" altLang="zh-CN" dirty="0">
              <a:sym typeface="Wingdings" panose="05000000000000000000" pitchFamily="2" charset="2"/>
            </a:endParaRPr>
          </a:p>
          <a:p>
            <a:r>
              <a:rPr lang="en-US" altLang="zh-CN" dirty="0"/>
              <a:t>Existing work mainly tackles this problem with three classes of approaches.</a:t>
            </a:r>
          </a:p>
          <a:p>
            <a:r>
              <a:rPr lang="en-US" altLang="zh-CN" dirty="0"/>
              <a:t>The first designs around the application workflow. It predefines workflows and assigns each client a dedicated memory communication channel. When a client fails, the system simply tears down the corresponding channel. However, this approach does not generalize well to dynamic and complex workloads.</a:t>
            </a:r>
          </a:p>
          <a:p>
            <a:r>
              <a:rPr lang="en-US" altLang="zh-CN" dirty="0"/>
              <a:t>The second relies on log-based, blocking recovery. When a deadlock occurs, the system must pause and wait for a recovery process to replay logs, which introduces global stalls.</a:t>
            </a:r>
          </a:p>
          <a:p>
            <a:r>
              <a:rPr lang="en-US" altLang="zh-CN" dirty="0"/>
              <a:t>The third adopts era-based distributed transactions. It achieves lock-free execution and ensures atomicity via logging, but at the cost of multiple memory fences and cache flushes on the critical path of allocation. Our measurements show that this overhead accounts for more than 49.86% of total allocation cost.</a:t>
            </a:r>
          </a:p>
          <a:p>
            <a:r>
              <a:rPr lang="en-US" altLang="zh-CN" dirty="0"/>
              <a:t>As a result, while DSM reduces data movement overhead, it incurs substantial software management overhead.</a:t>
            </a:r>
          </a:p>
          <a:p>
            <a:endParaRPr lang="en-US" altLang="zh-CN" dirty="0">
              <a:sym typeface="Wingdings" panose="05000000000000000000" pitchFamily="2" charset="2"/>
            </a:endParaRPr>
          </a:p>
          <a:p>
            <a:endParaRPr lang="en-US" altLang="zh-CN" dirty="0">
              <a:sym typeface="Wingdings" panose="05000000000000000000" pitchFamily="2" charset="2"/>
            </a:endParaRP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5</a:t>
            </a:fld>
            <a:endParaRPr lang="zh-CN" altLang="en-US"/>
          </a:p>
        </p:txBody>
      </p:sp>
    </p:spTree>
    <p:extLst>
      <p:ext uri="{BB962C8B-B14F-4D97-AF65-F5344CB8AC3E}">
        <p14:creationId xmlns:p14="http://schemas.microsoft.com/office/powerpoint/2010/main" val="4225415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ts val="2400"/>
              </a:lnSpc>
            </a:pPr>
            <a:r>
              <a:rPr lang="zh-CN" altLang="en-US" dirty="0"/>
              <a:t>我们发现，在多个机器组成的</a:t>
            </a:r>
            <a:r>
              <a:rPr lang="en-US" altLang="zh-CN" dirty="0"/>
              <a:t>DSM</a:t>
            </a:r>
            <a:r>
              <a:rPr lang="zh-CN" altLang="en-US" dirty="0"/>
              <a:t>系统种，复杂的分布式一致性算法仅需要在跨机状态同步时需要，但是现有的</a:t>
            </a:r>
            <a:r>
              <a:rPr lang="en-US" altLang="zh-CN" dirty="0"/>
              <a:t>DSM</a:t>
            </a:r>
            <a:r>
              <a:rPr lang="zh-CN" altLang="en-US" dirty="0"/>
              <a:t>内存分配算法都采用扁平化的错误域模型，这意味着这些系统将每一个</a:t>
            </a:r>
            <a:r>
              <a:rPr lang="en-US" altLang="zh-CN" dirty="0"/>
              <a:t>client</a:t>
            </a:r>
            <a:r>
              <a:rPr lang="zh-CN" altLang="en-US" dirty="0"/>
              <a:t>当作一个独立的机器，因此，即便是两个</a:t>
            </a:r>
            <a:r>
              <a:rPr lang="en-US" altLang="zh-CN" dirty="0"/>
              <a:t>client</a:t>
            </a:r>
            <a:r>
              <a:rPr lang="zh-CN" altLang="en-US" dirty="0"/>
              <a:t>处于同一个机器上，现有方案仍然需要非常重的分布式事务进行状态容错。而现如今，现代集群调度通常具有亲和性，当多个</a:t>
            </a:r>
            <a:r>
              <a:rPr lang="en-US" altLang="zh-CN" dirty="0"/>
              <a:t>client</a:t>
            </a:r>
            <a:r>
              <a:rPr lang="zh-CN" altLang="en-US" dirty="0"/>
              <a:t>经常相互协作时，调度算法倾向于将他们调度到同一个节点以此降低通讯开销，因此，</a:t>
            </a:r>
            <a:r>
              <a:rPr lang="en-US" altLang="zh-CN" sz="1200" dirty="0">
                <a:solidFill>
                  <a:srgbClr val="FF0000"/>
                </a:solidFill>
                <a:latin typeface="Calibri" panose="020F0502020204030204" pitchFamily="34" charset="0"/>
                <a:ea typeface="Calibri" panose="020F0502020204030204" pitchFamily="34" charset="0"/>
                <a:cs typeface="Calibri" panose="020F0502020204030204" pitchFamily="34" charset="0"/>
              </a:rPr>
              <a:t>Can we exploit intra-node locality to enable fast, fine-grained management? </a:t>
            </a:r>
          </a:p>
          <a:p>
            <a:pPr>
              <a:lnSpc>
                <a:spcPts val="2400"/>
              </a:lnSpc>
            </a:pPr>
            <a:endParaRPr lang="en-US" altLang="zh-CN" sz="12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r>
              <a:rPr lang="en-US" altLang="zh-CN" sz="1600" dirty="0"/>
              <a:t>We observe that in DSM systems spanning multiple machines, complex distributed consistency protocols are only necessary for cross-node state synchronization. However, existing DSM allocators adopt a flat failure-domain model, treating each client as an independent machine.</a:t>
            </a:r>
          </a:p>
          <a:p>
            <a:r>
              <a:rPr lang="en-US" altLang="zh-CN" sz="1600" dirty="0"/>
              <a:t>As a result, even clients co-located on the same node still rely on heavyweight distributed transactions for fault tolerance.</a:t>
            </a:r>
          </a:p>
          <a:p>
            <a:r>
              <a:rPr lang="en-US" altLang="zh-CN" sz="1600" dirty="0"/>
              <a:t>However, in practice, modern cluster schedulers often exploit affinity: clients that frequently interact are likely to be co-located on the same node to reduce communication overhead.</a:t>
            </a:r>
          </a:p>
          <a:p>
            <a:r>
              <a:rPr lang="en-US" altLang="zh-CN" sz="1600" dirty="0"/>
              <a:t>This raises a key question: can we exploit intra-node locality to enable fast, fine-grained memory management?</a:t>
            </a:r>
          </a:p>
          <a:p>
            <a:pPr>
              <a:lnSpc>
                <a:spcPts val="2400"/>
              </a:lnSpc>
            </a:pPr>
            <a:endParaRPr lang="zh-CN" altLang="en-US" sz="1100" dirty="0">
              <a:solidFill>
                <a:srgbClr val="FF0000"/>
              </a:solidFill>
              <a:latin typeface="Calibri" panose="020F0502020204030204" pitchFamily="34" charset="0"/>
              <a:cs typeface="Calibri" panose="020F0502020204030204" pitchFamily="34" charset="0"/>
            </a:endParaRP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6</a:t>
            </a:fld>
            <a:endParaRPr lang="zh-CN" altLang="en-US"/>
          </a:p>
        </p:txBody>
      </p:sp>
    </p:spTree>
    <p:extLst>
      <p:ext uri="{BB962C8B-B14F-4D97-AF65-F5344CB8AC3E}">
        <p14:creationId xmlns:p14="http://schemas.microsoft.com/office/powerpoint/2010/main" val="3441912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想要实现这一点，我们就必须要找到一种能够在单节点内部容忍部分错误的机制，该机制需要比现有的</a:t>
            </a:r>
            <a:r>
              <a:rPr lang="en-US" altLang="zh-CN" dirty="0"/>
              <a:t>era-based</a:t>
            </a:r>
            <a:r>
              <a:rPr lang="zh-CN" altLang="en-US" dirty="0"/>
              <a:t>分布式事务算法更加的高效，以此在节点内分配</a:t>
            </a:r>
            <a:r>
              <a:rPr lang="en-US" altLang="zh-CN" dirty="0"/>
              <a:t>/</a:t>
            </a:r>
            <a:r>
              <a:rPr lang="zh-CN" altLang="en-US" dirty="0"/>
              <a:t>通信时构建快速路径，但遗憾的是，没有现有工作在该方向上进行探索。</a:t>
            </a:r>
            <a:endParaRPr lang="en-US" altLang="zh-CN" dirty="0"/>
          </a:p>
          <a:p>
            <a:endParaRPr lang="en-US" altLang="zh-CN" dirty="0"/>
          </a:p>
          <a:p>
            <a:endParaRPr lang="en-US" altLang="zh-CN" dirty="0"/>
          </a:p>
          <a:p>
            <a:r>
              <a:rPr lang="en-US" altLang="zh-CN" dirty="0"/>
              <a:t>To achieve this, we need a mechanism that can tolerate partial failures within a single node. Such a mechanism must be significantly more efficient than existing era-based distributed transaction approaches, enabling a fast path for intra-node allocation and communication.</a:t>
            </a:r>
          </a:p>
          <a:p>
            <a:r>
              <a:rPr lang="en-US" altLang="zh-CN" dirty="0"/>
              <a:t>Unfortunately, this direction remains largely unexplored by existing work.</a:t>
            </a: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7</a:t>
            </a:fld>
            <a:endParaRPr lang="zh-CN" altLang="en-US"/>
          </a:p>
        </p:txBody>
      </p:sp>
    </p:spTree>
    <p:extLst>
      <p:ext uri="{BB962C8B-B14F-4D97-AF65-F5344CB8AC3E}">
        <p14:creationId xmlns:p14="http://schemas.microsoft.com/office/powerpoint/2010/main" val="3006550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为了解决这个问题，我们将目光放到了内核，我们发现，内核地址空间本身就是一种共享内存，其被单个机器内部的多个进程共享，内核内部也具有大量的元数据例如</a:t>
            </a:r>
            <a:r>
              <a:rPr lang="en-US" altLang="zh-CN" dirty="0" err="1"/>
              <a:t>inode</a:t>
            </a:r>
            <a:r>
              <a:rPr lang="zh-CN" altLang="en-US" dirty="0"/>
              <a:t>，</a:t>
            </a:r>
            <a:r>
              <a:rPr lang="en-US" altLang="zh-CN" dirty="0" err="1"/>
              <a:t>hashtable</a:t>
            </a:r>
            <a:r>
              <a:rPr lang="zh-CN" altLang="en-US" dirty="0"/>
              <a:t>，</a:t>
            </a:r>
            <a:r>
              <a:rPr lang="en-US" altLang="zh-CN" dirty="0" err="1"/>
              <a:t>pagetable</a:t>
            </a:r>
            <a:r>
              <a:rPr lang="zh-CN" altLang="en-US" dirty="0"/>
              <a:t>等等，那么，内核是怎么防止部分错误问题发生的呢？</a:t>
            </a:r>
            <a:endParaRPr lang="en-US" altLang="zh-CN" dirty="0"/>
          </a:p>
          <a:p>
            <a:endParaRPr lang="en-US" altLang="zh-CN" dirty="0"/>
          </a:p>
          <a:p>
            <a:r>
              <a:rPr lang="zh-CN" altLang="en-US" dirty="0"/>
              <a:t>我们发现，内核采用了一种“延迟终止”的机制，当外部终止信号到来时，内核会短暂的忽略这个信号，直到本次内核流程执行完毕即将退出内核时，内核才会真正结束当前进程，这个机制十分简洁高效，其无需任何的日志等操作。</a:t>
            </a:r>
            <a:endParaRPr lang="en-US" altLang="zh-CN" dirty="0"/>
          </a:p>
          <a:p>
            <a:endParaRPr lang="en-US" altLang="zh-CN" dirty="0"/>
          </a:p>
          <a:p>
            <a:r>
              <a:rPr lang="zh-CN" altLang="en-US" dirty="0"/>
              <a:t>因此，我们将内核的思路迁移到用户态，并提出</a:t>
            </a:r>
            <a:r>
              <a:rPr lang="en-US" altLang="zh-CN" dirty="0"/>
              <a:t>atomic execution protection</a:t>
            </a:r>
            <a:r>
              <a:rPr lang="zh-CN" altLang="en-US" dirty="0"/>
              <a:t>机制，这是一个内核原语，其可以保证用户态的某一段关键代码要么不执行，要么完全执行完整，内核不会在执行到一半的时候终止进程。</a:t>
            </a:r>
            <a:endParaRPr lang="en-US" altLang="zh-CN" dirty="0"/>
          </a:p>
          <a:p>
            <a:endParaRPr lang="en-US" altLang="zh-CN" dirty="0"/>
          </a:p>
          <a:p>
            <a:r>
              <a:rPr lang="zh-CN" altLang="en-US" dirty="0"/>
              <a:t>基于这个机制，我们可以在单节点内部为</a:t>
            </a:r>
            <a:r>
              <a:rPr lang="en-US" altLang="zh-CN" dirty="0"/>
              <a:t>DSM</a:t>
            </a:r>
            <a:r>
              <a:rPr lang="zh-CN" altLang="en-US" dirty="0"/>
              <a:t>内存管理提供快速路径，</a:t>
            </a:r>
            <a:r>
              <a:rPr lang="en-US" altLang="zh-CN" dirty="0"/>
              <a:t>AEP</a:t>
            </a:r>
            <a:r>
              <a:rPr lang="zh-CN" altLang="en-US" dirty="0"/>
              <a:t>机制会保证单节点内部单次函数的调用，例如</a:t>
            </a:r>
            <a:r>
              <a:rPr lang="en-US" altLang="zh-CN" dirty="0"/>
              <a:t>malloc free</a:t>
            </a:r>
            <a:r>
              <a:rPr lang="zh-CN" altLang="en-US" dirty="0"/>
              <a:t>，</a:t>
            </a:r>
            <a:r>
              <a:rPr lang="en-US" altLang="zh-CN" dirty="0"/>
              <a:t>send</a:t>
            </a:r>
            <a:r>
              <a:rPr lang="zh-CN" altLang="en-US" dirty="0"/>
              <a:t>等等完整执行，因此无需任何内存屏障、</a:t>
            </a:r>
            <a:r>
              <a:rPr lang="en-US" altLang="zh-CN" dirty="0"/>
              <a:t>cache</a:t>
            </a:r>
            <a:r>
              <a:rPr lang="zh-CN" altLang="en-US" dirty="0"/>
              <a:t>刷新等容错相关操作。</a:t>
            </a:r>
            <a:endParaRPr lang="en-US" altLang="zh-CN" dirty="0"/>
          </a:p>
          <a:p>
            <a:endParaRPr lang="en-US" altLang="zh-CN" dirty="0"/>
          </a:p>
          <a:p>
            <a:endParaRPr lang="en-US" altLang="zh-CN" dirty="0"/>
          </a:p>
          <a:p>
            <a:endParaRPr lang="en-US" altLang="zh-CN" dirty="0"/>
          </a:p>
          <a:p>
            <a:r>
              <a:rPr lang="en-US" altLang="zh-CN" dirty="0"/>
              <a:t>To address this challenge, we turn to the OS kernel. The kernel address space is essentially shared memory across processes on a single node, and it maintains rich metadata structures such as </a:t>
            </a:r>
            <a:r>
              <a:rPr lang="en-US" altLang="zh-CN" dirty="0" err="1"/>
              <a:t>inodes</a:t>
            </a:r>
            <a:r>
              <a:rPr lang="en-US" altLang="zh-CN" dirty="0"/>
              <a:t>, hash tables, and page tables. This naturally raises the question: how does the kernel tolerate partial failures?</a:t>
            </a:r>
          </a:p>
          <a:p>
            <a:r>
              <a:rPr lang="en-US" altLang="zh-CN" dirty="0"/>
              <a:t>We find that the kernel relies on a simple yet effective mechanism, which is called </a:t>
            </a:r>
            <a:r>
              <a:rPr lang="en-US" altLang="zh-CN" b="1" dirty="0"/>
              <a:t>deferred termination</a:t>
            </a:r>
            <a:r>
              <a:rPr lang="en-US" altLang="zh-CN" dirty="0"/>
              <a:t>. When a kill signal arrives, the kernel temporarily defers handling it until the current kernel execution path completes. Only when the control flow is about to return to user space does the kernel actually terminate the process. This design avoids partial updates without requiring logging.</a:t>
            </a:r>
          </a:p>
          <a:p>
            <a:r>
              <a:rPr lang="en-US" altLang="zh-CN" dirty="0"/>
              <a:t>Inspired by this, we bring the idea to user space and propose </a:t>
            </a:r>
            <a:r>
              <a:rPr lang="en-US" altLang="zh-CN" b="1" dirty="0"/>
              <a:t>Atomic Execution Protection (AEP)</a:t>
            </a:r>
            <a:r>
              <a:rPr lang="en-US" altLang="zh-CN" dirty="0"/>
              <a:t>. AEP is a kernel primitive that guarantees a critical user-level code region either does not execute at all or runs to completion—preventing mid-execution termination.</a:t>
            </a:r>
          </a:p>
          <a:p>
            <a:r>
              <a:rPr lang="en-US" altLang="zh-CN" dirty="0"/>
              <a:t>With AEP, we enable a fast path for intra-node DSM memory management. Operations such as malloc, free, and send can complete atomically within a node, eliminating the need for memory fences, cache flushes, or other fault-tolerance overheads on the critical path.</a:t>
            </a: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9</a:t>
            </a:fld>
            <a:endParaRPr lang="zh-CN" altLang="en-US"/>
          </a:p>
        </p:txBody>
      </p:sp>
    </p:spTree>
    <p:extLst>
      <p:ext uri="{BB962C8B-B14F-4D97-AF65-F5344CB8AC3E}">
        <p14:creationId xmlns:p14="http://schemas.microsoft.com/office/powerpoint/2010/main" val="2940040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本图为</a:t>
            </a:r>
            <a:r>
              <a:rPr lang="en-US" altLang="zh-CN" dirty="0"/>
              <a:t>AEP</a:t>
            </a:r>
            <a:r>
              <a:rPr lang="zh-CN" altLang="en-US" dirty="0"/>
              <a:t>基本架构，我们开辟了一块地址空间用于运行受</a:t>
            </a:r>
            <a:r>
              <a:rPr lang="en-US" altLang="zh-CN" dirty="0"/>
              <a:t>AEP</a:t>
            </a:r>
            <a:r>
              <a:rPr lang="zh-CN" altLang="en-US" dirty="0"/>
              <a:t>保护的程序，受保护的程序需要被加载进入这个地址空间，之后，应用可以通过调用位于</a:t>
            </a:r>
            <a:r>
              <a:rPr lang="en-US" altLang="zh-CN" dirty="0"/>
              <a:t>AEP</a:t>
            </a:r>
            <a:r>
              <a:rPr lang="zh-CN" altLang="en-US" dirty="0"/>
              <a:t>空间的函数来执行</a:t>
            </a:r>
            <a:r>
              <a:rPr lang="en-US" altLang="zh-CN" dirty="0"/>
              <a:t>malloc</a:t>
            </a:r>
            <a:r>
              <a:rPr lang="zh-CN" altLang="en-US" dirty="0"/>
              <a:t>，</a:t>
            </a:r>
            <a:r>
              <a:rPr lang="en-US" altLang="zh-CN" dirty="0"/>
              <a:t>free</a:t>
            </a:r>
            <a:r>
              <a:rPr lang="zh-CN" altLang="en-US" dirty="0"/>
              <a:t>等操作，这些操作函数因为受到</a:t>
            </a:r>
            <a:r>
              <a:rPr lang="en-US" altLang="zh-CN" dirty="0"/>
              <a:t>AEP</a:t>
            </a:r>
            <a:r>
              <a:rPr lang="zh-CN" altLang="en-US" dirty="0"/>
              <a:t>保护，因此都可以保证完整性与原子性。基于</a:t>
            </a:r>
            <a:r>
              <a:rPr lang="en-US" altLang="zh-CN" dirty="0"/>
              <a:t>AEP</a:t>
            </a:r>
            <a:r>
              <a:rPr lang="zh-CN" altLang="en-US" dirty="0"/>
              <a:t>的目标，</a:t>
            </a:r>
            <a:r>
              <a:rPr lang="en-US" altLang="zh-CN" dirty="0"/>
              <a:t>AEP</a:t>
            </a:r>
            <a:r>
              <a:rPr lang="zh-CN" altLang="en-US" dirty="0"/>
              <a:t>由图中的三个部分组成，分别对应</a:t>
            </a:r>
            <a:r>
              <a:rPr lang="en-US" altLang="zh-CN" dirty="0"/>
              <a:t>AEP</a:t>
            </a:r>
            <a:r>
              <a:rPr lang="zh-CN" altLang="en-US" dirty="0"/>
              <a:t>面临的三个挑战，首先，如何高效的让内核准确的感知用户态一个调用的开始与结束？这对应了</a:t>
            </a:r>
            <a:r>
              <a:rPr lang="en-US" altLang="zh-CN" dirty="0"/>
              <a:t>context</a:t>
            </a:r>
            <a:r>
              <a:rPr lang="zh-CN" altLang="en-US" dirty="0"/>
              <a:t>管理，其次，内存分配器需要在同一个租户的多个</a:t>
            </a:r>
            <a:r>
              <a:rPr lang="en-US" altLang="zh-CN" dirty="0"/>
              <a:t>client</a:t>
            </a:r>
            <a:r>
              <a:rPr lang="zh-CN" altLang="en-US" dirty="0"/>
              <a:t>之间进行共享，并同时保证租户间隔离，如何实现高效的隔离与共享？这对应</a:t>
            </a:r>
            <a:r>
              <a:rPr lang="en-US" altLang="zh-CN" dirty="0"/>
              <a:t>AEP </a:t>
            </a:r>
            <a:r>
              <a:rPr lang="zh-CN" altLang="en-US" dirty="0"/>
              <a:t>地址空间管理，最后，用户如何基于</a:t>
            </a:r>
            <a:r>
              <a:rPr lang="en-US" altLang="zh-CN" dirty="0"/>
              <a:t>AEP</a:t>
            </a:r>
            <a:r>
              <a:rPr lang="zh-CN" altLang="en-US" dirty="0"/>
              <a:t>构建自己的内存分配器？如何方便的使用</a:t>
            </a:r>
            <a:r>
              <a:rPr lang="en-US" altLang="zh-CN" dirty="0"/>
              <a:t>AEP</a:t>
            </a:r>
            <a:r>
              <a:rPr lang="zh-CN" altLang="en-US" dirty="0"/>
              <a:t>机制？</a:t>
            </a:r>
            <a:r>
              <a:rPr lang="en-US" altLang="zh-CN" dirty="0"/>
              <a:t>AEP</a:t>
            </a:r>
            <a:r>
              <a:rPr lang="zh-CN" altLang="en-US" dirty="0"/>
              <a:t>程序如何运行？这部分对应</a:t>
            </a:r>
            <a:r>
              <a:rPr lang="en-US" altLang="zh-CN" dirty="0"/>
              <a:t>AEP runtime </a:t>
            </a:r>
            <a:r>
              <a:rPr lang="zh-CN" altLang="en-US" dirty="0"/>
              <a:t>管理</a:t>
            </a:r>
            <a:endParaRPr lang="en-US" altLang="zh-CN" dirty="0"/>
          </a:p>
          <a:p>
            <a:endParaRPr lang="en-US" altLang="zh-CN" dirty="0"/>
          </a:p>
          <a:p>
            <a:endParaRPr lang="en-US" altLang="zh-CN" dirty="0"/>
          </a:p>
          <a:p>
            <a:r>
              <a:rPr lang="en-US" altLang="zh-CN" dirty="0"/>
              <a:t>This figure shows the overall architecture of AEP. We reserve a dedicated address space to host AEP-protected programs. These programs are loaded into the AEP space, and applications invoke functions within this space to perform operations such as malloc and free. Since these functions are protected by AEP, they guarantee both atomicity and execution completeness.</a:t>
            </a:r>
          </a:p>
          <a:p>
            <a:r>
              <a:rPr lang="en-US" altLang="zh-CN" dirty="0"/>
              <a:t>To achieve this goal, AEP is designed around three key components, each addressing a core challenge. First, how can the kernel efficiently and precisely detect the start and end of a user-level invocation? This is handled by </a:t>
            </a:r>
            <a:r>
              <a:rPr lang="en-US" altLang="zh-CN" b="1" dirty="0"/>
              <a:t>context management</a:t>
            </a:r>
            <a:r>
              <a:rPr lang="en-US" altLang="zh-CN" dirty="0"/>
              <a:t>.</a:t>
            </a:r>
          </a:p>
          <a:p>
            <a:r>
              <a:rPr lang="en-US" altLang="zh-CN" dirty="0"/>
              <a:t>Second, the memory allocator must be shared among multiple clients within the same tenant, while ensuring isolation across tenants. This is addressed by </a:t>
            </a:r>
            <a:r>
              <a:rPr lang="en-US" altLang="zh-CN" b="1" dirty="0"/>
              <a:t>AEP address space management</a:t>
            </a:r>
            <a:r>
              <a:rPr lang="en-US" altLang="zh-CN" dirty="0"/>
              <a:t>, which enables efficient sharing and isolation.</a:t>
            </a:r>
          </a:p>
          <a:p>
            <a:r>
              <a:rPr lang="en-US" altLang="zh-CN" dirty="0"/>
              <a:t>Finally, how can developers build and use allocators on top of AEP, and how are AEP programs executed? This is supported by </a:t>
            </a:r>
            <a:r>
              <a:rPr lang="en-US" altLang="zh-CN" b="1" dirty="0"/>
              <a:t>AEP runtime management</a:t>
            </a:r>
            <a:r>
              <a:rPr lang="en-US" altLang="zh-CN" dirty="0"/>
              <a:t>, which provides the programming and execution environment for AEP.</a:t>
            </a: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10</a:t>
            </a:fld>
            <a:endParaRPr lang="zh-CN" altLang="en-US"/>
          </a:p>
        </p:txBody>
      </p:sp>
    </p:spTree>
    <p:extLst>
      <p:ext uri="{BB962C8B-B14F-4D97-AF65-F5344CB8AC3E}">
        <p14:creationId xmlns:p14="http://schemas.microsoft.com/office/powerpoint/2010/main" val="2410516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为了让内核感知用户态函数的执行完成，一个简单的想法就是采用</a:t>
            </a:r>
            <a:r>
              <a:rPr lang="en-US" altLang="zh-CN" dirty="0"/>
              <a:t>Linux </a:t>
            </a:r>
            <a:r>
              <a:rPr lang="en-US" altLang="zh-CN" dirty="0" err="1"/>
              <a:t>uprobe</a:t>
            </a:r>
            <a:r>
              <a:rPr lang="zh-CN" altLang="en-US" dirty="0"/>
              <a:t>机制，在用户态临界区代码上插入断点，但是这样会导致每一次进入临界区都陷入内核，因此非常低效</a:t>
            </a:r>
            <a:endParaRPr lang="en-US" altLang="zh-CN" dirty="0"/>
          </a:p>
          <a:p>
            <a:endParaRPr lang="en-US" altLang="zh-CN" dirty="0"/>
          </a:p>
          <a:p>
            <a:r>
              <a:rPr lang="zh-CN" altLang="en-US" dirty="0"/>
              <a:t>我们提出</a:t>
            </a:r>
            <a:r>
              <a:rPr lang="en-US" altLang="zh-CN" dirty="0"/>
              <a:t>shadow entry</a:t>
            </a:r>
            <a:r>
              <a:rPr lang="zh-CN" altLang="en-US" dirty="0"/>
              <a:t>机制，当用户态程序进入临界区代码时，首先需要执行</a:t>
            </a:r>
            <a:r>
              <a:rPr lang="en-US" altLang="zh-CN" dirty="0"/>
              <a:t>shadow entry</a:t>
            </a:r>
            <a:r>
              <a:rPr lang="zh-CN" altLang="en-US" dirty="0"/>
              <a:t>中的代码，之后，当应用在执行用户态临界区时收到</a:t>
            </a:r>
            <a:r>
              <a:rPr lang="en-US" altLang="zh-CN" dirty="0"/>
              <a:t>kill</a:t>
            </a:r>
            <a:r>
              <a:rPr lang="zh-CN" altLang="en-US" dirty="0"/>
              <a:t>信号，陷入内核后，内核会根据</a:t>
            </a:r>
            <a:r>
              <a:rPr lang="en-US" altLang="zh-CN" dirty="0"/>
              <a:t>IP</a:t>
            </a:r>
            <a:r>
              <a:rPr lang="zh-CN" altLang="en-US" dirty="0"/>
              <a:t>指针判断程序当前处于临界区，之后</a:t>
            </a:r>
            <a:r>
              <a:rPr lang="en-US" altLang="zh-CN" dirty="0" err="1"/>
              <a:t>unmap</a:t>
            </a:r>
            <a:r>
              <a:rPr lang="en-US" altLang="zh-CN" dirty="0"/>
              <a:t> </a:t>
            </a:r>
            <a:r>
              <a:rPr lang="en-US" altLang="zh-CN" dirty="0" err="1"/>
              <a:t>shadown</a:t>
            </a:r>
            <a:r>
              <a:rPr lang="en-US" altLang="zh-CN" dirty="0"/>
              <a:t> entry</a:t>
            </a:r>
            <a:r>
              <a:rPr lang="zh-CN" altLang="en-US" dirty="0"/>
              <a:t>，然后让进程返回用户态继续运行，这样，在临界区执行完成即将返回</a:t>
            </a:r>
            <a:r>
              <a:rPr lang="en-US" altLang="zh-CN" dirty="0"/>
              <a:t>shadow entry</a:t>
            </a:r>
            <a:r>
              <a:rPr lang="zh-CN" altLang="en-US" dirty="0"/>
              <a:t>时，会触发缺页中断，这是可以确保临界区完整执行，内核因此可以安全的</a:t>
            </a:r>
            <a:r>
              <a:rPr lang="en-US" altLang="zh-CN" dirty="0"/>
              <a:t>Kill</a:t>
            </a:r>
            <a:r>
              <a:rPr lang="zh-CN" altLang="en-US" dirty="0"/>
              <a:t>掉进程。</a:t>
            </a:r>
            <a:endParaRPr lang="en-US" altLang="zh-CN" dirty="0"/>
          </a:p>
          <a:p>
            <a:endParaRPr lang="en-US" altLang="zh-CN" dirty="0"/>
          </a:p>
          <a:p>
            <a:endParaRPr lang="en-US" altLang="zh-CN" dirty="0"/>
          </a:p>
          <a:p>
            <a:r>
              <a:rPr lang="en-US" altLang="zh-CN" dirty="0"/>
              <a:t>To let the kernel detect the completion of a user-level critical section, a straightforward idea is to use Linux </a:t>
            </a:r>
            <a:r>
              <a:rPr lang="en-US" altLang="zh-CN" b="1" dirty="0" err="1"/>
              <a:t>uprobes</a:t>
            </a:r>
            <a:r>
              <a:rPr lang="en-US" altLang="zh-CN" dirty="0"/>
              <a:t> by inserting breakpoints into the critical code. However, this would trap into the kernel on every entry, making it prohibitively expensive.</a:t>
            </a:r>
          </a:p>
          <a:p>
            <a:r>
              <a:rPr lang="en-US" altLang="zh-CN" dirty="0"/>
              <a:t>Instead, we propose a </a:t>
            </a:r>
            <a:r>
              <a:rPr lang="en-US" altLang="zh-CN" b="1" dirty="0"/>
              <a:t>shadow entry</a:t>
            </a:r>
            <a:r>
              <a:rPr lang="en-US" altLang="zh-CN" dirty="0"/>
              <a:t> mechanism. Before entering a critical section, the program first executes a small piece of code in the shadow entry. If a kill signal arrives while the application is executing inside the critical section, the kernel inspects the instruction pointer to determine that the process is still within the protected region. It then </a:t>
            </a:r>
            <a:r>
              <a:rPr lang="en-US" altLang="zh-CN" dirty="0" err="1"/>
              <a:t>unmaps</a:t>
            </a:r>
            <a:r>
              <a:rPr lang="en-US" altLang="zh-CN" dirty="0"/>
              <a:t> the shadow entry and resumes the process in user space.</a:t>
            </a:r>
          </a:p>
          <a:p>
            <a:r>
              <a:rPr lang="en-US" altLang="zh-CN" dirty="0"/>
              <a:t>When the critical section finishes and control returns to the shadow entry, this triggers a page fault due to the unmapped region. At this point, the kernel can safely terminate the process, ensuring that the critical section has executed to completion.</a:t>
            </a: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11</a:t>
            </a:fld>
            <a:endParaRPr lang="zh-CN" altLang="en-US"/>
          </a:p>
        </p:txBody>
      </p:sp>
    </p:spTree>
    <p:extLst>
      <p:ext uri="{BB962C8B-B14F-4D97-AF65-F5344CB8AC3E}">
        <p14:creationId xmlns:p14="http://schemas.microsoft.com/office/powerpoint/2010/main" val="2958047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AEP</a:t>
            </a:r>
            <a:r>
              <a:rPr lang="zh-CN" altLang="en-US" dirty="0"/>
              <a:t>机制的原子性导致了一个隐含的</a:t>
            </a:r>
            <a:r>
              <a:rPr lang="en-US" altLang="zh-CN" dirty="0"/>
              <a:t>corner case</a:t>
            </a:r>
            <a:r>
              <a:rPr lang="zh-CN" altLang="en-US" dirty="0"/>
              <a:t>：当所有的</a:t>
            </a:r>
            <a:r>
              <a:rPr lang="en-US" altLang="zh-CN" dirty="0"/>
              <a:t>client</a:t>
            </a:r>
            <a:r>
              <a:rPr lang="zh-CN" altLang="en-US" dirty="0"/>
              <a:t>都挂掉了，</a:t>
            </a:r>
            <a:r>
              <a:rPr lang="en-US" altLang="zh-CN" dirty="0"/>
              <a:t>AEP</a:t>
            </a:r>
            <a:r>
              <a:rPr lang="zh-CN" altLang="en-US" dirty="0"/>
              <a:t>上下文中的程序仍然可以继续运行，这意味着，</a:t>
            </a:r>
            <a:r>
              <a:rPr lang="en-US" altLang="zh-CN" dirty="0"/>
              <a:t>AEP program </a:t>
            </a:r>
            <a:r>
              <a:rPr lang="zh-CN" altLang="en-US" dirty="0"/>
              <a:t>独立于任何应用的存在而存在，为了实现这一点，</a:t>
            </a:r>
            <a:r>
              <a:rPr lang="en-US" altLang="zh-CN" dirty="0"/>
              <a:t>AEP </a:t>
            </a:r>
            <a:r>
              <a:rPr lang="zh-CN" altLang="en-US" dirty="0"/>
              <a:t>程序需要拥有私有的堆内存来存放自己的元数据，</a:t>
            </a:r>
            <a:r>
              <a:rPr lang="en-US" altLang="zh-CN" dirty="0"/>
              <a:t>AEP</a:t>
            </a:r>
            <a:r>
              <a:rPr lang="zh-CN" altLang="en-US" dirty="0"/>
              <a:t>程序需要具有独立的，隔离于用户态地址空间的独立空间，为此，我们构造了</a:t>
            </a:r>
            <a:r>
              <a:rPr lang="en-US" altLang="zh-CN" dirty="0"/>
              <a:t>AEP address space</a:t>
            </a:r>
            <a:r>
              <a:rPr lang="zh-CN" altLang="en-US" dirty="0"/>
              <a:t>，</a:t>
            </a:r>
            <a:r>
              <a:rPr lang="en-US" altLang="zh-CN" dirty="0"/>
              <a:t>AEP program</a:t>
            </a:r>
            <a:r>
              <a:rPr lang="zh-CN" altLang="en-US" dirty="0"/>
              <a:t>需要运行在这个地址段上，并在这个地址空间中使用</a:t>
            </a:r>
            <a:r>
              <a:rPr lang="en-US" altLang="zh-CN" dirty="0"/>
              <a:t>AEP </a:t>
            </a:r>
            <a:r>
              <a:rPr lang="en-US" altLang="zh-CN" dirty="0" err="1"/>
              <a:t>mmap</a:t>
            </a:r>
            <a:r>
              <a:rPr lang="zh-CN" altLang="en-US" dirty="0"/>
              <a:t>与</a:t>
            </a:r>
            <a:r>
              <a:rPr lang="en-US" altLang="zh-CN" dirty="0"/>
              <a:t>AEP </a:t>
            </a:r>
            <a:r>
              <a:rPr lang="en-US" altLang="zh-CN" dirty="0" err="1"/>
              <a:t>brk</a:t>
            </a:r>
            <a:r>
              <a:rPr lang="zh-CN" altLang="en-US" dirty="0"/>
              <a:t>。</a:t>
            </a:r>
            <a:endParaRPr lang="en-US" altLang="zh-CN" dirty="0"/>
          </a:p>
          <a:p>
            <a:endParaRPr lang="en-US" altLang="zh-CN" dirty="0"/>
          </a:p>
          <a:p>
            <a:r>
              <a:rPr lang="zh-CN" altLang="en-US" dirty="0"/>
              <a:t>另一方面，任何的应用都无法动态加载</a:t>
            </a:r>
            <a:r>
              <a:rPr lang="en-US" altLang="zh-CN" dirty="0"/>
              <a:t>AEP program</a:t>
            </a:r>
            <a:r>
              <a:rPr lang="zh-CN" altLang="en-US" dirty="0"/>
              <a:t>，因此</a:t>
            </a:r>
            <a:r>
              <a:rPr lang="en-US" altLang="zh-CN" dirty="0"/>
              <a:t>AEP program</a:t>
            </a:r>
            <a:r>
              <a:rPr lang="zh-CN" altLang="en-US" dirty="0"/>
              <a:t>是一个静态链接程序，需要一个独立的加载器来调用</a:t>
            </a:r>
            <a:r>
              <a:rPr lang="en-US" altLang="zh-CN" dirty="0"/>
              <a:t>AEP exec</a:t>
            </a:r>
            <a:r>
              <a:rPr lang="zh-CN" altLang="en-US" dirty="0"/>
              <a:t>来一次性加载完全。</a:t>
            </a:r>
            <a:endParaRPr lang="en-US" altLang="zh-CN" dirty="0"/>
          </a:p>
          <a:p>
            <a:endParaRPr lang="en-US" altLang="zh-CN" dirty="0"/>
          </a:p>
          <a:p>
            <a:r>
              <a:rPr lang="zh-CN" altLang="en-US" dirty="0"/>
              <a:t>为了对</a:t>
            </a:r>
            <a:r>
              <a:rPr lang="en-US" altLang="zh-CN" dirty="0"/>
              <a:t>AEP program</a:t>
            </a:r>
            <a:r>
              <a:rPr lang="zh-CN" altLang="en-US" dirty="0"/>
              <a:t>编写者屏蔽上述细节，我们将这些封装到</a:t>
            </a:r>
            <a:r>
              <a:rPr lang="en-US" altLang="zh-CN" dirty="0"/>
              <a:t>AEP-lib</a:t>
            </a:r>
            <a:r>
              <a:rPr lang="zh-CN" altLang="en-US" dirty="0"/>
              <a:t>中，编程人员可以基于这个库进行</a:t>
            </a:r>
            <a:r>
              <a:rPr lang="en-US" altLang="zh-CN" dirty="0"/>
              <a:t>AEP program</a:t>
            </a:r>
            <a:r>
              <a:rPr lang="zh-CN" altLang="en-US" dirty="0"/>
              <a:t>的编译与开发。</a:t>
            </a:r>
            <a:endParaRPr lang="en-US" altLang="zh-CN" dirty="0"/>
          </a:p>
          <a:p>
            <a:endParaRPr lang="en-US" altLang="zh-CN" dirty="0"/>
          </a:p>
          <a:p>
            <a:endParaRPr lang="en-US" altLang="zh-CN" dirty="0"/>
          </a:p>
          <a:p>
            <a:r>
              <a:rPr lang="en-US" altLang="zh-CN" dirty="0"/>
              <a:t>A subtle corner case arises from AEP’s atomicity is that: if all clients crash, the AEP context may continue running independently. In other words, an AEP program can outlive any individual application.</a:t>
            </a:r>
          </a:p>
          <a:p>
            <a:r>
              <a:rPr lang="en-US" altLang="zh-CN" dirty="0"/>
              <a:t>To support this, the AEP program must maintain its own private heap for metadata and execute within an isolated address space, separate from the normal user space. We therefore introduce an </a:t>
            </a:r>
            <a:r>
              <a:rPr lang="en-US" altLang="zh-CN" b="1" dirty="0"/>
              <a:t>AEP address space</a:t>
            </a:r>
            <a:r>
              <a:rPr lang="en-US" altLang="zh-CN" dirty="0"/>
              <a:t>, where AEP programs run and manage memory via AEP-specific system call such as AEP </a:t>
            </a:r>
            <a:r>
              <a:rPr lang="en-US" altLang="zh-CN" dirty="0" err="1"/>
              <a:t>mmap</a:t>
            </a:r>
            <a:r>
              <a:rPr lang="en-US" altLang="zh-CN" dirty="0"/>
              <a:t> and AEP </a:t>
            </a:r>
            <a:r>
              <a:rPr lang="en-US" altLang="zh-CN" dirty="0" err="1"/>
              <a:t>brk</a:t>
            </a:r>
            <a:r>
              <a:rPr lang="en-US" altLang="zh-CN" dirty="0"/>
              <a:t>.</a:t>
            </a:r>
          </a:p>
          <a:p>
            <a:r>
              <a:rPr lang="en-US" altLang="zh-CN" dirty="0"/>
              <a:t>On the other hand, AEP programs cannot be dynamically loaded by any applications. Instead, they are statically linked and require a dedicated loader, which invokes </a:t>
            </a:r>
            <a:r>
              <a:rPr lang="en-US" altLang="zh-CN" dirty="0" err="1"/>
              <a:t>aep</a:t>
            </a:r>
            <a:r>
              <a:rPr lang="en-US" altLang="zh-CN" dirty="0"/>
              <a:t> </a:t>
            </a:r>
            <a:r>
              <a:rPr lang="en-US" altLang="zh-CN" dirty="0" err="1"/>
              <a:t>mmap</a:t>
            </a:r>
            <a:r>
              <a:rPr lang="en-US" altLang="zh-CN" dirty="0"/>
              <a:t> exec to load the entire program at once.</a:t>
            </a:r>
          </a:p>
          <a:p>
            <a:r>
              <a:rPr lang="en-US" altLang="zh-CN" dirty="0"/>
              <a:t>To hide these complexities from developers, we encapsulate all mechanisms into an </a:t>
            </a:r>
            <a:r>
              <a:rPr lang="en-US" altLang="zh-CN" b="1" dirty="0"/>
              <a:t>AEP-lib</a:t>
            </a:r>
            <a:r>
              <a:rPr lang="en-US" altLang="zh-CN" dirty="0"/>
              <a:t>, enabling programmers to conveniently build and deploy AEP programs on top of our system.</a:t>
            </a:r>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12</a:t>
            </a:fld>
            <a:endParaRPr lang="zh-CN" altLang="en-US"/>
          </a:p>
        </p:txBody>
      </p:sp>
    </p:spTree>
    <p:extLst>
      <p:ext uri="{BB962C8B-B14F-4D97-AF65-F5344CB8AC3E}">
        <p14:creationId xmlns:p14="http://schemas.microsoft.com/office/powerpoint/2010/main" val="25595741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a:t>
            </a:r>
            <a:r>
              <a:rPr lang="en-US" altLang="zh-CN" dirty="0"/>
              <a:t>AEP</a:t>
            </a:r>
            <a:r>
              <a:rPr lang="zh-CN" altLang="en-US" dirty="0"/>
              <a:t>空间需要独立于用户态空间，并且还需要在多个进程之间共享，因此我们将一段高地址作为</a:t>
            </a:r>
            <a:r>
              <a:rPr lang="en-US" altLang="zh-CN" dirty="0"/>
              <a:t>AEP</a:t>
            </a:r>
            <a:r>
              <a:rPr lang="zh-CN" altLang="en-US" dirty="0"/>
              <a:t>空间，由于在现有操作系统中，高地址在所有进程之间共享，因此</a:t>
            </a:r>
            <a:r>
              <a:rPr lang="en-US" altLang="zh-CN" dirty="0"/>
              <a:t>AEP space </a:t>
            </a:r>
            <a:r>
              <a:rPr lang="zh-CN" altLang="en-US" dirty="0"/>
              <a:t>的多租户隔离问题是一个挑战。</a:t>
            </a:r>
            <a:endParaRPr lang="en-US" altLang="zh-CN" dirty="0"/>
          </a:p>
          <a:p>
            <a:r>
              <a:rPr lang="zh-CN" altLang="en-US" dirty="0"/>
              <a:t>为了解决这个问题，我们构造</a:t>
            </a:r>
            <a:r>
              <a:rPr lang="en-US" altLang="zh-CN" dirty="0"/>
              <a:t>AEP</a:t>
            </a:r>
            <a:r>
              <a:rPr lang="zh-CN" altLang="en-US" dirty="0"/>
              <a:t>页表，每一个租户拥有一个</a:t>
            </a:r>
            <a:r>
              <a:rPr lang="en-US" altLang="zh-CN" dirty="0"/>
              <a:t>AEP</a:t>
            </a:r>
            <a:r>
              <a:rPr lang="zh-CN" altLang="en-US" dirty="0"/>
              <a:t>页表，因此租户之间</a:t>
            </a:r>
            <a:r>
              <a:rPr lang="en-US" altLang="zh-CN" dirty="0"/>
              <a:t>AEP</a:t>
            </a:r>
            <a:r>
              <a:rPr lang="zh-CN" altLang="en-US" dirty="0"/>
              <a:t>地址空间相互隔离，每当租户启动一个应用，</a:t>
            </a:r>
            <a:r>
              <a:rPr lang="en-US" altLang="zh-CN" dirty="0"/>
              <a:t>AEP</a:t>
            </a:r>
            <a:r>
              <a:rPr lang="zh-CN" altLang="en-US" dirty="0"/>
              <a:t>页表都需要与应用的第一个进程绑定，并强制在之后的所有子进程之间继承，因此，租户内部的多个应用或容器都会共享一个</a:t>
            </a:r>
            <a:r>
              <a:rPr lang="en-US" altLang="zh-CN" dirty="0"/>
              <a:t>AEP</a:t>
            </a:r>
            <a:r>
              <a:rPr lang="zh-CN" altLang="en-US" dirty="0"/>
              <a:t>地址空间</a:t>
            </a:r>
            <a:endParaRPr lang="en-US" altLang="zh-CN" dirty="0"/>
          </a:p>
          <a:p>
            <a:endParaRPr lang="en-US" altLang="zh-CN" dirty="0"/>
          </a:p>
          <a:p>
            <a:endParaRPr lang="en-US" altLang="zh-CN" dirty="0"/>
          </a:p>
          <a:p>
            <a:r>
              <a:rPr lang="en-US" altLang="zh-CN" dirty="0"/>
              <a:t>Since the AEP space must be isolated from the normal user space while also being shared across processes, we place it in a reserved high address range. However, in existing OS designs, high address regions are typically shared across all processes, which makes multi-tenant isolation a key challenge.</a:t>
            </a:r>
          </a:p>
          <a:p>
            <a:r>
              <a:rPr lang="en-US" altLang="zh-CN" dirty="0"/>
              <a:t>To address this, we introduce </a:t>
            </a:r>
            <a:r>
              <a:rPr lang="en-US" altLang="zh-CN" b="1" dirty="0"/>
              <a:t>AEP page tables</a:t>
            </a:r>
            <a:r>
              <a:rPr lang="en-US" altLang="zh-CN" dirty="0"/>
              <a:t>. Each tenant is assigned a dedicated AEP page table, ensuring that AEP address spaces are isolated across tenants. When a tenant launches an application, its AEP page table is bound to the first process and is then inherited by all child processes.</a:t>
            </a:r>
          </a:p>
          <a:p>
            <a:r>
              <a:rPr lang="en-US" altLang="zh-CN" dirty="0"/>
              <a:t>As a result, multiple applications or containers within the same tenant naturally share a single AEP address space, achieving efficient intra-tenant sharing while preserving inter-tenant isolation.</a:t>
            </a: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13</a:t>
            </a:fld>
            <a:endParaRPr lang="zh-CN" altLang="en-US"/>
          </a:p>
        </p:txBody>
      </p:sp>
    </p:spTree>
    <p:extLst>
      <p:ext uri="{BB962C8B-B14F-4D97-AF65-F5344CB8AC3E}">
        <p14:creationId xmlns:p14="http://schemas.microsoft.com/office/powerpoint/2010/main" val="29506197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a:t>
            </a:r>
            <a:r>
              <a:rPr lang="en-US" altLang="zh-CN" dirty="0"/>
              <a:t>AEP</a:t>
            </a:r>
            <a:r>
              <a:rPr lang="zh-CN" altLang="en-US" dirty="0"/>
              <a:t>我们构造了层级化的分布式共享内存管理系统</a:t>
            </a:r>
            <a:r>
              <a:rPr lang="en-US" altLang="zh-CN" dirty="0"/>
              <a:t>AEP-DSM</a:t>
            </a:r>
            <a:r>
              <a:rPr lang="zh-CN" altLang="en-US" dirty="0"/>
              <a:t>，其分为两层，</a:t>
            </a:r>
            <a:r>
              <a:rPr lang="en-US" altLang="zh-CN" dirty="0"/>
              <a:t>client</a:t>
            </a:r>
            <a:r>
              <a:rPr lang="zh-CN" altLang="en-US" dirty="0"/>
              <a:t>首先通过</a:t>
            </a:r>
            <a:r>
              <a:rPr lang="en-US" altLang="zh-CN" dirty="0"/>
              <a:t>intra-node</a:t>
            </a:r>
            <a:r>
              <a:rPr lang="zh-CN" altLang="en-US" dirty="0"/>
              <a:t>分配器进行内存分配，该层级运行在</a:t>
            </a:r>
            <a:r>
              <a:rPr lang="en-US" altLang="zh-CN" dirty="0"/>
              <a:t>AEP</a:t>
            </a:r>
            <a:r>
              <a:rPr lang="zh-CN" altLang="en-US" dirty="0"/>
              <a:t>中，为快速路径，开销低，当分给本</a:t>
            </a:r>
            <a:r>
              <a:rPr lang="en-US" altLang="zh-CN" dirty="0"/>
              <a:t>node</a:t>
            </a:r>
            <a:r>
              <a:rPr lang="zh-CN" altLang="en-US" dirty="0"/>
              <a:t>的</a:t>
            </a:r>
            <a:r>
              <a:rPr lang="en-US" altLang="zh-CN" dirty="0"/>
              <a:t>DSM</a:t>
            </a:r>
            <a:r>
              <a:rPr lang="zh-CN" altLang="en-US" dirty="0"/>
              <a:t>内存不足时，进入</a:t>
            </a:r>
            <a:r>
              <a:rPr lang="en-US" altLang="zh-CN" dirty="0"/>
              <a:t>inter-node allocator</a:t>
            </a:r>
            <a:r>
              <a:rPr lang="zh-CN" altLang="en-US" dirty="0"/>
              <a:t>来分配一大块</a:t>
            </a:r>
            <a:r>
              <a:rPr lang="en-US" altLang="zh-CN" dirty="0"/>
              <a:t>DSM</a:t>
            </a:r>
            <a:r>
              <a:rPr lang="zh-CN" altLang="en-US" dirty="0"/>
              <a:t>内存给本节点使用，该层会使用分布式一致性事务来进行内存分配以保证在节点崩溃时可被恢复，属于慢速路径。</a:t>
            </a:r>
            <a:endParaRPr lang="en-US" altLang="zh-CN" dirty="0"/>
          </a:p>
          <a:p>
            <a:endParaRPr lang="en-US" altLang="zh-CN" dirty="0"/>
          </a:p>
          <a:p>
            <a:r>
              <a:rPr lang="zh-CN" altLang="en-US" dirty="0"/>
              <a:t>只有状态修改需要跨节点更新时，</a:t>
            </a:r>
            <a:r>
              <a:rPr lang="en-US" altLang="zh-CN" dirty="0"/>
              <a:t>inter-node </a:t>
            </a:r>
            <a:r>
              <a:rPr lang="en-US" altLang="zh-CN" dirty="0" err="1"/>
              <a:t>managemnt</a:t>
            </a:r>
            <a:r>
              <a:rPr lang="zh-CN" altLang="en-US" dirty="0"/>
              <a:t>才会触发，这通常是跨节点内存传递或者节点内存分配，如果状态修改仅局限于节点内部，例如</a:t>
            </a:r>
            <a:r>
              <a:rPr lang="en-US" altLang="zh-CN" dirty="0"/>
              <a:t>client</a:t>
            </a:r>
            <a:r>
              <a:rPr lang="zh-CN" altLang="en-US" dirty="0"/>
              <a:t>内存分配，或者是同节点内存传递，那么无需触发慢速路径，因此系统性能得到提升。</a:t>
            </a:r>
            <a:endParaRPr lang="en-US" altLang="zh-CN" dirty="0"/>
          </a:p>
          <a:p>
            <a:endParaRPr lang="en-US" altLang="zh-CN" dirty="0"/>
          </a:p>
          <a:p>
            <a:r>
              <a:rPr lang="zh-CN" altLang="en-US" dirty="0"/>
              <a:t>为了将层级化架构的性能发挥到极致，我们仍然面临两点挑战，第一点，由于现有内存分配算法大多将内存块描述元数据与内存块本身放在一起，因此在分配过程进行</a:t>
            </a:r>
            <a:r>
              <a:rPr lang="en-US" altLang="zh-CN" dirty="0" err="1"/>
              <a:t>freelist</a:t>
            </a:r>
            <a:r>
              <a:rPr lang="zh-CN" altLang="en-US" dirty="0"/>
              <a:t>搜索时，引入远程内存访问，根据我们的测量，其会引入大约</a:t>
            </a:r>
            <a:r>
              <a:rPr lang="en-US" altLang="zh-CN" dirty="0"/>
              <a:t>32%</a:t>
            </a:r>
            <a:r>
              <a:rPr lang="zh-CN" altLang="en-US" dirty="0"/>
              <a:t>的吞吐量下降；第二点，现有的引用计数方案对每一个内存块进行细粒度追踪，因此在跨节点传输时引用计数更新频率过高从而引入大量分布式一致性事务，从而降低性能。</a:t>
            </a:r>
            <a:endParaRPr lang="en-US" altLang="zh-CN" dirty="0"/>
          </a:p>
          <a:p>
            <a:endParaRPr lang="en-US" altLang="zh-CN" dirty="0"/>
          </a:p>
          <a:p>
            <a:endParaRPr lang="en-US" altLang="zh-CN" dirty="0"/>
          </a:p>
          <a:p>
            <a:r>
              <a:rPr lang="en-US" altLang="zh-CN" dirty="0"/>
              <a:t>Building on AEP, we design a hierarchical DSM system, </a:t>
            </a:r>
            <a:r>
              <a:rPr lang="en-US" altLang="zh-CN" b="1" dirty="0"/>
              <a:t>AEP-DSM</a:t>
            </a:r>
            <a:r>
              <a:rPr lang="en-US" altLang="zh-CN" dirty="0"/>
              <a:t>, with two levels.</a:t>
            </a:r>
          </a:p>
          <a:p>
            <a:r>
              <a:rPr lang="en-US" altLang="zh-CN" dirty="0"/>
              <a:t>The fast path is an </a:t>
            </a:r>
            <a:r>
              <a:rPr lang="en-US" altLang="zh-CN" b="1" dirty="0"/>
              <a:t>intra-node allocator</a:t>
            </a:r>
            <a:r>
              <a:rPr lang="en-US" altLang="zh-CN" dirty="0"/>
              <a:t> running inside AEP, handling local allocations with low overhead. When node-local remote memory is exhausted, the system falls back to an </a:t>
            </a:r>
            <a:r>
              <a:rPr lang="en-US" altLang="zh-CN" b="1" dirty="0"/>
              <a:t>inter-node allocator</a:t>
            </a:r>
            <a:r>
              <a:rPr lang="en-US" altLang="zh-CN" dirty="0"/>
              <a:t>, which allocates large DSM chunks using distributed transactions for fault tolerance, forming the slow path.</a:t>
            </a:r>
          </a:p>
          <a:p>
            <a:r>
              <a:rPr lang="en-US" altLang="zh-CN" dirty="0"/>
              <a:t>Inter-node management is only triggered for cross-node state changes, such as remote memory transfers or global allocation. Purely intra-node operations remain on the fast path, avoiding unnecessary overhead.</a:t>
            </a:r>
          </a:p>
          <a:p>
            <a:r>
              <a:rPr lang="en-US" altLang="zh-CN" dirty="0"/>
              <a:t>However, two key inefficiencies remain. First, co-locating metadata with memory blocks causes remote accesses during </a:t>
            </a:r>
            <a:r>
              <a:rPr lang="en-US" altLang="zh-CN" dirty="0" err="1"/>
              <a:t>freelist</a:t>
            </a:r>
            <a:r>
              <a:rPr lang="en-US" altLang="zh-CN" dirty="0"/>
              <a:t> traversal, reducing throughput by about 32%. Second, fine-grained reference counting leads to frequent cross-node updates, introducing excessive distributed transaction overhead.</a:t>
            </a: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14</a:t>
            </a:fld>
            <a:endParaRPr lang="zh-CN" altLang="en-US"/>
          </a:p>
        </p:txBody>
      </p:sp>
    </p:spTree>
    <p:extLst>
      <p:ext uri="{BB962C8B-B14F-4D97-AF65-F5344CB8AC3E}">
        <p14:creationId xmlns:p14="http://schemas.microsoft.com/office/powerpoint/2010/main" val="404216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为了解决第一个挑战，我们将元数据与内存块分离管理，并使用本地内存存放元数据，这些元数据受到</a:t>
            </a:r>
            <a:r>
              <a:rPr lang="en-US" altLang="zh-CN" dirty="0"/>
              <a:t>AEP</a:t>
            </a:r>
            <a:r>
              <a:rPr lang="zh-CN" altLang="en-US" dirty="0"/>
              <a:t>保护，只有在内存块被跨节点发送时元数据才会同步到</a:t>
            </a:r>
            <a:r>
              <a:rPr lang="en-US" altLang="zh-CN" dirty="0"/>
              <a:t>CXL</a:t>
            </a:r>
            <a:r>
              <a:rPr lang="zh-CN" altLang="en-US" dirty="0"/>
              <a:t>内存中；对于第二个挑战，我们设计了</a:t>
            </a:r>
            <a:r>
              <a:rPr lang="en-US" altLang="zh-CN" dirty="0"/>
              <a:t>root-only</a:t>
            </a:r>
            <a:r>
              <a:rPr lang="zh-CN" altLang="en-US" dirty="0"/>
              <a:t>引用计数，该方案只在复杂数据结构的根节点记录整个数据结构的被引用数量，对于结构的内部内存对象只记录内部引用，以此降低了引用修改次数。细节详见论文</a:t>
            </a:r>
            <a:endParaRPr lang="en-US" altLang="zh-CN" dirty="0"/>
          </a:p>
          <a:p>
            <a:endParaRPr lang="en-US" altLang="zh-CN" dirty="0"/>
          </a:p>
          <a:p>
            <a:r>
              <a:rPr lang="en-US" altLang="zh-CN" dirty="0"/>
              <a:t>To address the first challenge, we decouple metadata from memory blocks and store metadata in local memory protected by AEP. These metadata are only synchronized to CXL memory when the corresponding memory blocks are transferred across nodes.</a:t>
            </a:r>
          </a:p>
          <a:p>
            <a:r>
              <a:rPr lang="en-US" altLang="zh-CN" dirty="0"/>
              <a:t>For the second challenge, we introduce </a:t>
            </a:r>
            <a:r>
              <a:rPr lang="en-US" altLang="zh-CN" b="1" dirty="0"/>
              <a:t>root-only reference counting</a:t>
            </a:r>
            <a:r>
              <a:rPr lang="en-US" altLang="zh-CN" dirty="0"/>
              <a:t>, which maintains the reference count only at the root of a complex data structure. Internal objects track only intra-structure references, significantly reducing the number of reference updates.</a:t>
            </a:r>
          </a:p>
          <a:p>
            <a:r>
              <a:rPr lang="en-US" altLang="zh-CN" dirty="0"/>
              <a:t>please refer the detailed implementation to the paper.</a:t>
            </a: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15</a:t>
            </a:fld>
            <a:endParaRPr lang="zh-CN" altLang="en-US"/>
          </a:p>
        </p:txBody>
      </p:sp>
    </p:spTree>
    <p:extLst>
      <p:ext uri="{BB962C8B-B14F-4D97-AF65-F5344CB8AC3E}">
        <p14:creationId xmlns:p14="http://schemas.microsoft.com/office/powerpoint/2010/main" val="39021996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为了评估</a:t>
            </a:r>
            <a:r>
              <a:rPr lang="en-US" altLang="zh-CN" dirty="0"/>
              <a:t>AEP</a:t>
            </a:r>
            <a:r>
              <a:rPr lang="zh-CN" altLang="en-US" dirty="0"/>
              <a:t>机制的有效性，我们采用</a:t>
            </a:r>
            <a:r>
              <a:rPr lang="en-US" altLang="zh-CN" dirty="0"/>
              <a:t>CXL1.1</a:t>
            </a:r>
            <a:r>
              <a:rPr lang="zh-CN" altLang="en-US" dirty="0"/>
              <a:t>设备进行模拟，两个</a:t>
            </a:r>
            <a:r>
              <a:rPr lang="en-US" altLang="zh-CN" dirty="0"/>
              <a:t>CPU</a:t>
            </a:r>
            <a:r>
              <a:rPr lang="zh-CN" altLang="en-US" dirty="0"/>
              <a:t>模拟不同节点，他们之间可以通过</a:t>
            </a:r>
            <a:r>
              <a:rPr lang="en-US" altLang="zh-CN" dirty="0"/>
              <a:t>cache</a:t>
            </a:r>
            <a:r>
              <a:rPr lang="zh-CN" altLang="en-US" dirty="0"/>
              <a:t>一致性协议来保证对于</a:t>
            </a:r>
            <a:r>
              <a:rPr lang="en-US" altLang="zh-CN" dirty="0"/>
              <a:t>CXL</a:t>
            </a:r>
            <a:r>
              <a:rPr lang="zh-CN" altLang="en-US" dirty="0"/>
              <a:t>内存的访存一致性，我们选取了</a:t>
            </a:r>
            <a:r>
              <a:rPr lang="en-US" altLang="zh-CN" dirty="0"/>
              <a:t>lock-based DSM</a:t>
            </a:r>
            <a:r>
              <a:rPr lang="zh-CN" altLang="en-US" dirty="0"/>
              <a:t>系统</a:t>
            </a:r>
            <a:r>
              <a:rPr lang="en-US" altLang="zh-CN" dirty="0"/>
              <a:t>Lightning</a:t>
            </a:r>
            <a:r>
              <a:rPr lang="zh-CN" altLang="en-US" dirty="0"/>
              <a:t>与</a:t>
            </a:r>
            <a:r>
              <a:rPr lang="en-US" altLang="zh-CN" dirty="0"/>
              <a:t>lock-free</a:t>
            </a:r>
            <a:r>
              <a:rPr lang="zh-CN" altLang="en-US" dirty="0"/>
              <a:t> </a:t>
            </a:r>
            <a:r>
              <a:rPr lang="en-US" altLang="zh-CN" dirty="0"/>
              <a:t>DSM </a:t>
            </a:r>
            <a:r>
              <a:rPr lang="zh-CN" altLang="en-US" dirty="0"/>
              <a:t>系统</a:t>
            </a:r>
            <a:r>
              <a:rPr lang="en-US" altLang="zh-CN" dirty="0"/>
              <a:t>CXL-SHM</a:t>
            </a:r>
            <a:r>
              <a:rPr lang="zh-CN" altLang="en-US" dirty="0"/>
              <a:t>作为对比对象。</a:t>
            </a:r>
            <a:endParaRPr lang="en-US" altLang="zh-CN" dirty="0"/>
          </a:p>
          <a:p>
            <a:endParaRPr lang="en-US" altLang="zh-CN" dirty="0"/>
          </a:p>
          <a:p>
            <a:endParaRPr lang="en-US" altLang="zh-CN" dirty="0"/>
          </a:p>
          <a:p>
            <a:endParaRPr lang="en-US" altLang="zh-CN" dirty="0"/>
          </a:p>
          <a:p>
            <a:r>
              <a:rPr lang="en-US" altLang="zh-CN" dirty="0"/>
              <a:t>To evaluate the effectiveness of AEP, we use a CXL type 1 device for emulation. Two CPUs are treated as separate nodes, and cache coherence is used to ensure consistent access to CXL memory.</a:t>
            </a:r>
          </a:p>
          <a:p>
            <a:r>
              <a:rPr lang="en-US" altLang="zh-CN" dirty="0"/>
              <a:t>We compare AEP-DSM against two baselines: </a:t>
            </a:r>
            <a:r>
              <a:rPr lang="en-US" altLang="zh-CN" b="1" dirty="0"/>
              <a:t>Lightning</a:t>
            </a:r>
            <a:r>
              <a:rPr lang="en-US" altLang="zh-CN" dirty="0"/>
              <a:t>, a lock-based DSM system, and </a:t>
            </a:r>
            <a:r>
              <a:rPr lang="en-US" altLang="zh-CN" b="1" dirty="0"/>
              <a:t>CXL-SHM</a:t>
            </a:r>
            <a:r>
              <a:rPr lang="en-US" altLang="zh-CN" dirty="0"/>
              <a:t>, a lock-free DSM design.</a:t>
            </a: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17</a:t>
            </a:fld>
            <a:endParaRPr lang="zh-CN" altLang="en-US"/>
          </a:p>
        </p:txBody>
      </p:sp>
    </p:spTree>
    <p:extLst>
      <p:ext uri="{BB962C8B-B14F-4D97-AF65-F5344CB8AC3E}">
        <p14:creationId xmlns:p14="http://schemas.microsoft.com/office/powerpoint/2010/main" val="1330601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对于内存分配器微基准测试，我们选用</a:t>
            </a:r>
            <a:r>
              <a:rPr lang="en-US" altLang="zh-CN" dirty="0" err="1"/>
              <a:t>threadtest</a:t>
            </a:r>
            <a:r>
              <a:rPr lang="en-US" altLang="zh-CN" dirty="0"/>
              <a:t> benchmark, </a:t>
            </a:r>
            <a:r>
              <a:rPr lang="zh-CN" altLang="en-US" dirty="0"/>
              <a:t>实验结果表明</a:t>
            </a:r>
            <a:r>
              <a:rPr lang="en-US" altLang="zh-CN" dirty="0"/>
              <a:t>AEP-DSM</a:t>
            </a:r>
            <a:r>
              <a:rPr lang="zh-CN" altLang="en-US" dirty="0"/>
              <a:t>相比于</a:t>
            </a:r>
            <a:r>
              <a:rPr lang="en-US" altLang="zh-CN" dirty="0"/>
              <a:t>CXL-SHM</a:t>
            </a:r>
            <a:r>
              <a:rPr lang="zh-CN" altLang="en-US" dirty="0"/>
              <a:t>吞吐量提升较大，且可以随意定制</a:t>
            </a:r>
            <a:r>
              <a:rPr lang="en-US" altLang="zh-CN" dirty="0"/>
              <a:t>intra-node</a:t>
            </a:r>
            <a:r>
              <a:rPr lang="zh-CN" altLang="en-US" dirty="0"/>
              <a:t>内存分配器算法，我们在实验中尝试了基于</a:t>
            </a:r>
            <a:r>
              <a:rPr lang="en-US" altLang="zh-CN" dirty="0"/>
              <a:t>bitmap</a:t>
            </a:r>
            <a:r>
              <a:rPr lang="zh-CN" altLang="en-US" dirty="0"/>
              <a:t>与基于</a:t>
            </a:r>
            <a:r>
              <a:rPr lang="en-US" altLang="zh-CN" dirty="0"/>
              <a:t>buddy system</a:t>
            </a:r>
            <a:r>
              <a:rPr lang="zh-CN" altLang="en-US" dirty="0"/>
              <a:t>的算法，结果发现基于</a:t>
            </a:r>
            <a:r>
              <a:rPr lang="en-US" altLang="zh-CN" dirty="0" err="1"/>
              <a:t>buddysystem</a:t>
            </a:r>
            <a:r>
              <a:rPr lang="zh-CN" altLang="en-US" dirty="0"/>
              <a:t>的算法扩展性更佳，因此我们在后续实验中均采用此算法。</a:t>
            </a:r>
            <a:endParaRPr lang="en-US" altLang="zh-CN" dirty="0"/>
          </a:p>
          <a:p>
            <a:endParaRPr lang="en-US" altLang="zh-CN" dirty="0"/>
          </a:p>
          <a:p>
            <a:r>
              <a:rPr lang="zh-CN" altLang="en-US" dirty="0"/>
              <a:t>另一方面，我们对</a:t>
            </a:r>
            <a:r>
              <a:rPr lang="en-US" altLang="zh-CN" dirty="0"/>
              <a:t>AEP-DSM</a:t>
            </a:r>
            <a:r>
              <a:rPr lang="zh-CN" altLang="en-US" dirty="0"/>
              <a:t>进行了深入分析，发现</a:t>
            </a:r>
            <a:r>
              <a:rPr lang="en-US" altLang="zh-CN" dirty="0"/>
              <a:t>cache flush</a:t>
            </a:r>
            <a:r>
              <a:rPr lang="zh-CN" altLang="en-US" dirty="0"/>
              <a:t>与</a:t>
            </a:r>
            <a:r>
              <a:rPr lang="en-US" altLang="zh-CN" dirty="0"/>
              <a:t>memory fence</a:t>
            </a:r>
            <a:r>
              <a:rPr lang="zh-CN" altLang="en-US" dirty="0"/>
              <a:t>占比不足</a:t>
            </a:r>
            <a:r>
              <a:rPr lang="en-US" altLang="zh-CN" dirty="0"/>
              <a:t>10%</a:t>
            </a:r>
            <a:r>
              <a:rPr lang="zh-CN" altLang="en-US" dirty="0"/>
              <a:t>，这点说明了</a:t>
            </a:r>
            <a:r>
              <a:rPr lang="en-US" altLang="zh-CN" dirty="0"/>
              <a:t>the impact of AEP-DSM’s design advantage –by offloading intra-node fault tolerance to the AEP </a:t>
            </a:r>
            <a:r>
              <a:rPr lang="en-US" altLang="zh-CN" dirty="0" err="1"/>
              <a:t>context,AEP</a:t>
            </a:r>
            <a:r>
              <a:rPr lang="en-US" altLang="zh-CN" dirty="0"/>
              <a:t>-DSM can eliminate flush and fence operations from </a:t>
            </a:r>
            <a:r>
              <a:rPr lang="en-US" altLang="zh-CN" dirty="0" err="1"/>
              <a:t>theintra</a:t>
            </a:r>
            <a:r>
              <a:rPr lang="en-US" altLang="zh-CN" dirty="0"/>
              <a:t>-node allocation fast path</a:t>
            </a:r>
          </a:p>
          <a:p>
            <a:endParaRPr lang="en-US" altLang="zh-CN" dirty="0"/>
          </a:p>
          <a:p>
            <a:endParaRPr lang="en-US" altLang="zh-CN" dirty="0"/>
          </a:p>
          <a:p>
            <a:endParaRPr lang="en-US" altLang="zh-CN" dirty="0"/>
          </a:p>
          <a:p>
            <a:r>
              <a:rPr lang="en-US" altLang="zh-CN" dirty="0"/>
              <a:t>For the memory allocator microbenchmark, we use the </a:t>
            </a:r>
            <a:r>
              <a:rPr lang="en-US" altLang="zh-CN" b="1" dirty="0" err="1"/>
              <a:t>threadtest</a:t>
            </a:r>
            <a:r>
              <a:rPr lang="en-US" altLang="zh-CN" dirty="0"/>
              <a:t> benchmark. The results show that AEP-DSM achieves up to a </a:t>
            </a:r>
            <a:r>
              <a:rPr lang="en-US" altLang="zh-CN" b="1" dirty="0"/>
              <a:t>13× throughput improvement</a:t>
            </a:r>
            <a:r>
              <a:rPr lang="en-US" altLang="zh-CN" dirty="0"/>
              <a:t> over CXL-SHM. In addition, AEP allows flexible customization of the intra-node allocator. We evaluate both bitmap-based and buddy-system-based designs, and find that the buddy system provides better scalability, so we use it in all subsequent experiments.</a:t>
            </a:r>
          </a:p>
          <a:p>
            <a:r>
              <a:rPr lang="en-US" altLang="zh-CN" dirty="0"/>
              <a:t>We further analyze AEP-DSM and find that cache flushes and memory fences account for less than 10% of total cost. This highlights a key advantage of our design: by offloading intra-node fault tolerance into the AEP context, AEP-DSM removes flush and fence operations from the fast path of intra-node allocation.</a:t>
            </a: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18</a:t>
            </a:fld>
            <a:endParaRPr lang="zh-CN" altLang="en-US"/>
          </a:p>
        </p:txBody>
      </p:sp>
    </p:spTree>
    <p:extLst>
      <p:ext uri="{BB962C8B-B14F-4D97-AF65-F5344CB8AC3E}">
        <p14:creationId xmlns:p14="http://schemas.microsoft.com/office/powerpoint/2010/main" val="49173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在内存传递测试中，我们对单内存对象和复杂数据结构对象的传递进行了分别测试，首先，在单内存对象传递测试中，</a:t>
            </a:r>
            <a:r>
              <a:rPr lang="en-US" altLang="zh-CN" dirty="0"/>
              <a:t>AEP-DSM</a:t>
            </a:r>
            <a:r>
              <a:rPr lang="zh-CN" altLang="en-US" dirty="0"/>
              <a:t>的</a:t>
            </a:r>
            <a:r>
              <a:rPr lang="en-US" altLang="zh-CN" dirty="0" err="1"/>
              <a:t>inttra</a:t>
            </a:r>
            <a:r>
              <a:rPr lang="en-US" altLang="zh-CN" dirty="0"/>
              <a:t>-node</a:t>
            </a:r>
            <a:r>
              <a:rPr lang="zh-CN" altLang="en-US" dirty="0"/>
              <a:t>传递性能相比于</a:t>
            </a:r>
            <a:r>
              <a:rPr lang="en-US" altLang="zh-CN" dirty="0"/>
              <a:t>CXL-SHM</a:t>
            </a:r>
            <a:r>
              <a:rPr lang="zh-CN" altLang="en-US" dirty="0"/>
              <a:t>高</a:t>
            </a:r>
            <a:r>
              <a:rPr lang="en-US" altLang="zh-CN" dirty="0"/>
              <a:t>14</a:t>
            </a:r>
            <a:r>
              <a:rPr lang="zh-CN" altLang="en-US" dirty="0"/>
              <a:t>倍，而跨节点传递性能与</a:t>
            </a:r>
            <a:r>
              <a:rPr lang="en-US" altLang="zh-CN" dirty="0"/>
              <a:t>CXL-SHM</a:t>
            </a:r>
            <a:r>
              <a:rPr lang="zh-CN" altLang="en-US" dirty="0"/>
              <a:t>相当，这说明了</a:t>
            </a:r>
            <a:r>
              <a:rPr lang="en-US" altLang="zh-CN" dirty="0"/>
              <a:t>AEP-DSM</a:t>
            </a:r>
            <a:r>
              <a:rPr lang="zh-CN" altLang="en-US" dirty="0"/>
              <a:t>的层级化设计的性能优势</a:t>
            </a:r>
            <a:endParaRPr lang="en-US" altLang="zh-CN" dirty="0"/>
          </a:p>
          <a:p>
            <a:endParaRPr lang="en-US" altLang="zh-CN" dirty="0"/>
          </a:p>
          <a:p>
            <a:r>
              <a:rPr lang="zh-CN" altLang="en-US" dirty="0"/>
              <a:t>而在跨节点传递一颗二叉树时，</a:t>
            </a:r>
            <a:r>
              <a:rPr lang="en-US" altLang="zh-CN" dirty="0"/>
              <a:t>AEP-DSM</a:t>
            </a:r>
            <a:r>
              <a:rPr lang="zh-CN" altLang="en-US" dirty="0"/>
              <a:t>相比于</a:t>
            </a:r>
            <a:r>
              <a:rPr lang="en-US" altLang="zh-CN" dirty="0"/>
              <a:t>CXL-SHM</a:t>
            </a:r>
            <a:r>
              <a:rPr lang="zh-CN" altLang="en-US" dirty="0"/>
              <a:t>性能提升了</a:t>
            </a:r>
            <a:r>
              <a:rPr lang="en-US" altLang="zh-CN" dirty="0"/>
              <a:t>12</a:t>
            </a:r>
            <a:r>
              <a:rPr lang="zh-CN" altLang="en-US" dirty="0"/>
              <a:t>倍，这是由于</a:t>
            </a:r>
            <a:r>
              <a:rPr lang="en-US" altLang="zh-CN" dirty="0"/>
              <a:t>AEP-DSM</a:t>
            </a:r>
            <a:r>
              <a:rPr lang="zh-CN" altLang="en-US" dirty="0"/>
              <a:t>的</a:t>
            </a:r>
            <a:r>
              <a:rPr lang="en-US" altLang="zh-CN" dirty="0"/>
              <a:t>root-only </a:t>
            </a:r>
            <a:r>
              <a:rPr lang="en-US" altLang="zh-CN" dirty="0" err="1"/>
              <a:t>refcount</a:t>
            </a:r>
            <a:r>
              <a:rPr lang="zh-CN" altLang="en-US" dirty="0"/>
              <a:t>设计，该设计使得只有二叉树的根节点需要进行跨节点引用计数更新，其他子节点的访问无需引用计数更新</a:t>
            </a:r>
            <a:endParaRPr lang="en-US" altLang="zh-CN" dirty="0"/>
          </a:p>
          <a:p>
            <a:endParaRPr lang="en-US" altLang="zh-CN" dirty="0"/>
          </a:p>
          <a:p>
            <a:endParaRPr lang="en-US" altLang="zh-CN" dirty="0"/>
          </a:p>
          <a:p>
            <a:r>
              <a:rPr lang="en-US" altLang="zh-CN" dirty="0"/>
              <a:t>In the memory transfer evaluation, we separately test single-object transfers and complex data structure transfers.</a:t>
            </a:r>
          </a:p>
          <a:p>
            <a:r>
              <a:rPr lang="en-US" altLang="zh-CN" dirty="0"/>
              <a:t>For single-object transfers, AEP-DSM achieves a </a:t>
            </a:r>
            <a:r>
              <a:rPr lang="en-US" altLang="zh-CN" b="1" dirty="0"/>
              <a:t>14× speedup</a:t>
            </a:r>
            <a:r>
              <a:rPr lang="en-US" altLang="zh-CN" dirty="0"/>
              <a:t> over CXL-SHM for intra-node transfers, while maintaining comparable performance for cross-node transfers. This demonstrates the efficiency of our hierarchical design.</a:t>
            </a:r>
          </a:p>
          <a:p>
            <a:r>
              <a:rPr lang="en-US" altLang="zh-CN" dirty="0"/>
              <a:t>For cross-node transfers of a binary tree, AEP-DSM achieves up to a </a:t>
            </a:r>
            <a:r>
              <a:rPr lang="en-US" altLang="zh-CN" b="1" dirty="0"/>
              <a:t>12× performance improvement</a:t>
            </a:r>
            <a:r>
              <a:rPr lang="en-US" altLang="zh-CN" dirty="0"/>
              <a:t>. This gain comes from our </a:t>
            </a:r>
            <a:r>
              <a:rPr lang="en-US" altLang="zh-CN" b="1" dirty="0"/>
              <a:t>root-only reference counting</a:t>
            </a:r>
            <a:r>
              <a:rPr lang="en-US" altLang="zh-CN" dirty="0"/>
              <a:t> design, where only the root node requires cross-node reference updates, while all internal nodes avoid costly reference tracking.</a:t>
            </a: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19</a:t>
            </a:fld>
            <a:endParaRPr lang="zh-CN" altLang="en-US"/>
          </a:p>
        </p:txBody>
      </p:sp>
    </p:spTree>
    <p:extLst>
      <p:ext uri="{BB962C8B-B14F-4D97-AF65-F5344CB8AC3E}">
        <p14:creationId xmlns:p14="http://schemas.microsoft.com/office/powerpoint/2010/main" val="7103718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a:t>
            </a:r>
            <a:r>
              <a:rPr lang="en-US" altLang="zh-CN" dirty="0"/>
              <a:t>AEP-DSM</a:t>
            </a:r>
            <a:r>
              <a:rPr lang="zh-CN" altLang="en-US" dirty="0"/>
              <a:t>，我们实现了一个</a:t>
            </a:r>
            <a:r>
              <a:rPr lang="en-US" altLang="zh-CN" dirty="0"/>
              <a:t>KV</a:t>
            </a:r>
            <a:r>
              <a:rPr lang="zh-CN" altLang="en-US" dirty="0"/>
              <a:t>存储，来衡量其在真实负载下的性能，随着写比例的增高，</a:t>
            </a:r>
            <a:r>
              <a:rPr lang="en-US" altLang="zh-CN" dirty="0"/>
              <a:t>AEP-DSM</a:t>
            </a:r>
            <a:r>
              <a:rPr lang="zh-CN" altLang="en-US" dirty="0"/>
              <a:t>的性能提升逐渐增大，这是因为当全读时，负载仅局限于远程内存读，与内存分配无关，而随着写负载增大，内存分配比例增高，</a:t>
            </a:r>
            <a:r>
              <a:rPr lang="en-US" altLang="zh-CN" dirty="0"/>
              <a:t>AEP-DSM</a:t>
            </a:r>
            <a:r>
              <a:rPr lang="zh-CN" altLang="en-US" dirty="0"/>
              <a:t>的优势得到显现，最终，在全写的场景下，</a:t>
            </a:r>
            <a:r>
              <a:rPr lang="en-US" altLang="zh-CN" dirty="0"/>
              <a:t>AEP-DSM</a:t>
            </a:r>
            <a:r>
              <a:rPr lang="zh-CN" altLang="en-US" dirty="0"/>
              <a:t>相比于</a:t>
            </a:r>
            <a:r>
              <a:rPr lang="en-US" altLang="zh-CN" dirty="0"/>
              <a:t>CXL-SHM</a:t>
            </a:r>
            <a:r>
              <a:rPr lang="zh-CN" altLang="en-US" dirty="0"/>
              <a:t>提升两倍左右。</a:t>
            </a:r>
            <a:endParaRPr lang="en-US" altLang="zh-CN" dirty="0"/>
          </a:p>
          <a:p>
            <a:endParaRPr lang="en-US" altLang="zh-CN" dirty="0"/>
          </a:p>
          <a:p>
            <a:endParaRPr lang="en-US" altLang="zh-CN" dirty="0"/>
          </a:p>
          <a:p>
            <a:r>
              <a:rPr lang="en-US" altLang="zh-CN" dirty="0"/>
              <a:t>Based on AEP-DSM, we build a key-value store to evaluate performance under realistic workloads.</a:t>
            </a:r>
          </a:p>
          <a:p>
            <a:r>
              <a:rPr lang="en-US" altLang="zh-CN" dirty="0"/>
              <a:t>We observe that the performance gain of AEP-DSM increases as the write ratio grows. This is because under read-only workloads, the system is dominated by remote memory accesses and is largely independent of memory allocation. However, as the write intensity increases, memory allocation becomes a larger fraction of the workload, allowing AEP-DSM’s advantages to emerge.</a:t>
            </a:r>
          </a:p>
          <a:p>
            <a:r>
              <a:rPr lang="en-US" altLang="zh-CN" dirty="0"/>
              <a:t>Ultimately, in a write-only scenario, AEP-DSM achieves around a </a:t>
            </a:r>
            <a:r>
              <a:rPr lang="en-US" altLang="zh-CN" b="1" dirty="0"/>
              <a:t>2× performance improvement</a:t>
            </a:r>
            <a:r>
              <a:rPr lang="en-US" altLang="zh-CN" dirty="0"/>
              <a:t> over CXL-SHM.</a:t>
            </a: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20</a:t>
            </a:fld>
            <a:endParaRPr lang="zh-CN" altLang="en-US"/>
          </a:p>
        </p:txBody>
      </p:sp>
    </p:spTree>
    <p:extLst>
      <p:ext uri="{BB962C8B-B14F-4D97-AF65-F5344CB8AC3E}">
        <p14:creationId xmlns:p14="http://schemas.microsoft.com/office/powerpoint/2010/main" val="3262088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when functions solely communicate within a single </a:t>
            </a:r>
            <a:r>
              <a:rPr lang="en-US" altLang="zh-CN" dirty="0" err="1"/>
              <a:t>node.result</a:t>
            </a:r>
            <a:r>
              <a:rPr lang="en-US" altLang="zh-CN" dirty="0"/>
              <a:t> shows that both AEP-DSM and CXL-SHM out-perform TCP-based communication, underscoring the advantage of DSM for function interaction. In the chain </a:t>
            </a:r>
            <a:r>
              <a:rPr lang="en-US" altLang="zh-CN" dirty="0" err="1"/>
              <a:t>benchmark,AEP</a:t>
            </a:r>
            <a:r>
              <a:rPr lang="en-US" altLang="zh-CN" dirty="0"/>
              <a:t>-DSM yields a 1.20x speedup over CXL-SHM, whereas a more substantial 2.46x improvement is observed for PageRank</a:t>
            </a:r>
            <a:r>
              <a:rPr lang="zh-CN" altLang="en-US" dirty="0"/>
              <a:t>，在进一步时间分解中我们发现，尽管内存传递部分的提升比例更大，但是由于其占总耗时比例低，因此不构成主要瓶颈，而内存分配过程由于耗时占比高，因此主导性能提升。更进一步的测试也能证明这一点：随着</a:t>
            </a:r>
            <a:r>
              <a:rPr lang="en-US" altLang="zh-CN" dirty="0" err="1"/>
              <a:t>pagerank</a:t>
            </a:r>
            <a:r>
              <a:rPr lang="zh-CN" altLang="en-US" dirty="0"/>
              <a:t>的工作集变大，性能提升越来越明显。</a:t>
            </a:r>
            <a:endParaRPr lang="en-US" altLang="zh-CN" dirty="0"/>
          </a:p>
          <a:p>
            <a:endParaRPr lang="en-US" altLang="zh-CN" dirty="0"/>
          </a:p>
          <a:p>
            <a:r>
              <a:rPr lang="zh-CN" altLang="en-US" dirty="0"/>
              <a:t>同样的规律也可以在跨节点测试中发现：在跨节点</a:t>
            </a:r>
            <a:r>
              <a:rPr lang="en-US" altLang="zh-CN" dirty="0"/>
              <a:t>serverless chain</a:t>
            </a:r>
            <a:r>
              <a:rPr lang="zh-CN" altLang="en-US" dirty="0"/>
              <a:t>测试中，随着本地节点通信比例降低，</a:t>
            </a:r>
            <a:r>
              <a:rPr lang="en-US" altLang="zh-CN" dirty="0"/>
              <a:t>AEP-DSM</a:t>
            </a:r>
            <a:r>
              <a:rPr lang="zh-CN" altLang="en-US" dirty="0"/>
              <a:t>与</a:t>
            </a:r>
            <a:r>
              <a:rPr lang="en-US" altLang="zh-CN" dirty="0"/>
              <a:t>CXL-SHM</a:t>
            </a:r>
            <a:r>
              <a:rPr lang="zh-CN" altLang="en-US" dirty="0"/>
              <a:t>性能趋同，这与内存传递性能测试预期一致，而对于</a:t>
            </a:r>
            <a:r>
              <a:rPr lang="en-US" altLang="zh-CN" dirty="0" err="1"/>
              <a:t>pagerank</a:t>
            </a:r>
            <a:r>
              <a:rPr lang="en-US" altLang="zh-CN" dirty="0"/>
              <a:t> </a:t>
            </a:r>
            <a:r>
              <a:rPr lang="zh-CN" altLang="en-US" dirty="0"/>
              <a:t>测试，即便通信全部跨节点，</a:t>
            </a:r>
            <a:r>
              <a:rPr lang="en-US" altLang="zh-CN" dirty="0"/>
              <a:t>AEP-DSM</a:t>
            </a:r>
            <a:r>
              <a:rPr lang="zh-CN" altLang="en-US" dirty="0"/>
              <a:t>性能仍然优于</a:t>
            </a:r>
            <a:r>
              <a:rPr lang="en-US" altLang="zh-CN" dirty="0" err="1"/>
              <a:t>CXl</a:t>
            </a:r>
            <a:r>
              <a:rPr lang="en-US" altLang="zh-CN" dirty="0"/>
              <a:t>-SHM</a:t>
            </a:r>
            <a:r>
              <a:rPr lang="zh-CN" altLang="en-US" dirty="0"/>
              <a:t>，这意味着，对于内存密集型负载，</a:t>
            </a:r>
            <a:r>
              <a:rPr lang="en-US" altLang="zh-CN" dirty="0"/>
              <a:t>DSM</a:t>
            </a:r>
            <a:r>
              <a:rPr lang="zh-CN" altLang="en-US" dirty="0"/>
              <a:t>的软件管理开销已经成为了瓶颈，而不再是数据传递。</a:t>
            </a:r>
            <a:endParaRPr lang="en-US" altLang="zh-CN" dirty="0"/>
          </a:p>
          <a:p>
            <a:endParaRPr lang="en-US" altLang="zh-CN" dirty="0"/>
          </a:p>
          <a:p>
            <a:endParaRPr lang="en-US" altLang="zh-CN" dirty="0"/>
          </a:p>
          <a:p>
            <a:r>
              <a:rPr lang="en-US" altLang="zh-CN" dirty="0"/>
              <a:t>In serverless benchmark, When functions communicate within a single node, both AEP-DSM and CXL-SHM significantly outperform TCP-based communication, highlighting the benefit of DSM for function interaction.</a:t>
            </a:r>
          </a:p>
          <a:p>
            <a:r>
              <a:rPr lang="en-US" altLang="zh-CN" dirty="0"/>
              <a:t>In the </a:t>
            </a:r>
            <a:r>
              <a:rPr lang="en-US" altLang="zh-CN" b="1" dirty="0"/>
              <a:t>chain benchmark</a:t>
            </a:r>
            <a:r>
              <a:rPr lang="en-US" altLang="zh-CN" dirty="0"/>
              <a:t>, AEP-DSM achieves a </a:t>
            </a:r>
            <a:r>
              <a:rPr lang="en-US" altLang="zh-CN" b="1" dirty="0"/>
              <a:t>1.20× speedup</a:t>
            </a:r>
            <a:r>
              <a:rPr lang="en-US" altLang="zh-CN" dirty="0"/>
              <a:t> over CXL-SHM, while in </a:t>
            </a:r>
            <a:r>
              <a:rPr lang="en-US" altLang="zh-CN" b="1" dirty="0"/>
              <a:t>PageRank</a:t>
            </a:r>
            <a:r>
              <a:rPr lang="en-US" altLang="zh-CN" dirty="0"/>
              <a:t>, the improvement increases to </a:t>
            </a:r>
            <a:r>
              <a:rPr lang="en-US" altLang="zh-CN" b="1" dirty="0"/>
              <a:t>2.46×</a:t>
            </a:r>
            <a:r>
              <a:rPr lang="en-US" altLang="zh-CN" dirty="0"/>
              <a:t>. Further breakdown shows that although memory transfer brings larger relative gains, it contributes little to overall runtime due to its small proportion. Instead, memory allocation dominates the execution time and becomes the main source of performance improvement. This is further confirmed by scaling experiments, where the performance gain increases as PageRank’s working set grows.</a:t>
            </a:r>
          </a:p>
          <a:p>
            <a:r>
              <a:rPr lang="en-US" altLang="zh-CN" dirty="0"/>
              <a:t>A similar pattern appears in cross-node experiments. In the serverless chain benchmark, as the fraction of local communication decreases, AEP-DSM’s performance converges with CXL-SHM, consistent with expectations from memory transfer behavior. In contrast, for PageRank, AEP-DSM remains superior even when all communication is cross-node. This indicates that for memory-intensive workloads, DSM software management overhead—not data movement—has become the dominant bottleneck.</a:t>
            </a: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21</a:t>
            </a:fld>
            <a:endParaRPr lang="zh-CN" altLang="en-US"/>
          </a:p>
        </p:txBody>
      </p:sp>
    </p:spTree>
    <p:extLst>
      <p:ext uri="{BB962C8B-B14F-4D97-AF65-F5344CB8AC3E}">
        <p14:creationId xmlns:p14="http://schemas.microsoft.com/office/powerpoint/2010/main" val="25454187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So in this research, we propose AEP, </a:t>
            </a:r>
            <a:r>
              <a:rPr lang="en-US" altLang="zh-Hans" sz="1200" dirty="0">
                <a:latin typeface="Calibri" panose="020F0502020204030204" pitchFamily="34" charset="0"/>
                <a:ea typeface="Calibri" panose="020F0502020204030204" pitchFamily="34" charset="0"/>
                <a:cs typeface="Calibri" panose="020F0502020204030204" pitchFamily="34" charset="0"/>
              </a:rPr>
              <a:t>a light-weight kernel-assisted mechanism that guarantees atomic completion of DSM allocator operations, tolerating </a:t>
            </a:r>
            <a:r>
              <a:rPr lang="en-US" altLang="zh-Hans" sz="1200" b="1" dirty="0">
                <a:solidFill>
                  <a:srgbClr val="0432FF"/>
                </a:solidFill>
                <a:latin typeface="Calibri" panose="020F0502020204030204" pitchFamily="34" charset="0"/>
                <a:ea typeface="Calibri" panose="020F0502020204030204" pitchFamily="34" charset="0"/>
                <a:cs typeface="Calibri" panose="020F0502020204030204" pitchFamily="34" charset="0"/>
              </a:rPr>
              <a:t>intra-node partial failures</a:t>
            </a:r>
            <a:r>
              <a:rPr lang="en-US" altLang="zh-Hans" sz="1200" dirty="0">
                <a:latin typeface="Calibri" panose="020F0502020204030204" pitchFamily="34" charset="0"/>
                <a:ea typeface="Calibri" panose="020F0502020204030204" pitchFamily="34" charset="0"/>
                <a:cs typeface="Calibri" panose="020F0502020204030204" pitchFamily="34" charset="0"/>
              </a:rPr>
              <a:t> without costly distributed coordination, it decouple intra-node and inter-node management and </a:t>
            </a:r>
            <a:r>
              <a:rPr lang="en-US" altLang="zh-Hans" sz="1200" b="1" dirty="0">
                <a:latin typeface="Calibri" panose="020F0502020204030204" pitchFamily="34" charset="0"/>
                <a:ea typeface="Calibri" panose="020F0502020204030204" pitchFamily="34" charset="0"/>
                <a:cs typeface="Calibri" panose="020F0502020204030204" pitchFamily="34" charset="0"/>
              </a:rPr>
              <a:t>Supports customizable </a:t>
            </a:r>
            <a:r>
              <a:rPr lang="en-US" altLang="zh-Hans" sz="1200" dirty="0">
                <a:latin typeface="Calibri" panose="020F0502020204030204" pitchFamily="34" charset="0"/>
                <a:ea typeface="Calibri" panose="020F0502020204030204" pitchFamily="34" charset="0"/>
                <a:cs typeface="Calibri" panose="020F0502020204030204" pitchFamily="34" charset="0"/>
              </a:rPr>
              <a:t>memory allocation algorithms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Hans" sz="1200" dirty="0">
              <a:latin typeface="Calibri" panose="020F0502020204030204" pitchFamily="34" charset="0"/>
              <a:ea typeface="Calibri" panose="020F0502020204030204" pitchFamily="34" charset="0"/>
              <a:cs typeface="Calibri" panose="020F0502020204030204" pitchFamily="34" charset="0"/>
            </a:endParaRPr>
          </a:p>
          <a:p>
            <a:endParaRPr lang="zh-CN" altLang="en-US" dirty="0"/>
          </a:p>
        </p:txBody>
      </p:sp>
      <p:sp>
        <p:nvSpPr>
          <p:cNvPr id="4" name="灯片编号占位符 3"/>
          <p:cNvSpPr>
            <a:spLocks noGrp="1"/>
          </p:cNvSpPr>
          <p:nvPr>
            <p:ph type="sldNum" sz="quarter" idx="5"/>
          </p:nvPr>
        </p:nvSpPr>
        <p:spPr/>
        <p:txBody>
          <a:bodyPr/>
          <a:lstStyle/>
          <a:p>
            <a:fld id="{EF16F632-9E5A-4BCB-8828-44EC5B8D49D6}" type="slidenum">
              <a:rPr lang="zh-CN" altLang="en-US" smtClean="0"/>
              <a:t>23</a:t>
            </a:fld>
            <a:endParaRPr lang="zh-CN" altLang="en-US"/>
          </a:p>
        </p:txBody>
      </p:sp>
    </p:spTree>
    <p:extLst>
      <p:ext uri="{BB962C8B-B14F-4D97-AF65-F5344CB8AC3E}">
        <p14:creationId xmlns:p14="http://schemas.microsoft.com/office/powerpoint/2010/main" val="2942449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C59286-6902-47CC-9AFF-E548FCA74FD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F648B80-61AB-48E9-AA5D-0E3568EF92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9955CAF-6875-4845-8BFD-02770074E000}"/>
              </a:ext>
            </a:extLst>
          </p:cNvPr>
          <p:cNvSpPr>
            <a:spLocks noGrp="1"/>
          </p:cNvSpPr>
          <p:nvPr>
            <p:ph type="dt" sz="half" idx="10"/>
          </p:nvPr>
        </p:nvSpPr>
        <p:spPr/>
        <p:txBody>
          <a:bodyPr/>
          <a:lstStyle/>
          <a:p>
            <a:fld id="{81DE8934-928D-4F18-B359-3EFE3425DAEE}"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FE783960-8E1D-42D3-983C-1BB6A3B3A5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11084B-DBA7-4402-84B7-06F1239C07FC}"/>
              </a:ext>
            </a:extLst>
          </p:cNvPr>
          <p:cNvSpPr>
            <a:spLocks noGrp="1"/>
          </p:cNvSpPr>
          <p:nvPr>
            <p:ph type="sldNum" sz="quarter" idx="12"/>
          </p:nvPr>
        </p:nvSpPr>
        <p:spPr/>
        <p:txBody>
          <a:bodyPr/>
          <a:lstStyle/>
          <a:p>
            <a:fld id="{A3D37FC4-53A4-4CC6-AACA-CB2A70A24584}" type="slidenum">
              <a:rPr lang="zh-CN" altLang="en-US" smtClean="0"/>
              <a:t>‹#›</a:t>
            </a:fld>
            <a:endParaRPr lang="zh-CN" altLang="en-US"/>
          </a:p>
        </p:txBody>
      </p:sp>
    </p:spTree>
    <p:extLst>
      <p:ext uri="{BB962C8B-B14F-4D97-AF65-F5344CB8AC3E}">
        <p14:creationId xmlns:p14="http://schemas.microsoft.com/office/powerpoint/2010/main" val="2426123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FD926C-72F3-473F-BF92-5CDA3C24BAA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5FCEBB8-A811-472D-8688-DCC7500D994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EF1A4A4-FEA5-4B00-9297-6EAEC51DE78F}"/>
              </a:ext>
            </a:extLst>
          </p:cNvPr>
          <p:cNvSpPr>
            <a:spLocks noGrp="1"/>
          </p:cNvSpPr>
          <p:nvPr>
            <p:ph type="dt" sz="half" idx="10"/>
          </p:nvPr>
        </p:nvSpPr>
        <p:spPr/>
        <p:txBody>
          <a:bodyPr/>
          <a:lstStyle/>
          <a:p>
            <a:fld id="{81DE8934-928D-4F18-B359-3EFE3425DAEE}"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7DE7A724-F2FC-4CCB-93BE-DF9A5DD3F7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25D5CCC-1FBC-422A-A3DA-9D595955844E}"/>
              </a:ext>
            </a:extLst>
          </p:cNvPr>
          <p:cNvSpPr>
            <a:spLocks noGrp="1"/>
          </p:cNvSpPr>
          <p:nvPr>
            <p:ph type="sldNum" sz="quarter" idx="12"/>
          </p:nvPr>
        </p:nvSpPr>
        <p:spPr/>
        <p:txBody>
          <a:bodyPr/>
          <a:lstStyle/>
          <a:p>
            <a:fld id="{A3D37FC4-53A4-4CC6-AACA-CB2A70A24584}" type="slidenum">
              <a:rPr lang="zh-CN" altLang="en-US" smtClean="0"/>
              <a:t>‹#›</a:t>
            </a:fld>
            <a:endParaRPr lang="zh-CN" altLang="en-US"/>
          </a:p>
        </p:txBody>
      </p:sp>
    </p:spTree>
    <p:extLst>
      <p:ext uri="{BB962C8B-B14F-4D97-AF65-F5344CB8AC3E}">
        <p14:creationId xmlns:p14="http://schemas.microsoft.com/office/powerpoint/2010/main" val="1639779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45E287-8D0D-4166-B62A-76A4F2E4690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315E231-1455-4587-AADB-BD5F3A52DF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222A9B5-CF8E-46CE-8A79-A88B15A7C2C8}"/>
              </a:ext>
            </a:extLst>
          </p:cNvPr>
          <p:cNvSpPr>
            <a:spLocks noGrp="1"/>
          </p:cNvSpPr>
          <p:nvPr>
            <p:ph type="dt" sz="half" idx="10"/>
          </p:nvPr>
        </p:nvSpPr>
        <p:spPr/>
        <p:txBody>
          <a:bodyPr/>
          <a:lstStyle/>
          <a:p>
            <a:fld id="{81DE8934-928D-4F18-B359-3EFE3425DAEE}"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5197FB5A-EC45-461D-92E1-5B111770F64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93EB7C1-22F4-4F05-8F8F-D4737D722D0A}"/>
              </a:ext>
            </a:extLst>
          </p:cNvPr>
          <p:cNvSpPr>
            <a:spLocks noGrp="1"/>
          </p:cNvSpPr>
          <p:nvPr>
            <p:ph type="sldNum" sz="quarter" idx="12"/>
          </p:nvPr>
        </p:nvSpPr>
        <p:spPr/>
        <p:txBody>
          <a:bodyPr/>
          <a:lstStyle/>
          <a:p>
            <a:fld id="{A3D37FC4-53A4-4CC6-AACA-CB2A70A24584}" type="slidenum">
              <a:rPr lang="zh-CN" altLang="en-US" smtClean="0"/>
              <a:t>‹#›</a:t>
            </a:fld>
            <a:endParaRPr lang="zh-CN" altLang="en-US"/>
          </a:p>
        </p:txBody>
      </p:sp>
    </p:spTree>
    <p:extLst>
      <p:ext uri="{BB962C8B-B14F-4D97-AF65-F5344CB8AC3E}">
        <p14:creationId xmlns:p14="http://schemas.microsoft.com/office/powerpoint/2010/main" val="3866659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F85830-D811-40C4-926E-AF18A3D54BA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A2BCC25-7EBA-4F02-A3DF-1DE07B4E53E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2B4C827-B929-42A6-B720-21E2C8C1C44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1DB6EAB-0044-4421-9FEF-C8D9FCECCB2C}"/>
              </a:ext>
            </a:extLst>
          </p:cNvPr>
          <p:cNvSpPr>
            <a:spLocks noGrp="1"/>
          </p:cNvSpPr>
          <p:nvPr>
            <p:ph type="dt" sz="half" idx="10"/>
          </p:nvPr>
        </p:nvSpPr>
        <p:spPr/>
        <p:txBody>
          <a:bodyPr/>
          <a:lstStyle/>
          <a:p>
            <a:fld id="{81DE8934-928D-4F18-B359-3EFE3425DAEE}" type="datetimeFigureOut">
              <a:rPr lang="zh-CN" altLang="en-US" smtClean="0"/>
              <a:t>2026/4/22</a:t>
            </a:fld>
            <a:endParaRPr lang="zh-CN" altLang="en-US"/>
          </a:p>
        </p:txBody>
      </p:sp>
      <p:sp>
        <p:nvSpPr>
          <p:cNvPr id="6" name="页脚占位符 5">
            <a:extLst>
              <a:ext uri="{FF2B5EF4-FFF2-40B4-BE49-F238E27FC236}">
                <a16:creationId xmlns:a16="http://schemas.microsoft.com/office/drawing/2014/main" id="{87A1EB6E-C02C-431C-8FB1-D0327162A9E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9AC1A35-9B2B-4B8C-9BBE-23320293D5BB}"/>
              </a:ext>
            </a:extLst>
          </p:cNvPr>
          <p:cNvSpPr>
            <a:spLocks noGrp="1"/>
          </p:cNvSpPr>
          <p:nvPr>
            <p:ph type="sldNum" sz="quarter" idx="12"/>
          </p:nvPr>
        </p:nvSpPr>
        <p:spPr/>
        <p:txBody>
          <a:bodyPr/>
          <a:lstStyle/>
          <a:p>
            <a:fld id="{A3D37FC4-53A4-4CC6-AACA-CB2A70A24584}" type="slidenum">
              <a:rPr lang="zh-CN" altLang="en-US" smtClean="0"/>
              <a:t>‹#›</a:t>
            </a:fld>
            <a:endParaRPr lang="zh-CN" altLang="en-US"/>
          </a:p>
        </p:txBody>
      </p:sp>
    </p:spTree>
    <p:extLst>
      <p:ext uri="{BB962C8B-B14F-4D97-AF65-F5344CB8AC3E}">
        <p14:creationId xmlns:p14="http://schemas.microsoft.com/office/powerpoint/2010/main" val="1874920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628A0B-5071-41EA-8A87-852AB006D35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B106496-024D-471C-A058-3106076BB3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609A024-84D6-4057-A314-F3B606DA548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4ED3B9B-E8A5-4FE6-ACD3-32919B65C3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D5FC57E-9585-43DB-AF7A-548E5202EED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365E578-EDFD-485A-87EB-3B6BEBE25915}"/>
              </a:ext>
            </a:extLst>
          </p:cNvPr>
          <p:cNvSpPr>
            <a:spLocks noGrp="1"/>
          </p:cNvSpPr>
          <p:nvPr>
            <p:ph type="dt" sz="half" idx="10"/>
          </p:nvPr>
        </p:nvSpPr>
        <p:spPr/>
        <p:txBody>
          <a:bodyPr/>
          <a:lstStyle/>
          <a:p>
            <a:fld id="{81DE8934-928D-4F18-B359-3EFE3425DAEE}" type="datetimeFigureOut">
              <a:rPr lang="zh-CN" altLang="en-US" smtClean="0"/>
              <a:t>2026/4/22</a:t>
            </a:fld>
            <a:endParaRPr lang="zh-CN" altLang="en-US"/>
          </a:p>
        </p:txBody>
      </p:sp>
      <p:sp>
        <p:nvSpPr>
          <p:cNvPr id="8" name="页脚占位符 7">
            <a:extLst>
              <a:ext uri="{FF2B5EF4-FFF2-40B4-BE49-F238E27FC236}">
                <a16:creationId xmlns:a16="http://schemas.microsoft.com/office/drawing/2014/main" id="{36C64935-6DEE-4C69-9AAB-6BB2F45E9B5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1B4C4EA-E1BB-419B-9765-9423EF041BC9}"/>
              </a:ext>
            </a:extLst>
          </p:cNvPr>
          <p:cNvSpPr>
            <a:spLocks noGrp="1"/>
          </p:cNvSpPr>
          <p:nvPr>
            <p:ph type="sldNum" sz="quarter" idx="12"/>
          </p:nvPr>
        </p:nvSpPr>
        <p:spPr/>
        <p:txBody>
          <a:bodyPr/>
          <a:lstStyle/>
          <a:p>
            <a:fld id="{A3D37FC4-53A4-4CC6-AACA-CB2A70A24584}" type="slidenum">
              <a:rPr lang="zh-CN" altLang="en-US" smtClean="0"/>
              <a:t>‹#›</a:t>
            </a:fld>
            <a:endParaRPr lang="zh-CN" altLang="en-US"/>
          </a:p>
        </p:txBody>
      </p:sp>
    </p:spTree>
    <p:extLst>
      <p:ext uri="{BB962C8B-B14F-4D97-AF65-F5344CB8AC3E}">
        <p14:creationId xmlns:p14="http://schemas.microsoft.com/office/powerpoint/2010/main" val="2912045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39E25D-5319-420D-9C90-CB2CDB7E2F9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31D30E4-B58A-47B0-A539-B0B5851F67BD}"/>
              </a:ext>
            </a:extLst>
          </p:cNvPr>
          <p:cNvSpPr>
            <a:spLocks noGrp="1"/>
          </p:cNvSpPr>
          <p:nvPr>
            <p:ph type="dt" sz="half" idx="10"/>
          </p:nvPr>
        </p:nvSpPr>
        <p:spPr/>
        <p:txBody>
          <a:bodyPr/>
          <a:lstStyle/>
          <a:p>
            <a:fld id="{81DE8934-928D-4F18-B359-3EFE3425DAEE}" type="datetimeFigureOut">
              <a:rPr lang="zh-CN" altLang="en-US" smtClean="0"/>
              <a:t>2026/4/22</a:t>
            </a:fld>
            <a:endParaRPr lang="zh-CN" altLang="en-US"/>
          </a:p>
        </p:txBody>
      </p:sp>
      <p:sp>
        <p:nvSpPr>
          <p:cNvPr id="4" name="页脚占位符 3">
            <a:extLst>
              <a:ext uri="{FF2B5EF4-FFF2-40B4-BE49-F238E27FC236}">
                <a16:creationId xmlns:a16="http://schemas.microsoft.com/office/drawing/2014/main" id="{7A03D6E1-DAEA-464B-9272-24F18691CA1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DF10B14-8AE4-4147-9A41-401844CCC366}"/>
              </a:ext>
            </a:extLst>
          </p:cNvPr>
          <p:cNvSpPr>
            <a:spLocks noGrp="1"/>
          </p:cNvSpPr>
          <p:nvPr>
            <p:ph type="sldNum" sz="quarter" idx="12"/>
          </p:nvPr>
        </p:nvSpPr>
        <p:spPr/>
        <p:txBody>
          <a:bodyPr/>
          <a:lstStyle/>
          <a:p>
            <a:fld id="{A3D37FC4-53A4-4CC6-AACA-CB2A70A24584}" type="slidenum">
              <a:rPr lang="zh-CN" altLang="en-US" smtClean="0"/>
              <a:t>‹#›</a:t>
            </a:fld>
            <a:endParaRPr lang="zh-CN" altLang="en-US"/>
          </a:p>
        </p:txBody>
      </p:sp>
    </p:spTree>
    <p:extLst>
      <p:ext uri="{BB962C8B-B14F-4D97-AF65-F5344CB8AC3E}">
        <p14:creationId xmlns:p14="http://schemas.microsoft.com/office/powerpoint/2010/main" val="4094070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E961A5C-0927-453C-B233-E8C93ECF5A64}"/>
              </a:ext>
            </a:extLst>
          </p:cNvPr>
          <p:cNvSpPr>
            <a:spLocks noGrp="1"/>
          </p:cNvSpPr>
          <p:nvPr>
            <p:ph type="dt" sz="half" idx="10"/>
          </p:nvPr>
        </p:nvSpPr>
        <p:spPr/>
        <p:txBody>
          <a:bodyPr/>
          <a:lstStyle/>
          <a:p>
            <a:fld id="{81DE8934-928D-4F18-B359-3EFE3425DAEE}" type="datetimeFigureOut">
              <a:rPr lang="zh-CN" altLang="en-US" smtClean="0"/>
              <a:t>2026/4/22</a:t>
            </a:fld>
            <a:endParaRPr lang="zh-CN" altLang="en-US"/>
          </a:p>
        </p:txBody>
      </p:sp>
      <p:sp>
        <p:nvSpPr>
          <p:cNvPr id="3" name="页脚占位符 2">
            <a:extLst>
              <a:ext uri="{FF2B5EF4-FFF2-40B4-BE49-F238E27FC236}">
                <a16:creationId xmlns:a16="http://schemas.microsoft.com/office/drawing/2014/main" id="{A90D5BEC-99AE-489E-B045-2B0324C9C05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7289CCF-C465-4088-B77B-044A1282D090}"/>
              </a:ext>
            </a:extLst>
          </p:cNvPr>
          <p:cNvSpPr>
            <a:spLocks noGrp="1"/>
          </p:cNvSpPr>
          <p:nvPr>
            <p:ph type="sldNum" sz="quarter" idx="12"/>
          </p:nvPr>
        </p:nvSpPr>
        <p:spPr/>
        <p:txBody>
          <a:bodyPr/>
          <a:lstStyle/>
          <a:p>
            <a:fld id="{A3D37FC4-53A4-4CC6-AACA-CB2A70A24584}" type="slidenum">
              <a:rPr lang="zh-CN" altLang="en-US" smtClean="0"/>
              <a:t>‹#›</a:t>
            </a:fld>
            <a:endParaRPr lang="zh-CN" altLang="en-US"/>
          </a:p>
        </p:txBody>
      </p:sp>
    </p:spTree>
    <p:extLst>
      <p:ext uri="{BB962C8B-B14F-4D97-AF65-F5344CB8AC3E}">
        <p14:creationId xmlns:p14="http://schemas.microsoft.com/office/powerpoint/2010/main" val="2876819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050151-EDF2-478E-BCEB-DB17C68E065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AB9F8BC-92E4-4A37-9B29-679BC3CFF4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5A0A2DB-C623-4988-9118-D3F520C0EB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0C3FDA4-C843-49D6-AC3E-A7E7C48386B6}"/>
              </a:ext>
            </a:extLst>
          </p:cNvPr>
          <p:cNvSpPr>
            <a:spLocks noGrp="1"/>
          </p:cNvSpPr>
          <p:nvPr>
            <p:ph type="dt" sz="half" idx="10"/>
          </p:nvPr>
        </p:nvSpPr>
        <p:spPr/>
        <p:txBody>
          <a:bodyPr/>
          <a:lstStyle/>
          <a:p>
            <a:fld id="{81DE8934-928D-4F18-B359-3EFE3425DAEE}" type="datetimeFigureOut">
              <a:rPr lang="zh-CN" altLang="en-US" smtClean="0"/>
              <a:t>2026/4/22</a:t>
            </a:fld>
            <a:endParaRPr lang="zh-CN" altLang="en-US"/>
          </a:p>
        </p:txBody>
      </p:sp>
      <p:sp>
        <p:nvSpPr>
          <p:cNvPr id="6" name="页脚占位符 5">
            <a:extLst>
              <a:ext uri="{FF2B5EF4-FFF2-40B4-BE49-F238E27FC236}">
                <a16:creationId xmlns:a16="http://schemas.microsoft.com/office/drawing/2014/main" id="{2A930792-7A62-43D3-B7E5-CB424D6B10A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20241C4-6C07-4697-B177-99D1B35EE24E}"/>
              </a:ext>
            </a:extLst>
          </p:cNvPr>
          <p:cNvSpPr>
            <a:spLocks noGrp="1"/>
          </p:cNvSpPr>
          <p:nvPr>
            <p:ph type="sldNum" sz="quarter" idx="12"/>
          </p:nvPr>
        </p:nvSpPr>
        <p:spPr/>
        <p:txBody>
          <a:bodyPr/>
          <a:lstStyle/>
          <a:p>
            <a:fld id="{A3D37FC4-53A4-4CC6-AACA-CB2A70A24584}" type="slidenum">
              <a:rPr lang="zh-CN" altLang="en-US" smtClean="0"/>
              <a:t>‹#›</a:t>
            </a:fld>
            <a:endParaRPr lang="zh-CN" altLang="en-US"/>
          </a:p>
        </p:txBody>
      </p:sp>
    </p:spTree>
    <p:extLst>
      <p:ext uri="{BB962C8B-B14F-4D97-AF65-F5344CB8AC3E}">
        <p14:creationId xmlns:p14="http://schemas.microsoft.com/office/powerpoint/2010/main" val="2148118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2368C5-9F52-458C-A9AE-07E969D0914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A131BBE-2F73-48C1-8427-FAAEF08994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296B7B2-8E2A-4C58-B659-1647727D61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E79570B-1B3D-4211-9B8C-C551356A3599}"/>
              </a:ext>
            </a:extLst>
          </p:cNvPr>
          <p:cNvSpPr>
            <a:spLocks noGrp="1"/>
          </p:cNvSpPr>
          <p:nvPr>
            <p:ph type="dt" sz="half" idx="10"/>
          </p:nvPr>
        </p:nvSpPr>
        <p:spPr/>
        <p:txBody>
          <a:bodyPr/>
          <a:lstStyle/>
          <a:p>
            <a:fld id="{81DE8934-928D-4F18-B359-3EFE3425DAEE}" type="datetimeFigureOut">
              <a:rPr lang="zh-CN" altLang="en-US" smtClean="0"/>
              <a:t>2026/4/22</a:t>
            </a:fld>
            <a:endParaRPr lang="zh-CN" altLang="en-US"/>
          </a:p>
        </p:txBody>
      </p:sp>
      <p:sp>
        <p:nvSpPr>
          <p:cNvPr id="6" name="页脚占位符 5">
            <a:extLst>
              <a:ext uri="{FF2B5EF4-FFF2-40B4-BE49-F238E27FC236}">
                <a16:creationId xmlns:a16="http://schemas.microsoft.com/office/drawing/2014/main" id="{FB12D212-B6E8-4E93-B1A7-A4F08DAE770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30162B5-D416-4DC9-8621-52CCD83110AC}"/>
              </a:ext>
            </a:extLst>
          </p:cNvPr>
          <p:cNvSpPr>
            <a:spLocks noGrp="1"/>
          </p:cNvSpPr>
          <p:nvPr>
            <p:ph type="sldNum" sz="quarter" idx="12"/>
          </p:nvPr>
        </p:nvSpPr>
        <p:spPr/>
        <p:txBody>
          <a:bodyPr/>
          <a:lstStyle/>
          <a:p>
            <a:fld id="{A3D37FC4-53A4-4CC6-AACA-CB2A70A24584}" type="slidenum">
              <a:rPr lang="zh-CN" altLang="en-US" smtClean="0"/>
              <a:t>‹#›</a:t>
            </a:fld>
            <a:endParaRPr lang="zh-CN" altLang="en-US"/>
          </a:p>
        </p:txBody>
      </p:sp>
    </p:spTree>
    <p:extLst>
      <p:ext uri="{BB962C8B-B14F-4D97-AF65-F5344CB8AC3E}">
        <p14:creationId xmlns:p14="http://schemas.microsoft.com/office/powerpoint/2010/main" val="1080309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B2355F-1137-41EF-9E2E-66E0A0E1503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89F6C1E-CCE2-41A5-BE7A-7C8DDAA61CE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929DAFD-4217-46DD-B54B-ADC1F8C4AD32}"/>
              </a:ext>
            </a:extLst>
          </p:cNvPr>
          <p:cNvSpPr>
            <a:spLocks noGrp="1"/>
          </p:cNvSpPr>
          <p:nvPr>
            <p:ph type="dt" sz="half" idx="10"/>
          </p:nvPr>
        </p:nvSpPr>
        <p:spPr/>
        <p:txBody>
          <a:bodyPr/>
          <a:lstStyle/>
          <a:p>
            <a:fld id="{81DE8934-928D-4F18-B359-3EFE3425DAEE}"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78CB23DB-8E14-4F0A-885F-C7687859F4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2FAC98-9A45-48CC-BB27-59FD631FCDFA}"/>
              </a:ext>
            </a:extLst>
          </p:cNvPr>
          <p:cNvSpPr>
            <a:spLocks noGrp="1"/>
          </p:cNvSpPr>
          <p:nvPr>
            <p:ph type="sldNum" sz="quarter" idx="12"/>
          </p:nvPr>
        </p:nvSpPr>
        <p:spPr/>
        <p:txBody>
          <a:bodyPr/>
          <a:lstStyle/>
          <a:p>
            <a:fld id="{A3D37FC4-53A4-4CC6-AACA-CB2A70A24584}" type="slidenum">
              <a:rPr lang="zh-CN" altLang="en-US" smtClean="0"/>
              <a:t>‹#›</a:t>
            </a:fld>
            <a:endParaRPr lang="zh-CN" altLang="en-US"/>
          </a:p>
        </p:txBody>
      </p:sp>
    </p:spTree>
    <p:extLst>
      <p:ext uri="{BB962C8B-B14F-4D97-AF65-F5344CB8AC3E}">
        <p14:creationId xmlns:p14="http://schemas.microsoft.com/office/powerpoint/2010/main" val="2172444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B1BC615-7ECB-4870-AA87-4B3213438B5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5512532-1982-4230-8A25-75536BA698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AFB32B-D7DE-459A-8273-BCDB265F0143}"/>
              </a:ext>
            </a:extLst>
          </p:cNvPr>
          <p:cNvSpPr>
            <a:spLocks noGrp="1"/>
          </p:cNvSpPr>
          <p:nvPr>
            <p:ph type="dt" sz="half" idx="10"/>
          </p:nvPr>
        </p:nvSpPr>
        <p:spPr/>
        <p:txBody>
          <a:bodyPr/>
          <a:lstStyle/>
          <a:p>
            <a:fld id="{81DE8934-928D-4F18-B359-3EFE3425DAEE}"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1DD5E72F-F5E5-4E41-9BE0-509F255AEE0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05F5E91-DCF4-410A-8397-0AB88E29FFA0}"/>
              </a:ext>
            </a:extLst>
          </p:cNvPr>
          <p:cNvSpPr>
            <a:spLocks noGrp="1"/>
          </p:cNvSpPr>
          <p:nvPr>
            <p:ph type="sldNum" sz="quarter" idx="12"/>
          </p:nvPr>
        </p:nvSpPr>
        <p:spPr/>
        <p:txBody>
          <a:bodyPr/>
          <a:lstStyle/>
          <a:p>
            <a:fld id="{A3D37FC4-53A4-4CC6-AACA-CB2A70A24584}" type="slidenum">
              <a:rPr lang="zh-CN" altLang="en-US" smtClean="0"/>
              <a:t>‹#›</a:t>
            </a:fld>
            <a:endParaRPr lang="zh-CN" altLang="en-US"/>
          </a:p>
        </p:txBody>
      </p:sp>
    </p:spTree>
    <p:extLst>
      <p:ext uri="{BB962C8B-B14F-4D97-AF65-F5344CB8AC3E}">
        <p14:creationId xmlns:p14="http://schemas.microsoft.com/office/powerpoint/2010/main" val="1695243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E0FA999-22B3-4406-B82E-974168FAD8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9AA386D-AE83-40C4-9BCB-21BC65F876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FAE46C5-91DD-4521-A4FF-7FD869CDC3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DE8934-928D-4F18-B359-3EFE3425DAEE}" type="datetimeFigureOut">
              <a:rPr lang="zh-CN" altLang="en-US" smtClean="0"/>
              <a:t>2026/4/22</a:t>
            </a:fld>
            <a:endParaRPr lang="zh-CN" altLang="en-US"/>
          </a:p>
        </p:txBody>
      </p:sp>
      <p:sp>
        <p:nvSpPr>
          <p:cNvPr id="5" name="页脚占位符 4">
            <a:extLst>
              <a:ext uri="{FF2B5EF4-FFF2-40B4-BE49-F238E27FC236}">
                <a16:creationId xmlns:a16="http://schemas.microsoft.com/office/drawing/2014/main" id="{A92165A7-B34C-4E65-83D3-59D52A80AE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4885483-7949-4886-9CE3-D27BB6558E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D37FC4-53A4-4CC6-AACA-CB2A70A24584}" type="slidenum">
              <a:rPr lang="zh-CN" altLang="en-US" smtClean="0"/>
              <a:t>‹#›</a:t>
            </a:fld>
            <a:endParaRPr lang="zh-CN" altLang="en-US"/>
          </a:p>
        </p:txBody>
      </p:sp>
    </p:spTree>
    <p:extLst>
      <p:ext uri="{BB962C8B-B14F-4D97-AF65-F5344CB8AC3E}">
        <p14:creationId xmlns:p14="http://schemas.microsoft.com/office/powerpoint/2010/main" val="26643486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566DE-C1E6-48F3-832A-A0BF3CE50F03}"/>
              </a:ext>
            </a:extLst>
          </p:cNvPr>
          <p:cNvSpPr>
            <a:spLocks noGrp="1"/>
          </p:cNvSpPr>
          <p:nvPr>
            <p:ph type="ctrTitle"/>
          </p:nvPr>
        </p:nvSpPr>
        <p:spPr>
          <a:xfrm>
            <a:off x="30479" y="1002018"/>
            <a:ext cx="12131040" cy="1511710"/>
          </a:xfrm>
        </p:spPr>
        <p:txBody>
          <a:bodyPr>
            <a:normAutofit/>
          </a:bodyPr>
          <a:lstStyle/>
          <a:p>
            <a:r>
              <a:rPr lang="en-US" altLang="zh-CN" sz="4400" dirty="0">
                <a:latin typeface="Calibri" panose="020F0502020204030204" pitchFamily="34" charset="0"/>
                <a:ea typeface="Calibri" panose="020F0502020204030204" pitchFamily="34" charset="0"/>
                <a:cs typeface="Calibri" panose="020F0502020204030204" pitchFamily="34" charset="0"/>
              </a:rPr>
              <a:t>AEP: Achieving Hierarchical Fault Tolerance in DSM Through Atomic Execution Protection</a:t>
            </a:r>
            <a:endParaRPr lang="zh-CN" altLang="en-US" sz="4400" dirty="0">
              <a:latin typeface="Calibri" panose="020F0502020204030204" pitchFamily="34" charset="0"/>
              <a:cs typeface="Calibri" panose="020F0502020204030204" pitchFamily="34" charset="0"/>
            </a:endParaRPr>
          </a:p>
        </p:txBody>
      </p:sp>
      <p:sp>
        <p:nvSpPr>
          <p:cNvPr id="3" name="副标题 2">
            <a:extLst>
              <a:ext uri="{FF2B5EF4-FFF2-40B4-BE49-F238E27FC236}">
                <a16:creationId xmlns:a16="http://schemas.microsoft.com/office/drawing/2014/main" id="{DD6479C4-1471-4510-AD44-B2242E1A49A9}"/>
              </a:ext>
            </a:extLst>
          </p:cNvPr>
          <p:cNvSpPr>
            <a:spLocks noGrp="1"/>
          </p:cNvSpPr>
          <p:nvPr>
            <p:ph type="subTitle" idx="1"/>
          </p:nvPr>
        </p:nvSpPr>
        <p:spPr>
          <a:xfrm>
            <a:off x="1000431" y="2972957"/>
            <a:ext cx="10191135" cy="768893"/>
          </a:xfrm>
        </p:spPr>
        <p:txBody>
          <a:bodyPr/>
          <a:lstStyle/>
          <a:p>
            <a:pPr algn="ctr" fontAlgn="base"/>
            <a:r>
              <a:rPr lang="en-US" altLang="zh-CN" sz="2400" b="1" i="1" kern="1200" dirty="0">
                <a:effectLst/>
                <a:latin typeface="Calibri" panose="020F0502020204030204" pitchFamily="34" charset="0"/>
                <a:ea typeface="Calibri" panose="020F0502020204030204" pitchFamily="34" charset="0"/>
                <a:cs typeface="Calibri" panose="020F0502020204030204" pitchFamily="34" charset="0"/>
              </a:rPr>
              <a:t>Zixuan Wang</a:t>
            </a:r>
            <a:r>
              <a:rPr lang="en-US" altLang="zh-CN" sz="2400" b="1" i="1" kern="1200" baseline="30000" dirty="0">
                <a:effectLst/>
                <a:latin typeface="Calibri" panose="020F0502020204030204" pitchFamily="34" charset="0"/>
                <a:ea typeface="Calibri" panose="020F0502020204030204" pitchFamily="34" charset="0"/>
                <a:cs typeface="Calibri" panose="020F0502020204030204" pitchFamily="34" charset="0"/>
              </a:rPr>
              <a:t>1</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Qi Wu</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1</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Hang Huang</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1</a:t>
            </a:r>
            <a:r>
              <a:rPr lang="zh-CN" altLang="zh-CN" sz="2400" kern="1200" baseline="30000" dirty="0">
                <a:effectLst/>
                <a:latin typeface="Calibri" panose="020F0502020204030204" pitchFamily="34" charset="0"/>
                <a:ea typeface="MS Gothic" panose="020B0609070205080204" pitchFamily="49" charset="-128"/>
                <a:cs typeface="Calibri" panose="020F0502020204030204" pitchFamily="34" charset="0"/>
              </a:rPr>
              <a:t>∗</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Jia Rao</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2</a:t>
            </a:r>
            <a:r>
              <a:rPr lang="zh-CN" altLang="zh-CN" sz="2400" kern="1200" baseline="30000" dirty="0">
                <a:effectLst/>
                <a:latin typeface="Calibri" panose="020F0502020204030204" pitchFamily="34" charset="0"/>
                <a:ea typeface="MS Gothic" panose="020B0609070205080204" pitchFamily="49" charset="-128"/>
                <a:cs typeface="Calibri" panose="020F0502020204030204" pitchFamily="34" charset="0"/>
              </a:rPr>
              <a:t>∗</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Hui Lu</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2</a:t>
            </a:r>
            <a:r>
              <a:rPr lang="zh-CN" altLang="zh-CN" sz="2400" kern="1200" baseline="30000" dirty="0">
                <a:effectLst/>
                <a:latin typeface="Calibri" panose="020F0502020204030204" pitchFamily="34" charset="0"/>
                <a:ea typeface="MS Gothic" panose="020B0609070205080204" pitchFamily="49" charset="-128"/>
                <a:cs typeface="Calibri" panose="020F0502020204030204" pitchFamily="34" charset="0"/>
              </a:rPr>
              <a:t>∗</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Hao Fan</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1</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a:t>
            </a:r>
            <a:r>
              <a:rPr lang="en-US" altLang="zh-CN" sz="2400" kern="1200" dirty="0" err="1">
                <a:effectLst/>
                <a:latin typeface="Calibri" panose="020F0502020204030204" pitchFamily="34" charset="0"/>
                <a:ea typeface="Calibri" panose="020F0502020204030204" pitchFamily="34" charset="0"/>
                <a:cs typeface="Calibri" panose="020F0502020204030204" pitchFamily="34" charset="0"/>
              </a:rPr>
              <a:t>Zhuo</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Huang</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1</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Song Wu</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1</a:t>
            </a:r>
            <a:r>
              <a:rPr lang="zh-CN" altLang="zh-CN" sz="2400" kern="1200" baseline="30000" dirty="0">
                <a:effectLst/>
                <a:latin typeface="Calibri" panose="020F0502020204030204" pitchFamily="34" charset="0"/>
                <a:ea typeface="MS Gothic" panose="020B0609070205080204" pitchFamily="49" charset="-128"/>
                <a:cs typeface="Calibri" panose="020F0502020204030204" pitchFamily="34" charset="0"/>
              </a:rPr>
              <a:t>∗</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,Hai Jin</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1</a:t>
            </a:r>
            <a:endParaRPr lang="zh-CN" altLang="zh-CN" sz="1050" dirty="0">
              <a:effectLst/>
              <a:latin typeface="Calibri" panose="020F0502020204030204" pitchFamily="34" charset="0"/>
              <a:ea typeface="宋体" panose="02010600030101010101" pitchFamily="2" charset="-122"/>
              <a:cs typeface="Calibri" panose="020F0502020204030204" pitchFamily="34" charset="0"/>
            </a:endParaRPr>
          </a:p>
        </p:txBody>
      </p:sp>
      <p:pic>
        <p:nvPicPr>
          <p:cNvPr id="7" name="图片 6">
            <a:extLst>
              <a:ext uri="{FF2B5EF4-FFF2-40B4-BE49-F238E27FC236}">
                <a16:creationId xmlns:a16="http://schemas.microsoft.com/office/drawing/2014/main" id="{68101B24-E4B2-4F0A-85A8-A293B46994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6723" y="3919845"/>
            <a:ext cx="1820690" cy="1432804"/>
          </a:xfrm>
          <a:prstGeom prst="rect">
            <a:avLst/>
          </a:prstGeom>
        </p:spPr>
      </p:pic>
      <p:sp>
        <p:nvSpPr>
          <p:cNvPr id="9" name="文本框 8">
            <a:extLst>
              <a:ext uri="{FF2B5EF4-FFF2-40B4-BE49-F238E27FC236}">
                <a16:creationId xmlns:a16="http://schemas.microsoft.com/office/drawing/2014/main" id="{2BFED223-9630-41ED-9F6F-062C761E2F9D}"/>
              </a:ext>
            </a:extLst>
          </p:cNvPr>
          <p:cNvSpPr txBox="1"/>
          <p:nvPr/>
        </p:nvSpPr>
        <p:spPr>
          <a:xfrm>
            <a:off x="1794633" y="5288340"/>
            <a:ext cx="3304870" cy="1569660"/>
          </a:xfrm>
          <a:prstGeom prst="rect">
            <a:avLst/>
          </a:prstGeom>
          <a:noFill/>
        </p:spPr>
        <p:txBody>
          <a:bodyPr wrap="square" rtlCol="0">
            <a:spAutoFit/>
          </a:bodyPr>
          <a:lstStyle/>
          <a:p>
            <a:pPr algn="ctr"/>
            <a:r>
              <a:rPr lang="en-US" altLang="zh-CN" sz="2400" kern="1200" baseline="30000" dirty="0">
                <a:solidFill>
                  <a:srgbClr val="000000"/>
                </a:solidFill>
                <a:effectLst/>
                <a:latin typeface="Calibri" panose="020F0502020204030204" pitchFamily="34" charset="0"/>
                <a:ea typeface="Calibri" panose="020F0502020204030204" pitchFamily="34" charset="0"/>
                <a:cs typeface="宋体" panose="02010600030101010101" pitchFamily="2" charset="-122"/>
              </a:rPr>
              <a:t>1</a:t>
            </a:r>
            <a:r>
              <a:rPr lang="en-US" altLang="zh-CN" sz="2400" kern="1200" dirty="0">
                <a:solidFill>
                  <a:srgbClr val="000000"/>
                </a:solidFill>
                <a:effectLst/>
                <a:latin typeface="Calibri" panose="020F0502020204030204" pitchFamily="34" charset="0"/>
                <a:ea typeface="Calibri" panose="020F0502020204030204" pitchFamily="34" charset="0"/>
                <a:cs typeface="宋体" panose="02010600030101010101" pitchFamily="2" charset="-122"/>
              </a:rPr>
              <a:t>Huazhong University of Science and Technology (HUST)</a:t>
            </a:r>
            <a:endParaRPr lang="zh-CN" altLang="zh-CN" sz="1200" dirty="0">
              <a:effectLst/>
              <a:latin typeface="宋体" panose="02010600030101010101" pitchFamily="2" charset="-122"/>
              <a:ea typeface="宋体" panose="02010600030101010101" pitchFamily="2" charset="-122"/>
              <a:cs typeface="宋体" panose="02010600030101010101" pitchFamily="2" charset="-122"/>
            </a:endParaRPr>
          </a:p>
          <a:p>
            <a:endParaRPr lang="en-US" altLang="zh-CN" sz="2400" dirty="0">
              <a:latin typeface="Calibri" panose="020F0502020204030204" pitchFamily="34" charset="0"/>
              <a:ea typeface="Calibri" panose="020F0502020204030204" pitchFamily="34" charset="0"/>
              <a:cs typeface="Calibri" panose="020F0502020204030204" pitchFamily="34" charset="0"/>
            </a:endParaRPr>
          </a:p>
        </p:txBody>
      </p:sp>
      <p:pic>
        <p:nvPicPr>
          <p:cNvPr id="10" name="Picture 13">
            <a:extLst>
              <a:ext uri="{FF2B5EF4-FFF2-40B4-BE49-F238E27FC236}">
                <a16:creationId xmlns:a16="http://schemas.microsoft.com/office/drawing/2014/main" id="{2A010A13-B795-48C5-AA58-C1A9EE88B04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bright="20000"/>
                    </a14:imgEffect>
                  </a14:imgLayer>
                </a14:imgProps>
              </a:ext>
            </a:extLst>
          </a:blip>
          <a:stretch>
            <a:fillRect/>
          </a:stretch>
        </p:blipFill>
        <p:spPr>
          <a:xfrm>
            <a:off x="7834589" y="3950424"/>
            <a:ext cx="1551037" cy="1371646"/>
          </a:xfrm>
          <a:prstGeom prst="rect">
            <a:avLst/>
          </a:prstGeom>
        </p:spPr>
      </p:pic>
      <p:sp>
        <p:nvSpPr>
          <p:cNvPr id="11" name="文本框 10">
            <a:extLst>
              <a:ext uri="{FF2B5EF4-FFF2-40B4-BE49-F238E27FC236}">
                <a16:creationId xmlns:a16="http://schemas.microsoft.com/office/drawing/2014/main" id="{12500CAE-6830-4DBF-9F43-583E316E2119}"/>
              </a:ext>
            </a:extLst>
          </p:cNvPr>
          <p:cNvSpPr txBox="1"/>
          <p:nvPr/>
        </p:nvSpPr>
        <p:spPr>
          <a:xfrm>
            <a:off x="6957672" y="5288340"/>
            <a:ext cx="3304870" cy="1569660"/>
          </a:xfrm>
          <a:prstGeom prst="rect">
            <a:avLst/>
          </a:prstGeom>
          <a:noFill/>
        </p:spPr>
        <p:txBody>
          <a:bodyPr wrap="square" rtlCol="0">
            <a:spAutoFit/>
          </a:bodyPr>
          <a:lstStyle/>
          <a:p>
            <a:pPr algn="ctr"/>
            <a:r>
              <a:rPr lang="en-US" altLang="zh-CN" sz="2400" baseline="30000" dirty="0">
                <a:solidFill>
                  <a:srgbClr val="000000"/>
                </a:solidFill>
                <a:latin typeface="Calibri" panose="020F0502020204030204" pitchFamily="34" charset="0"/>
                <a:ea typeface="Calibri" panose="020F0502020204030204" pitchFamily="34" charset="0"/>
                <a:cs typeface="宋体" panose="02010600030101010101" pitchFamily="2" charset="-122"/>
              </a:rPr>
              <a:t>2</a:t>
            </a:r>
            <a:r>
              <a:rPr lang="en-US" altLang="zh-CN" sz="2400" kern="1200" dirty="0">
                <a:solidFill>
                  <a:srgbClr val="000000"/>
                </a:solidFill>
                <a:effectLst/>
                <a:latin typeface="Calibri" panose="020F0502020204030204" pitchFamily="34" charset="0"/>
                <a:ea typeface="Calibri" panose="020F0502020204030204" pitchFamily="34" charset="0"/>
                <a:cs typeface="宋体" panose="02010600030101010101" pitchFamily="2" charset="-122"/>
              </a:rPr>
              <a:t>The University of Texas at Arlington</a:t>
            </a:r>
          </a:p>
          <a:p>
            <a:pPr algn="ctr"/>
            <a:r>
              <a:rPr lang="en-US" altLang="zh-CN" sz="2400" dirty="0">
                <a:solidFill>
                  <a:srgbClr val="000000"/>
                </a:solidFill>
                <a:latin typeface="Calibri" panose="020F0502020204030204" pitchFamily="34" charset="0"/>
                <a:ea typeface="Calibri" panose="020F0502020204030204" pitchFamily="34" charset="0"/>
                <a:cs typeface="宋体" panose="02010600030101010101" pitchFamily="2" charset="-122"/>
              </a:rPr>
              <a:t>(UTA)</a:t>
            </a:r>
            <a:endParaRPr lang="zh-CN" altLang="zh-CN" sz="1200" dirty="0">
              <a:effectLst/>
              <a:latin typeface="宋体" panose="02010600030101010101" pitchFamily="2" charset="-122"/>
              <a:ea typeface="宋体" panose="02010600030101010101" pitchFamily="2" charset="-122"/>
              <a:cs typeface="宋体" panose="02010600030101010101" pitchFamily="2" charset="-122"/>
            </a:endParaRPr>
          </a:p>
          <a:p>
            <a:endParaRPr lang="en-US" altLang="zh-C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07119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2393909"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Agenda</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a:extLst>
              <a:ext uri="{FF2B5EF4-FFF2-40B4-BE49-F238E27FC236}">
                <a16:creationId xmlns:a16="http://schemas.microsoft.com/office/drawing/2014/main" id="{7640FDC8-3DF3-4465-AF2B-958C917E3322}"/>
              </a:ext>
            </a:extLst>
          </p:cNvPr>
          <p:cNvSpPr txBox="1"/>
          <p:nvPr/>
        </p:nvSpPr>
        <p:spPr>
          <a:xfrm>
            <a:off x="1323946" y="2089506"/>
            <a:ext cx="9055265" cy="4955203"/>
          </a:xfrm>
          <a:prstGeom prst="rect">
            <a:avLst/>
          </a:prstGeom>
          <a:noFill/>
        </p:spPr>
        <p:txBody>
          <a:bodyPr wrap="square" rtlCol="0">
            <a:spAutoFit/>
          </a:bodyPr>
          <a:lstStyle/>
          <a:p>
            <a:pPr marL="571500" indent="-571500">
              <a:buFont typeface="Wingdings" panose="05000000000000000000" pitchFamily="2" charset="2"/>
              <a:buChar char="l"/>
            </a:pPr>
            <a:r>
              <a:rPr lang="en-US" altLang="zh-CN" sz="36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rPr>
              <a:t>Background &amp; Motivation</a:t>
            </a:r>
          </a:p>
          <a:p>
            <a:pPr marL="571500" indent="-571500">
              <a:buFont typeface="Wingdings" panose="05000000000000000000" pitchFamily="2" charset="2"/>
              <a:buChar char="l"/>
            </a:pPr>
            <a:endParaRPr lang="en-US" altLang="zh-CN" sz="36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r>
              <a:rPr lang="en-US" altLang="zh-CN" sz="3600" kern="1200" dirty="0">
                <a:solidFill>
                  <a:schemeClr val="bg1">
                    <a:lumMod val="75000"/>
                  </a:schemeClr>
                </a:solidFill>
                <a:effectLst/>
                <a:latin typeface="Calibri" panose="020F0502020204030204" pitchFamily="34" charset="0"/>
                <a:ea typeface="Calibri" panose="020F0502020204030204" pitchFamily="34" charset="0"/>
                <a:cs typeface="宋体" panose="02010600030101010101" pitchFamily="2" charset="-122"/>
              </a:rPr>
              <a:t>AEP Design and Implementation</a:t>
            </a:r>
          </a:p>
          <a:p>
            <a:pPr marL="571500" indent="-571500">
              <a:buFont typeface="Wingdings" panose="05000000000000000000" pitchFamily="2" charset="2"/>
              <a:buChar char="l"/>
            </a:pPr>
            <a:endParaRPr lang="en-US" altLang="zh-CN" sz="36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r>
              <a:rPr lang="en-US" altLang="zh-CN" sz="3600" kern="1200" dirty="0">
                <a:solidFill>
                  <a:srgbClr val="BFBFBF"/>
                </a:solidFill>
                <a:effectLst/>
                <a:latin typeface="Calibri" panose="020F0502020204030204" pitchFamily="34" charset="0"/>
                <a:ea typeface="Calibri" panose="020F0502020204030204" pitchFamily="34" charset="0"/>
                <a:cs typeface="宋体" panose="02010600030101010101" pitchFamily="2" charset="-122"/>
              </a:rPr>
              <a:t>Evaluation</a:t>
            </a:r>
          </a:p>
          <a:p>
            <a:pPr marL="571500" indent="-571500">
              <a:buFont typeface="Wingdings" panose="05000000000000000000" pitchFamily="2" charset="2"/>
              <a:buChar char="l"/>
            </a:pPr>
            <a:endParaRPr lang="en-US" altLang="zh-CN" sz="36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r>
              <a:rPr lang="en-US" altLang="zh-CN" sz="3600" kern="1200" dirty="0">
                <a:solidFill>
                  <a:srgbClr val="BFBFBF"/>
                </a:solidFill>
                <a:effectLst/>
                <a:latin typeface="Calibri" panose="020F0502020204030204" pitchFamily="34" charset="0"/>
                <a:ea typeface="Calibri" panose="020F0502020204030204" pitchFamily="34" charset="0"/>
                <a:cs typeface="宋体" panose="02010600030101010101" pitchFamily="2" charset="-122"/>
              </a:rPr>
              <a:t>Conclusion</a:t>
            </a:r>
          </a:p>
          <a:p>
            <a:pPr marL="571500" indent="-571500">
              <a:buFont typeface="Wingdings" panose="05000000000000000000" pitchFamily="2" charset="2"/>
              <a:buChar char="l"/>
            </a:pPr>
            <a:endParaRPr lang="en-US" altLang="zh-CN" sz="44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2998494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7371491"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Distributed Shared Memory</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7" name="流程图: 过程 6">
            <a:extLst>
              <a:ext uri="{FF2B5EF4-FFF2-40B4-BE49-F238E27FC236}">
                <a16:creationId xmlns:a16="http://schemas.microsoft.com/office/drawing/2014/main" id="{D1D88A77-8276-46BD-9C24-A3D68A0F36DB}"/>
              </a:ext>
            </a:extLst>
          </p:cNvPr>
          <p:cNvSpPr/>
          <p:nvPr/>
        </p:nvSpPr>
        <p:spPr>
          <a:xfrm>
            <a:off x="8311189" y="3677745"/>
            <a:ext cx="1538810" cy="2079684"/>
          </a:xfrm>
          <a:prstGeom prst="flowChartProcess">
            <a:avLst/>
          </a:prstGeom>
          <a:solidFill>
            <a:schemeClr val="accent1">
              <a:lumMod val="20000"/>
              <a:lumOff val="80000"/>
            </a:schemeClr>
          </a:solidFill>
          <a:ln w="3810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2800" dirty="0">
                <a:solidFill>
                  <a:schemeClr val="tx1"/>
                </a:solidFill>
                <a:latin typeface="Calibri" panose="020F0502020204030204" pitchFamily="34" charset="0"/>
                <a:ea typeface="Calibri" panose="020F0502020204030204" pitchFamily="34" charset="0"/>
                <a:cs typeface="Calibri" panose="020F0502020204030204" pitchFamily="34" charset="0"/>
              </a:rPr>
              <a:t>DSM</a:t>
            </a:r>
            <a:endParaRPr lang="zh-CN" altLang="en-US" sz="2800" dirty="0">
              <a:solidFill>
                <a:schemeClr val="tx1"/>
              </a:solidFill>
              <a:latin typeface="Calibri" panose="020F0502020204030204" pitchFamily="34" charset="0"/>
              <a:cs typeface="Calibri" panose="020F0502020204030204" pitchFamily="34" charset="0"/>
            </a:endParaRPr>
          </a:p>
        </p:txBody>
      </p:sp>
      <p:sp>
        <p:nvSpPr>
          <p:cNvPr id="8" name="流程图: 过程 7">
            <a:extLst>
              <a:ext uri="{FF2B5EF4-FFF2-40B4-BE49-F238E27FC236}">
                <a16:creationId xmlns:a16="http://schemas.microsoft.com/office/drawing/2014/main" id="{32BC3C8C-1E98-4B9A-A14E-5D787BC79365}"/>
              </a:ext>
            </a:extLst>
          </p:cNvPr>
          <p:cNvSpPr/>
          <p:nvPr/>
        </p:nvSpPr>
        <p:spPr>
          <a:xfrm>
            <a:off x="6600579" y="3673805"/>
            <a:ext cx="1568327" cy="1864222"/>
          </a:xfrm>
          <a:prstGeom prst="flowChartProcess">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2800" dirty="0">
                <a:solidFill>
                  <a:schemeClr val="tx1"/>
                </a:solidFill>
                <a:latin typeface="Calibri" panose="020F0502020204030204" pitchFamily="34" charset="0"/>
                <a:ea typeface="Calibri" panose="020F0502020204030204" pitchFamily="34" charset="0"/>
                <a:cs typeface="Calibri" panose="020F0502020204030204" pitchFamily="34" charset="0"/>
              </a:rPr>
              <a:t>Client 1</a:t>
            </a:r>
            <a:endParaRPr lang="zh-CN" altLang="en-US" sz="2800" dirty="0">
              <a:solidFill>
                <a:schemeClr val="tx1"/>
              </a:solidFill>
              <a:latin typeface="Calibri" panose="020F0502020204030204" pitchFamily="34" charset="0"/>
              <a:cs typeface="Calibri" panose="020F0502020204030204" pitchFamily="34" charset="0"/>
            </a:endParaRPr>
          </a:p>
        </p:txBody>
      </p:sp>
      <p:sp>
        <p:nvSpPr>
          <p:cNvPr id="9" name="流程图: 过程 8">
            <a:extLst>
              <a:ext uri="{FF2B5EF4-FFF2-40B4-BE49-F238E27FC236}">
                <a16:creationId xmlns:a16="http://schemas.microsoft.com/office/drawing/2014/main" id="{574D35F7-EBFB-4CE4-B54A-F33A38142A2A}"/>
              </a:ext>
            </a:extLst>
          </p:cNvPr>
          <p:cNvSpPr/>
          <p:nvPr/>
        </p:nvSpPr>
        <p:spPr>
          <a:xfrm>
            <a:off x="9994480" y="3677794"/>
            <a:ext cx="1561572" cy="1877419"/>
          </a:xfrm>
          <a:prstGeom prst="flowChartProcess">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2800" dirty="0">
                <a:solidFill>
                  <a:schemeClr val="tx1"/>
                </a:solidFill>
                <a:latin typeface="Calibri" panose="020F0502020204030204" pitchFamily="34" charset="0"/>
                <a:ea typeface="Calibri" panose="020F0502020204030204" pitchFamily="34" charset="0"/>
                <a:cs typeface="Calibri" panose="020F0502020204030204" pitchFamily="34" charset="0"/>
              </a:rPr>
              <a:t>Client 2</a:t>
            </a:r>
            <a:endParaRPr lang="zh-CN" altLang="en-US" sz="2800" dirty="0">
              <a:solidFill>
                <a:schemeClr val="tx1"/>
              </a:solidFill>
              <a:latin typeface="Calibri" panose="020F0502020204030204" pitchFamily="34" charset="0"/>
              <a:cs typeface="Calibri" panose="020F0502020204030204" pitchFamily="34" charset="0"/>
            </a:endParaRPr>
          </a:p>
        </p:txBody>
      </p:sp>
      <p:sp>
        <p:nvSpPr>
          <p:cNvPr id="10" name="流程图: 过程 9">
            <a:extLst>
              <a:ext uri="{FF2B5EF4-FFF2-40B4-BE49-F238E27FC236}">
                <a16:creationId xmlns:a16="http://schemas.microsoft.com/office/drawing/2014/main" id="{9F20C2E0-08CB-4064-80B0-0D589BC0D0C0}"/>
              </a:ext>
            </a:extLst>
          </p:cNvPr>
          <p:cNvSpPr/>
          <p:nvPr/>
        </p:nvSpPr>
        <p:spPr>
          <a:xfrm>
            <a:off x="6595392" y="5908978"/>
            <a:ext cx="2430025" cy="546806"/>
          </a:xfrm>
          <a:prstGeom prst="flowChartProcess">
            <a:avLst/>
          </a:prstGeom>
          <a:solidFill>
            <a:schemeClr val="bg1">
              <a:lumMod val="85000"/>
            </a:schemeClr>
          </a:solidFill>
          <a:ln w="381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endParaRPr>
          </a:p>
        </p:txBody>
      </p:sp>
      <p:sp>
        <p:nvSpPr>
          <p:cNvPr id="11" name="流程图: 过程 10">
            <a:extLst>
              <a:ext uri="{FF2B5EF4-FFF2-40B4-BE49-F238E27FC236}">
                <a16:creationId xmlns:a16="http://schemas.microsoft.com/office/drawing/2014/main" id="{0254CBE3-51A5-497A-AA4F-204D0FC77EA5}"/>
              </a:ext>
            </a:extLst>
          </p:cNvPr>
          <p:cNvSpPr/>
          <p:nvPr/>
        </p:nvSpPr>
        <p:spPr>
          <a:xfrm>
            <a:off x="9185984" y="5908977"/>
            <a:ext cx="2370068" cy="552469"/>
          </a:xfrm>
          <a:prstGeom prst="flowChartProcess">
            <a:avLst/>
          </a:prstGeom>
          <a:solidFill>
            <a:schemeClr val="bg1">
              <a:lumMod val="85000"/>
            </a:schemeClr>
          </a:solidFill>
          <a:ln w="381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endParaRPr>
          </a:p>
        </p:txBody>
      </p:sp>
      <p:sp>
        <p:nvSpPr>
          <p:cNvPr id="12" name="文本框 11">
            <a:extLst>
              <a:ext uri="{FF2B5EF4-FFF2-40B4-BE49-F238E27FC236}">
                <a16:creationId xmlns:a16="http://schemas.microsoft.com/office/drawing/2014/main" id="{DCB8882B-8DB8-4A32-8A7A-4CA9A04A9BE9}"/>
              </a:ext>
            </a:extLst>
          </p:cNvPr>
          <p:cNvSpPr txBox="1"/>
          <p:nvPr/>
        </p:nvSpPr>
        <p:spPr>
          <a:xfrm>
            <a:off x="7241732" y="6157287"/>
            <a:ext cx="1463984" cy="417935"/>
          </a:xfrm>
          <a:prstGeom prst="rect">
            <a:avLst/>
          </a:prstGeom>
          <a:noFill/>
        </p:spPr>
        <p:txBody>
          <a:bodyPr wrap="square" rtlCol="0">
            <a:spAutoFit/>
          </a:bodyPr>
          <a:lstStyle/>
          <a:p>
            <a:pPr>
              <a:lnSpc>
                <a:spcPts val="2400"/>
              </a:lnSpc>
            </a:pPr>
            <a:r>
              <a:rPr lang="en-US" altLang="zh-CN" sz="2800" dirty="0">
                <a:latin typeface="Calibri" panose="020F0502020204030204" pitchFamily="34" charset="0"/>
                <a:ea typeface="Calibri" panose="020F0502020204030204" pitchFamily="34" charset="0"/>
                <a:cs typeface="Calibri" panose="020F0502020204030204" pitchFamily="34" charset="0"/>
              </a:rPr>
              <a:t>Node 1</a:t>
            </a:r>
            <a:endParaRPr lang="zh-CN" altLang="en-US" sz="2800" dirty="0">
              <a:latin typeface="Calibri" panose="020F0502020204030204" pitchFamily="34" charset="0"/>
              <a:cs typeface="Calibri" panose="020F0502020204030204" pitchFamily="34" charset="0"/>
            </a:endParaRPr>
          </a:p>
        </p:txBody>
      </p:sp>
      <p:sp>
        <p:nvSpPr>
          <p:cNvPr id="13" name="文本框 12">
            <a:extLst>
              <a:ext uri="{FF2B5EF4-FFF2-40B4-BE49-F238E27FC236}">
                <a16:creationId xmlns:a16="http://schemas.microsoft.com/office/drawing/2014/main" id="{770F850D-B997-4C96-BF53-B70C815456C9}"/>
              </a:ext>
            </a:extLst>
          </p:cNvPr>
          <p:cNvSpPr txBox="1"/>
          <p:nvPr/>
        </p:nvSpPr>
        <p:spPr>
          <a:xfrm>
            <a:off x="9849999" y="6172169"/>
            <a:ext cx="1463984" cy="417935"/>
          </a:xfrm>
          <a:prstGeom prst="rect">
            <a:avLst/>
          </a:prstGeom>
          <a:noFill/>
        </p:spPr>
        <p:txBody>
          <a:bodyPr wrap="square" rtlCol="0">
            <a:spAutoFit/>
          </a:bodyPr>
          <a:lstStyle/>
          <a:p>
            <a:pPr>
              <a:lnSpc>
                <a:spcPts val="2400"/>
              </a:lnSpc>
            </a:pPr>
            <a:r>
              <a:rPr lang="en-US" altLang="zh-CN" sz="2800" dirty="0">
                <a:latin typeface="Calibri" panose="020F0502020204030204" pitchFamily="34" charset="0"/>
                <a:ea typeface="Calibri" panose="020F0502020204030204" pitchFamily="34" charset="0"/>
                <a:cs typeface="Calibri" panose="020F0502020204030204" pitchFamily="34" charset="0"/>
              </a:rPr>
              <a:t>Node 2</a:t>
            </a:r>
            <a:endParaRPr lang="zh-CN" altLang="en-US" sz="2800" dirty="0">
              <a:latin typeface="Calibri" panose="020F0502020204030204" pitchFamily="34" charset="0"/>
              <a:cs typeface="Calibri" panose="020F0502020204030204" pitchFamily="34" charset="0"/>
            </a:endParaRPr>
          </a:p>
        </p:txBody>
      </p:sp>
      <p:sp>
        <p:nvSpPr>
          <p:cNvPr id="14" name="流程图: 过程 13">
            <a:extLst>
              <a:ext uri="{FF2B5EF4-FFF2-40B4-BE49-F238E27FC236}">
                <a16:creationId xmlns:a16="http://schemas.microsoft.com/office/drawing/2014/main" id="{61C1D37F-7804-4385-9205-541CD1998315}"/>
              </a:ext>
            </a:extLst>
          </p:cNvPr>
          <p:cNvSpPr/>
          <p:nvPr/>
        </p:nvSpPr>
        <p:spPr>
          <a:xfrm>
            <a:off x="6595392" y="5648694"/>
            <a:ext cx="1548788" cy="546806"/>
          </a:xfrm>
          <a:prstGeom prst="flowChartProcess">
            <a:avLst/>
          </a:prstGeom>
          <a:solidFill>
            <a:schemeClr val="bg1">
              <a:lumMod val="85000"/>
            </a:schemeClr>
          </a:solidFill>
          <a:ln w="381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endParaRPr>
          </a:p>
        </p:txBody>
      </p:sp>
      <p:sp>
        <p:nvSpPr>
          <p:cNvPr id="15" name="流程图: 过程 14">
            <a:extLst>
              <a:ext uri="{FF2B5EF4-FFF2-40B4-BE49-F238E27FC236}">
                <a16:creationId xmlns:a16="http://schemas.microsoft.com/office/drawing/2014/main" id="{A5383BFA-1F15-4442-88F7-1056946D0A23}"/>
              </a:ext>
            </a:extLst>
          </p:cNvPr>
          <p:cNvSpPr/>
          <p:nvPr/>
        </p:nvSpPr>
        <p:spPr>
          <a:xfrm>
            <a:off x="9989608" y="5648694"/>
            <a:ext cx="1571316" cy="546806"/>
          </a:xfrm>
          <a:prstGeom prst="flowChartProcess">
            <a:avLst/>
          </a:prstGeom>
          <a:solidFill>
            <a:schemeClr val="bg1">
              <a:lumMod val="85000"/>
            </a:schemeClr>
          </a:solidFill>
          <a:ln w="381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endParaRPr>
          </a:p>
        </p:txBody>
      </p:sp>
      <p:cxnSp>
        <p:nvCxnSpPr>
          <p:cNvPr id="16" name="连接符: 曲线 15">
            <a:extLst>
              <a:ext uri="{FF2B5EF4-FFF2-40B4-BE49-F238E27FC236}">
                <a16:creationId xmlns:a16="http://schemas.microsoft.com/office/drawing/2014/main" id="{12806A52-4788-4197-9048-48528FC214D8}"/>
              </a:ext>
            </a:extLst>
          </p:cNvPr>
          <p:cNvCxnSpPr>
            <a:cxnSpLocks/>
            <a:stCxn id="17" idx="0"/>
            <a:endCxn id="19" idx="1"/>
          </p:cNvCxnSpPr>
          <p:nvPr/>
        </p:nvCxnSpPr>
        <p:spPr>
          <a:xfrm rot="16200000" flipH="1">
            <a:off x="8179566" y="3601410"/>
            <a:ext cx="16450" cy="1683638"/>
          </a:xfrm>
          <a:prstGeom prst="curvedConnector3">
            <a:avLst>
              <a:gd name="adj1" fmla="val -1435970"/>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17" name="图形 16" descr="实心填充的笑嘻嘻表情 纯色填充">
            <a:extLst>
              <a:ext uri="{FF2B5EF4-FFF2-40B4-BE49-F238E27FC236}">
                <a16:creationId xmlns:a16="http://schemas.microsoft.com/office/drawing/2014/main" id="{EDE0C86D-57B2-4BF8-8685-B1AA0D284D9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7102" y="4435004"/>
            <a:ext cx="717739" cy="717739"/>
          </a:xfrm>
          <a:prstGeom prst="rect">
            <a:avLst/>
          </a:prstGeom>
        </p:spPr>
      </p:pic>
      <p:pic>
        <p:nvPicPr>
          <p:cNvPr id="18" name="图形 17" descr="实心填充的笑嘻嘻表情 纯色填充">
            <a:extLst>
              <a:ext uri="{FF2B5EF4-FFF2-40B4-BE49-F238E27FC236}">
                <a16:creationId xmlns:a16="http://schemas.microsoft.com/office/drawing/2014/main" id="{0B20E444-A49A-4245-8AA1-A89AB958BD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70185" y="4440229"/>
            <a:ext cx="717739" cy="717739"/>
          </a:xfrm>
          <a:prstGeom prst="rect">
            <a:avLst/>
          </a:prstGeom>
        </p:spPr>
      </p:pic>
      <p:sp>
        <p:nvSpPr>
          <p:cNvPr id="19" name="椭圆 18">
            <a:extLst>
              <a:ext uri="{FF2B5EF4-FFF2-40B4-BE49-F238E27FC236}">
                <a16:creationId xmlns:a16="http://schemas.microsoft.com/office/drawing/2014/main" id="{E48651C1-527E-407F-A3D2-8F655A1DAEC0}"/>
              </a:ext>
            </a:extLst>
          </p:cNvPr>
          <p:cNvSpPr/>
          <p:nvPr/>
        </p:nvSpPr>
        <p:spPr>
          <a:xfrm>
            <a:off x="9006395" y="4427387"/>
            <a:ext cx="158519" cy="164342"/>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0B4AF03D-B30F-4D1D-88AB-3A051A2B5800}"/>
              </a:ext>
            </a:extLst>
          </p:cNvPr>
          <p:cNvSpPr/>
          <p:nvPr/>
        </p:nvSpPr>
        <p:spPr>
          <a:xfrm>
            <a:off x="8813917" y="4693692"/>
            <a:ext cx="158519" cy="164342"/>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91A45A37-E560-4513-A586-3436D9FE6641}"/>
              </a:ext>
            </a:extLst>
          </p:cNvPr>
          <p:cNvCxnSpPr>
            <a:stCxn id="19" idx="3"/>
            <a:endCxn id="20" idx="7"/>
          </p:cNvCxnSpPr>
          <p:nvPr/>
        </p:nvCxnSpPr>
        <p:spPr>
          <a:xfrm flipH="1">
            <a:off x="8949221" y="4567662"/>
            <a:ext cx="80389" cy="150097"/>
          </a:xfrm>
          <a:prstGeom prst="straightConnector1">
            <a:avLst/>
          </a:prstGeom>
          <a:ln>
            <a:solidFill>
              <a:srgbClr val="2F5597"/>
            </a:solidFill>
            <a:tailEnd type="triangle"/>
          </a:ln>
        </p:spPr>
        <p:style>
          <a:lnRef idx="1">
            <a:schemeClr val="accent1"/>
          </a:lnRef>
          <a:fillRef idx="0">
            <a:schemeClr val="accent1"/>
          </a:fillRef>
          <a:effectRef idx="0">
            <a:schemeClr val="accent1"/>
          </a:effectRef>
          <a:fontRef idx="minor">
            <a:schemeClr val="tx1"/>
          </a:fontRef>
        </p:style>
      </p:cxnSp>
      <p:sp>
        <p:nvSpPr>
          <p:cNvPr id="22" name="椭圆 21">
            <a:extLst>
              <a:ext uri="{FF2B5EF4-FFF2-40B4-BE49-F238E27FC236}">
                <a16:creationId xmlns:a16="http://schemas.microsoft.com/office/drawing/2014/main" id="{60F30C78-D683-421D-9C33-0C548D93F98B}"/>
              </a:ext>
            </a:extLst>
          </p:cNvPr>
          <p:cNvSpPr/>
          <p:nvPr/>
        </p:nvSpPr>
        <p:spPr>
          <a:xfrm>
            <a:off x="9213110" y="4717759"/>
            <a:ext cx="158519" cy="164342"/>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F58453E9-A021-49F0-83D7-C6C617B11390}"/>
              </a:ext>
            </a:extLst>
          </p:cNvPr>
          <p:cNvSpPr/>
          <p:nvPr/>
        </p:nvSpPr>
        <p:spPr>
          <a:xfrm>
            <a:off x="8602093" y="4981262"/>
            <a:ext cx="158519" cy="164342"/>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883322A-48AE-4D43-9E80-E60F2339ED1C}"/>
              </a:ext>
            </a:extLst>
          </p:cNvPr>
          <p:cNvSpPr/>
          <p:nvPr/>
        </p:nvSpPr>
        <p:spPr>
          <a:xfrm>
            <a:off x="9006395" y="5037851"/>
            <a:ext cx="158519" cy="164342"/>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37623E6A-CB00-411B-B051-5214016FFF27}"/>
              </a:ext>
            </a:extLst>
          </p:cNvPr>
          <p:cNvSpPr/>
          <p:nvPr/>
        </p:nvSpPr>
        <p:spPr>
          <a:xfrm>
            <a:off x="9410697" y="5023816"/>
            <a:ext cx="158519" cy="164342"/>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a:extLst>
              <a:ext uri="{FF2B5EF4-FFF2-40B4-BE49-F238E27FC236}">
                <a16:creationId xmlns:a16="http://schemas.microsoft.com/office/drawing/2014/main" id="{C5F3FA8B-BB6B-4E85-9106-B44F0B5704DB}"/>
              </a:ext>
            </a:extLst>
          </p:cNvPr>
          <p:cNvCxnSpPr>
            <a:cxnSpLocks/>
            <a:stCxn id="20" idx="3"/>
            <a:endCxn id="23" idx="7"/>
          </p:cNvCxnSpPr>
          <p:nvPr/>
        </p:nvCxnSpPr>
        <p:spPr>
          <a:xfrm flipH="1">
            <a:off x="8737397" y="4833967"/>
            <a:ext cx="99735" cy="171362"/>
          </a:xfrm>
          <a:prstGeom prst="straightConnector1">
            <a:avLst/>
          </a:prstGeom>
          <a:ln>
            <a:solidFill>
              <a:srgbClr val="2F5597"/>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EF4E224E-BDD7-4402-8F12-0FFC7BE883B5}"/>
              </a:ext>
            </a:extLst>
          </p:cNvPr>
          <p:cNvCxnSpPr>
            <a:cxnSpLocks/>
            <a:stCxn id="22" idx="3"/>
            <a:endCxn id="24" idx="0"/>
          </p:cNvCxnSpPr>
          <p:nvPr/>
        </p:nvCxnSpPr>
        <p:spPr>
          <a:xfrm flipH="1">
            <a:off x="9085655" y="4858034"/>
            <a:ext cx="150670" cy="179817"/>
          </a:xfrm>
          <a:prstGeom prst="straightConnector1">
            <a:avLst/>
          </a:prstGeom>
          <a:ln>
            <a:solidFill>
              <a:srgbClr val="2F5597"/>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DA68F9E9-4030-4384-8581-E3AA4DBB4273}"/>
              </a:ext>
            </a:extLst>
          </p:cNvPr>
          <p:cNvCxnSpPr>
            <a:cxnSpLocks/>
            <a:stCxn id="19" idx="5"/>
            <a:endCxn id="22" idx="1"/>
          </p:cNvCxnSpPr>
          <p:nvPr/>
        </p:nvCxnSpPr>
        <p:spPr>
          <a:xfrm>
            <a:off x="9141699" y="4567662"/>
            <a:ext cx="94626" cy="174164"/>
          </a:xfrm>
          <a:prstGeom prst="straightConnector1">
            <a:avLst/>
          </a:prstGeom>
          <a:ln>
            <a:solidFill>
              <a:srgbClr val="2F5597"/>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23A2E73A-4C07-4BA4-A359-537A82F630E7}"/>
              </a:ext>
            </a:extLst>
          </p:cNvPr>
          <p:cNvCxnSpPr>
            <a:cxnSpLocks/>
            <a:stCxn id="22" idx="5"/>
            <a:endCxn id="25" idx="0"/>
          </p:cNvCxnSpPr>
          <p:nvPr/>
        </p:nvCxnSpPr>
        <p:spPr>
          <a:xfrm>
            <a:off x="9348414" y="4858034"/>
            <a:ext cx="141543" cy="165782"/>
          </a:xfrm>
          <a:prstGeom prst="straightConnector1">
            <a:avLst/>
          </a:prstGeom>
          <a:ln>
            <a:solidFill>
              <a:srgbClr val="2F5597"/>
            </a:solidFill>
            <a:tailEnd type="triangle"/>
          </a:ln>
        </p:spPr>
        <p:style>
          <a:lnRef idx="1">
            <a:schemeClr val="accent1"/>
          </a:lnRef>
          <a:fillRef idx="0">
            <a:schemeClr val="accent1"/>
          </a:fillRef>
          <a:effectRef idx="0">
            <a:schemeClr val="accent1"/>
          </a:effectRef>
          <a:fontRef idx="minor">
            <a:schemeClr val="tx1"/>
          </a:fontRef>
        </p:style>
      </p:cxnSp>
      <p:cxnSp>
        <p:nvCxnSpPr>
          <p:cNvPr id="30" name="连接符: 曲线 29">
            <a:extLst>
              <a:ext uri="{FF2B5EF4-FFF2-40B4-BE49-F238E27FC236}">
                <a16:creationId xmlns:a16="http://schemas.microsoft.com/office/drawing/2014/main" id="{963C2F06-A1E9-40D2-ADC5-7E0C14B6F76D}"/>
              </a:ext>
            </a:extLst>
          </p:cNvPr>
          <p:cNvCxnSpPr>
            <a:cxnSpLocks/>
            <a:stCxn id="18" idx="0"/>
            <a:endCxn id="19" idx="7"/>
          </p:cNvCxnSpPr>
          <p:nvPr/>
        </p:nvCxnSpPr>
        <p:spPr>
          <a:xfrm rot="16200000" flipH="1" flipV="1">
            <a:off x="9979764" y="3602163"/>
            <a:ext cx="11225" cy="1687356"/>
          </a:xfrm>
          <a:prstGeom prst="curvedConnector3">
            <a:avLst>
              <a:gd name="adj1" fmla="val -215093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E7B5CC0E-119E-426E-8BC8-7CFE18EC0A2A}"/>
              </a:ext>
            </a:extLst>
          </p:cNvPr>
          <p:cNvSpPr txBox="1"/>
          <p:nvPr/>
        </p:nvSpPr>
        <p:spPr>
          <a:xfrm>
            <a:off x="7743412" y="4340257"/>
            <a:ext cx="1029793" cy="417935"/>
          </a:xfrm>
          <a:prstGeom prst="rect">
            <a:avLst/>
          </a:prstGeom>
          <a:noFill/>
        </p:spPr>
        <p:txBody>
          <a:bodyPr wrap="square" rtlCol="0">
            <a:spAutoFit/>
          </a:bodyPr>
          <a:lstStyle/>
          <a:p>
            <a:pPr>
              <a:lnSpc>
                <a:spcPts val="2400"/>
              </a:lnSpc>
            </a:pPr>
            <a:r>
              <a:rPr lang="en-US" altLang="zh-CN" sz="2800" dirty="0">
                <a:latin typeface="Calibri" panose="020F0502020204030204" pitchFamily="34" charset="0"/>
                <a:ea typeface="Calibri" panose="020F0502020204030204" pitchFamily="34" charset="0"/>
                <a:cs typeface="Calibri" panose="020F0502020204030204" pitchFamily="34" charset="0"/>
              </a:rPr>
              <a:t>Send</a:t>
            </a:r>
            <a:endParaRPr lang="zh-CN" altLang="en-US" sz="2800" dirty="0">
              <a:latin typeface="Calibri" panose="020F0502020204030204" pitchFamily="34" charset="0"/>
              <a:cs typeface="Calibri" panose="020F0502020204030204" pitchFamily="34" charset="0"/>
            </a:endParaRPr>
          </a:p>
        </p:txBody>
      </p:sp>
      <p:sp>
        <p:nvSpPr>
          <p:cNvPr id="32" name="文本框 31">
            <a:extLst>
              <a:ext uri="{FF2B5EF4-FFF2-40B4-BE49-F238E27FC236}">
                <a16:creationId xmlns:a16="http://schemas.microsoft.com/office/drawing/2014/main" id="{44E40E6A-9F40-4A03-BE95-AAB8F515B671}"/>
              </a:ext>
            </a:extLst>
          </p:cNvPr>
          <p:cNvSpPr txBox="1"/>
          <p:nvPr/>
        </p:nvSpPr>
        <p:spPr>
          <a:xfrm>
            <a:off x="9325057" y="4349761"/>
            <a:ext cx="1304793" cy="417935"/>
          </a:xfrm>
          <a:prstGeom prst="rect">
            <a:avLst/>
          </a:prstGeom>
          <a:noFill/>
        </p:spPr>
        <p:txBody>
          <a:bodyPr wrap="square" rtlCol="0">
            <a:spAutoFit/>
          </a:bodyPr>
          <a:lstStyle/>
          <a:p>
            <a:pPr>
              <a:lnSpc>
                <a:spcPts val="2400"/>
              </a:lnSpc>
            </a:pPr>
            <a:r>
              <a:rPr lang="en-US" altLang="zh-CN" sz="2800" dirty="0">
                <a:latin typeface="Calibri" panose="020F0502020204030204" pitchFamily="34" charset="0"/>
                <a:ea typeface="Calibri" panose="020F0502020204030204" pitchFamily="34" charset="0"/>
                <a:cs typeface="Calibri" panose="020F0502020204030204" pitchFamily="34" charset="0"/>
              </a:rPr>
              <a:t>Receive</a:t>
            </a:r>
            <a:endParaRPr lang="zh-CN" altLang="en-US" sz="2800" dirty="0">
              <a:latin typeface="Calibri" panose="020F0502020204030204" pitchFamily="34" charset="0"/>
              <a:cs typeface="Calibri" panose="020F0502020204030204" pitchFamily="34" charset="0"/>
            </a:endParaRPr>
          </a:p>
        </p:txBody>
      </p:sp>
      <p:sp>
        <p:nvSpPr>
          <p:cNvPr id="33" name="文本框 32">
            <a:extLst>
              <a:ext uri="{FF2B5EF4-FFF2-40B4-BE49-F238E27FC236}">
                <a16:creationId xmlns:a16="http://schemas.microsoft.com/office/drawing/2014/main" id="{11BB9603-0BDE-4D37-8246-ADDA82D7E092}"/>
              </a:ext>
            </a:extLst>
          </p:cNvPr>
          <p:cNvSpPr txBox="1"/>
          <p:nvPr/>
        </p:nvSpPr>
        <p:spPr>
          <a:xfrm>
            <a:off x="7258608" y="3285335"/>
            <a:ext cx="4179611" cy="384849"/>
          </a:xfrm>
          <a:prstGeom prst="rect">
            <a:avLst/>
          </a:prstGeom>
          <a:noFill/>
        </p:spPr>
        <p:txBody>
          <a:bodyPr wrap="square" rtlCol="0">
            <a:spAutoFit/>
          </a:bodyPr>
          <a:lstStyle/>
          <a:p>
            <a:pPr>
              <a:lnSpc>
                <a:spcPts val="2400"/>
              </a:lnSpc>
            </a:pPr>
            <a:r>
              <a:rPr lang="en-US" altLang="zh-CN" dirty="0">
                <a:latin typeface="Calibri" panose="020F0502020204030204" pitchFamily="34" charset="0"/>
                <a:ea typeface="Calibri" panose="020F0502020204030204" pitchFamily="34" charset="0"/>
                <a:cs typeface="Calibri" panose="020F0502020204030204" pitchFamily="34" charset="0"/>
              </a:rPr>
              <a:t>CXL 3.0 cache coherency technologies</a:t>
            </a:r>
            <a:endParaRPr lang="zh-CN" altLang="en-US" dirty="0">
              <a:latin typeface="Calibri" panose="020F0502020204030204" pitchFamily="34" charset="0"/>
              <a:cs typeface="Calibri" panose="020F0502020204030204" pitchFamily="34" charset="0"/>
            </a:endParaRPr>
          </a:p>
        </p:txBody>
      </p:sp>
      <p:pic>
        <p:nvPicPr>
          <p:cNvPr id="34" name="图片 33">
            <a:extLst>
              <a:ext uri="{FF2B5EF4-FFF2-40B4-BE49-F238E27FC236}">
                <a16:creationId xmlns:a16="http://schemas.microsoft.com/office/drawing/2014/main" id="{4A5397FA-1CB5-41CB-A0F4-7B8D79D6591B}"/>
              </a:ext>
            </a:extLst>
          </p:cNvPr>
          <p:cNvPicPr>
            <a:picLocks noChangeAspect="1"/>
          </p:cNvPicPr>
          <p:nvPr/>
        </p:nvPicPr>
        <p:blipFill>
          <a:blip r:embed="rId5"/>
          <a:stretch>
            <a:fillRect/>
          </a:stretch>
        </p:blipFill>
        <p:spPr>
          <a:xfrm>
            <a:off x="705473" y="3540323"/>
            <a:ext cx="5122881" cy="2915461"/>
          </a:xfrm>
          <a:prstGeom prst="rect">
            <a:avLst/>
          </a:prstGeom>
        </p:spPr>
      </p:pic>
      <p:sp>
        <p:nvSpPr>
          <p:cNvPr id="35" name="文本框 34">
            <a:extLst>
              <a:ext uri="{FF2B5EF4-FFF2-40B4-BE49-F238E27FC236}">
                <a16:creationId xmlns:a16="http://schemas.microsoft.com/office/drawing/2014/main" id="{617D2D0C-7FD1-4CD4-AB79-F291F00AD0BD}"/>
              </a:ext>
            </a:extLst>
          </p:cNvPr>
          <p:cNvSpPr txBox="1"/>
          <p:nvPr/>
        </p:nvSpPr>
        <p:spPr>
          <a:xfrm>
            <a:off x="3156155" y="1824262"/>
            <a:ext cx="8760542" cy="1600438"/>
          </a:xfrm>
          <a:prstGeom prst="rect">
            <a:avLst/>
          </a:prstGeom>
          <a:noFill/>
        </p:spPr>
        <p:txBody>
          <a:bodyPr wrap="square" rtlCol="0">
            <a:spAutoFit/>
          </a:bodyPr>
          <a:lstStyle/>
          <a:p>
            <a:r>
              <a:rPr lang="en-US" altLang="zh-CN" sz="2800" kern="1200" dirty="0">
                <a:effectLst/>
                <a:latin typeface="Calibri" panose="020F0502020204030204" pitchFamily="34" charset="0"/>
                <a:ea typeface="Calibri" panose="020F0502020204030204" pitchFamily="34" charset="0"/>
                <a:cs typeface="宋体" panose="02010600030101010101" pitchFamily="2" charset="-122"/>
              </a:rPr>
              <a:t>CXL 3.0 makes cross-node shared data structures practical</a:t>
            </a:r>
          </a:p>
          <a:p>
            <a:pPr marL="457200" indent="-457200">
              <a:buFont typeface="Wingdings" panose="05000000000000000000" pitchFamily="2" charset="2"/>
              <a:buChar char="l"/>
            </a:pPr>
            <a:r>
              <a:rPr lang="en-US" altLang="zh-CN" sz="2800" kern="1200" dirty="0">
                <a:effectLst/>
                <a:latin typeface="Calibri" panose="020F0502020204030204" pitchFamily="34" charset="0"/>
                <a:ea typeface="Calibri" panose="020F0502020204030204" pitchFamily="34" charset="0"/>
                <a:cs typeface="宋体" panose="02010600030101010101" pitchFamily="2" charset="-122"/>
              </a:rPr>
              <a:t>Zero-copy</a:t>
            </a:r>
          </a:p>
          <a:p>
            <a:pPr marL="457200" indent="-457200">
              <a:buFont typeface="Wingdings" panose="05000000000000000000" pitchFamily="2" charset="2"/>
              <a:buChar char="l"/>
            </a:pPr>
            <a:r>
              <a:rPr lang="en-US" altLang="zh-CN" sz="2800" kern="1200" dirty="0">
                <a:effectLst/>
                <a:latin typeface="Calibri" panose="020F0502020204030204" pitchFamily="34" charset="0"/>
                <a:ea typeface="Calibri" panose="020F0502020204030204" pitchFamily="34" charset="0"/>
                <a:cs typeface="宋体" panose="02010600030101010101" pitchFamily="2" charset="-122"/>
              </a:rPr>
              <a:t>Serialization-free message passing</a:t>
            </a:r>
          </a:p>
          <a:p>
            <a:endParaRPr lang="zh-CN" altLang="zh-CN" sz="1400" dirty="0">
              <a:effectLst/>
              <a:latin typeface="宋体" panose="02010600030101010101" pitchFamily="2" charset="-122"/>
              <a:ea typeface="宋体" panose="02010600030101010101" pitchFamily="2" charset="-122"/>
              <a:cs typeface="宋体" panose="02010600030101010101" pitchFamily="2" charset="-122"/>
            </a:endParaRPr>
          </a:p>
        </p:txBody>
      </p:sp>
      <p:pic>
        <p:nvPicPr>
          <p:cNvPr id="6" name="图形 5" descr="连接 纯色填充">
            <a:extLst>
              <a:ext uri="{FF2B5EF4-FFF2-40B4-BE49-F238E27FC236}">
                <a16:creationId xmlns:a16="http://schemas.microsoft.com/office/drawing/2014/main" id="{F28087B9-2E57-4BAF-981B-1E2006D2A8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40" y="1824262"/>
            <a:ext cx="1534637" cy="1534637"/>
          </a:xfrm>
          <a:prstGeom prst="rect">
            <a:avLst/>
          </a:prstGeom>
        </p:spPr>
      </p:pic>
    </p:spTree>
    <p:extLst>
      <p:ext uri="{BB962C8B-B14F-4D97-AF65-F5344CB8AC3E}">
        <p14:creationId xmlns:p14="http://schemas.microsoft.com/office/powerpoint/2010/main" val="1856292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7371491" cy="769441"/>
          </a:xfrm>
          <a:prstGeom prst="rect">
            <a:avLst/>
          </a:prstGeom>
          <a:noFill/>
        </p:spPr>
        <p:txBody>
          <a:bodyPr wrap="square" rtlCol="0">
            <a:spAutoFit/>
          </a:bodyPr>
          <a:lstStyle/>
          <a:p>
            <a:r>
              <a:rPr lang="en-US" altLang="zh-CN" sz="44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rPr>
              <a:t>P</a:t>
            </a:r>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artial Failures</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6" name="流程图: 过程 5">
            <a:extLst>
              <a:ext uri="{FF2B5EF4-FFF2-40B4-BE49-F238E27FC236}">
                <a16:creationId xmlns:a16="http://schemas.microsoft.com/office/drawing/2014/main" id="{F8E4AFD8-DE55-46E3-BBD9-6F43B452B8C5}"/>
              </a:ext>
            </a:extLst>
          </p:cNvPr>
          <p:cNvSpPr/>
          <p:nvPr/>
        </p:nvSpPr>
        <p:spPr>
          <a:xfrm>
            <a:off x="5326595" y="2914697"/>
            <a:ext cx="1538810" cy="2079684"/>
          </a:xfrm>
          <a:prstGeom prst="flowChartProcess">
            <a:avLst/>
          </a:prstGeom>
          <a:solidFill>
            <a:schemeClr val="accent1">
              <a:lumMod val="20000"/>
              <a:lumOff val="80000"/>
            </a:schemeClr>
          </a:solidFill>
          <a:ln w="3810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2800" dirty="0">
                <a:solidFill>
                  <a:schemeClr val="tx1"/>
                </a:solidFill>
                <a:latin typeface="Calibri" panose="020F0502020204030204" pitchFamily="34" charset="0"/>
                <a:ea typeface="Calibri" panose="020F0502020204030204" pitchFamily="34" charset="0"/>
                <a:cs typeface="Calibri" panose="020F0502020204030204" pitchFamily="34" charset="0"/>
              </a:rPr>
              <a:t>DSM</a:t>
            </a:r>
            <a:endParaRPr lang="zh-CN" altLang="en-US" sz="2800" dirty="0">
              <a:solidFill>
                <a:schemeClr val="tx1"/>
              </a:solidFill>
              <a:latin typeface="Calibri" panose="020F0502020204030204" pitchFamily="34" charset="0"/>
              <a:cs typeface="Calibri" panose="020F0502020204030204" pitchFamily="34" charset="0"/>
            </a:endParaRPr>
          </a:p>
        </p:txBody>
      </p:sp>
      <p:sp>
        <p:nvSpPr>
          <p:cNvPr id="7" name="文本框 6">
            <a:extLst>
              <a:ext uri="{FF2B5EF4-FFF2-40B4-BE49-F238E27FC236}">
                <a16:creationId xmlns:a16="http://schemas.microsoft.com/office/drawing/2014/main" id="{2C8DAD2F-1867-46D8-A546-1493976554E1}"/>
              </a:ext>
            </a:extLst>
          </p:cNvPr>
          <p:cNvSpPr txBox="1"/>
          <p:nvPr/>
        </p:nvSpPr>
        <p:spPr>
          <a:xfrm>
            <a:off x="3724788" y="3799848"/>
            <a:ext cx="1355121" cy="404406"/>
          </a:xfrm>
          <a:prstGeom prst="rect">
            <a:avLst/>
          </a:prstGeom>
          <a:noFill/>
        </p:spPr>
        <p:txBody>
          <a:bodyPr wrap="square" rtlCol="0">
            <a:spAutoFit/>
          </a:bodyPr>
          <a:lstStyle/>
          <a:p>
            <a:pPr>
              <a:lnSpc>
                <a:spcPts val="2400"/>
              </a:lnSpc>
            </a:pPr>
            <a:r>
              <a:rPr lang="en-US" altLang="zh-CN" sz="2000" b="1" dirty="0">
                <a:latin typeface="Calibri" panose="020F0502020204030204" pitchFamily="34" charset="0"/>
                <a:ea typeface="Calibri" panose="020F0502020204030204" pitchFamily="34" charset="0"/>
                <a:cs typeface="Calibri" panose="020F0502020204030204" pitchFamily="34" charset="0"/>
                <a:sym typeface="Wingdings 2" panose="05020102010507070707" pitchFamily="18" charset="2"/>
              </a:rPr>
              <a:t>❶</a:t>
            </a:r>
            <a:r>
              <a:rPr lang="en-US" altLang="zh-CN" sz="2400" dirty="0">
                <a:latin typeface="Calibri" panose="020F0502020204030204" pitchFamily="34" charset="0"/>
                <a:ea typeface="Calibri" panose="020F0502020204030204" pitchFamily="34" charset="0"/>
                <a:cs typeface="Calibri" panose="020F0502020204030204" pitchFamily="34" charset="0"/>
              </a:rPr>
              <a:t>malloc</a:t>
            </a:r>
            <a:endParaRPr lang="zh-CN" altLang="en-US" sz="2000" dirty="0">
              <a:latin typeface="Calibri" panose="020F0502020204030204" pitchFamily="34" charset="0"/>
              <a:cs typeface="Calibri" panose="020F0502020204030204" pitchFamily="34" charset="0"/>
            </a:endParaRPr>
          </a:p>
        </p:txBody>
      </p:sp>
      <p:sp>
        <p:nvSpPr>
          <p:cNvPr id="8" name="文本框 7">
            <a:extLst>
              <a:ext uri="{FF2B5EF4-FFF2-40B4-BE49-F238E27FC236}">
                <a16:creationId xmlns:a16="http://schemas.microsoft.com/office/drawing/2014/main" id="{F6948BCE-AC92-4EE8-9614-A0CD841199E6}"/>
              </a:ext>
            </a:extLst>
          </p:cNvPr>
          <p:cNvSpPr txBox="1"/>
          <p:nvPr/>
        </p:nvSpPr>
        <p:spPr>
          <a:xfrm>
            <a:off x="6999546" y="3810672"/>
            <a:ext cx="1756765" cy="404406"/>
          </a:xfrm>
          <a:prstGeom prst="rect">
            <a:avLst/>
          </a:prstGeom>
          <a:noFill/>
        </p:spPr>
        <p:txBody>
          <a:bodyPr wrap="square" rtlCol="0">
            <a:spAutoFit/>
          </a:bodyPr>
          <a:lstStyle/>
          <a:p>
            <a:pPr>
              <a:lnSpc>
                <a:spcPts val="2400"/>
              </a:lnSpc>
            </a:pPr>
            <a:r>
              <a:rPr lang="en-US" altLang="zh-CN" sz="2000" b="1" dirty="0">
                <a:latin typeface="Calibri" panose="020F0502020204030204" pitchFamily="34" charset="0"/>
                <a:ea typeface="Calibri" panose="020F0502020204030204" pitchFamily="34" charset="0"/>
                <a:cs typeface="Calibri" panose="020F0502020204030204" pitchFamily="34" charset="0"/>
                <a:sym typeface="Wingdings 2" panose="05020102010507070707" pitchFamily="18" charset="2"/>
              </a:rPr>
              <a:t>❸</a:t>
            </a:r>
            <a:r>
              <a:rPr lang="en-US" altLang="zh-CN" sz="2400" dirty="0">
                <a:latin typeface="Calibri" panose="020F0502020204030204" pitchFamily="34" charset="0"/>
                <a:ea typeface="Calibri" panose="020F0502020204030204" pitchFamily="34" charset="0"/>
                <a:cs typeface="Calibri" panose="020F0502020204030204" pitchFamily="34" charset="0"/>
              </a:rPr>
              <a:t>deadlock</a:t>
            </a:r>
            <a:endParaRPr lang="zh-CN" altLang="en-US" sz="2000" dirty="0">
              <a:latin typeface="Calibri" panose="020F0502020204030204" pitchFamily="34" charset="0"/>
              <a:cs typeface="Calibri" panose="020F0502020204030204" pitchFamily="34" charset="0"/>
            </a:endParaRPr>
          </a:p>
        </p:txBody>
      </p:sp>
      <p:sp>
        <p:nvSpPr>
          <p:cNvPr id="9" name="流程图: 过程 8">
            <a:extLst>
              <a:ext uri="{FF2B5EF4-FFF2-40B4-BE49-F238E27FC236}">
                <a16:creationId xmlns:a16="http://schemas.microsoft.com/office/drawing/2014/main" id="{52A2CA32-5A6B-41D8-AA1E-5DCA8DA593E5}"/>
              </a:ext>
            </a:extLst>
          </p:cNvPr>
          <p:cNvSpPr/>
          <p:nvPr/>
        </p:nvSpPr>
        <p:spPr>
          <a:xfrm>
            <a:off x="3615985" y="2910757"/>
            <a:ext cx="1568327" cy="1864222"/>
          </a:xfrm>
          <a:prstGeom prst="flowChartProcess">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2800" dirty="0">
                <a:solidFill>
                  <a:schemeClr val="tx1"/>
                </a:solidFill>
                <a:latin typeface="Calibri" panose="020F0502020204030204" pitchFamily="34" charset="0"/>
                <a:ea typeface="Calibri" panose="020F0502020204030204" pitchFamily="34" charset="0"/>
                <a:cs typeface="Calibri" panose="020F0502020204030204" pitchFamily="34" charset="0"/>
              </a:rPr>
              <a:t>Client 1</a:t>
            </a:r>
            <a:endParaRPr lang="zh-CN" altLang="en-US" sz="2800" dirty="0">
              <a:solidFill>
                <a:schemeClr val="tx1"/>
              </a:solidFill>
              <a:latin typeface="Calibri" panose="020F0502020204030204" pitchFamily="34" charset="0"/>
              <a:cs typeface="Calibri" panose="020F0502020204030204" pitchFamily="34" charset="0"/>
            </a:endParaRPr>
          </a:p>
        </p:txBody>
      </p:sp>
      <p:sp>
        <p:nvSpPr>
          <p:cNvPr id="10" name="流程图: 过程 9">
            <a:extLst>
              <a:ext uri="{FF2B5EF4-FFF2-40B4-BE49-F238E27FC236}">
                <a16:creationId xmlns:a16="http://schemas.microsoft.com/office/drawing/2014/main" id="{C0DD0DFA-15FA-450E-BC72-1FE973517770}"/>
              </a:ext>
            </a:extLst>
          </p:cNvPr>
          <p:cNvSpPr/>
          <p:nvPr/>
        </p:nvSpPr>
        <p:spPr>
          <a:xfrm>
            <a:off x="7009886" y="2914746"/>
            <a:ext cx="1561572" cy="1877419"/>
          </a:xfrm>
          <a:prstGeom prst="flowChartProcess">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2800" dirty="0">
                <a:solidFill>
                  <a:schemeClr val="tx1"/>
                </a:solidFill>
                <a:latin typeface="Calibri" panose="020F0502020204030204" pitchFamily="34" charset="0"/>
                <a:ea typeface="Calibri" panose="020F0502020204030204" pitchFamily="34" charset="0"/>
                <a:cs typeface="Calibri" panose="020F0502020204030204" pitchFamily="34" charset="0"/>
              </a:rPr>
              <a:t>Client 2</a:t>
            </a:r>
            <a:endParaRPr lang="zh-CN" altLang="en-US" sz="2800" dirty="0">
              <a:solidFill>
                <a:schemeClr val="tx1"/>
              </a:solidFill>
              <a:latin typeface="Calibri" panose="020F0502020204030204" pitchFamily="34" charset="0"/>
              <a:cs typeface="Calibri" panose="020F0502020204030204" pitchFamily="34" charset="0"/>
            </a:endParaRPr>
          </a:p>
        </p:txBody>
      </p:sp>
      <p:cxnSp>
        <p:nvCxnSpPr>
          <p:cNvPr id="11" name="连接符: 曲线 222">
            <a:extLst>
              <a:ext uri="{FF2B5EF4-FFF2-40B4-BE49-F238E27FC236}">
                <a16:creationId xmlns:a16="http://schemas.microsoft.com/office/drawing/2014/main" id="{3D71E2CD-4C78-42C3-8C34-1A0D30142E2B}"/>
              </a:ext>
            </a:extLst>
          </p:cNvPr>
          <p:cNvCxnSpPr>
            <a:cxnSpLocks/>
            <a:stCxn id="8" idx="1"/>
          </p:cNvCxnSpPr>
          <p:nvPr/>
        </p:nvCxnSpPr>
        <p:spPr>
          <a:xfrm rot="10800000">
            <a:off x="6665792" y="3719439"/>
            <a:ext cx="333754" cy="293436"/>
          </a:xfrm>
          <a:prstGeom prst="curvedConnector3">
            <a:avLst>
              <a:gd name="adj1" fmla="val 50000"/>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流程图: 过程 11">
            <a:extLst>
              <a:ext uri="{FF2B5EF4-FFF2-40B4-BE49-F238E27FC236}">
                <a16:creationId xmlns:a16="http://schemas.microsoft.com/office/drawing/2014/main" id="{5218E7AC-F46C-467D-AAAA-B9178A92EB59}"/>
              </a:ext>
            </a:extLst>
          </p:cNvPr>
          <p:cNvSpPr/>
          <p:nvPr/>
        </p:nvSpPr>
        <p:spPr>
          <a:xfrm>
            <a:off x="3610798" y="5145930"/>
            <a:ext cx="2430025" cy="546806"/>
          </a:xfrm>
          <a:prstGeom prst="flowChartProcess">
            <a:avLst/>
          </a:prstGeom>
          <a:solidFill>
            <a:schemeClr val="bg1">
              <a:lumMod val="85000"/>
            </a:schemeClr>
          </a:solidFill>
          <a:ln w="381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endParaRPr>
          </a:p>
        </p:txBody>
      </p:sp>
      <p:sp>
        <p:nvSpPr>
          <p:cNvPr id="13" name="流程图: 过程 12">
            <a:extLst>
              <a:ext uri="{FF2B5EF4-FFF2-40B4-BE49-F238E27FC236}">
                <a16:creationId xmlns:a16="http://schemas.microsoft.com/office/drawing/2014/main" id="{F312EE50-9324-4938-8C92-1C249A8CF118}"/>
              </a:ext>
            </a:extLst>
          </p:cNvPr>
          <p:cNvSpPr/>
          <p:nvPr/>
        </p:nvSpPr>
        <p:spPr>
          <a:xfrm>
            <a:off x="6201390" y="5145929"/>
            <a:ext cx="2370068" cy="552469"/>
          </a:xfrm>
          <a:prstGeom prst="flowChartProcess">
            <a:avLst/>
          </a:prstGeom>
          <a:solidFill>
            <a:schemeClr val="bg1">
              <a:lumMod val="85000"/>
            </a:schemeClr>
          </a:solidFill>
          <a:ln w="381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endParaRPr>
          </a:p>
        </p:txBody>
      </p:sp>
      <p:sp>
        <p:nvSpPr>
          <p:cNvPr id="14" name="文本框 13">
            <a:extLst>
              <a:ext uri="{FF2B5EF4-FFF2-40B4-BE49-F238E27FC236}">
                <a16:creationId xmlns:a16="http://schemas.microsoft.com/office/drawing/2014/main" id="{9B40FBD1-65CA-4D1C-8D9C-65C6EA09DFEC}"/>
              </a:ext>
            </a:extLst>
          </p:cNvPr>
          <p:cNvSpPr txBox="1"/>
          <p:nvPr/>
        </p:nvSpPr>
        <p:spPr>
          <a:xfrm>
            <a:off x="4257138" y="5394239"/>
            <a:ext cx="1463984" cy="417935"/>
          </a:xfrm>
          <a:prstGeom prst="rect">
            <a:avLst/>
          </a:prstGeom>
          <a:noFill/>
        </p:spPr>
        <p:txBody>
          <a:bodyPr wrap="square" rtlCol="0">
            <a:spAutoFit/>
          </a:bodyPr>
          <a:lstStyle/>
          <a:p>
            <a:pPr>
              <a:lnSpc>
                <a:spcPts val="2400"/>
              </a:lnSpc>
            </a:pPr>
            <a:r>
              <a:rPr lang="en-US" altLang="zh-CN" sz="2800" dirty="0">
                <a:latin typeface="Calibri" panose="020F0502020204030204" pitchFamily="34" charset="0"/>
                <a:ea typeface="Calibri" panose="020F0502020204030204" pitchFamily="34" charset="0"/>
                <a:cs typeface="Calibri" panose="020F0502020204030204" pitchFamily="34" charset="0"/>
              </a:rPr>
              <a:t>Node 1</a:t>
            </a:r>
            <a:endParaRPr lang="zh-CN" altLang="en-US" sz="2800" dirty="0">
              <a:latin typeface="Calibri" panose="020F0502020204030204" pitchFamily="34" charset="0"/>
              <a:cs typeface="Calibri" panose="020F0502020204030204" pitchFamily="34" charset="0"/>
            </a:endParaRPr>
          </a:p>
        </p:txBody>
      </p:sp>
      <p:sp>
        <p:nvSpPr>
          <p:cNvPr id="15" name="文本框 14">
            <a:extLst>
              <a:ext uri="{FF2B5EF4-FFF2-40B4-BE49-F238E27FC236}">
                <a16:creationId xmlns:a16="http://schemas.microsoft.com/office/drawing/2014/main" id="{B76A3959-4845-44E9-B36A-86C9E6C2E3DB}"/>
              </a:ext>
            </a:extLst>
          </p:cNvPr>
          <p:cNvSpPr txBox="1"/>
          <p:nvPr/>
        </p:nvSpPr>
        <p:spPr>
          <a:xfrm>
            <a:off x="6865405" y="5409121"/>
            <a:ext cx="1463984" cy="417935"/>
          </a:xfrm>
          <a:prstGeom prst="rect">
            <a:avLst/>
          </a:prstGeom>
          <a:noFill/>
        </p:spPr>
        <p:txBody>
          <a:bodyPr wrap="square" rtlCol="0">
            <a:spAutoFit/>
          </a:bodyPr>
          <a:lstStyle/>
          <a:p>
            <a:pPr>
              <a:lnSpc>
                <a:spcPts val="2400"/>
              </a:lnSpc>
            </a:pPr>
            <a:r>
              <a:rPr lang="en-US" altLang="zh-CN" sz="2800" dirty="0">
                <a:latin typeface="Calibri" panose="020F0502020204030204" pitchFamily="34" charset="0"/>
                <a:ea typeface="Calibri" panose="020F0502020204030204" pitchFamily="34" charset="0"/>
                <a:cs typeface="Calibri" panose="020F0502020204030204" pitchFamily="34" charset="0"/>
              </a:rPr>
              <a:t>Node 2</a:t>
            </a:r>
            <a:endParaRPr lang="zh-CN" altLang="en-US" sz="2800" dirty="0">
              <a:latin typeface="Calibri" panose="020F0502020204030204" pitchFamily="34" charset="0"/>
              <a:cs typeface="Calibri" panose="020F0502020204030204" pitchFamily="34" charset="0"/>
            </a:endParaRPr>
          </a:p>
        </p:txBody>
      </p:sp>
      <p:sp>
        <p:nvSpPr>
          <p:cNvPr id="16" name="流程图: 过程 15">
            <a:extLst>
              <a:ext uri="{FF2B5EF4-FFF2-40B4-BE49-F238E27FC236}">
                <a16:creationId xmlns:a16="http://schemas.microsoft.com/office/drawing/2014/main" id="{CA5CA36D-EE41-473D-B894-3E6E0DD86869}"/>
              </a:ext>
            </a:extLst>
          </p:cNvPr>
          <p:cNvSpPr/>
          <p:nvPr/>
        </p:nvSpPr>
        <p:spPr>
          <a:xfrm>
            <a:off x="3610798" y="4885646"/>
            <a:ext cx="1548788" cy="546806"/>
          </a:xfrm>
          <a:prstGeom prst="flowChartProcess">
            <a:avLst/>
          </a:prstGeom>
          <a:solidFill>
            <a:schemeClr val="bg1">
              <a:lumMod val="85000"/>
            </a:schemeClr>
          </a:solidFill>
          <a:ln w="381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endParaRPr>
          </a:p>
        </p:txBody>
      </p:sp>
      <p:sp>
        <p:nvSpPr>
          <p:cNvPr id="17" name="流程图: 过程 16">
            <a:extLst>
              <a:ext uri="{FF2B5EF4-FFF2-40B4-BE49-F238E27FC236}">
                <a16:creationId xmlns:a16="http://schemas.microsoft.com/office/drawing/2014/main" id="{1DCBDE0D-46CF-4A0D-B2DE-65D86F16DA5E}"/>
              </a:ext>
            </a:extLst>
          </p:cNvPr>
          <p:cNvSpPr/>
          <p:nvPr/>
        </p:nvSpPr>
        <p:spPr>
          <a:xfrm>
            <a:off x="7005014" y="4885646"/>
            <a:ext cx="1571316" cy="546806"/>
          </a:xfrm>
          <a:prstGeom prst="flowChartProcess">
            <a:avLst/>
          </a:prstGeom>
          <a:solidFill>
            <a:schemeClr val="bg1">
              <a:lumMod val="85000"/>
            </a:schemeClr>
          </a:solidFill>
          <a:ln w="381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endParaRPr>
          </a:p>
        </p:txBody>
      </p:sp>
      <p:sp>
        <p:nvSpPr>
          <p:cNvPr id="18" name="文本框 17">
            <a:extLst>
              <a:ext uri="{FF2B5EF4-FFF2-40B4-BE49-F238E27FC236}">
                <a16:creationId xmlns:a16="http://schemas.microsoft.com/office/drawing/2014/main" id="{638DF1E9-110A-4C92-8572-AFAF2D2F8BA4}"/>
              </a:ext>
            </a:extLst>
          </p:cNvPr>
          <p:cNvSpPr txBox="1"/>
          <p:nvPr/>
        </p:nvSpPr>
        <p:spPr>
          <a:xfrm>
            <a:off x="3501592" y="5026046"/>
            <a:ext cx="2730713" cy="400110"/>
          </a:xfrm>
          <a:prstGeom prst="rect">
            <a:avLst/>
          </a:prstGeom>
          <a:noFill/>
        </p:spPr>
        <p:txBody>
          <a:bodyPr wrap="square" rtlCol="0">
            <a:spAutoFit/>
          </a:bodyPr>
          <a:lstStyle/>
          <a:p>
            <a:pPr>
              <a:lnSpc>
                <a:spcPts val="2400"/>
              </a:lnSpc>
            </a:pPr>
            <a:r>
              <a:rPr lang="en-US" altLang="zh-CN" sz="2000" b="1" dirty="0">
                <a:solidFill>
                  <a:srgbClr val="C00000"/>
                </a:solidFill>
                <a:latin typeface="Calibri" panose="020F0502020204030204" pitchFamily="34" charset="0"/>
                <a:ea typeface="Calibri" panose="020F0502020204030204" pitchFamily="34" charset="0"/>
                <a:cs typeface="Calibri" panose="020F0502020204030204" pitchFamily="34" charset="0"/>
                <a:sym typeface="Wingdings 2" panose="05020102010507070707" pitchFamily="18" charset="2"/>
              </a:rPr>
              <a:t>❷</a:t>
            </a:r>
            <a:r>
              <a:rPr lang="en-US" altLang="zh-CN" sz="2000" dirty="0">
                <a:solidFill>
                  <a:srgbClr val="C00000"/>
                </a:solidFill>
                <a:latin typeface="Calibri" panose="020F0502020204030204" pitchFamily="34" charset="0"/>
                <a:ea typeface="Calibri" panose="020F0502020204030204" pitchFamily="34" charset="0"/>
                <a:cs typeface="Calibri" panose="020F0502020204030204" pitchFamily="34" charset="0"/>
                <a:sym typeface="Wingdings 2" panose="05020102010507070707" pitchFamily="18" charset="2"/>
              </a:rPr>
              <a:t>C</a:t>
            </a:r>
            <a:r>
              <a:rPr lang="en-US" altLang="zh-CN" sz="2000" dirty="0">
                <a:solidFill>
                  <a:srgbClr val="C00000"/>
                </a:solidFill>
                <a:latin typeface="Calibri" panose="020F0502020204030204" pitchFamily="34" charset="0"/>
                <a:ea typeface="Calibri" panose="020F0502020204030204" pitchFamily="34" charset="0"/>
                <a:cs typeface="Calibri" panose="020F0502020204030204" pitchFamily="34" charset="0"/>
              </a:rPr>
              <a:t>lient 1 termination</a:t>
            </a:r>
            <a:endParaRPr lang="zh-CN" altLang="en-US" sz="2000" dirty="0">
              <a:solidFill>
                <a:srgbClr val="C00000"/>
              </a:solidFill>
              <a:latin typeface="Calibri" panose="020F0502020204030204" pitchFamily="34" charset="0"/>
              <a:cs typeface="Calibri" panose="020F0502020204030204" pitchFamily="34" charset="0"/>
            </a:endParaRPr>
          </a:p>
        </p:txBody>
      </p:sp>
      <p:sp>
        <p:nvSpPr>
          <p:cNvPr id="19" name="立方体 18">
            <a:extLst>
              <a:ext uri="{FF2B5EF4-FFF2-40B4-BE49-F238E27FC236}">
                <a16:creationId xmlns:a16="http://schemas.microsoft.com/office/drawing/2014/main" id="{BF420D5E-54FD-4955-B730-C08800E3570A}"/>
              </a:ext>
            </a:extLst>
          </p:cNvPr>
          <p:cNvSpPr/>
          <p:nvPr/>
        </p:nvSpPr>
        <p:spPr>
          <a:xfrm>
            <a:off x="5863815" y="3451202"/>
            <a:ext cx="368490" cy="339940"/>
          </a:xfrm>
          <a:prstGeom prst="cube">
            <a:avLst/>
          </a:prstGeom>
          <a:solidFill>
            <a:srgbClr val="D9D9D9"/>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卷形: 垂直 19">
            <a:extLst>
              <a:ext uri="{FF2B5EF4-FFF2-40B4-BE49-F238E27FC236}">
                <a16:creationId xmlns:a16="http://schemas.microsoft.com/office/drawing/2014/main" id="{D752B5FD-341A-4913-A724-CD9CA72648E2}"/>
              </a:ext>
            </a:extLst>
          </p:cNvPr>
          <p:cNvSpPr/>
          <p:nvPr/>
        </p:nvSpPr>
        <p:spPr>
          <a:xfrm>
            <a:off x="5674253" y="4269510"/>
            <a:ext cx="871223" cy="357334"/>
          </a:xfrm>
          <a:prstGeom prst="verticalScroll">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alibri" panose="020F0502020204030204" pitchFamily="34" charset="0"/>
                <a:ea typeface="Calibri" panose="020F0502020204030204" pitchFamily="34" charset="0"/>
                <a:cs typeface="Calibri" panose="020F0502020204030204" pitchFamily="34" charset="0"/>
              </a:rPr>
              <a:t>msg1</a:t>
            </a:r>
            <a:endParaRPr lang="zh-CN" altLang="en-US" dirty="0">
              <a:solidFill>
                <a:schemeClr val="tx1"/>
              </a:solidFill>
              <a:latin typeface="Calibri" panose="020F0502020204030204" pitchFamily="34" charset="0"/>
              <a:cs typeface="Calibri" panose="020F0502020204030204" pitchFamily="34" charset="0"/>
            </a:endParaRPr>
          </a:p>
        </p:txBody>
      </p:sp>
      <p:cxnSp>
        <p:nvCxnSpPr>
          <p:cNvPr id="21" name="连接符: 曲线 20">
            <a:extLst>
              <a:ext uri="{FF2B5EF4-FFF2-40B4-BE49-F238E27FC236}">
                <a16:creationId xmlns:a16="http://schemas.microsoft.com/office/drawing/2014/main" id="{D1B7E6A3-53F1-4C1B-9AD8-68E4D8A91C61}"/>
              </a:ext>
            </a:extLst>
          </p:cNvPr>
          <p:cNvCxnSpPr>
            <a:cxnSpLocks/>
            <a:stCxn id="7" idx="3"/>
            <a:endCxn id="19" idx="2"/>
          </p:cNvCxnSpPr>
          <p:nvPr/>
        </p:nvCxnSpPr>
        <p:spPr>
          <a:xfrm flipV="1">
            <a:off x="5079909" y="3663665"/>
            <a:ext cx="783906" cy="338386"/>
          </a:xfrm>
          <a:prstGeom prst="curvedConnector3">
            <a:avLst>
              <a:gd name="adj1" fmla="val 27367"/>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2" name="连接符: 曲线 21">
            <a:extLst>
              <a:ext uri="{FF2B5EF4-FFF2-40B4-BE49-F238E27FC236}">
                <a16:creationId xmlns:a16="http://schemas.microsoft.com/office/drawing/2014/main" id="{182DF0E6-87D5-4EF8-BA63-C754F096DD8A}"/>
              </a:ext>
            </a:extLst>
          </p:cNvPr>
          <p:cNvCxnSpPr>
            <a:cxnSpLocks/>
            <a:stCxn id="7" idx="3"/>
          </p:cNvCxnSpPr>
          <p:nvPr/>
        </p:nvCxnSpPr>
        <p:spPr>
          <a:xfrm>
            <a:off x="5079909" y="4002051"/>
            <a:ext cx="614238" cy="455626"/>
          </a:xfrm>
          <a:prstGeom prst="curvedConnector3">
            <a:avLst>
              <a:gd name="adj1" fmla="val 30003"/>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BB33E232-E217-43A3-BF05-3C978DEC0E09}"/>
              </a:ext>
            </a:extLst>
          </p:cNvPr>
          <p:cNvSpPr txBox="1"/>
          <p:nvPr/>
        </p:nvSpPr>
        <p:spPr>
          <a:xfrm>
            <a:off x="5408874" y="3731291"/>
            <a:ext cx="1457693" cy="400110"/>
          </a:xfrm>
          <a:prstGeom prst="rect">
            <a:avLst/>
          </a:prstGeom>
          <a:noFill/>
        </p:spPr>
        <p:txBody>
          <a:bodyPr wrap="square" rtlCol="0">
            <a:spAutoFit/>
          </a:bodyPr>
          <a:lstStyle/>
          <a:p>
            <a:pPr>
              <a:lnSpc>
                <a:spcPts val="2400"/>
              </a:lnSpc>
            </a:pPr>
            <a:r>
              <a:rPr lang="en-US" altLang="zh-CN" sz="2000" b="1" i="1" dirty="0">
                <a:latin typeface="Calibri" panose="020F0502020204030204" pitchFamily="34" charset="0"/>
                <a:ea typeface="Calibri" panose="020F0502020204030204" pitchFamily="34" charset="0"/>
                <a:cs typeface="Calibri" panose="020F0502020204030204" pitchFamily="34" charset="0"/>
                <a:sym typeface="Wingdings 2" panose="05020102010507070707" pitchFamily="18" charset="2"/>
              </a:rPr>
              <a:t>1.1</a:t>
            </a:r>
            <a:r>
              <a:rPr lang="en-US" altLang="zh-CN" sz="2000" i="1" dirty="0">
                <a:latin typeface="Calibri" panose="020F0502020204030204" pitchFamily="34" charset="0"/>
                <a:ea typeface="Calibri" panose="020F0502020204030204" pitchFamily="34" charset="0"/>
                <a:cs typeface="Calibri" panose="020F0502020204030204" pitchFamily="34" charset="0"/>
                <a:sym typeface="Wingdings 2" panose="05020102010507070707" pitchFamily="18" charset="2"/>
              </a:rPr>
              <a:t> </a:t>
            </a:r>
            <a:r>
              <a:rPr lang="en-US" altLang="zh-CN" sz="2000" i="1" dirty="0">
                <a:latin typeface="Calibri" panose="020F0502020204030204" pitchFamily="34" charset="0"/>
                <a:ea typeface="Calibri" panose="020F0502020204030204" pitchFamily="34" charset="0"/>
                <a:cs typeface="Times New Roman" panose="02020603050405020304" pitchFamily="18" charset="0"/>
                <a:sym typeface="Wingdings 2" panose="05020102010507070707" pitchFamily="18" charset="2"/>
              </a:rPr>
              <a:t>meta op</a:t>
            </a:r>
            <a:endParaRPr lang="zh-CN" altLang="en-US" sz="2000" i="1" dirty="0">
              <a:cs typeface="Times New Roman" panose="02020603050405020304" pitchFamily="18" charset="0"/>
            </a:endParaRPr>
          </a:p>
        </p:txBody>
      </p:sp>
      <p:sp>
        <p:nvSpPr>
          <p:cNvPr id="24" name="文本框 23">
            <a:extLst>
              <a:ext uri="{FF2B5EF4-FFF2-40B4-BE49-F238E27FC236}">
                <a16:creationId xmlns:a16="http://schemas.microsoft.com/office/drawing/2014/main" id="{F376341E-638F-43E3-B317-631243A03B08}"/>
              </a:ext>
            </a:extLst>
          </p:cNvPr>
          <p:cNvSpPr txBox="1"/>
          <p:nvPr/>
        </p:nvSpPr>
        <p:spPr>
          <a:xfrm>
            <a:off x="5388795" y="4562765"/>
            <a:ext cx="1459811" cy="400110"/>
          </a:xfrm>
          <a:prstGeom prst="rect">
            <a:avLst/>
          </a:prstGeom>
          <a:noFill/>
        </p:spPr>
        <p:txBody>
          <a:bodyPr wrap="square" rtlCol="0">
            <a:spAutoFit/>
          </a:bodyPr>
          <a:lstStyle/>
          <a:p>
            <a:pPr>
              <a:lnSpc>
                <a:spcPts val="2400"/>
              </a:lnSpc>
            </a:pPr>
            <a:r>
              <a:rPr lang="en-US" altLang="zh-CN" sz="2000" b="1" i="1" dirty="0">
                <a:latin typeface="Calibri" panose="020F0502020204030204" pitchFamily="34" charset="0"/>
                <a:ea typeface="Calibri" panose="020F0502020204030204" pitchFamily="34" charset="0"/>
                <a:cs typeface="Calibri" panose="020F0502020204030204" pitchFamily="34" charset="0"/>
                <a:sym typeface="Wingdings 2" panose="05020102010507070707" pitchFamily="18" charset="2"/>
              </a:rPr>
              <a:t>1.2</a:t>
            </a:r>
            <a:r>
              <a:rPr lang="en-US" altLang="zh-CN" sz="2000" i="1" dirty="0">
                <a:latin typeface="Calibri" panose="020F0502020204030204" pitchFamily="34" charset="0"/>
                <a:ea typeface="Calibri" panose="020F0502020204030204" pitchFamily="34" charset="0"/>
                <a:cs typeface="Calibri" panose="020F0502020204030204" pitchFamily="34" charset="0"/>
                <a:sym typeface="Wingdings 2" panose="05020102010507070707" pitchFamily="18" charset="2"/>
              </a:rPr>
              <a:t> </a:t>
            </a:r>
            <a:r>
              <a:rPr lang="en-US" altLang="zh-CN" sz="2000" i="1" dirty="0">
                <a:latin typeface="Calibri" panose="020F0502020204030204" pitchFamily="34" charset="0"/>
                <a:ea typeface="Calibri" panose="020F0502020204030204" pitchFamily="34" charset="0"/>
                <a:cs typeface="Times New Roman" panose="02020603050405020304" pitchFamily="18" charset="0"/>
                <a:sym typeface="Wingdings 2" panose="05020102010507070707" pitchFamily="18" charset="2"/>
              </a:rPr>
              <a:t>get </a:t>
            </a:r>
            <a:r>
              <a:rPr lang="en-US" altLang="zh-CN" sz="2000" i="1" dirty="0" err="1">
                <a:latin typeface="Calibri" panose="020F0502020204030204" pitchFamily="34" charset="0"/>
                <a:ea typeface="Calibri" panose="020F0502020204030204" pitchFamily="34" charset="0"/>
                <a:cs typeface="Times New Roman" panose="02020603050405020304" pitchFamily="18" charset="0"/>
                <a:sym typeface="Wingdings 2" panose="05020102010507070707" pitchFamily="18" charset="2"/>
              </a:rPr>
              <a:t>buf</a:t>
            </a:r>
            <a:endParaRPr lang="zh-CN" altLang="en-US" sz="2000" i="1" dirty="0">
              <a:cs typeface="Times New Roman" panose="02020603050405020304" pitchFamily="18" charset="0"/>
            </a:endParaRPr>
          </a:p>
        </p:txBody>
      </p:sp>
      <p:sp>
        <p:nvSpPr>
          <p:cNvPr id="25" name="流程图: 汇总连接 24">
            <a:extLst>
              <a:ext uri="{FF2B5EF4-FFF2-40B4-BE49-F238E27FC236}">
                <a16:creationId xmlns:a16="http://schemas.microsoft.com/office/drawing/2014/main" id="{1126686F-CC72-4FCA-A47F-9902D2BD15F6}"/>
              </a:ext>
            </a:extLst>
          </p:cNvPr>
          <p:cNvSpPr/>
          <p:nvPr/>
        </p:nvSpPr>
        <p:spPr>
          <a:xfrm>
            <a:off x="5254508" y="3591614"/>
            <a:ext cx="286810" cy="289393"/>
          </a:xfrm>
          <a:prstGeom prst="flowChartSummingJunction">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连接符: 肘形 266">
            <a:extLst>
              <a:ext uri="{FF2B5EF4-FFF2-40B4-BE49-F238E27FC236}">
                <a16:creationId xmlns:a16="http://schemas.microsoft.com/office/drawing/2014/main" id="{ADD68B4D-476D-4903-AEC4-FE85A97C9CCB}"/>
              </a:ext>
            </a:extLst>
          </p:cNvPr>
          <p:cNvCxnSpPr>
            <a:cxnSpLocks/>
          </p:cNvCxnSpPr>
          <p:nvPr/>
        </p:nvCxnSpPr>
        <p:spPr>
          <a:xfrm flipV="1">
            <a:off x="5387028" y="3876363"/>
            <a:ext cx="0" cy="128268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27" name="图形 26" descr="锁定 纯色填充">
            <a:extLst>
              <a:ext uri="{FF2B5EF4-FFF2-40B4-BE49-F238E27FC236}">
                <a16:creationId xmlns:a16="http://schemas.microsoft.com/office/drawing/2014/main" id="{4A6D7FD3-7B7C-4CB5-8100-066990A7EF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20077" y="3409339"/>
            <a:ext cx="339940" cy="339940"/>
          </a:xfrm>
          <a:prstGeom prst="rect">
            <a:avLst/>
          </a:prstGeom>
        </p:spPr>
      </p:pic>
      <p:pic>
        <p:nvPicPr>
          <p:cNvPr id="28" name="图形 27" descr="实心填充的哭泣表情 纯色填充">
            <a:extLst>
              <a:ext uri="{FF2B5EF4-FFF2-40B4-BE49-F238E27FC236}">
                <a16:creationId xmlns:a16="http://schemas.microsoft.com/office/drawing/2014/main" id="{D8963426-BF9A-4D98-A624-374B5333606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19721" y="4091970"/>
            <a:ext cx="603711" cy="603711"/>
          </a:xfrm>
          <a:prstGeom prst="rect">
            <a:avLst/>
          </a:prstGeom>
        </p:spPr>
      </p:pic>
      <p:pic>
        <p:nvPicPr>
          <p:cNvPr id="29" name="图形 28" descr="箭头循环 纯色填充">
            <a:extLst>
              <a:ext uri="{FF2B5EF4-FFF2-40B4-BE49-F238E27FC236}">
                <a16:creationId xmlns:a16="http://schemas.microsoft.com/office/drawing/2014/main" id="{00E07EAA-F6A9-433B-AB75-949BEE04FC9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71729" y="3292035"/>
            <a:ext cx="617657" cy="617657"/>
          </a:xfrm>
          <a:prstGeom prst="rect">
            <a:avLst/>
          </a:prstGeom>
        </p:spPr>
      </p:pic>
      <p:sp>
        <p:nvSpPr>
          <p:cNvPr id="30" name="文本框 29">
            <a:extLst>
              <a:ext uri="{FF2B5EF4-FFF2-40B4-BE49-F238E27FC236}">
                <a16:creationId xmlns:a16="http://schemas.microsoft.com/office/drawing/2014/main" id="{27816E36-65D7-404F-9624-FABCF6AE1308}"/>
              </a:ext>
            </a:extLst>
          </p:cNvPr>
          <p:cNvSpPr txBox="1"/>
          <p:nvPr/>
        </p:nvSpPr>
        <p:spPr>
          <a:xfrm>
            <a:off x="1165123" y="1969745"/>
            <a:ext cx="10463981" cy="523220"/>
          </a:xfrm>
          <a:prstGeom prst="rect">
            <a:avLst/>
          </a:prstGeom>
          <a:noFill/>
        </p:spPr>
        <p:txBody>
          <a:bodyPr wrap="square" rtlCol="0">
            <a:spAutoFit/>
          </a:bodyPr>
          <a:lstStyle/>
          <a:p>
            <a:r>
              <a:rPr lang="en-US" altLang="zh-CN" sz="2800" kern="1200" dirty="0">
                <a:effectLst/>
                <a:latin typeface="Calibri" panose="020F0502020204030204" pitchFamily="34" charset="0"/>
                <a:ea typeface="Calibri" panose="020F0502020204030204" pitchFamily="34" charset="0"/>
                <a:cs typeface="宋体" panose="02010600030101010101" pitchFamily="2" charset="-122"/>
              </a:rPr>
              <a:t>However, DSM management faces the challenge of partial failures</a:t>
            </a:r>
          </a:p>
        </p:txBody>
      </p:sp>
      <p:sp>
        <p:nvSpPr>
          <p:cNvPr id="31" name="文本框 30">
            <a:extLst>
              <a:ext uri="{FF2B5EF4-FFF2-40B4-BE49-F238E27FC236}">
                <a16:creationId xmlns:a16="http://schemas.microsoft.com/office/drawing/2014/main" id="{EAD18DD3-3D6C-4FC1-AC44-5AD58FE22165}"/>
              </a:ext>
            </a:extLst>
          </p:cNvPr>
          <p:cNvSpPr txBox="1"/>
          <p:nvPr/>
        </p:nvSpPr>
        <p:spPr>
          <a:xfrm>
            <a:off x="934064" y="5955928"/>
            <a:ext cx="10323871" cy="523220"/>
          </a:xfrm>
          <a:prstGeom prst="rect">
            <a:avLst/>
          </a:prstGeom>
          <a:noFill/>
        </p:spPr>
        <p:txBody>
          <a:bodyPr wrap="square" rtlCol="0">
            <a:spAutoFit/>
          </a:bodyPr>
          <a:lstStyle/>
          <a:p>
            <a:r>
              <a:rPr lang="en-US" altLang="zh-CN" sz="2800" kern="1200" dirty="0">
                <a:effectLst/>
                <a:latin typeface="Calibri" panose="020F0502020204030204" pitchFamily="34" charset="0"/>
                <a:ea typeface="Calibri" panose="020F0502020204030204" pitchFamily="34" charset="0"/>
                <a:cs typeface="宋体" panose="02010600030101010101" pitchFamily="2" charset="-122"/>
              </a:rPr>
              <a:t>Unexpected client failures/termination can corrupt the allocator state</a:t>
            </a:r>
            <a:r>
              <a:rPr lang="zh-CN" altLang="en-US" sz="2800" kern="1200" dirty="0">
                <a:effectLst/>
                <a:latin typeface="Calibri" panose="020F0502020204030204" pitchFamily="34" charset="0"/>
                <a:ea typeface="Calibri" panose="020F0502020204030204" pitchFamily="34" charset="0"/>
                <a:cs typeface="宋体" panose="02010600030101010101" pitchFamily="2" charset="-122"/>
              </a:rPr>
              <a:t>！</a:t>
            </a:r>
            <a:endParaRPr lang="en-US" altLang="zh-CN" sz="2800" kern="1200" dirty="0">
              <a:effectLst/>
              <a:latin typeface="Calibri" panose="020F0502020204030204" pitchFamily="34" charset="0"/>
              <a:ea typeface="Calibri" panose="020F0502020204030204" pitchFamily="34" charset="0"/>
              <a:cs typeface="宋体" panose="02010600030101010101" pitchFamily="2" charset="-122"/>
            </a:endParaRPr>
          </a:p>
        </p:txBody>
      </p:sp>
    </p:spTree>
    <p:extLst>
      <p:ext uri="{BB962C8B-B14F-4D97-AF65-F5344CB8AC3E}">
        <p14:creationId xmlns:p14="http://schemas.microsoft.com/office/powerpoint/2010/main" val="2037344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7371491"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Current Solutions</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30" name="文本框 29">
            <a:extLst>
              <a:ext uri="{FF2B5EF4-FFF2-40B4-BE49-F238E27FC236}">
                <a16:creationId xmlns:a16="http://schemas.microsoft.com/office/drawing/2014/main" id="{27816E36-65D7-404F-9624-FABCF6AE1308}"/>
              </a:ext>
            </a:extLst>
          </p:cNvPr>
          <p:cNvSpPr txBox="1"/>
          <p:nvPr/>
        </p:nvSpPr>
        <p:spPr>
          <a:xfrm>
            <a:off x="510048" y="1801727"/>
            <a:ext cx="10463981" cy="4093428"/>
          </a:xfrm>
          <a:prstGeom prst="rect">
            <a:avLst/>
          </a:prstGeom>
          <a:noFill/>
        </p:spPr>
        <p:txBody>
          <a:bodyPr wrap="square" rtlCol="0">
            <a:spAutoFit/>
          </a:bodyPr>
          <a:lstStyle/>
          <a:p>
            <a:pPr marL="457200" indent="-457200">
              <a:buFont typeface="Wingdings" panose="05000000000000000000" pitchFamily="2" charset="2"/>
              <a:buChar char="l"/>
            </a:pPr>
            <a:r>
              <a:rPr lang="en-US" altLang="zh-CN" sz="2800" dirty="0">
                <a:latin typeface="Calibri" panose="020F0502020204030204" pitchFamily="34" charset="0"/>
                <a:ea typeface="Calibri" panose="020F0502020204030204" pitchFamily="34" charset="0"/>
                <a:cs typeface="宋体" panose="02010600030101010101" pitchFamily="2" charset="-122"/>
              </a:rPr>
              <a:t>N</a:t>
            </a:r>
            <a:r>
              <a:rPr lang="en-US" altLang="zh-CN" sz="2800" kern="1200" dirty="0">
                <a:effectLst/>
                <a:latin typeface="Calibri" panose="020F0502020204030204" pitchFamily="34" charset="0"/>
                <a:ea typeface="Calibri" panose="020F0502020204030204" pitchFamily="34" charset="0"/>
                <a:cs typeface="宋体" panose="02010600030101010101" pitchFamily="2" charset="-122"/>
              </a:rPr>
              <a:t>o partial failure support[1]</a:t>
            </a:r>
          </a:p>
          <a:p>
            <a:pPr marL="914400" lvl="1" indent="-457200">
              <a:buFont typeface="Wingdings" panose="05000000000000000000" pitchFamily="2" charset="2"/>
              <a:buChar char="Ø"/>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Lack of </a:t>
            </a:r>
            <a:r>
              <a:rPr lang="en-US" altLang="zh-CN" sz="2400" kern="1200" dirty="0">
                <a:solidFill>
                  <a:schemeClr val="accent2">
                    <a:lumMod val="75000"/>
                  </a:schemeClr>
                </a:solidFill>
                <a:effectLst/>
                <a:latin typeface="Calibri" panose="020F0502020204030204" pitchFamily="34" charset="0"/>
                <a:ea typeface="Calibri" panose="020F0502020204030204" pitchFamily="34" charset="0"/>
                <a:cs typeface="宋体" panose="02010600030101010101" pitchFamily="2" charset="-122"/>
              </a:rPr>
              <a:t>fine-grained fault tolerance</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 for independent clients</a:t>
            </a:r>
          </a:p>
          <a:p>
            <a:pPr marL="914400" lvl="1" indent="-457200">
              <a:buFont typeface="Wingdings" panose="05000000000000000000" pitchFamily="2" charset="2"/>
              <a:buChar char="Ø"/>
            </a:pPr>
            <a:r>
              <a:rPr lang="en-US" altLang="zh-CN" sz="2400" dirty="0">
                <a:latin typeface="Calibri" panose="020F0502020204030204" pitchFamily="34" charset="0"/>
                <a:ea typeface="Calibri" panose="020F0502020204030204" pitchFamily="34" charset="0"/>
                <a:cs typeface="宋体" panose="02010600030101010101" pitchFamily="2" charset="-122"/>
              </a:rPr>
              <a:t>Lack flexibility</a:t>
            </a:r>
            <a:endParaRPr lang="en-US" altLang="zh-CN" sz="2400" kern="1200" dirty="0">
              <a:effectLst/>
              <a:latin typeface="Calibri" panose="020F0502020204030204" pitchFamily="34" charset="0"/>
              <a:ea typeface="Calibri" panose="020F0502020204030204" pitchFamily="34" charset="0"/>
              <a:cs typeface="宋体" panose="02010600030101010101" pitchFamily="2" charset="-122"/>
            </a:endParaRPr>
          </a:p>
          <a:p>
            <a:pPr marL="914400" lvl="1" indent="-457200">
              <a:buFont typeface="Wingdings" panose="05000000000000000000" pitchFamily="2" charset="2"/>
              <a:buChar char="Ø"/>
            </a:pPr>
            <a:endParaRPr lang="en-US" altLang="zh-CN" sz="2800" kern="1200" dirty="0">
              <a:effectLst/>
              <a:latin typeface="Calibri" panose="020F0502020204030204" pitchFamily="34" charset="0"/>
              <a:ea typeface="Calibri" panose="020F0502020204030204" pitchFamily="34" charset="0"/>
              <a:cs typeface="宋体" panose="02010600030101010101" pitchFamily="2" charset="-122"/>
            </a:endParaRPr>
          </a:p>
          <a:p>
            <a:pPr marL="457200" indent="-457200">
              <a:buFont typeface="Wingdings" panose="05000000000000000000" pitchFamily="2" charset="2"/>
              <a:buChar char="l"/>
            </a:pPr>
            <a:r>
              <a:rPr lang="en-US" altLang="zh-CN" sz="2800" dirty="0">
                <a:latin typeface="Calibri" panose="020F0502020204030204" pitchFamily="34" charset="0"/>
                <a:ea typeface="Calibri" panose="020F0502020204030204" pitchFamily="34" charset="0"/>
                <a:cs typeface="宋体" panose="02010600030101010101" pitchFamily="2" charset="-122"/>
              </a:rPr>
              <a:t>Blocking recovery mechanisms[2]</a:t>
            </a:r>
          </a:p>
          <a:p>
            <a:pPr marL="914400" lvl="1" indent="-457200">
              <a:buFont typeface="Wingdings" panose="05000000000000000000" pitchFamily="2" charset="2"/>
              <a:buChar char="Ø"/>
            </a:pPr>
            <a:r>
              <a:rPr lang="en-US" altLang="zh-CN" sz="2400" dirty="0">
                <a:latin typeface="Calibri" panose="020F0502020204030204" pitchFamily="34" charset="0"/>
                <a:ea typeface="Calibri" panose="020F0502020204030204" pitchFamily="34" charset="0"/>
                <a:cs typeface="宋体" panose="02010600030101010101" pitchFamily="2" charset="-122"/>
              </a:rPr>
              <a:t>Recovery induces global stalls, </a:t>
            </a:r>
            <a:r>
              <a:rPr lang="en-US" altLang="zh-CN" sz="2400" dirty="0">
                <a:solidFill>
                  <a:schemeClr val="accent2">
                    <a:lumMod val="75000"/>
                  </a:schemeClr>
                </a:solidFill>
                <a:latin typeface="Calibri" panose="020F0502020204030204" pitchFamily="34" charset="0"/>
                <a:ea typeface="Calibri" panose="020F0502020204030204" pitchFamily="34" charset="0"/>
                <a:cs typeface="宋体" panose="02010600030101010101" pitchFamily="2" charset="-122"/>
              </a:rPr>
              <a:t>stop-the-world!</a:t>
            </a:r>
          </a:p>
          <a:p>
            <a:endParaRPr lang="en-US" altLang="zh-CN" sz="2800" dirty="0">
              <a:latin typeface="Calibri" panose="020F0502020204030204" pitchFamily="34" charset="0"/>
              <a:ea typeface="Calibri" panose="020F0502020204030204" pitchFamily="34" charset="0"/>
              <a:cs typeface="宋体" panose="02010600030101010101" pitchFamily="2" charset="-122"/>
            </a:endParaRPr>
          </a:p>
          <a:p>
            <a:pPr marL="457200" indent="-457200">
              <a:buFont typeface="Wingdings" panose="05000000000000000000" pitchFamily="2" charset="2"/>
              <a:buChar char="l"/>
            </a:pPr>
            <a:r>
              <a:rPr lang="en-US" altLang="zh-CN" sz="2800" dirty="0">
                <a:latin typeface="Calibri" panose="020F0502020204030204" pitchFamily="34" charset="0"/>
                <a:ea typeface="Calibri" panose="020F0502020204030204" pitchFamily="34" charset="0"/>
                <a:cs typeface="宋体" panose="02010600030101010101" pitchFamily="2" charset="-122"/>
              </a:rPr>
              <a:t>Lock-free, high complexity and poor performance[3]</a:t>
            </a:r>
          </a:p>
          <a:p>
            <a:pPr marL="914400" lvl="1" indent="-457200">
              <a:buFont typeface="Wingdings" panose="05000000000000000000" pitchFamily="2" charset="2"/>
              <a:buChar char="Ø"/>
            </a:pPr>
            <a:r>
              <a:rPr lang="en-US" altLang="zh-CN" sz="2400" dirty="0">
                <a:solidFill>
                  <a:schemeClr val="accent2">
                    <a:lumMod val="75000"/>
                  </a:schemeClr>
                </a:solidFill>
                <a:latin typeface="Calibri" panose="020F0502020204030204" pitchFamily="34" charset="0"/>
                <a:ea typeface="Calibri" panose="020F0502020204030204" pitchFamily="34" charset="0"/>
                <a:cs typeface="宋体" panose="02010600030101010101" pitchFamily="2" charset="-122"/>
              </a:rPr>
              <a:t>Complex</a:t>
            </a:r>
            <a:r>
              <a:rPr lang="en-US" altLang="zh-CN" sz="2400" dirty="0">
                <a:latin typeface="Calibri" panose="020F0502020204030204" pitchFamily="34" charset="0"/>
                <a:ea typeface="Calibri" panose="020F0502020204030204" pitchFamily="34" charset="0"/>
                <a:cs typeface="宋体" panose="02010600030101010101" pitchFamily="2" charset="-122"/>
              </a:rPr>
              <a:t> consistency distributed protocols</a:t>
            </a:r>
          </a:p>
          <a:p>
            <a:pPr marL="914400" lvl="1" indent="-457200">
              <a:buFont typeface="Wingdings" panose="05000000000000000000" pitchFamily="2" charset="2"/>
              <a:buChar char="Ø"/>
            </a:pPr>
            <a:r>
              <a:rPr lang="en-US" altLang="zh-CN" sz="2400" dirty="0">
                <a:latin typeface="Calibri" panose="020F0502020204030204" pitchFamily="34" charset="0"/>
                <a:ea typeface="Calibri" panose="020F0502020204030204" pitchFamily="34" charset="0"/>
                <a:cs typeface="宋体" panose="02010600030101010101" pitchFamily="2" charset="-122"/>
              </a:rPr>
              <a:t>Significant </a:t>
            </a:r>
            <a:r>
              <a:rPr lang="en-US" altLang="zh-CN" sz="2400" dirty="0">
                <a:solidFill>
                  <a:schemeClr val="accent2">
                    <a:lumMod val="75000"/>
                  </a:schemeClr>
                </a:solidFill>
                <a:latin typeface="Calibri" panose="020F0502020204030204" pitchFamily="34" charset="0"/>
                <a:ea typeface="Calibri" panose="020F0502020204030204" pitchFamily="34" charset="0"/>
                <a:cs typeface="宋体" panose="02010600030101010101" pitchFamily="2" charset="-122"/>
              </a:rPr>
              <a:t>runtime overhead</a:t>
            </a:r>
            <a:endParaRPr lang="en-US" altLang="zh-CN" sz="2800" dirty="0">
              <a:latin typeface="Calibri" panose="020F0502020204030204" pitchFamily="34" charset="0"/>
              <a:ea typeface="Calibri" panose="020F0502020204030204" pitchFamily="34" charset="0"/>
              <a:cs typeface="宋体" panose="02010600030101010101" pitchFamily="2" charset="-122"/>
            </a:endParaRPr>
          </a:p>
        </p:txBody>
      </p:sp>
      <p:sp>
        <p:nvSpPr>
          <p:cNvPr id="32" name="内容占位符 2">
            <a:extLst>
              <a:ext uri="{FF2B5EF4-FFF2-40B4-BE49-F238E27FC236}">
                <a16:creationId xmlns:a16="http://schemas.microsoft.com/office/drawing/2014/main" id="{68614551-6D20-4FE3-89E6-F59DD7F4B47B}"/>
              </a:ext>
            </a:extLst>
          </p:cNvPr>
          <p:cNvSpPr txBox="1">
            <a:spLocks/>
          </p:cNvSpPr>
          <p:nvPr/>
        </p:nvSpPr>
        <p:spPr>
          <a:xfrm>
            <a:off x="1137841" y="5973917"/>
            <a:ext cx="10225791" cy="8840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000"/>
              </a:lnSpc>
              <a:buNone/>
            </a:pPr>
            <a:r>
              <a:rPr lang="en-US" altLang="zh-CN" sz="1600" dirty="0">
                <a:solidFill>
                  <a:srgbClr val="BFBFBF"/>
                </a:solidFill>
                <a:latin typeface="Calibri" panose="020F0502020204030204" pitchFamily="34" charset="0"/>
                <a:ea typeface="Calibri" panose="020F0502020204030204" pitchFamily="34" charset="0"/>
                <a:cs typeface="Calibri" panose="020F0502020204030204" pitchFamily="34" charset="0"/>
              </a:rPr>
              <a:t>[1]Serialization/Deserialization-free State Transfer in Serverless Workflows (</a:t>
            </a:r>
            <a:r>
              <a:rPr lang="en-US" altLang="zh-CN" sz="1600" dirty="0" err="1">
                <a:solidFill>
                  <a:srgbClr val="BFBFBF"/>
                </a:solidFill>
                <a:latin typeface="Calibri" panose="020F0502020204030204" pitchFamily="34" charset="0"/>
                <a:ea typeface="Calibri" panose="020F0502020204030204" pitchFamily="34" charset="0"/>
                <a:cs typeface="Calibri" panose="020F0502020204030204" pitchFamily="34" charset="0"/>
              </a:rPr>
              <a:t>Eurosys</a:t>
            </a:r>
            <a:r>
              <a:rPr lang="en-US" altLang="zh-CN" sz="1600" dirty="0">
                <a:solidFill>
                  <a:srgbClr val="BFBFBF"/>
                </a:solidFill>
                <a:latin typeface="Calibri" panose="020F0502020204030204" pitchFamily="34" charset="0"/>
                <a:ea typeface="Calibri" panose="020F0502020204030204" pitchFamily="34" charset="0"/>
                <a:cs typeface="Calibri" panose="020F0502020204030204" pitchFamily="34" charset="0"/>
              </a:rPr>
              <a:t>’ 24)</a:t>
            </a:r>
          </a:p>
          <a:p>
            <a:pPr marL="0" indent="0">
              <a:lnSpc>
                <a:spcPts val="1000"/>
              </a:lnSpc>
              <a:buNone/>
            </a:pPr>
            <a:r>
              <a:rPr lang="en-US" altLang="zh-CN" sz="1600" dirty="0">
                <a:solidFill>
                  <a:srgbClr val="BFBFBF"/>
                </a:solidFill>
                <a:latin typeface="Calibri" panose="020F0502020204030204" pitchFamily="34" charset="0"/>
                <a:ea typeface="Calibri" panose="020F0502020204030204" pitchFamily="34" charset="0"/>
                <a:cs typeface="Calibri" panose="020F0502020204030204" pitchFamily="34" charset="0"/>
              </a:rPr>
              <a:t>[2]Rearchitecting in-memory object stores for low latency (VLDB’ 22)</a:t>
            </a:r>
          </a:p>
          <a:p>
            <a:pPr marL="0" indent="0">
              <a:lnSpc>
                <a:spcPts val="1000"/>
              </a:lnSpc>
              <a:buNone/>
            </a:pPr>
            <a:r>
              <a:rPr lang="en-US" altLang="zh-CN" sz="1600" dirty="0">
                <a:solidFill>
                  <a:srgbClr val="BFBFBF"/>
                </a:solidFill>
                <a:latin typeface="Calibri" panose="020F0502020204030204" pitchFamily="34" charset="0"/>
                <a:ea typeface="Calibri" panose="020F0502020204030204" pitchFamily="34" charset="0"/>
                <a:cs typeface="Calibri" panose="020F0502020204030204" pitchFamily="34" charset="0"/>
              </a:rPr>
              <a:t>[3]Partial Failure Resilient Memory Management System for (CXL-based) Distributed Shared Memory (SOSP’ 23)</a:t>
            </a:r>
          </a:p>
          <a:p>
            <a:pPr marL="0" indent="0">
              <a:lnSpc>
                <a:spcPts val="1000"/>
              </a:lnSpc>
              <a:buNone/>
            </a:pPr>
            <a:endParaRPr lang="en-US" altLang="zh-CN" dirty="0"/>
          </a:p>
        </p:txBody>
      </p:sp>
      <p:pic>
        <p:nvPicPr>
          <p:cNvPr id="3" name="图片 2">
            <a:extLst>
              <a:ext uri="{FF2B5EF4-FFF2-40B4-BE49-F238E27FC236}">
                <a16:creationId xmlns:a16="http://schemas.microsoft.com/office/drawing/2014/main" id="{B19E555D-8AFE-47DC-8330-6ADB042631CC}"/>
              </a:ext>
            </a:extLst>
          </p:cNvPr>
          <p:cNvPicPr>
            <a:picLocks noChangeAspect="1"/>
          </p:cNvPicPr>
          <p:nvPr/>
        </p:nvPicPr>
        <p:blipFill>
          <a:blip r:embed="rId3"/>
          <a:stretch>
            <a:fillRect/>
          </a:stretch>
        </p:blipFill>
        <p:spPr>
          <a:xfrm>
            <a:off x="9049359" y="3917473"/>
            <a:ext cx="2953897" cy="1547554"/>
          </a:xfrm>
          <a:prstGeom prst="rect">
            <a:avLst/>
          </a:prstGeom>
        </p:spPr>
      </p:pic>
      <p:pic>
        <p:nvPicPr>
          <p:cNvPr id="34" name="图片 33">
            <a:extLst>
              <a:ext uri="{FF2B5EF4-FFF2-40B4-BE49-F238E27FC236}">
                <a16:creationId xmlns:a16="http://schemas.microsoft.com/office/drawing/2014/main" id="{6E93EE4F-9AF0-4548-B228-65481DF41059}"/>
              </a:ext>
            </a:extLst>
          </p:cNvPr>
          <p:cNvPicPr>
            <a:picLocks noChangeAspect="1"/>
          </p:cNvPicPr>
          <p:nvPr/>
        </p:nvPicPr>
        <p:blipFill>
          <a:blip r:embed="rId4"/>
          <a:stretch>
            <a:fillRect/>
          </a:stretch>
        </p:blipFill>
        <p:spPr>
          <a:xfrm>
            <a:off x="8996516" y="1801727"/>
            <a:ext cx="2841523" cy="1462305"/>
          </a:xfrm>
          <a:prstGeom prst="rect">
            <a:avLst/>
          </a:prstGeom>
        </p:spPr>
      </p:pic>
      <p:sp>
        <p:nvSpPr>
          <p:cNvPr id="35" name="文本框 34">
            <a:extLst>
              <a:ext uri="{FF2B5EF4-FFF2-40B4-BE49-F238E27FC236}">
                <a16:creationId xmlns:a16="http://schemas.microsoft.com/office/drawing/2014/main" id="{49B0F374-C46C-433D-9C51-D1F9443DD994}"/>
              </a:ext>
            </a:extLst>
          </p:cNvPr>
          <p:cNvSpPr txBox="1"/>
          <p:nvPr/>
        </p:nvSpPr>
        <p:spPr>
          <a:xfrm>
            <a:off x="9049359" y="3228945"/>
            <a:ext cx="3111899" cy="400110"/>
          </a:xfrm>
          <a:prstGeom prst="rect">
            <a:avLst/>
          </a:prstGeom>
          <a:noFill/>
        </p:spPr>
        <p:txBody>
          <a:bodyPr wrap="square" rtlCol="0">
            <a:spAutoFit/>
          </a:bodyPr>
          <a:lstStyle/>
          <a:p>
            <a:r>
              <a:rPr lang="en-US" altLang="zh-CN" sz="2000" dirty="0">
                <a:latin typeface="Calibri" panose="020F0502020204030204" pitchFamily="34" charset="0"/>
                <a:ea typeface="Calibri" panose="020F0502020204030204" pitchFamily="34" charset="0"/>
                <a:cs typeface="宋体" panose="02010600030101010101" pitchFamily="2" charset="-122"/>
              </a:rPr>
              <a:t>“Stop-the-world” recovery</a:t>
            </a:r>
          </a:p>
        </p:txBody>
      </p:sp>
      <p:sp>
        <p:nvSpPr>
          <p:cNvPr id="36" name="文本框 35">
            <a:extLst>
              <a:ext uri="{FF2B5EF4-FFF2-40B4-BE49-F238E27FC236}">
                <a16:creationId xmlns:a16="http://schemas.microsoft.com/office/drawing/2014/main" id="{EC77AADA-8D91-4DA5-8B0A-D99F07437E1E}"/>
              </a:ext>
            </a:extLst>
          </p:cNvPr>
          <p:cNvSpPr txBox="1"/>
          <p:nvPr/>
        </p:nvSpPr>
        <p:spPr>
          <a:xfrm>
            <a:off x="8996516" y="5519417"/>
            <a:ext cx="3335594" cy="400110"/>
          </a:xfrm>
          <a:prstGeom prst="rect">
            <a:avLst/>
          </a:prstGeom>
          <a:noFill/>
        </p:spPr>
        <p:txBody>
          <a:bodyPr wrap="square" rtlCol="0">
            <a:spAutoFit/>
          </a:bodyPr>
          <a:lstStyle/>
          <a:p>
            <a:r>
              <a:rPr lang="en-US" altLang="zh-CN" sz="2000" dirty="0">
                <a:latin typeface="Calibri" panose="020F0502020204030204" pitchFamily="34" charset="0"/>
                <a:ea typeface="Calibri" panose="020F0502020204030204" pitchFamily="34" charset="0"/>
                <a:cs typeface="宋体" panose="02010600030101010101" pitchFamily="2" charset="-122"/>
              </a:rPr>
              <a:t>Memory fence &amp; cache flush</a:t>
            </a:r>
          </a:p>
        </p:txBody>
      </p:sp>
      <p:cxnSp>
        <p:nvCxnSpPr>
          <p:cNvPr id="38" name="直接箭头连接符 37">
            <a:extLst>
              <a:ext uri="{FF2B5EF4-FFF2-40B4-BE49-F238E27FC236}">
                <a16:creationId xmlns:a16="http://schemas.microsoft.com/office/drawing/2014/main" id="{60C1E499-17CE-4FF4-A602-DCF3329BB34A}"/>
              </a:ext>
            </a:extLst>
          </p:cNvPr>
          <p:cNvCxnSpPr>
            <a:cxnSpLocks/>
          </p:cNvCxnSpPr>
          <p:nvPr/>
        </p:nvCxnSpPr>
        <p:spPr>
          <a:xfrm flipH="1" flipV="1">
            <a:off x="9810482" y="5150838"/>
            <a:ext cx="170646" cy="42906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87B70AC6-25CB-4897-94B5-1D8EA8321967}"/>
              </a:ext>
            </a:extLst>
          </p:cNvPr>
          <p:cNvCxnSpPr>
            <a:cxnSpLocks/>
          </p:cNvCxnSpPr>
          <p:nvPr/>
        </p:nvCxnSpPr>
        <p:spPr>
          <a:xfrm flipV="1">
            <a:off x="10882648" y="5080715"/>
            <a:ext cx="206062" cy="49919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0699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9" name="直接连接符 58">
            <a:extLst>
              <a:ext uri="{FF2B5EF4-FFF2-40B4-BE49-F238E27FC236}">
                <a16:creationId xmlns:a16="http://schemas.microsoft.com/office/drawing/2014/main" id="{9C1107FD-0235-4334-B204-27BDBF20B58C}"/>
              </a:ext>
            </a:extLst>
          </p:cNvPr>
          <p:cNvCxnSpPr>
            <a:cxnSpLocks/>
          </p:cNvCxnSpPr>
          <p:nvPr/>
        </p:nvCxnSpPr>
        <p:spPr>
          <a:xfrm flipH="1" flipV="1">
            <a:off x="2683860" y="3991054"/>
            <a:ext cx="1416946" cy="18633"/>
          </a:xfrm>
          <a:prstGeom prst="line">
            <a:avLst/>
          </a:prstGeom>
          <a:ln w="76200">
            <a:solidFill>
              <a:srgbClr val="D7DFEF"/>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C5FABC25-E8A1-4B70-BDE6-540FC882A750}"/>
              </a:ext>
            </a:extLst>
          </p:cNvPr>
          <p:cNvCxnSpPr>
            <a:cxnSpLocks/>
          </p:cNvCxnSpPr>
          <p:nvPr/>
        </p:nvCxnSpPr>
        <p:spPr>
          <a:xfrm flipH="1" flipV="1">
            <a:off x="866872" y="3873596"/>
            <a:ext cx="1870915" cy="134491"/>
          </a:xfrm>
          <a:prstGeom prst="line">
            <a:avLst/>
          </a:prstGeom>
          <a:ln w="76200">
            <a:solidFill>
              <a:srgbClr val="D7DFEF"/>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0A6800DF-5105-41EE-8235-45FDAABA5A79}"/>
              </a:ext>
            </a:extLst>
          </p:cNvPr>
          <p:cNvCxnSpPr>
            <a:cxnSpLocks/>
          </p:cNvCxnSpPr>
          <p:nvPr/>
        </p:nvCxnSpPr>
        <p:spPr>
          <a:xfrm flipH="1" flipV="1">
            <a:off x="1135656" y="2911238"/>
            <a:ext cx="1604618" cy="1079816"/>
          </a:xfrm>
          <a:prstGeom prst="line">
            <a:avLst/>
          </a:prstGeom>
          <a:ln w="76200">
            <a:solidFill>
              <a:srgbClr val="D7DFEF"/>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F633CE1-B3A8-485A-9CCB-671070ACDC7F}"/>
              </a:ext>
            </a:extLst>
          </p:cNvPr>
          <p:cNvCxnSpPr>
            <a:cxnSpLocks/>
          </p:cNvCxnSpPr>
          <p:nvPr/>
        </p:nvCxnSpPr>
        <p:spPr>
          <a:xfrm>
            <a:off x="9120498" y="3984101"/>
            <a:ext cx="1" cy="1703610"/>
          </a:xfrm>
          <a:prstGeom prst="line">
            <a:avLst/>
          </a:prstGeom>
          <a:ln w="76200">
            <a:solidFill>
              <a:srgbClr val="D7DFEF"/>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9806B693-FA88-4BA3-BA19-DEE4723EB46A}"/>
              </a:ext>
            </a:extLst>
          </p:cNvPr>
          <p:cNvCxnSpPr>
            <a:cxnSpLocks/>
          </p:cNvCxnSpPr>
          <p:nvPr/>
        </p:nvCxnSpPr>
        <p:spPr>
          <a:xfrm flipH="1">
            <a:off x="9136864" y="2768723"/>
            <a:ext cx="2164565" cy="1243525"/>
          </a:xfrm>
          <a:prstGeom prst="line">
            <a:avLst/>
          </a:prstGeom>
          <a:ln w="76200">
            <a:solidFill>
              <a:srgbClr val="D7DFEF"/>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D639A09A-A38B-42BA-AAD3-7FE7B0DF063D}"/>
              </a:ext>
            </a:extLst>
          </p:cNvPr>
          <p:cNvCxnSpPr>
            <a:cxnSpLocks/>
          </p:cNvCxnSpPr>
          <p:nvPr/>
        </p:nvCxnSpPr>
        <p:spPr>
          <a:xfrm flipH="1" flipV="1">
            <a:off x="6977490" y="2591856"/>
            <a:ext cx="2156368" cy="1449086"/>
          </a:xfrm>
          <a:prstGeom prst="line">
            <a:avLst/>
          </a:prstGeom>
          <a:ln w="76200">
            <a:solidFill>
              <a:srgbClr val="D7DFEF"/>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7371491"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Motivation</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12" name="椭圆 11">
            <a:extLst>
              <a:ext uri="{FF2B5EF4-FFF2-40B4-BE49-F238E27FC236}">
                <a16:creationId xmlns:a16="http://schemas.microsoft.com/office/drawing/2014/main" id="{82B8C208-1ADF-405C-ACE4-8CF9C04489D2}"/>
              </a:ext>
            </a:extLst>
          </p:cNvPr>
          <p:cNvSpPr/>
          <p:nvPr/>
        </p:nvSpPr>
        <p:spPr>
          <a:xfrm>
            <a:off x="8308067" y="3287007"/>
            <a:ext cx="1626249" cy="1442539"/>
          </a:xfrm>
          <a:prstGeom prst="ellipse">
            <a:avLst/>
          </a:prstGeom>
          <a:solidFill>
            <a:srgbClr val="DAE3F3"/>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000"/>
              </a:lnSpc>
            </a:pPr>
            <a:r>
              <a:rPr lang="en-US" altLang="zh-CN" sz="2400" dirty="0">
                <a:solidFill>
                  <a:schemeClr val="tx1"/>
                </a:solidFill>
                <a:latin typeface="Calibri" panose="020F0502020204030204" pitchFamily="34" charset="0"/>
                <a:ea typeface="Calibri" panose="020F0502020204030204" pitchFamily="34" charset="0"/>
                <a:cs typeface="Calibri" panose="020F0502020204030204" pitchFamily="34" charset="0"/>
              </a:rPr>
              <a:t>DSM mem pool</a:t>
            </a:r>
            <a:endParaRPr lang="zh-CN" altLang="en-US" sz="2400" dirty="0">
              <a:solidFill>
                <a:schemeClr val="tx1"/>
              </a:solidFill>
              <a:latin typeface="Calibri" panose="020F0502020204030204" pitchFamily="34" charset="0"/>
              <a:cs typeface="Calibri" panose="020F0502020204030204" pitchFamily="34" charset="0"/>
            </a:endParaRPr>
          </a:p>
        </p:txBody>
      </p:sp>
      <p:sp>
        <p:nvSpPr>
          <p:cNvPr id="13" name="椭圆 12">
            <a:extLst>
              <a:ext uri="{FF2B5EF4-FFF2-40B4-BE49-F238E27FC236}">
                <a16:creationId xmlns:a16="http://schemas.microsoft.com/office/drawing/2014/main" id="{70928B25-1699-4A03-822D-FAEC9DB99D53}"/>
              </a:ext>
            </a:extLst>
          </p:cNvPr>
          <p:cNvSpPr/>
          <p:nvPr/>
        </p:nvSpPr>
        <p:spPr>
          <a:xfrm>
            <a:off x="6135436" y="1723129"/>
            <a:ext cx="2250139" cy="2201380"/>
          </a:xfrm>
          <a:prstGeom prst="ellipse">
            <a:avLst/>
          </a:prstGeom>
          <a:solidFill>
            <a:schemeClr val="bg1">
              <a:lumMod val="9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4" name="文本框 13">
            <a:extLst>
              <a:ext uri="{FF2B5EF4-FFF2-40B4-BE49-F238E27FC236}">
                <a16:creationId xmlns:a16="http://schemas.microsoft.com/office/drawing/2014/main" id="{DCA19012-35CB-45C1-866C-F48A74B835D2}"/>
              </a:ext>
            </a:extLst>
          </p:cNvPr>
          <p:cNvSpPr txBox="1"/>
          <p:nvPr/>
        </p:nvSpPr>
        <p:spPr>
          <a:xfrm>
            <a:off x="6721623" y="3968121"/>
            <a:ext cx="1290173" cy="404406"/>
          </a:xfrm>
          <a:prstGeom prst="rect">
            <a:avLst/>
          </a:prstGeom>
          <a:noFill/>
        </p:spPr>
        <p:txBody>
          <a:bodyPr wrap="square" rtlCol="0">
            <a:spAutoFit/>
          </a:bodyPr>
          <a:lstStyle/>
          <a:p>
            <a:pPr>
              <a:lnSpc>
                <a:spcPts val="2400"/>
              </a:lnSpc>
            </a:pPr>
            <a:r>
              <a:rPr lang="en-US" altLang="zh-CN" sz="2400" dirty="0">
                <a:latin typeface="Calibri" panose="020F0502020204030204" pitchFamily="34" charset="0"/>
                <a:ea typeface="Calibri" panose="020F0502020204030204" pitchFamily="34" charset="0"/>
                <a:cs typeface="Calibri" panose="020F0502020204030204" pitchFamily="34" charset="0"/>
              </a:rPr>
              <a:t>Node 1</a:t>
            </a:r>
            <a:endParaRPr lang="zh-CN" altLang="en-US" sz="2000" dirty="0">
              <a:latin typeface="Calibri" panose="020F0502020204030204" pitchFamily="34" charset="0"/>
              <a:cs typeface="Calibri" panose="020F0502020204030204" pitchFamily="34" charset="0"/>
            </a:endParaRPr>
          </a:p>
        </p:txBody>
      </p:sp>
      <p:sp>
        <p:nvSpPr>
          <p:cNvPr id="15" name="椭圆 14">
            <a:extLst>
              <a:ext uri="{FF2B5EF4-FFF2-40B4-BE49-F238E27FC236}">
                <a16:creationId xmlns:a16="http://schemas.microsoft.com/office/drawing/2014/main" id="{AAA8B96E-456B-4D6E-BFEA-93D29E60D72F}"/>
              </a:ext>
            </a:extLst>
          </p:cNvPr>
          <p:cNvSpPr/>
          <p:nvPr/>
        </p:nvSpPr>
        <p:spPr>
          <a:xfrm>
            <a:off x="6294677" y="1877133"/>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1</a:t>
            </a:r>
            <a:endParaRPr lang="zh-CN" altLang="en-US" sz="2400" dirty="0">
              <a:latin typeface="Calibri" panose="020F0502020204030204" pitchFamily="34" charset="0"/>
              <a:cs typeface="Calibri" panose="020F0502020204030204" pitchFamily="34" charset="0"/>
            </a:endParaRPr>
          </a:p>
        </p:txBody>
      </p:sp>
      <p:sp>
        <p:nvSpPr>
          <p:cNvPr id="17" name="椭圆 16">
            <a:extLst>
              <a:ext uri="{FF2B5EF4-FFF2-40B4-BE49-F238E27FC236}">
                <a16:creationId xmlns:a16="http://schemas.microsoft.com/office/drawing/2014/main" id="{EE7907AF-B40D-4537-A129-FEF52F3975D4}"/>
              </a:ext>
            </a:extLst>
          </p:cNvPr>
          <p:cNvSpPr/>
          <p:nvPr/>
        </p:nvSpPr>
        <p:spPr>
          <a:xfrm>
            <a:off x="6854989" y="2630778"/>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2</a:t>
            </a:r>
            <a:endParaRPr lang="zh-CN" altLang="en-US" sz="2400" dirty="0">
              <a:latin typeface="Calibri" panose="020F0502020204030204" pitchFamily="34" charset="0"/>
              <a:cs typeface="Calibri" panose="020F0502020204030204" pitchFamily="34" charset="0"/>
            </a:endParaRPr>
          </a:p>
        </p:txBody>
      </p:sp>
      <p:sp>
        <p:nvSpPr>
          <p:cNvPr id="18" name="椭圆 17">
            <a:extLst>
              <a:ext uri="{FF2B5EF4-FFF2-40B4-BE49-F238E27FC236}">
                <a16:creationId xmlns:a16="http://schemas.microsoft.com/office/drawing/2014/main" id="{9F6026B2-EC44-43CF-B01D-16598E7285A5}"/>
              </a:ext>
            </a:extLst>
          </p:cNvPr>
          <p:cNvSpPr/>
          <p:nvPr/>
        </p:nvSpPr>
        <p:spPr>
          <a:xfrm>
            <a:off x="8484779" y="4892858"/>
            <a:ext cx="1307718" cy="1136931"/>
          </a:xfrm>
          <a:prstGeom prst="ellipse">
            <a:avLst/>
          </a:prstGeom>
          <a:solidFill>
            <a:schemeClr val="bg1">
              <a:lumMod val="9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9" name="文本框 18">
            <a:extLst>
              <a:ext uri="{FF2B5EF4-FFF2-40B4-BE49-F238E27FC236}">
                <a16:creationId xmlns:a16="http://schemas.microsoft.com/office/drawing/2014/main" id="{4F7A824E-0D7F-47AE-B240-0259C2FAE638}"/>
              </a:ext>
            </a:extLst>
          </p:cNvPr>
          <p:cNvSpPr txBox="1"/>
          <p:nvPr/>
        </p:nvSpPr>
        <p:spPr>
          <a:xfrm>
            <a:off x="7740488" y="4743350"/>
            <a:ext cx="1290173" cy="404406"/>
          </a:xfrm>
          <a:prstGeom prst="rect">
            <a:avLst/>
          </a:prstGeom>
          <a:noFill/>
        </p:spPr>
        <p:txBody>
          <a:bodyPr wrap="square" rtlCol="0">
            <a:spAutoFit/>
          </a:bodyPr>
          <a:lstStyle/>
          <a:p>
            <a:pPr>
              <a:lnSpc>
                <a:spcPts val="2400"/>
              </a:lnSpc>
            </a:pPr>
            <a:r>
              <a:rPr lang="en-US" altLang="zh-CN" sz="2400" dirty="0">
                <a:latin typeface="Calibri" panose="020F0502020204030204" pitchFamily="34" charset="0"/>
                <a:ea typeface="Calibri" panose="020F0502020204030204" pitchFamily="34" charset="0"/>
                <a:cs typeface="Calibri" panose="020F0502020204030204" pitchFamily="34" charset="0"/>
              </a:rPr>
              <a:t>Node 2</a:t>
            </a:r>
            <a:endParaRPr lang="zh-CN" altLang="en-US" sz="2000" dirty="0">
              <a:latin typeface="Calibri" panose="020F0502020204030204" pitchFamily="34" charset="0"/>
              <a:cs typeface="Calibri" panose="020F0502020204030204" pitchFamily="34" charset="0"/>
            </a:endParaRPr>
          </a:p>
        </p:txBody>
      </p:sp>
      <p:sp>
        <p:nvSpPr>
          <p:cNvPr id="21" name="椭圆 20">
            <a:extLst>
              <a:ext uri="{FF2B5EF4-FFF2-40B4-BE49-F238E27FC236}">
                <a16:creationId xmlns:a16="http://schemas.microsoft.com/office/drawing/2014/main" id="{96255555-AE8F-42BA-9B02-C8EA8146FE1C}"/>
              </a:ext>
            </a:extLst>
          </p:cNvPr>
          <p:cNvSpPr/>
          <p:nvPr/>
        </p:nvSpPr>
        <p:spPr>
          <a:xfrm>
            <a:off x="10018565" y="1957899"/>
            <a:ext cx="2047838" cy="2034638"/>
          </a:xfrm>
          <a:prstGeom prst="ellipse">
            <a:avLst/>
          </a:prstGeom>
          <a:solidFill>
            <a:schemeClr val="bg1">
              <a:lumMod val="9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2" name="椭圆 21">
            <a:extLst>
              <a:ext uri="{FF2B5EF4-FFF2-40B4-BE49-F238E27FC236}">
                <a16:creationId xmlns:a16="http://schemas.microsoft.com/office/drawing/2014/main" id="{173C9F83-C368-421E-A067-82BFBFC5CDD1}"/>
              </a:ext>
            </a:extLst>
          </p:cNvPr>
          <p:cNvSpPr/>
          <p:nvPr/>
        </p:nvSpPr>
        <p:spPr>
          <a:xfrm>
            <a:off x="10241418" y="2045830"/>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6</a:t>
            </a:r>
            <a:endParaRPr lang="zh-CN" altLang="en-US" sz="2400" dirty="0">
              <a:latin typeface="Calibri" panose="020F0502020204030204" pitchFamily="34" charset="0"/>
              <a:cs typeface="Calibri" panose="020F0502020204030204" pitchFamily="34" charset="0"/>
            </a:endParaRPr>
          </a:p>
        </p:txBody>
      </p:sp>
      <p:sp>
        <p:nvSpPr>
          <p:cNvPr id="23" name="椭圆 22">
            <a:extLst>
              <a:ext uri="{FF2B5EF4-FFF2-40B4-BE49-F238E27FC236}">
                <a16:creationId xmlns:a16="http://schemas.microsoft.com/office/drawing/2014/main" id="{665C6FBE-D93A-4193-A915-45735D635933}"/>
              </a:ext>
            </a:extLst>
          </p:cNvPr>
          <p:cNvSpPr/>
          <p:nvPr/>
        </p:nvSpPr>
        <p:spPr>
          <a:xfrm>
            <a:off x="10241418" y="3019183"/>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5</a:t>
            </a:r>
            <a:endParaRPr lang="zh-CN" altLang="en-US" sz="2400" dirty="0">
              <a:latin typeface="Calibri" panose="020F0502020204030204" pitchFamily="34" charset="0"/>
              <a:cs typeface="Calibri" panose="020F0502020204030204" pitchFamily="34" charset="0"/>
            </a:endParaRPr>
          </a:p>
        </p:txBody>
      </p:sp>
      <p:sp>
        <p:nvSpPr>
          <p:cNvPr id="24" name="文本框 23">
            <a:extLst>
              <a:ext uri="{FF2B5EF4-FFF2-40B4-BE49-F238E27FC236}">
                <a16:creationId xmlns:a16="http://schemas.microsoft.com/office/drawing/2014/main" id="{D1D77B23-D6EC-4464-AA8C-25A4B69C869D}"/>
              </a:ext>
            </a:extLst>
          </p:cNvPr>
          <p:cNvSpPr txBox="1"/>
          <p:nvPr/>
        </p:nvSpPr>
        <p:spPr>
          <a:xfrm>
            <a:off x="10526857" y="4032213"/>
            <a:ext cx="1290173" cy="404406"/>
          </a:xfrm>
          <a:prstGeom prst="rect">
            <a:avLst/>
          </a:prstGeom>
          <a:noFill/>
        </p:spPr>
        <p:txBody>
          <a:bodyPr wrap="square" rtlCol="0">
            <a:spAutoFit/>
          </a:bodyPr>
          <a:lstStyle/>
          <a:p>
            <a:pPr>
              <a:lnSpc>
                <a:spcPts val="2400"/>
              </a:lnSpc>
            </a:pPr>
            <a:r>
              <a:rPr lang="en-US" altLang="zh-CN" sz="2400" dirty="0">
                <a:latin typeface="Calibri" panose="020F0502020204030204" pitchFamily="34" charset="0"/>
                <a:ea typeface="Calibri" panose="020F0502020204030204" pitchFamily="34" charset="0"/>
                <a:cs typeface="Calibri" panose="020F0502020204030204" pitchFamily="34" charset="0"/>
              </a:rPr>
              <a:t>Node 3</a:t>
            </a:r>
            <a:endParaRPr lang="zh-CN" altLang="en-US" sz="2000" dirty="0">
              <a:latin typeface="Calibri" panose="020F0502020204030204" pitchFamily="34" charset="0"/>
              <a:cs typeface="Calibri" panose="020F0502020204030204" pitchFamily="34" charset="0"/>
            </a:endParaRPr>
          </a:p>
        </p:txBody>
      </p:sp>
      <p:cxnSp>
        <p:nvCxnSpPr>
          <p:cNvPr id="37" name="直接连接符 36">
            <a:extLst>
              <a:ext uri="{FF2B5EF4-FFF2-40B4-BE49-F238E27FC236}">
                <a16:creationId xmlns:a16="http://schemas.microsoft.com/office/drawing/2014/main" id="{FD4DA7DB-C8A6-4EB0-A384-F129553B757F}"/>
              </a:ext>
            </a:extLst>
          </p:cNvPr>
          <p:cNvCxnSpPr>
            <a:cxnSpLocks/>
          </p:cNvCxnSpPr>
          <p:nvPr/>
        </p:nvCxnSpPr>
        <p:spPr>
          <a:xfrm flipH="1">
            <a:off x="2651962" y="3967646"/>
            <a:ext cx="28890" cy="1099866"/>
          </a:xfrm>
          <a:prstGeom prst="line">
            <a:avLst/>
          </a:prstGeom>
          <a:ln w="76200">
            <a:solidFill>
              <a:srgbClr val="D7DFEF"/>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F4974CAF-3E9B-4D2A-9F0A-748414D1932C}"/>
              </a:ext>
            </a:extLst>
          </p:cNvPr>
          <p:cNvCxnSpPr>
            <a:cxnSpLocks/>
          </p:cNvCxnSpPr>
          <p:nvPr/>
        </p:nvCxnSpPr>
        <p:spPr>
          <a:xfrm flipH="1">
            <a:off x="2728661" y="2800913"/>
            <a:ext cx="1142649" cy="1190141"/>
          </a:xfrm>
          <a:prstGeom prst="line">
            <a:avLst/>
          </a:prstGeom>
          <a:ln w="76200">
            <a:solidFill>
              <a:srgbClr val="D7DFEF"/>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94C6E8D4-4342-4D67-B087-B114D324C0B1}"/>
              </a:ext>
            </a:extLst>
          </p:cNvPr>
          <p:cNvCxnSpPr>
            <a:cxnSpLocks/>
          </p:cNvCxnSpPr>
          <p:nvPr/>
        </p:nvCxnSpPr>
        <p:spPr>
          <a:xfrm flipH="1" flipV="1">
            <a:off x="2677325" y="2305082"/>
            <a:ext cx="21091" cy="1685972"/>
          </a:xfrm>
          <a:prstGeom prst="line">
            <a:avLst/>
          </a:prstGeom>
          <a:ln w="76200">
            <a:solidFill>
              <a:srgbClr val="D7DFEF"/>
            </a:solidFill>
          </a:ln>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4B1EEFD2-6915-44EE-ADEC-CAA08D610D7B}"/>
              </a:ext>
            </a:extLst>
          </p:cNvPr>
          <p:cNvSpPr/>
          <p:nvPr/>
        </p:nvSpPr>
        <p:spPr>
          <a:xfrm>
            <a:off x="1838838" y="3214924"/>
            <a:ext cx="1626249" cy="1442539"/>
          </a:xfrm>
          <a:prstGeom prst="ellipse">
            <a:avLst/>
          </a:prstGeom>
          <a:solidFill>
            <a:srgbClr val="DAE3F3"/>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000"/>
              </a:lnSpc>
            </a:pPr>
            <a:r>
              <a:rPr lang="en-US" altLang="zh-CN" sz="2400" dirty="0">
                <a:solidFill>
                  <a:schemeClr val="tx1"/>
                </a:solidFill>
                <a:latin typeface="Calibri" panose="020F0502020204030204" pitchFamily="34" charset="0"/>
                <a:ea typeface="Calibri" panose="020F0502020204030204" pitchFamily="34" charset="0"/>
                <a:cs typeface="Calibri" panose="020F0502020204030204" pitchFamily="34" charset="0"/>
              </a:rPr>
              <a:t>DSM mem pool</a:t>
            </a:r>
            <a:endParaRPr lang="zh-CN" altLang="en-US" sz="2400" dirty="0">
              <a:solidFill>
                <a:schemeClr val="tx1"/>
              </a:solidFill>
              <a:latin typeface="Calibri" panose="020F0502020204030204" pitchFamily="34" charset="0"/>
              <a:cs typeface="Calibri" panose="020F0502020204030204" pitchFamily="34" charset="0"/>
            </a:endParaRPr>
          </a:p>
        </p:txBody>
      </p:sp>
      <p:sp>
        <p:nvSpPr>
          <p:cNvPr id="45" name="椭圆 44">
            <a:extLst>
              <a:ext uri="{FF2B5EF4-FFF2-40B4-BE49-F238E27FC236}">
                <a16:creationId xmlns:a16="http://schemas.microsoft.com/office/drawing/2014/main" id="{1490519E-EBBA-4833-ADD7-7A66176B2694}"/>
              </a:ext>
            </a:extLst>
          </p:cNvPr>
          <p:cNvSpPr/>
          <p:nvPr/>
        </p:nvSpPr>
        <p:spPr>
          <a:xfrm>
            <a:off x="1882793" y="1812770"/>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1</a:t>
            </a:r>
            <a:endParaRPr lang="zh-CN" altLang="en-US" sz="2400" dirty="0">
              <a:latin typeface="Calibri" panose="020F0502020204030204" pitchFamily="34" charset="0"/>
              <a:cs typeface="Calibri" panose="020F0502020204030204" pitchFamily="34" charset="0"/>
            </a:endParaRPr>
          </a:p>
        </p:txBody>
      </p:sp>
      <p:sp>
        <p:nvSpPr>
          <p:cNvPr id="47" name="椭圆 46">
            <a:extLst>
              <a:ext uri="{FF2B5EF4-FFF2-40B4-BE49-F238E27FC236}">
                <a16:creationId xmlns:a16="http://schemas.microsoft.com/office/drawing/2014/main" id="{EFF4BF7D-0FF8-47DC-BA18-3823B8FD070A}"/>
              </a:ext>
            </a:extLst>
          </p:cNvPr>
          <p:cNvSpPr/>
          <p:nvPr/>
        </p:nvSpPr>
        <p:spPr>
          <a:xfrm>
            <a:off x="325711" y="2442287"/>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2</a:t>
            </a:r>
            <a:endParaRPr lang="zh-CN" altLang="en-US" sz="2400" dirty="0">
              <a:latin typeface="Calibri" panose="020F0502020204030204" pitchFamily="34" charset="0"/>
              <a:cs typeface="Calibri" panose="020F0502020204030204" pitchFamily="34" charset="0"/>
            </a:endParaRPr>
          </a:p>
        </p:txBody>
      </p:sp>
      <p:sp>
        <p:nvSpPr>
          <p:cNvPr id="52" name="椭圆 51">
            <a:extLst>
              <a:ext uri="{FF2B5EF4-FFF2-40B4-BE49-F238E27FC236}">
                <a16:creationId xmlns:a16="http://schemas.microsoft.com/office/drawing/2014/main" id="{7C9E655D-1085-47F2-BFEA-B6F1A9622AF9}"/>
              </a:ext>
            </a:extLst>
          </p:cNvPr>
          <p:cNvSpPr/>
          <p:nvPr/>
        </p:nvSpPr>
        <p:spPr>
          <a:xfrm>
            <a:off x="3274472" y="2336020"/>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6</a:t>
            </a:r>
            <a:endParaRPr lang="zh-CN" altLang="en-US" sz="2400" dirty="0">
              <a:latin typeface="Calibri" panose="020F0502020204030204" pitchFamily="34" charset="0"/>
              <a:cs typeface="Calibri" panose="020F0502020204030204" pitchFamily="34" charset="0"/>
            </a:endParaRPr>
          </a:p>
        </p:txBody>
      </p:sp>
      <p:cxnSp>
        <p:nvCxnSpPr>
          <p:cNvPr id="98" name="直接箭头连接符 97">
            <a:extLst>
              <a:ext uri="{FF2B5EF4-FFF2-40B4-BE49-F238E27FC236}">
                <a16:creationId xmlns:a16="http://schemas.microsoft.com/office/drawing/2014/main" id="{7E1BD3DC-D0D4-4D06-AB77-C25411F0E4A8}"/>
              </a:ext>
            </a:extLst>
          </p:cNvPr>
          <p:cNvCxnSpPr>
            <a:cxnSpLocks/>
          </p:cNvCxnSpPr>
          <p:nvPr/>
        </p:nvCxnSpPr>
        <p:spPr>
          <a:xfrm flipH="1" flipV="1">
            <a:off x="8385575" y="3174631"/>
            <a:ext cx="791099" cy="364128"/>
          </a:xfrm>
          <a:prstGeom prst="straightConnector1">
            <a:avLst/>
          </a:prstGeom>
          <a:ln w="762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1" name="文本框 100">
            <a:extLst>
              <a:ext uri="{FF2B5EF4-FFF2-40B4-BE49-F238E27FC236}">
                <a16:creationId xmlns:a16="http://schemas.microsoft.com/office/drawing/2014/main" id="{CEB979C8-DA08-4E1B-BA4A-99328067B8F5}"/>
              </a:ext>
            </a:extLst>
          </p:cNvPr>
          <p:cNvSpPr txBox="1"/>
          <p:nvPr/>
        </p:nvSpPr>
        <p:spPr>
          <a:xfrm>
            <a:off x="8553498" y="2919313"/>
            <a:ext cx="829099" cy="404406"/>
          </a:xfrm>
          <a:prstGeom prst="rect">
            <a:avLst/>
          </a:prstGeom>
          <a:noFill/>
        </p:spPr>
        <p:txBody>
          <a:bodyPr wrap="square" rtlCol="0">
            <a:spAutoFit/>
          </a:bodyPr>
          <a:lstStyle/>
          <a:p>
            <a:pPr>
              <a:lnSpc>
                <a:spcPts val="2400"/>
              </a:lnSpc>
            </a:pPr>
            <a:r>
              <a:rPr lang="en-US" altLang="zh-CN" sz="2400" b="1" dirty="0">
                <a:solidFill>
                  <a:srgbClr val="FF0000"/>
                </a:solidFill>
                <a:latin typeface="Calibri" panose="020F0502020204030204" pitchFamily="34" charset="0"/>
                <a:ea typeface="Calibri" panose="020F0502020204030204" pitchFamily="34" charset="0"/>
                <a:cs typeface="Calibri" panose="020F0502020204030204" pitchFamily="34" charset="0"/>
              </a:rPr>
              <a:t>Slow </a:t>
            </a:r>
            <a:endParaRPr lang="zh-CN" altLang="en-US" sz="2000" b="1" dirty="0">
              <a:solidFill>
                <a:srgbClr val="FF0000"/>
              </a:solidFill>
              <a:latin typeface="Calibri" panose="020F0502020204030204" pitchFamily="34" charset="0"/>
              <a:cs typeface="Calibri" panose="020F0502020204030204" pitchFamily="34" charset="0"/>
            </a:endParaRPr>
          </a:p>
        </p:txBody>
      </p:sp>
      <p:sp>
        <p:nvSpPr>
          <p:cNvPr id="105" name="文本框 104">
            <a:extLst>
              <a:ext uri="{FF2B5EF4-FFF2-40B4-BE49-F238E27FC236}">
                <a16:creationId xmlns:a16="http://schemas.microsoft.com/office/drawing/2014/main" id="{CB8CDD85-3DC4-4D2B-B164-DD451B1038FC}"/>
              </a:ext>
            </a:extLst>
          </p:cNvPr>
          <p:cNvSpPr txBox="1"/>
          <p:nvPr/>
        </p:nvSpPr>
        <p:spPr>
          <a:xfrm>
            <a:off x="9605450" y="2781147"/>
            <a:ext cx="842618" cy="404406"/>
          </a:xfrm>
          <a:prstGeom prst="rect">
            <a:avLst/>
          </a:prstGeom>
          <a:noFill/>
        </p:spPr>
        <p:txBody>
          <a:bodyPr wrap="square" rtlCol="0">
            <a:spAutoFit/>
          </a:bodyPr>
          <a:lstStyle/>
          <a:p>
            <a:pPr>
              <a:lnSpc>
                <a:spcPts val="2400"/>
              </a:lnSpc>
            </a:pPr>
            <a:r>
              <a:rPr lang="en-US" altLang="zh-CN" sz="2400" b="1"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Fast! </a:t>
            </a:r>
            <a:endParaRPr lang="zh-CN" altLang="en-US" sz="2000" b="1" dirty="0">
              <a:solidFill>
                <a:schemeClr val="accent5">
                  <a:lumMod val="75000"/>
                </a:schemeClr>
              </a:solidFill>
              <a:latin typeface="Calibri" panose="020F0502020204030204" pitchFamily="34" charset="0"/>
              <a:cs typeface="Calibri" panose="020F0502020204030204" pitchFamily="34" charset="0"/>
            </a:endParaRPr>
          </a:p>
        </p:txBody>
      </p:sp>
      <p:sp>
        <p:nvSpPr>
          <p:cNvPr id="106" name="文本框 105">
            <a:extLst>
              <a:ext uri="{FF2B5EF4-FFF2-40B4-BE49-F238E27FC236}">
                <a16:creationId xmlns:a16="http://schemas.microsoft.com/office/drawing/2014/main" id="{1E961845-E73C-4DE8-8F44-135EE4486B39}"/>
              </a:ext>
            </a:extLst>
          </p:cNvPr>
          <p:cNvSpPr txBox="1"/>
          <p:nvPr/>
        </p:nvSpPr>
        <p:spPr>
          <a:xfrm>
            <a:off x="8416770" y="1630573"/>
            <a:ext cx="1701012" cy="404406"/>
          </a:xfrm>
          <a:prstGeom prst="rect">
            <a:avLst/>
          </a:prstGeom>
          <a:noFill/>
        </p:spPr>
        <p:txBody>
          <a:bodyPr wrap="square" rtlCol="0">
            <a:spAutoFit/>
          </a:bodyPr>
          <a:lstStyle/>
          <a:p>
            <a:pPr>
              <a:lnSpc>
                <a:spcPts val="2400"/>
              </a:lnSpc>
            </a:pPr>
            <a:r>
              <a:rPr lang="en-US" altLang="zh-CN" sz="2400" b="1" i="1" dirty="0">
                <a:latin typeface="Calibri" panose="020F0502020204030204" pitchFamily="34" charset="0"/>
                <a:ea typeface="Calibri" panose="020F0502020204030204" pitchFamily="34" charset="0"/>
                <a:cs typeface="Calibri" panose="020F0502020204030204" pitchFamily="34" charset="0"/>
              </a:rPr>
              <a:t>Node crash</a:t>
            </a:r>
            <a:endParaRPr lang="zh-CN" altLang="en-US" sz="2000" b="1" i="1" dirty="0">
              <a:latin typeface="Calibri" panose="020F0502020204030204" pitchFamily="34" charset="0"/>
              <a:cs typeface="Calibri" panose="020F0502020204030204" pitchFamily="34" charset="0"/>
            </a:endParaRPr>
          </a:p>
        </p:txBody>
      </p:sp>
      <p:cxnSp>
        <p:nvCxnSpPr>
          <p:cNvPr id="107" name="直接箭头连接符 106">
            <a:extLst>
              <a:ext uri="{FF2B5EF4-FFF2-40B4-BE49-F238E27FC236}">
                <a16:creationId xmlns:a16="http://schemas.microsoft.com/office/drawing/2014/main" id="{CCE99143-D907-47C2-8959-B229A2533DAE}"/>
              </a:ext>
            </a:extLst>
          </p:cNvPr>
          <p:cNvCxnSpPr>
            <a:cxnSpLocks/>
            <a:stCxn id="106" idx="1"/>
            <a:endCxn id="13" idx="7"/>
          </p:cNvCxnSpPr>
          <p:nvPr/>
        </p:nvCxnSpPr>
        <p:spPr>
          <a:xfrm flipH="1">
            <a:off x="8056050" y="1832776"/>
            <a:ext cx="360720" cy="212738"/>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22B3632D-14AB-47A4-8041-BF0829F759C1}"/>
              </a:ext>
            </a:extLst>
          </p:cNvPr>
          <p:cNvSpPr txBox="1"/>
          <p:nvPr/>
        </p:nvSpPr>
        <p:spPr>
          <a:xfrm>
            <a:off x="10428216" y="5254735"/>
            <a:ext cx="1701012" cy="404406"/>
          </a:xfrm>
          <a:prstGeom prst="rect">
            <a:avLst/>
          </a:prstGeom>
          <a:noFill/>
        </p:spPr>
        <p:txBody>
          <a:bodyPr wrap="square" rtlCol="0">
            <a:spAutoFit/>
          </a:bodyPr>
          <a:lstStyle/>
          <a:p>
            <a:pPr>
              <a:lnSpc>
                <a:spcPts val="2400"/>
              </a:lnSpc>
            </a:pPr>
            <a:r>
              <a:rPr lang="en-US" altLang="zh-CN" sz="2400" b="1" i="1" dirty="0">
                <a:latin typeface="Calibri" panose="020F0502020204030204" pitchFamily="34" charset="0"/>
                <a:ea typeface="Calibri" panose="020F0502020204030204" pitchFamily="34" charset="0"/>
                <a:cs typeface="Calibri" panose="020F0502020204030204" pitchFamily="34" charset="0"/>
              </a:rPr>
              <a:t>Client crash</a:t>
            </a:r>
            <a:endParaRPr lang="zh-CN" altLang="en-US" sz="2000" b="1" i="1" dirty="0">
              <a:latin typeface="Calibri" panose="020F0502020204030204" pitchFamily="34" charset="0"/>
              <a:cs typeface="Calibri" panose="020F0502020204030204" pitchFamily="34" charset="0"/>
            </a:endParaRPr>
          </a:p>
        </p:txBody>
      </p:sp>
      <p:cxnSp>
        <p:nvCxnSpPr>
          <p:cNvPr id="111" name="直接箭头连接符 110">
            <a:extLst>
              <a:ext uri="{FF2B5EF4-FFF2-40B4-BE49-F238E27FC236}">
                <a16:creationId xmlns:a16="http://schemas.microsoft.com/office/drawing/2014/main" id="{47061C21-D921-48C5-94EE-6C7B56F6AEC6}"/>
              </a:ext>
            </a:extLst>
          </p:cNvPr>
          <p:cNvCxnSpPr>
            <a:cxnSpLocks/>
            <a:endCxn id="63" idx="6"/>
          </p:cNvCxnSpPr>
          <p:nvPr/>
        </p:nvCxnSpPr>
        <p:spPr>
          <a:xfrm flipH="1">
            <a:off x="9934924" y="5443928"/>
            <a:ext cx="546318" cy="8073"/>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F8444C9B-C36F-4D3C-906D-B0351084B6F3}"/>
              </a:ext>
            </a:extLst>
          </p:cNvPr>
          <p:cNvCxnSpPr>
            <a:cxnSpLocks/>
            <a:endCxn id="23" idx="2"/>
          </p:cNvCxnSpPr>
          <p:nvPr/>
        </p:nvCxnSpPr>
        <p:spPr>
          <a:xfrm flipV="1">
            <a:off x="9198584" y="3438489"/>
            <a:ext cx="1042834" cy="100269"/>
          </a:xfrm>
          <a:prstGeom prst="straightConnector1">
            <a:avLst/>
          </a:prstGeom>
          <a:ln w="762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a:extLst>
              <a:ext uri="{FF2B5EF4-FFF2-40B4-BE49-F238E27FC236}">
                <a16:creationId xmlns:a16="http://schemas.microsoft.com/office/drawing/2014/main" id="{A7FEFEC0-4561-43E0-9C22-1687AE2D0687}"/>
              </a:ext>
            </a:extLst>
          </p:cNvPr>
          <p:cNvCxnSpPr>
            <a:cxnSpLocks/>
          </p:cNvCxnSpPr>
          <p:nvPr/>
        </p:nvCxnSpPr>
        <p:spPr>
          <a:xfrm>
            <a:off x="10428216" y="2516951"/>
            <a:ext cx="31828" cy="921537"/>
          </a:xfrm>
          <a:prstGeom prst="straightConnector1">
            <a:avLst/>
          </a:prstGeom>
          <a:ln w="76200">
            <a:solidFill>
              <a:srgbClr val="2B6DA9"/>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1" name="直接箭头连接符 120">
            <a:extLst>
              <a:ext uri="{FF2B5EF4-FFF2-40B4-BE49-F238E27FC236}">
                <a16:creationId xmlns:a16="http://schemas.microsoft.com/office/drawing/2014/main" id="{B73DDF6B-4CB0-49E6-88A5-19956BDF0D84}"/>
              </a:ext>
            </a:extLst>
          </p:cNvPr>
          <p:cNvCxnSpPr>
            <a:cxnSpLocks/>
          </p:cNvCxnSpPr>
          <p:nvPr/>
        </p:nvCxnSpPr>
        <p:spPr>
          <a:xfrm flipH="1" flipV="1">
            <a:off x="1743932" y="2999509"/>
            <a:ext cx="1301600" cy="858982"/>
          </a:xfrm>
          <a:prstGeom prst="straightConnector1">
            <a:avLst/>
          </a:prstGeom>
          <a:ln w="762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4" name="文本框 123">
            <a:extLst>
              <a:ext uri="{FF2B5EF4-FFF2-40B4-BE49-F238E27FC236}">
                <a16:creationId xmlns:a16="http://schemas.microsoft.com/office/drawing/2014/main" id="{F37C433D-5582-4A51-98CE-8ACDA05E59BE}"/>
              </a:ext>
            </a:extLst>
          </p:cNvPr>
          <p:cNvSpPr txBox="1"/>
          <p:nvPr/>
        </p:nvSpPr>
        <p:spPr>
          <a:xfrm>
            <a:off x="6782767" y="6005379"/>
            <a:ext cx="5409233" cy="712183"/>
          </a:xfrm>
          <a:prstGeom prst="rect">
            <a:avLst/>
          </a:prstGeom>
          <a:noFill/>
        </p:spPr>
        <p:txBody>
          <a:bodyPr wrap="square" rtlCol="0">
            <a:spAutoFit/>
          </a:bodyPr>
          <a:lstStyle/>
          <a:p>
            <a:pPr>
              <a:lnSpc>
                <a:spcPts val="2400"/>
              </a:lnSpc>
            </a:pPr>
            <a:r>
              <a:rPr lang="en-US" altLang="zh-CN" sz="2400" dirty="0">
                <a:solidFill>
                  <a:srgbClr val="FF0000"/>
                </a:solidFill>
                <a:latin typeface="Calibri" panose="020F0502020204030204" pitchFamily="34" charset="0"/>
                <a:ea typeface="Calibri" panose="020F0502020204030204" pitchFamily="34" charset="0"/>
                <a:cs typeface="Calibri" panose="020F0502020204030204" pitchFamily="34" charset="0"/>
              </a:rPr>
              <a:t>Can we exploit intra-node locality </a:t>
            </a:r>
          </a:p>
          <a:p>
            <a:pPr>
              <a:lnSpc>
                <a:spcPts val="2400"/>
              </a:lnSpc>
            </a:pPr>
            <a:r>
              <a:rPr lang="en-US" altLang="zh-CN" sz="2400" dirty="0">
                <a:solidFill>
                  <a:srgbClr val="FF0000"/>
                </a:solidFill>
                <a:latin typeface="Calibri" panose="020F0502020204030204" pitchFamily="34" charset="0"/>
                <a:ea typeface="Calibri" panose="020F0502020204030204" pitchFamily="34" charset="0"/>
                <a:cs typeface="Calibri" panose="020F0502020204030204" pitchFamily="34" charset="0"/>
              </a:rPr>
              <a:t>to enable fast, fine-grained management? </a:t>
            </a:r>
            <a:endParaRPr lang="zh-CN" altLang="en-US" sz="2000" dirty="0">
              <a:solidFill>
                <a:srgbClr val="FF0000"/>
              </a:solidFill>
              <a:latin typeface="Calibri" panose="020F0502020204030204" pitchFamily="34" charset="0"/>
              <a:cs typeface="Calibri" panose="020F0502020204030204" pitchFamily="34" charset="0"/>
            </a:endParaRPr>
          </a:p>
        </p:txBody>
      </p:sp>
      <p:sp>
        <p:nvSpPr>
          <p:cNvPr id="125" name="文本框 124">
            <a:extLst>
              <a:ext uri="{FF2B5EF4-FFF2-40B4-BE49-F238E27FC236}">
                <a16:creationId xmlns:a16="http://schemas.microsoft.com/office/drawing/2014/main" id="{4E4D5AB8-95F2-40E6-AFC2-851D703B56C0}"/>
              </a:ext>
            </a:extLst>
          </p:cNvPr>
          <p:cNvSpPr txBox="1"/>
          <p:nvPr/>
        </p:nvSpPr>
        <p:spPr>
          <a:xfrm>
            <a:off x="327773" y="6002126"/>
            <a:ext cx="5453172" cy="712183"/>
          </a:xfrm>
          <a:prstGeom prst="rect">
            <a:avLst/>
          </a:prstGeom>
          <a:noFill/>
        </p:spPr>
        <p:txBody>
          <a:bodyPr wrap="square" rtlCol="0">
            <a:spAutoFit/>
          </a:bodyPr>
          <a:lstStyle/>
          <a:p>
            <a:pPr>
              <a:lnSpc>
                <a:spcPts val="2400"/>
              </a:lnSpc>
            </a:pPr>
            <a:r>
              <a:rPr lang="en-US" altLang="zh-CN" sz="2400" b="1" i="1" u="sng" dirty="0">
                <a:latin typeface="Calibri" panose="020F0502020204030204" pitchFamily="34" charset="0"/>
                <a:ea typeface="Calibri" panose="020F0502020204030204" pitchFamily="34" charset="0"/>
                <a:cs typeface="Calibri" panose="020F0502020204030204" pitchFamily="34" charset="0"/>
              </a:rPr>
              <a:t>Current Solutions: </a:t>
            </a:r>
            <a:r>
              <a:rPr lang="en-US" altLang="zh-CN" sz="2400" dirty="0">
                <a:solidFill>
                  <a:srgbClr val="C00000"/>
                </a:solidFill>
                <a:latin typeface="Calibri" panose="020F0502020204030204" pitchFamily="34" charset="0"/>
                <a:ea typeface="Calibri" panose="020F0502020204030204" pitchFamily="34" charset="0"/>
                <a:cs typeface="Calibri" panose="020F0502020204030204" pitchFamily="34" charset="0"/>
              </a:rPr>
              <a:t>Flat failure domains</a:t>
            </a:r>
            <a:r>
              <a:rPr lang="en-US" altLang="zh-CN" sz="2400" dirty="0">
                <a:latin typeface="Calibri" panose="020F0502020204030204" pitchFamily="34" charset="0"/>
                <a:ea typeface="Calibri" panose="020F0502020204030204" pitchFamily="34" charset="0"/>
                <a:cs typeface="Calibri" panose="020F0502020204030204" pitchFamily="34" charset="0"/>
              </a:rPr>
              <a:t>, </a:t>
            </a:r>
          </a:p>
          <a:p>
            <a:pPr>
              <a:lnSpc>
                <a:spcPts val="2400"/>
              </a:lnSpc>
            </a:pPr>
            <a:r>
              <a:rPr lang="en-US" altLang="zh-CN" sz="2400" dirty="0">
                <a:latin typeface="Calibri" panose="020F0502020204030204" pitchFamily="34" charset="0"/>
                <a:ea typeface="Calibri" panose="020F0502020204030204" pitchFamily="34" charset="0"/>
                <a:cs typeface="Calibri" panose="020F0502020204030204" pitchFamily="34" charset="0"/>
              </a:rPr>
              <a:t>high-overhead distributed coordination</a:t>
            </a:r>
            <a:r>
              <a:rPr lang="zh-CN" altLang="en-US" sz="2400" dirty="0">
                <a:latin typeface="Calibri" panose="020F0502020204030204" pitchFamily="34" charset="0"/>
                <a:ea typeface="Calibri" panose="020F0502020204030204" pitchFamily="34" charset="0"/>
                <a:cs typeface="Calibri" panose="020F0502020204030204" pitchFamily="34" charset="0"/>
              </a:rPr>
              <a:t> </a:t>
            </a:r>
            <a:endParaRPr lang="zh-CN" altLang="en-US" sz="2000" dirty="0">
              <a:latin typeface="Calibri" panose="020F0502020204030204" pitchFamily="34" charset="0"/>
              <a:cs typeface="Calibri" panose="020F0502020204030204" pitchFamily="34" charset="0"/>
            </a:endParaRPr>
          </a:p>
        </p:txBody>
      </p:sp>
      <p:sp>
        <p:nvSpPr>
          <p:cNvPr id="126" name="文本框 125">
            <a:extLst>
              <a:ext uri="{FF2B5EF4-FFF2-40B4-BE49-F238E27FC236}">
                <a16:creationId xmlns:a16="http://schemas.microsoft.com/office/drawing/2014/main" id="{049FD43F-8095-4FAE-B67C-DA221B5C5551}"/>
              </a:ext>
            </a:extLst>
          </p:cNvPr>
          <p:cNvSpPr txBox="1"/>
          <p:nvPr/>
        </p:nvSpPr>
        <p:spPr>
          <a:xfrm>
            <a:off x="2951411" y="3454648"/>
            <a:ext cx="829099" cy="404406"/>
          </a:xfrm>
          <a:prstGeom prst="rect">
            <a:avLst/>
          </a:prstGeom>
          <a:noFill/>
        </p:spPr>
        <p:txBody>
          <a:bodyPr wrap="square" rtlCol="0">
            <a:spAutoFit/>
          </a:bodyPr>
          <a:lstStyle/>
          <a:p>
            <a:pPr>
              <a:lnSpc>
                <a:spcPts val="2400"/>
              </a:lnSpc>
            </a:pPr>
            <a:r>
              <a:rPr lang="en-US" altLang="zh-CN" sz="2400" b="1" dirty="0">
                <a:solidFill>
                  <a:srgbClr val="FF0000"/>
                </a:solidFill>
                <a:latin typeface="Calibri" panose="020F0502020204030204" pitchFamily="34" charset="0"/>
                <a:ea typeface="Calibri" panose="020F0502020204030204" pitchFamily="34" charset="0"/>
                <a:cs typeface="Calibri" panose="020F0502020204030204" pitchFamily="34" charset="0"/>
              </a:rPr>
              <a:t>Slow </a:t>
            </a:r>
            <a:endParaRPr lang="zh-CN" altLang="en-US" sz="2000" b="1" dirty="0">
              <a:solidFill>
                <a:srgbClr val="FF0000"/>
              </a:solidFill>
              <a:latin typeface="Calibri" panose="020F0502020204030204" pitchFamily="34" charset="0"/>
              <a:cs typeface="Calibri" panose="020F0502020204030204" pitchFamily="34" charset="0"/>
            </a:endParaRPr>
          </a:p>
        </p:txBody>
      </p:sp>
      <p:pic>
        <p:nvPicPr>
          <p:cNvPr id="134" name="图形 133" descr="没有头发的老年男人">
            <a:extLst>
              <a:ext uri="{FF2B5EF4-FFF2-40B4-BE49-F238E27FC236}">
                <a16:creationId xmlns:a16="http://schemas.microsoft.com/office/drawing/2014/main" id="{165EC477-9B9A-425C-8AE4-327C74CD0B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23831" y="4607509"/>
            <a:ext cx="1290169" cy="1524745"/>
          </a:xfrm>
          <a:prstGeom prst="rect">
            <a:avLst/>
          </a:prstGeom>
        </p:spPr>
      </p:pic>
      <p:pic>
        <p:nvPicPr>
          <p:cNvPr id="132" name="图形 131" descr="一张困惑的脸">
            <a:extLst>
              <a:ext uri="{FF2B5EF4-FFF2-40B4-BE49-F238E27FC236}">
                <a16:creationId xmlns:a16="http://schemas.microsoft.com/office/drawing/2014/main" id="{01B7AB04-4CEB-4F4D-947F-147AF3EEBCE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61097" y="4947225"/>
            <a:ext cx="780112" cy="975140"/>
          </a:xfrm>
          <a:prstGeom prst="rect">
            <a:avLst/>
          </a:prstGeom>
        </p:spPr>
      </p:pic>
      <p:sp>
        <p:nvSpPr>
          <p:cNvPr id="135" name="文本框 134">
            <a:extLst>
              <a:ext uri="{FF2B5EF4-FFF2-40B4-BE49-F238E27FC236}">
                <a16:creationId xmlns:a16="http://schemas.microsoft.com/office/drawing/2014/main" id="{4E11BF0D-E8D7-4500-AB63-81C5CBA14B91}"/>
              </a:ext>
            </a:extLst>
          </p:cNvPr>
          <p:cNvSpPr txBox="1"/>
          <p:nvPr/>
        </p:nvSpPr>
        <p:spPr>
          <a:xfrm>
            <a:off x="5557313" y="4419696"/>
            <a:ext cx="773144" cy="505972"/>
          </a:xfrm>
          <a:prstGeom prst="rect">
            <a:avLst/>
          </a:prstGeom>
          <a:noFill/>
        </p:spPr>
        <p:txBody>
          <a:bodyPr wrap="square" rtlCol="0">
            <a:spAutoFit/>
          </a:bodyPr>
          <a:lstStyle/>
          <a:p>
            <a:pPr>
              <a:lnSpc>
                <a:spcPts val="2400"/>
              </a:lnSpc>
            </a:pPr>
            <a:r>
              <a:rPr lang="en-US" altLang="zh-CN" sz="5400" b="1" dirty="0">
                <a:latin typeface="Calibri" panose="020F0502020204030204" pitchFamily="34" charset="0"/>
                <a:ea typeface="Calibri" panose="020F0502020204030204" pitchFamily="34" charset="0"/>
                <a:cs typeface="Calibri" panose="020F0502020204030204" pitchFamily="34" charset="0"/>
              </a:rPr>
              <a:t>?</a:t>
            </a:r>
            <a:endParaRPr lang="zh-CN" altLang="en-US" sz="4800" b="1" dirty="0">
              <a:latin typeface="Calibri" panose="020F0502020204030204" pitchFamily="34" charset="0"/>
              <a:cs typeface="Calibri" panose="020F0502020204030204" pitchFamily="34" charset="0"/>
            </a:endParaRPr>
          </a:p>
        </p:txBody>
      </p:sp>
      <p:sp>
        <p:nvSpPr>
          <p:cNvPr id="137" name="文本框 136">
            <a:extLst>
              <a:ext uri="{FF2B5EF4-FFF2-40B4-BE49-F238E27FC236}">
                <a16:creationId xmlns:a16="http://schemas.microsoft.com/office/drawing/2014/main" id="{219992EB-2CD9-4895-B18F-D4EC767170AE}"/>
              </a:ext>
            </a:extLst>
          </p:cNvPr>
          <p:cNvSpPr txBox="1"/>
          <p:nvPr/>
        </p:nvSpPr>
        <p:spPr>
          <a:xfrm>
            <a:off x="3789367" y="1713507"/>
            <a:ext cx="2330472" cy="404406"/>
          </a:xfrm>
          <a:prstGeom prst="rect">
            <a:avLst/>
          </a:prstGeom>
          <a:noFill/>
        </p:spPr>
        <p:txBody>
          <a:bodyPr wrap="square" rtlCol="0">
            <a:spAutoFit/>
          </a:bodyPr>
          <a:lstStyle/>
          <a:p>
            <a:pPr>
              <a:lnSpc>
                <a:spcPts val="2400"/>
              </a:lnSpc>
            </a:pPr>
            <a:r>
              <a:rPr lang="en-US" altLang="zh-CN" sz="2400" b="1" i="1" dirty="0">
                <a:latin typeface="Calibri" panose="020F0502020204030204" pitchFamily="34" charset="0"/>
                <a:ea typeface="Calibri" panose="020F0502020204030204" pitchFamily="34" charset="0"/>
                <a:cs typeface="Calibri" panose="020F0502020204030204" pitchFamily="34" charset="0"/>
              </a:rPr>
              <a:t>Only Client crash</a:t>
            </a:r>
            <a:endParaRPr lang="zh-CN" altLang="en-US" sz="2000" b="1" i="1" dirty="0">
              <a:latin typeface="Calibri" panose="020F0502020204030204" pitchFamily="34" charset="0"/>
              <a:cs typeface="Calibri" panose="020F0502020204030204" pitchFamily="34" charset="0"/>
            </a:endParaRPr>
          </a:p>
        </p:txBody>
      </p:sp>
      <p:cxnSp>
        <p:nvCxnSpPr>
          <p:cNvPr id="138" name="直接箭头连接符 137">
            <a:extLst>
              <a:ext uri="{FF2B5EF4-FFF2-40B4-BE49-F238E27FC236}">
                <a16:creationId xmlns:a16="http://schemas.microsoft.com/office/drawing/2014/main" id="{F0F8BE68-01F9-47A1-A1C1-C2014C54CE53}"/>
              </a:ext>
            </a:extLst>
          </p:cNvPr>
          <p:cNvCxnSpPr>
            <a:cxnSpLocks/>
            <a:stCxn id="137" idx="1"/>
            <a:endCxn id="45" idx="7"/>
          </p:cNvCxnSpPr>
          <p:nvPr/>
        </p:nvCxnSpPr>
        <p:spPr>
          <a:xfrm flipH="1">
            <a:off x="3250298" y="1915710"/>
            <a:ext cx="539069" cy="19872"/>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1" name="直接箭头连接符 140">
            <a:extLst>
              <a:ext uri="{FF2B5EF4-FFF2-40B4-BE49-F238E27FC236}">
                <a16:creationId xmlns:a16="http://schemas.microsoft.com/office/drawing/2014/main" id="{C6411F77-F6D0-418C-ACEE-6E8A6B2435C4}"/>
              </a:ext>
            </a:extLst>
          </p:cNvPr>
          <p:cNvCxnSpPr>
            <a:cxnSpLocks/>
            <a:endCxn id="52" idx="0"/>
          </p:cNvCxnSpPr>
          <p:nvPr/>
        </p:nvCxnSpPr>
        <p:spPr>
          <a:xfrm flipH="1">
            <a:off x="4075538" y="2045514"/>
            <a:ext cx="158869" cy="290506"/>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3" name="椭圆 52">
            <a:extLst>
              <a:ext uri="{FF2B5EF4-FFF2-40B4-BE49-F238E27FC236}">
                <a16:creationId xmlns:a16="http://schemas.microsoft.com/office/drawing/2014/main" id="{21E3D75E-A070-482E-8FC5-D944FB59D683}"/>
              </a:ext>
            </a:extLst>
          </p:cNvPr>
          <p:cNvSpPr/>
          <p:nvPr/>
        </p:nvSpPr>
        <p:spPr>
          <a:xfrm>
            <a:off x="52447" y="3488623"/>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3</a:t>
            </a:r>
            <a:endParaRPr lang="zh-CN" altLang="en-US" sz="2400" dirty="0">
              <a:latin typeface="Calibri" panose="020F0502020204030204" pitchFamily="34" charset="0"/>
              <a:cs typeface="Calibri" panose="020F0502020204030204" pitchFamily="34" charset="0"/>
            </a:endParaRPr>
          </a:p>
        </p:txBody>
      </p:sp>
      <p:sp>
        <p:nvSpPr>
          <p:cNvPr id="61" name="椭圆 60">
            <a:extLst>
              <a:ext uri="{FF2B5EF4-FFF2-40B4-BE49-F238E27FC236}">
                <a16:creationId xmlns:a16="http://schemas.microsoft.com/office/drawing/2014/main" id="{B46D434B-7320-41AB-A72B-5E3D879DB4B7}"/>
              </a:ext>
            </a:extLst>
          </p:cNvPr>
          <p:cNvSpPr/>
          <p:nvPr/>
        </p:nvSpPr>
        <p:spPr>
          <a:xfrm>
            <a:off x="1850896" y="4827335"/>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4</a:t>
            </a:r>
            <a:endParaRPr lang="zh-CN" altLang="en-US" sz="2400" dirty="0">
              <a:latin typeface="Calibri" panose="020F0502020204030204" pitchFamily="34" charset="0"/>
              <a:cs typeface="Calibri" panose="020F0502020204030204" pitchFamily="34" charset="0"/>
            </a:endParaRPr>
          </a:p>
        </p:txBody>
      </p:sp>
      <p:sp>
        <p:nvSpPr>
          <p:cNvPr id="62" name="椭圆 61">
            <a:extLst>
              <a:ext uri="{FF2B5EF4-FFF2-40B4-BE49-F238E27FC236}">
                <a16:creationId xmlns:a16="http://schemas.microsoft.com/office/drawing/2014/main" id="{E150E3F3-A7A6-49B3-9A85-D07E3B243F7A}"/>
              </a:ext>
            </a:extLst>
          </p:cNvPr>
          <p:cNvSpPr/>
          <p:nvPr/>
        </p:nvSpPr>
        <p:spPr>
          <a:xfrm>
            <a:off x="3680463" y="3588781"/>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5</a:t>
            </a:r>
            <a:endParaRPr lang="zh-CN" altLang="en-US" sz="2400" dirty="0">
              <a:latin typeface="Calibri" panose="020F0502020204030204" pitchFamily="34" charset="0"/>
              <a:cs typeface="Calibri" panose="020F0502020204030204" pitchFamily="34" charset="0"/>
            </a:endParaRPr>
          </a:p>
        </p:txBody>
      </p:sp>
      <p:cxnSp>
        <p:nvCxnSpPr>
          <p:cNvPr id="89" name="直接箭头连接符 88">
            <a:extLst>
              <a:ext uri="{FF2B5EF4-FFF2-40B4-BE49-F238E27FC236}">
                <a16:creationId xmlns:a16="http://schemas.microsoft.com/office/drawing/2014/main" id="{0C696266-E864-4AD1-97C1-2F805B4ABCDA}"/>
              </a:ext>
            </a:extLst>
          </p:cNvPr>
          <p:cNvCxnSpPr>
            <a:cxnSpLocks/>
          </p:cNvCxnSpPr>
          <p:nvPr/>
        </p:nvCxnSpPr>
        <p:spPr>
          <a:xfrm>
            <a:off x="3038409" y="3858491"/>
            <a:ext cx="906698" cy="15105"/>
          </a:xfrm>
          <a:prstGeom prst="straightConnector1">
            <a:avLst/>
          </a:prstGeom>
          <a:ln w="762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3" name="椭圆 62">
            <a:extLst>
              <a:ext uri="{FF2B5EF4-FFF2-40B4-BE49-F238E27FC236}">
                <a16:creationId xmlns:a16="http://schemas.microsoft.com/office/drawing/2014/main" id="{EC7D3B58-099F-43DB-AB22-D2CAFE018A29}"/>
              </a:ext>
            </a:extLst>
          </p:cNvPr>
          <p:cNvSpPr/>
          <p:nvPr/>
        </p:nvSpPr>
        <p:spPr>
          <a:xfrm>
            <a:off x="8332792" y="5032695"/>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4</a:t>
            </a:r>
            <a:endParaRPr lang="zh-CN" altLang="en-US" sz="2400" dirty="0">
              <a:latin typeface="Calibri" panose="020F0502020204030204" pitchFamily="34" charset="0"/>
              <a:cs typeface="Calibri" panose="020F0502020204030204" pitchFamily="34" charset="0"/>
            </a:endParaRPr>
          </a:p>
        </p:txBody>
      </p:sp>
      <p:sp>
        <p:nvSpPr>
          <p:cNvPr id="64" name="椭圆 63">
            <a:extLst>
              <a:ext uri="{FF2B5EF4-FFF2-40B4-BE49-F238E27FC236}">
                <a16:creationId xmlns:a16="http://schemas.microsoft.com/office/drawing/2014/main" id="{A8C3857A-EB15-470F-936D-0A8E99807148}"/>
              </a:ext>
            </a:extLst>
          </p:cNvPr>
          <p:cNvSpPr/>
          <p:nvPr/>
        </p:nvSpPr>
        <p:spPr>
          <a:xfrm>
            <a:off x="6299552" y="3280907"/>
            <a:ext cx="912150" cy="454808"/>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3</a:t>
            </a:r>
            <a:endParaRPr lang="zh-CN" alt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9242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a:extLst>
              <a:ext uri="{FF2B5EF4-FFF2-40B4-BE49-F238E27FC236}">
                <a16:creationId xmlns:a16="http://schemas.microsoft.com/office/drawing/2014/main" id="{AF633CE1-B3A8-485A-9CCB-671070ACDC7F}"/>
              </a:ext>
            </a:extLst>
          </p:cNvPr>
          <p:cNvCxnSpPr>
            <a:cxnSpLocks/>
          </p:cNvCxnSpPr>
          <p:nvPr/>
        </p:nvCxnSpPr>
        <p:spPr>
          <a:xfrm>
            <a:off x="9127642" y="4508115"/>
            <a:ext cx="1" cy="1703610"/>
          </a:xfrm>
          <a:prstGeom prst="line">
            <a:avLst/>
          </a:prstGeom>
          <a:ln w="76200">
            <a:solidFill>
              <a:srgbClr val="D7DFEF"/>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9806B693-FA88-4BA3-BA19-DEE4723EB46A}"/>
              </a:ext>
            </a:extLst>
          </p:cNvPr>
          <p:cNvCxnSpPr>
            <a:cxnSpLocks/>
          </p:cNvCxnSpPr>
          <p:nvPr/>
        </p:nvCxnSpPr>
        <p:spPr>
          <a:xfrm flipH="1">
            <a:off x="9144008" y="3292737"/>
            <a:ext cx="2164565" cy="1243525"/>
          </a:xfrm>
          <a:prstGeom prst="line">
            <a:avLst/>
          </a:prstGeom>
          <a:ln w="76200">
            <a:solidFill>
              <a:srgbClr val="D7DFEF"/>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D639A09A-A38B-42BA-AAD3-7FE7B0DF063D}"/>
              </a:ext>
            </a:extLst>
          </p:cNvPr>
          <p:cNvCxnSpPr>
            <a:cxnSpLocks/>
          </p:cNvCxnSpPr>
          <p:nvPr/>
        </p:nvCxnSpPr>
        <p:spPr>
          <a:xfrm flipH="1" flipV="1">
            <a:off x="6984634" y="3115870"/>
            <a:ext cx="2156368" cy="1449086"/>
          </a:xfrm>
          <a:prstGeom prst="line">
            <a:avLst/>
          </a:prstGeom>
          <a:ln w="76200">
            <a:solidFill>
              <a:srgbClr val="D7DFEF"/>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7371491"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Motivation</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12" name="椭圆 11">
            <a:extLst>
              <a:ext uri="{FF2B5EF4-FFF2-40B4-BE49-F238E27FC236}">
                <a16:creationId xmlns:a16="http://schemas.microsoft.com/office/drawing/2014/main" id="{82B8C208-1ADF-405C-ACE4-8CF9C04489D2}"/>
              </a:ext>
            </a:extLst>
          </p:cNvPr>
          <p:cNvSpPr/>
          <p:nvPr/>
        </p:nvSpPr>
        <p:spPr>
          <a:xfrm>
            <a:off x="8315211" y="3811021"/>
            <a:ext cx="1626249" cy="1442539"/>
          </a:xfrm>
          <a:prstGeom prst="ellipse">
            <a:avLst/>
          </a:prstGeom>
          <a:solidFill>
            <a:srgbClr val="DAE3F3"/>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000"/>
              </a:lnSpc>
            </a:pPr>
            <a:r>
              <a:rPr lang="en-US" altLang="zh-CN" sz="2400" dirty="0">
                <a:solidFill>
                  <a:schemeClr val="tx1"/>
                </a:solidFill>
                <a:latin typeface="Calibri" panose="020F0502020204030204" pitchFamily="34" charset="0"/>
                <a:ea typeface="Calibri" panose="020F0502020204030204" pitchFamily="34" charset="0"/>
                <a:cs typeface="Calibri" panose="020F0502020204030204" pitchFamily="34" charset="0"/>
              </a:rPr>
              <a:t>DSM mem pool</a:t>
            </a:r>
            <a:endParaRPr lang="zh-CN" altLang="en-US" sz="2400" dirty="0">
              <a:solidFill>
                <a:schemeClr val="tx1"/>
              </a:solidFill>
              <a:latin typeface="Calibri" panose="020F0502020204030204" pitchFamily="34" charset="0"/>
              <a:cs typeface="Calibri" panose="020F0502020204030204" pitchFamily="34" charset="0"/>
            </a:endParaRPr>
          </a:p>
        </p:txBody>
      </p:sp>
      <p:sp>
        <p:nvSpPr>
          <p:cNvPr id="13" name="椭圆 12">
            <a:extLst>
              <a:ext uri="{FF2B5EF4-FFF2-40B4-BE49-F238E27FC236}">
                <a16:creationId xmlns:a16="http://schemas.microsoft.com/office/drawing/2014/main" id="{70928B25-1699-4A03-822D-FAEC9DB99D53}"/>
              </a:ext>
            </a:extLst>
          </p:cNvPr>
          <p:cNvSpPr/>
          <p:nvPr/>
        </p:nvSpPr>
        <p:spPr>
          <a:xfrm>
            <a:off x="6142580" y="2247143"/>
            <a:ext cx="2250139" cy="2201380"/>
          </a:xfrm>
          <a:prstGeom prst="ellipse">
            <a:avLst/>
          </a:prstGeom>
          <a:solidFill>
            <a:schemeClr val="bg1">
              <a:lumMod val="9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4" name="文本框 13">
            <a:extLst>
              <a:ext uri="{FF2B5EF4-FFF2-40B4-BE49-F238E27FC236}">
                <a16:creationId xmlns:a16="http://schemas.microsoft.com/office/drawing/2014/main" id="{DCA19012-35CB-45C1-866C-F48A74B835D2}"/>
              </a:ext>
            </a:extLst>
          </p:cNvPr>
          <p:cNvSpPr txBox="1"/>
          <p:nvPr/>
        </p:nvSpPr>
        <p:spPr>
          <a:xfrm>
            <a:off x="6728767" y="4492135"/>
            <a:ext cx="1290173" cy="404406"/>
          </a:xfrm>
          <a:prstGeom prst="rect">
            <a:avLst/>
          </a:prstGeom>
          <a:noFill/>
        </p:spPr>
        <p:txBody>
          <a:bodyPr wrap="square" rtlCol="0">
            <a:spAutoFit/>
          </a:bodyPr>
          <a:lstStyle/>
          <a:p>
            <a:pPr>
              <a:lnSpc>
                <a:spcPts val="2400"/>
              </a:lnSpc>
            </a:pPr>
            <a:r>
              <a:rPr lang="en-US" altLang="zh-CN" sz="2400" dirty="0">
                <a:latin typeface="Calibri" panose="020F0502020204030204" pitchFamily="34" charset="0"/>
                <a:ea typeface="Calibri" panose="020F0502020204030204" pitchFamily="34" charset="0"/>
                <a:cs typeface="Calibri" panose="020F0502020204030204" pitchFamily="34" charset="0"/>
              </a:rPr>
              <a:t>Node 1</a:t>
            </a:r>
            <a:endParaRPr lang="zh-CN" altLang="en-US" sz="2000" dirty="0">
              <a:latin typeface="Calibri" panose="020F0502020204030204" pitchFamily="34" charset="0"/>
              <a:cs typeface="Calibri" panose="020F0502020204030204" pitchFamily="34" charset="0"/>
            </a:endParaRPr>
          </a:p>
        </p:txBody>
      </p:sp>
      <p:sp>
        <p:nvSpPr>
          <p:cNvPr id="15" name="椭圆 14">
            <a:extLst>
              <a:ext uri="{FF2B5EF4-FFF2-40B4-BE49-F238E27FC236}">
                <a16:creationId xmlns:a16="http://schemas.microsoft.com/office/drawing/2014/main" id="{AAA8B96E-456B-4D6E-BFEA-93D29E60D72F}"/>
              </a:ext>
            </a:extLst>
          </p:cNvPr>
          <p:cNvSpPr/>
          <p:nvPr/>
        </p:nvSpPr>
        <p:spPr>
          <a:xfrm>
            <a:off x="6301821" y="2401147"/>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1</a:t>
            </a:r>
            <a:endParaRPr lang="zh-CN" altLang="en-US" sz="2400" dirty="0">
              <a:latin typeface="Calibri" panose="020F0502020204030204" pitchFamily="34" charset="0"/>
              <a:cs typeface="Calibri" panose="020F0502020204030204" pitchFamily="34" charset="0"/>
            </a:endParaRPr>
          </a:p>
        </p:txBody>
      </p:sp>
      <p:sp>
        <p:nvSpPr>
          <p:cNvPr id="17" name="椭圆 16">
            <a:extLst>
              <a:ext uri="{FF2B5EF4-FFF2-40B4-BE49-F238E27FC236}">
                <a16:creationId xmlns:a16="http://schemas.microsoft.com/office/drawing/2014/main" id="{EE7907AF-B40D-4537-A129-FEF52F3975D4}"/>
              </a:ext>
            </a:extLst>
          </p:cNvPr>
          <p:cNvSpPr/>
          <p:nvPr/>
        </p:nvSpPr>
        <p:spPr>
          <a:xfrm>
            <a:off x="6862133" y="3154792"/>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2</a:t>
            </a:r>
            <a:endParaRPr lang="zh-CN" altLang="en-US" sz="2400" dirty="0">
              <a:latin typeface="Calibri" panose="020F0502020204030204" pitchFamily="34" charset="0"/>
              <a:cs typeface="Calibri" panose="020F0502020204030204" pitchFamily="34" charset="0"/>
            </a:endParaRPr>
          </a:p>
        </p:txBody>
      </p:sp>
      <p:sp>
        <p:nvSpPr>
          <p:cNvPr id="18" name="椭圆 17">
            <a:extLst>
              <a:ext uri="{FF2B5EF4-FFF2-40B4-BE49-F238E27FC236}">
                <a16:creationId xmlns:a16="http://schemas.microsoft.com/office/drawing/2014/main" id="{9F6026B2-EC44-43CF-B01D-16598E7285A5}"/>
              </a:ext>
            </a:extLst>
          </p:cNvPr>
          <p:cNvSpPr/>
          <p:nvPr/>
        </p:nvSpPr>
        <p:spPr>
          <a:xfrm>
            <a:off x="8491923" y="5538320"/>
            <a:ext cx="1307718" cy="1136931"/>
          </a:xfrm>
          <a:prstGeom prst="ellipse">
            <a:avLst/>
          </a:prstGeom>
          <a:solidFill>
            <a:schemeClr val="bg1">
              <a:lumMod val="9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9" name="文本框 18">
            <a:extLst>
              <a:ext uri="{FF2B5EF4-FFF2-40B4-BE49-F238E27FC236}">
                <a16:creationId xmlns:a16="http://schemas.microsoft.com/office/drawing/2014/main" id="{4F7A824E-0D7F-47AE-B240-0259C2FAE638}"/>
              </a:ext>
            </a:extLst>
          </p:cNvPr>
          <p:cNvSpPr txBox="1"/>
          <p:nvPr/>
        </p:nvSpPr>
        <p:spPr>
          <a:xfrm>
            <a:off x="7530057" y="6275156"/>
            <a:ext cx="1290173" cy="404406"/>
          </a:xfrm>
          <a:prstGeom prst="rect">
            <a:avLst/>
          </a:prstGeom>
          <a:noFill/>
        </p:spPr>
        <p:txBody>
          <a:bodyPr wrap="square" rtlCol="0">
            <a:spAutoFit/>
          </a:bodyPr>
          <a:lstStyle/>
          <a:p>
            <a:pPr>
              <a:lnSpc>
                <a:spcPts val="2400"/>
              </a:lnSpc>
            </a:pPr>
            <a:r>
              <a:rPr lang="en-US" altLang="zh-CN" sz="2400" dirty="0">
                <a:latin typeface="Calibri" panose="020F0502020204030204" pitchFamily="34" charset="0"/>
                <a:ea typeface="Calibri" panose="020F0502020204030204" pitchFamily="34" charset="0"/>
                <a:cs typeface="Calibri" panose="020F0502020204030204" pitchFamily="34" charset="0"/>
              </a:rPr>
              <a:t>Node 2</a:t>
            </a:r>
            <a:endParaRPr lang="zh-CN" altLang="en-US" sz="2000" dirty="0">
              <a:latin typeface="Calibri" panose="020F0502020204030204" pitchFamily="34" charset="0"/>
              <a:cs typeface="Calibri" panose="020F0502020204030204" pitchFamily="34" charset="0"/>
            </a:endParaRPr>
          </a:p>
        </p:txBody>
      </p:sp>
      <p:sp>
        <p:nvSpPr>
          <p:cNvPr id="20" name="椭圆 19">
            <a:extLst>
              <a:ext uri="{FF2B5EF4-FFF2-40B4-BE49-F238E27FC236}">
                <a16:creationId xmlns:a16="http://schemas.microsoft.com/office/drawing/2014/main" id="{CFBCFB4D-3491-4CCF-80F3-CC7D3066D4F2}"/>
              </a:ext>
            </a:extLst>
          </p:cNvPr>
          <p:cNvSpPr/>
          <p:nvPr/>
        </p:nvSpPr>
        <p:spPr>
          <a:xfrm>
            <a:off x="8344716" y="5687479"/>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4</a:t>
            </a:r>
            <a:endParaRPr lang="zh-CN" altLang="en-US" sz="2400" dirty="0">
              <a:latin typeface="Calibri" panose="020F0502020204030204" pitchFamily="34" charset="0"/>
              <a:cs typeface="Calibri" panose="020F0502020204030204" pitchFamily="34" charset="0"/>
            </a:endParaRPr>
          </a:p>
        </p:txBody>
      </p:sp>
      <p:sp>
        <p:nvSpPr>
          <p:cNvPr id="21" name="椭圆 20">
            <a:extLst>
              <a:ext uri="{FF2B5EF4-FFF2-40B4-BE49-F238E27FC236}">
                <a16:creationId xmlns:a16="http://schemas.microsoft.com/office/drawing/2014/main" id="{96255555-AE8F-42BA-9B02-C8EA8146FE1C}"/>
              </a:ext>
            </a:extLst>
          </p:cNvPr>
          <p:cNvSpPr/>
          <p:nvPr/>
        </p:nvSpPr>
        <p:spPr>
          <a:xfrm>
            <a:off x="10025709" y="2481913"/>
            <a:ext cx="2047838" cy="2034638"/>
          </a:xfrm>
          <a:prstGeom prst="ellipse">
            <a:avLst/>
          </a:prstGeom>
          <a:solidFill>
            <a:schemeClr val="bg1">
              <a:lumMod val="9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2" name="椭圆 21">
            <a:extLst>
              <a:ext uri="{FF2B5EF4-FFF2-40B4-BE49-F238E27FC236}">
                <a16:creationId xmlns:a16="http://schemas.microsoft.com/office/drawing/2014/main" id="{173C9F83-C368-421E-A067-82BFBFC5CDD1}"/>
              </a:ext>
            </a:extLst>
          </p:cNvPr>
          <p:cNvSpPr/>
          <p:nvPr/>
        </p:nvSpPr>
        <p:spPr>
          <a:xfrm>
            <a:off x="10248562" y="2569844"/>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6</a:t>
            </a:r>
            <a:endParaRPr lang="zh-CN" altLang="en-US" sz="2400" dirty="0">
              <a:latin typeface="Calibri" panose="020F0502020204030204" pitchFamily="34" charset="0"/>
              <a:cs typeface="Calibri" panose="020F0502020204030204" pitchFamily="34" charset="0"/>
            </a:endParaRPr>
          </a:p>
        </p:txBody>
      </p:sp>
      <p:sp>
        <p:nvSpPr>
          <p:cNvPr id="23" name="椭圆 22">
            <a:extLst>
              <a:ext uri="{FF2B5EF4-FFF2-40B4-BE49-F238E27FC236}">
                <a16:creationId xmlns:a16="http://schemas.microsoft.com/office/drawing/2014/main" id="{665C6FBE-D93A-4193-A915-45735D635933}"/>
              </a:ext>
            </a:extLst>
          </p:cNvPr>
          <p:cNvSpPr/>
          <p:nvPr/>
        </p:nvSpPr>
        <p:spPr>
          <a:xfrm>
            <a:off x="10248562" y="3543197"/>
            <a:ext cx="1602132" cy="838611"/>
          </a:xfrm>
          <a:prstGeom prst="ellipse">
            <a:avLst/>
          </a:prstGeom>
          <a:solidFill>
            <a:schemeClr val="accent2">
              <a:lumMod val="75000"/>
            </a:schemeClr>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Calibri" panose="020F0502020204030204" pitchFamily="34" charset="0"/>
                <a:ea typeface="Calibri" panose="020F0502020204030204" pitchFamily="34" charset="0"/>
                <a:cs typeface="Calibri" panose="020F0502020204030204" pitchFamily="34" charset="0"/>
              </a:rPr>
              <a:t>Client 5</a:t>
            </a:r>
            <a:endParaRPr lang="zh-CN" altLang="en-US" sz="2400" dirty="0">
              <a:latin typeface="Calibri" panose="020F0502020204030204" pitchFamily="34" charset="0"/>
              <a:cs typeface="Calibri" panose="020F0502020204030204" pitchFamily="34" charset="0"/>
            </a:endParaRPr>
          </a:p>
        </p:txBody>
      </p:sp>
      <p:sp>
        <p:nvSpPr>
          <p:cNvPr id="24" name="文本框 23">
            <a:extLst>
              <a:ext uri="{FF2B5EF4-FFF2-40B4-BE49-F238E27FC236}">
                <a16:creationId xmlns:a16="http://schemas.microsoft.com/office/drawing/2014/main" id="{D1D77B23-D6EC-4464-AA8C-25A4B69C869D}"/>
              </a:ext>
            </a:extLst>
          </p:cNvPr>
          <p:cNvSpPr txBox="1"/>
          <p:nvPr/>
        </p:nvSpPr>
        <p:spPr>
          <a:xfrm>
            <a:off x="10534001" y="4556227"/>
            <a:ext cx="1290173" cy="404406"/>
          </a:xfrm>
          <a:prstGeom prst="rect">
            <a:avLst/>
          </a:prstGeom>
          <a:noFill/>
        </p:spPr>
        <p:txBody>
          <a:bodyPr wrap="square" rtlCol="0">
            <a:spAutoFit/>
          </a:bodyPr>
          <a:lstStyle/>
          <a:p>
            <a:pPr>
              <a:lnSpc>
                <a:spcPts val="2400"/>
              </a:lnSpc>
            </a:pPr>
            <a:r>
              <a:rPr lang="en-US" altLang="zh-CN" sz="2400" dirty="0">
                <a:latin typeface="Calibri" panose="020F0502020204030204" pitchFamily="34" charset="0"/>
                <a:ea typeface="Calibri" panose="020F0502020204030204" pitchFamily="34" charset="0"/>
                <a:cs typeface="Calibri" panose="020F0502020204030204" pitchFamily="34" charset="0"/>
              </a:rPr>
              <a:t>Node 3</a:t>
            </a:r>
            <a:endParaRPr lang="zh-CN" altLang="en-US" sz="2000" dirty="0">
              <a:latin typeface="Calibri" panose="020F0502020204030204" pitchFamily="34" charset="0"/>
              <a:cs typeface="Calibri" panose="020F0502020204030204" pitchFamily="34" charset="0"/>
            </a:endParaRPr>
          </a:p>
        </p:txBody>
      </p:sp>
      <p:cxnSp>
        <p:nvCxnSpPr>
          <p:cNvPr id="98" name="直接箭头连接符 97">
            <a:extLst>
              <a:ext uri="{FF2B5EF4-FFF2-40B4-BE49-F238E27FC236}">
                <a16:creationId xmlns:a16="http://schemas.microsoft.com/office/drawing/2014/main" id="{7E1BD3DC-D0D4-4D06-AB77-C25411F0E4A8}"/>
              </a:ext>
            </a:extLst>
          </p:cNvPr>
          <p:cNvCxnSpPr>
            <a:cxnSpLocks/>
          </p:cNvCxnSpPr>
          <p:nvPr/>
        </p:nvCxnSpPr>
        <p:spPr>
          <a:xfrm flipH="1" flipV="1">
            <a:off x="8298116" y="3645530"/>
            <a:ext cx="885702" cy="417243"/>
          </a:xfrm>
          <a:prstGeom prst="straightConnector1">
            <a:avLst/>
          </a:prstGeom>
          <a:ln w="762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1" name="文本框 100">
            <a:extLst>
              <a:ext uri="{FF2B5EF4-FFF2-40B4-BE49-F238E27FC236}">
                <a16:creationId xmlns:a16="http://schemas.microsoft.com/office/drawing/2014/main" id="{CEB979C8-DA08-4E1B-BA4A-99328067B8F5}"/>
              </a:ext>
            </a:extLst>
          </p:cNvPr>
          <p:cNvSpPr txBox="1"/>
          <p:nvPr/>
        </p:nvSpPr>
        <p:spPr>
          <a:xfrm>
            <a:off x="8560642" y="3443327"/>
            <a:ext cx="829099" cy="404406"/>
          </a:xfrm>
          <a:prstGeom prst="rect">
            <a:avLst/>
          </a:prstGeom>
          <a:noFill/>
        </p:spPr>
        <p:txBody>
          <a:bodyPr wrap="square" rtlCol="0">
            <a:spAutoFit/>
          </a:bodyPr>
          <a:lstStyle/>
          <a:p>
            <a:pPr>
              <a:lnSpc>
                <a:spcPts val="2400"/>
              </a:lnSpc>
            </a:pPr>
            <a:r>
              <a:rPr lang="en-US" altLang="zh-CN" sz="2400" b="1" dirty="0">
                <a:solidFill>
                  <a:srgbClr val="FF0000"/>
                </a:solidFill>
                <a:latin typeface="Calibri" panose="020F0502020204030204" pitchFamily="34" charset="0"/>
                <a:ea typeface="Calibri" panose="020F0502020204030204" pitchFamily="34" charset="0"/>
                <a:cs typeface="Calibri" panose="020F0502020204030204" pitchFamily="34" charset="0"/>
              </a:rPr>
              <a:t>Slow </a:t>
            </a:r>
            <a:endParaRPr lang="zh-CN" altLang="en-US" sz="2000" b="1" dirty="0">
              <a:solidFill>
                <a:srgbClr val="FF0000"/>
              </a:solidFill>
              <a:latin typeface="Calibri" panose="020F0502020204030204" pitchFamily="34" charset="0"/>
              <a:cs typeface="Calibri" panose="020F0502020204030204" pitchFamily="34" charset="0"/>
            </a:endParaRPr>
          </a:p>
        </p:txBody>
      </p:sp>
      <p:sp>
        <p:nvSpPr>
          <p:cNvPr id="105" name="文本框 104">
            <a:extLst>
              <a:ext uri="{FF2B5EF4-FFF2-40B4-BE49-F238E27FC236}">
                <a16:creationId xmlns:a16="http://schemas.microsoft.com/office/drawing/2014/main" id="{CB8CDD85-3DC4-4D2B-B164-DD451B1038FC}"/>
              </a:ext>
            </a:extLst>
          </p:cNvPr>
          <p:cNvSpPr txBox="1"/>
          <p:nvPr/>
        </p:nvSpPr>
        <p:spPr>
          <a:xfrm>
            <a:off x="9612594" y="3305161"/>
            <a:ext cx="842618" cy="404406"/>
          </a:xfrm>
          <a:prstGeom prst="rect">
            <a:avLst/>
          </a:prstGeom>
          <a:noFill/>
        </p:spPr>
        <p:txBody>
          <a:bodyPr wrap="square" rtlCol="0">
            <a:spAutoFit/>
          </a:bodyPr>
          <a:lstStyle/>
          <a:p>
            <a:pPr>
              <a:lnSpc>
                <a:spcPts val="2400"/>
              </a:lnSpc>
            </a:pPr>
            <a:r>
              <a:rPr lang="en-US" altLang="zh-CN" sz="2400" b="1"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Fast! </a:t>
            </a:r>
            <a:endParaRPr lang="zh-CN" altLang="en-US" sz="2000" b="1" dirty="0">
              <a:solidFill>
                <a:schemeClr val="accent5">
                  <a:lumMod val="75000"/>
                </a:schemeClr>
              </a:solidFill>
              <a:latin typeface="Calibri" panose="020F0502020204030204" pitchFamily="34" charset="0"/>
              <a:cs typeface="Calibri" panose="020F0502020204030204" pitchFamily="34" charset="0"/>
            </a:endParaRPr>
          </a:p>
        </p:txBody>
      </p:sp>
      <p:sp>
        <p:nvSpPr>
          <p:cNvPr id="106" name="文本框 105">
            <a:extLst>
              <a:ext uri="{FF2B5EF4-FFF2-40B4-BE49-F238E27FC236}">
                <a16:creationId xmlns:a16="http://schemas.microsoft.com/office/drawing/2014/main" id="{1E961845-E73C-4DE8-8F44-135EE4486B39}"/>
              </a:ext>
            </a:extLst>
          </p:cNvPr>
          <p:cNvSpPr txBox="1"/>
          <p:nvPr/>
        </p:nvSpPr>
        <p:spPr>
          <a:xfrm>
            <a:off x="8405429" y="1890808"/>
            <a:ext cx="1701012" cy="404406"/>
          </a:xfrm>
          <a:prstGeom prst="rect">
            <a:avLst/>
          </a:prstGeom>
          <a:noFill/>
        </p:spPr>
        <p:txBody>
          <a:bodyPr wrap="square" rtlCol="0">
            <a:spAutoFit/>
          </a:bodyPr>
          <a:lstStyle/>
          <a:p>
            <a:pPr>
              <a:lnSpc>
                <a:spcPts val="2400"/>
              </a:lnSpc>
            </a:pPr>
            <a:r>
              <a:rPr lang="en-US" altLang="zh-CN" sz="2400" dirty="0">
                <a:latin typeface="Calibri" panose="020F0502020204030204" pitchFamily="34" charset="0"/>
                <a:ea typeface="Calibri" panose="020F0502020204030204" pitchFamily="34" charset="0"/>
                <a:cs typeface="Calibri" panose="020F0502020204030204" pitchFamily="34" charset="0"/>
              </a:rPr>
              <a:t>Node crash</a:t>
            </a:r>
            <a:endParaRPr lang="zh-CN" altLang="en-US" sz="2000" dirty="0">
              <a:latin typeface="Calibri" panose="020F0502020204030204" pitchFamily="34" charset="0"/>
              <a:cs typeface="Calibri" panose="020F0502020204030204" pitchFamily="34" charset="0"/>
            </a:endParaRPr>
          </a:p>
        </p:txBody>
      </p:sp>
      <p:cxnSp>
        <p:nvCxnSpPr>
          <p:cNvPr id="107" name="直接箭头连接符 106">
            <a:extLst>
              <a:ext uri="{FF2B5EF4-FFF2-40B4-BE49-F238E27FC236}">
                <a16:creationId xmlns:a16="http://schemas.microsoft.com/office/drawing/2014/main" id="{CCE99143-D907-47C2-8959-B229A2533DAE}"/>
              </a:ext>
            </a:extLst>
          </p:cNvPr>
          <p:cNvCxnSpPr>
            <a:cxnSpLocks/>
            <a:stCxn id="106" idx="1"/>
            <a:endCxn id="13" idx="7"/>
          </p:cNvCxnSpPr>
          <p:nvPr/>
        </p:nvCxnSpPr>
        <p:spPr>
          <a:xfrm flipH="1">
            <a:off x="8063194" y="2093011"/>
            <a:ext cx="342235" cy="476517"/>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22B3632D-14AB-47A4-8041-BF0829F759C1}"/>
              </a:ext>
            </a:extLst>
          </p:cNvPr>
          <p:cNvSpPr txBox="1"/>
          <p:nvPr/>
        </p:nvSpPr>
        <p:spPr>
          <a:xfrm>
            <a:off x="10435360" y="5900197"/>
            <a:ext cx="1701012" cy="404406"/>
          </a:xfrm>
          <a:prstGeom prst="rect">
            <a:avLst/>
          </a:prstGeom>
          <a:noFill/>
        </p:spPr>
        <p:txBody>
          <a:bodyPr wrap="square" rtlCol="0">
            <a:spAutoFit/>
          </a:bodyPr>
          <a:lstStyle/>
          <a:p>
            <a:pPr>
              <a:lnSpc>
                <a:spcPts val="2400"/>
              </a:lnSpc>
            </a:pPr>
            <a:r>
              <a:rPr lang="en-US" altLang="zh-CN" sz="2400" dirty="0">
                <a:latin typeface="Calibri" panose="020F0502020204030204" pitchFamily="34" charset="0"/>
                <a:ea typeface="Calibri" panose="020F0502020204030204" pitchFamily="34" charset="0"/>
                <a:cs typeface="Calibri" panose="020F0502020204030204" pitchFamily="34" charset="0"/>
              </a:rPr>
              <a:t>Client crash</a:t>
            </a:r>
            <a:endParaRPr lang="zh-CN" altLang="en-US" sz="2000" dirty="0">
              <a:latin typeface="Calibri" panose="020F0502020204030204" pitchFamily="34" charset="0"/>
              <a:cs typeface="Calibri" panose="020F0502020204030204" pitchFamily="34" charset="0"/>
            </a:endParaRPr>
          </a:p>
        </p:txBody>
      </p:sp>
      <p:cxnSp>
        <p:nvCxnSpPr>
          <p:cNvPr id="111" name="直接箭头连接符 110">
            <a:extLst>
              <a:ext uri="{FF2B5EF4-FFF2-40B4-BE49-F238E27FC236}">
                <a16:creationId xmlns:a16="http://schemas.microsoft.com/office/drawing/2014/main" id="{47061C21-D921-48C5-94EE-6C7B56F6AEC6}"/>
              </a:ext>
            </a:extLst>
          </p:cNvPr>
          <p:cNvCxnSpPr>
            <a:cxnSpLocks/>
            <a:endCxn id="20" idx="6"/>
          </p:cNvCxnSpPr>
          <p:nvPr/>
        </p:nvCxnSpPr>
        <p:spPr>
          <a:xfrm flipH="1">
            <a:off x="9946848" y="6088591"/>
            <a:ext cx="520340" cy="18194"/>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F8444C9B-C36F-4D3C-906D-B0351084B6F3}"/>
              </a:ext>
            </a:extLst>
          </p:cNvPr>
          <p:cNvCxnSpPr>
            <a:cxnSpLocks/>
          </p:cNvCxnSpPr>
          <p:nvPr/>
        </p:nvCxnSpPr>
        <p:spPr>
          <a:xfrm flipV="1">
            <a:off x="9205728" y="3840413"/>
            <a:ext cx="1069092" cy="222360"/>
          </a:xfrm>
          <a:prstGeom prst="straightConnector1">
            <a:avLst/>
          </a:prstGeom>
          <a:ln w="762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a:extLst>
              <a:ext uri="{FF2B5EF4-FFF2-40B4-BE49-F238E27FC236}">
                <a16:creationId xmlns:a16="http://schemas.microsoft.com/office/drawing/2014/main" id="{A7FEFEC0-4561-43E0-9C22-1687AE2D0687}"/>
              </a:ext>
            </a:extLst>
          </p:cNvPr>
          <p:cNvCxnSpPr>
            <a:cxnSpLocks/>
          </p:cNvCxnSpPr>
          <p:nvPr/>
        </p:nvCxnSpPr>
        <p:spPr>
          <a:xfrm>
            <a:off x="10435360" y="3040965"/>
            <a:ext cx="31828" cy="921537"/>
          </a:xfrm>
          <a:prstGeom prst="straightConnector1">
            <a:avLst/>
          </a:prstGeom>
          <a:ln w="76200">
            <a:solidFill>
              <a:srgbClr val="2B6DA9"/>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24" name="文本框 123">
            <a:extLst>
              <a:ext uri="{FF2B5EF4-FFF2-40B4-BE49-F238E27FC236}">
                <a16:creationId xmlns:a16="http://schemas.microsoft.com/office/drawing/2014/main" id="{F37C433D-5582-4A51-98CE-8ACDA05E59BE}"/>
              </a:ext>
            </a:extLst>
          </p:cNvPr>
          <p:cNvSpPr txBox="1"/>
          <p:nvPr/>
        </p:nvSpPr>
        <p:spPr>
          <a:xfrm>
            <a:off x="510254" y="2750829"/>
            <a:ext cx="4950182" cy="2246769"/>
          </a:xfrm>
          <a:prstGeom prst="rect">
            <a:avLst/>
          </a:prstGeom>
          <a:noFill/>
        </p:spPr>
        <p:txBody>
          <a:bodyPr wrap="square" rtlCol="0">
            <a:spAutoFit/>
          </a:bodyPr>
          <a:lstStyle/>
          <a:p>
            <a:r>
              <a:rPr lang="en-US" altLang="zh-CN" sz="2800" dirty="0">
                <a:latin typeface="Calibri" panose="020F0502020204030204" pitchFamily="34" charset="0"/>
                <a:ea typeface="Calibri" panose="020F0502020204030204" pitchFamily="34" charset="0"/>
                <a:cs typeface="Calibri" panose="020F0502020204030204" pitchFamily="34" charset="0"/>
              </a:rPr>
              <a:t>How to achieve </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low-overhead, </a:t>
            </a:r>
            <a:r>
              <a:rPr lang="en-US" altLang="zh-CN" sz="2800" dirty="0">
                <a:latin typeface="Calibri" panose="020F0502020204030204" pitchFamily="34" charset="0"/>
                <a:ea typeface="Calibri" panose="020F0502020204030204" pitchFamily="34" charset="0"/>
                <a:cs typeface="Calibri" panose="020F0502020204030204" pitchFamily="34" charset="0"/>
              </a:rPr>
              <a:t>non-blocking</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altLang="zh-CN" sz="2800" dirty="0">
                <a:latin typeface="Calibri" panose="020F0502020204030204" pitchFamily="34" charset="0"/>
                <a:ea typeface="Calibri" panose="020F0502020204030204" pitchFamily="34" charset="0"/>
                <a:cs typeface="Calibri" panose="020F0502020204030204" pitchFamily="34" charset="0"/>
              </a:rPr>
              <a:t>fault tolerance </a:t>
            </a:r>
          </a:p>
          <a:p>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within a node? </a:t>
            </a:r>
          </a:p>
          <a:p>
            <a:pPr marL="457200" indent="-457200">
              <a:buFont typeface="Wingdings" panose="05000000000000000000" pitchFamily="2" charset="2"/>
              <a:buChar char="ü"/>
            </a:pPr>
            <a:r>
              <a:rPr lang="en-US" altLang="zh-CN" sz="2800" dirty="0">
                <a:latin typeface="Calibri" panose="020F0502020204030204" pitchFamily="34" charset="0"/>
                <a:ea typeface="Calibri" panose="020F0502020204030204" pitchFamily="34" charset="0"/>
                <a:cs typeface="Calibri" panose="020F0502020204030204" pitchFamily="34" charset="0"/>
              </a:rPr>
              <a:t>Must tolerate </a:t>
            </a:r>
            <a:r>
              <a:rPr lang="en-US" altLang="zh-CN" sz="2800" dirty="0">
                <a:solidFill>
                  <a:srgbClr val="FF0000"/>
                </a:solidFill>
                <a:latin typeface="Calibri" panose="020F0502020204030204" pitchFamily="34" charset="0"/>
                <a:ea typeface="Calibri" panose="020F0502020204030204" pitchFamily="34" charset="0"/>
                <a:cs typeface="Calibri" panose="020F0502020204030204" pitchFamily="34" charset="0"/>
              </a:rPr>
              <a:t>arbitrary client crashes</a:t>
            </a:r>
            <a:r>
              <a:rPr lang="en-US" altLang="zh-CN" sz="2800" dirty="0">
                <a:latin typeface="Calibri" panose="020F0502020204030204" pitchFamily="34" charset="0"/>
                <a:ea typeface="Calibri" panose="020F0502020204030204" pitchFamily="34" charset="0"/>
                <a:cs typeface="Calibri" panose="020F0502020204030204" pitchFamily="34" charset="0"/>
              </a:rPr>
              <a:t> within a node</a:t>
            </a:r>
            <a:endParaRPr lang="zh-CN" alt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36722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2393909"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Agenda</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a:extLst>
              <a:ext uri="{FF2B5EF4-FFF2-40B4-BE49-F238E27FC236}">
                <a16:creationId xmlns:a16="http://schemas.microsoft.com/office/drawing/2014/main" id="{7640FDC8-3DF3-4465-AF2B-958C917E3322}"/>
              </a:ext>
            </a:extLst>
          </p:cNvPr>
          <p:cNvSpPr txBox="1"/>
          <p:nvPr/>
        </p:nvSpPr>
        <p:spPr>
          <a:xfrm>
            <a:off x="1323946" y="2089506"/>
            <a:ext cx="9055265" cy="4955203"/>
          </a:xfrm>
          <a:prstGeom prst="rect">
            <a:avLst/>
          </a:prstGeom>
          <a:noFill/>
        </p:spPr>
        <p:txBody>
          <a:bodyPr wrap="square" rtlCol="0">
            <a:spAutoFit/>
          </a:bodyPr>
          <a:lstStyle/>
          <a:p>
            <a:pPr marL="571500" indent="-571500">
              <a:buFont typeface="Wingdings" panose="05000000000000000000" pitchFamily="2" charset="2"/>
              <a:buChar char="l"/>
            </a:pPr>
            <a:r>
              <a:rPr lang="en-US" altLang="zh-CN" sz="3600" dirty="0">
                <a:solidFill>
                  <a:schemeClr val="bg1">
                    <a:lumMod val="75000"/>
                  </a:schemeClr>
                </a:solidFill>
                <a:latin typeface="Calibri" panose="020F0502020204030204" pitchFamily="34" charset="0"/>
                <a:ea typeface="Calibri" panose="020F0502020204030204" pitchFamily="34" charset="0"/>
                <a:cs typeface="宋体" panose="02010600030101010101" pitchFamily="2" charset="-122"/>
              </a:rPr>
              <a:t>Background &amp; Motivation</a:t>
            </a:r>
          </a:p>
          <a:p>
            <a:pPr marL="571500" indent="-571500">
              <a:buFont typeface="Wingdings" panose="05000000000000000000" pitchFamily="2" charset="2"/>
              <a:buChar char="l"/>
            </a:pPr>
            <a:endParaRPr lang="en-US" altLang="zh-CN" sz="36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r>
              <a:rPr lang="en-US" altLang="zh-CN" sz="3600" kern="1200" dirty="0">
                <a:solidFill>
                  <a:srgbClr val="2F5597"/>
                </a:solidFill>
                <a:effectLst/>
                <a:latin typeface="Calibri" panose="020F0502020204030204" pitchFamily="34" charset="0"/>
                <a:ea typeface="Calibri" panose="020F0502020204030204" pitchFamily="34" charset="0"/>
                <a:cs typeface="宋体" panose="02010600030101010101" pitchFamily="2" charset="-122"/>
              </a:rPr>
              <a:t>AEP Design and Implementation</a:t>
            </a:r>
          </a:p>
          <a:p>
            <a:pPr marL="571500" indent="-571500">
              <a:buFont typeface="Wingdings" panose="05000000000000000000" pitchFamily="2" charset="2"/>
              <a:buChar char="l"/>
            </a:pPr>
            <a:endParaRPr lang="en-US" altLang="zh-CN" sz="36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r>
              <a:rPr lang="en-US" altLang="zh-CN" sz="3600" kern="1200" dirty="0">
                <a:solidFill>
                  <a:srgbClr val="BFBFBF"/>
                </a:solidFill>
                <a:effectLst/>
                <a:latin typeface="Calibri" panose="020F0502020204030204" pitchFamily="34" charset="0"/>
                <a:ea typeface="Calibri" panose="020F0502020204030204" pitchFamily="34" charset="0"/>
                <a:cs typeface="宋体" panose="02010600030101010101" pitchFamily="2" charset="-122"/>
              </a:rPr>
              <a:t>Evaluation</a:t>
            </a:r>
          </a:p>
          <a:p>
            <a:pPr marL="571500" indent="-571500">
              <a:buFont typeface="Wingdings" panose="05000000000000000000" pitchFamily="2" charset="2"/>
              <a:buChar char="l"/>
            </a:pPr>
            <a:endParaRPr lang="en-US" altLang="zh-CN" sz="36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r>
              <a:rPr lang="en-US" altLang="zh-CN" sz="3600" kern="1200" dirty="0">
                <a:solidFill>
                  <a:srgbClr val="BFBFBF"/>
                </a:solidFill>
                <a:effectLst/>
                <a:latin typeface="Calibri" panose="020F0502020204030204" pitchFamily="34" charset="0"/>
                <a:ea typeface="Calibri" panose="020F0502020204030204" pitchFamily="34" charset="0"/>
                <a:cs typeface="宋体" panose="02010600030101010101" pitchFamily="2" charset="-122"/>
              </a:rPr>
              <a:t>Conclusion</a:t>
            </a:r>
          </a:p>
          <a:p>
            <a:pPr marL="571500" indent="-571500">
              <a:buFont typeface="Wingdings" panose="05000000000000000000" pitchFamily="2" charset="2"/>
              <a:buChar char="l"/>
            </a:pPr>
            <a:endParaRPr lang="en-US" altLang="zh-CN" sz="44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3038816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9893465"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Design Insight: Learning from the Kernel</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a:extLst>
              <a:ext uri="{FF2B5EF4-FFF2-40B4-BE49-F238E27FC236}">
                <a16:creationId xmlns:a16="http://schemas.microsoft.com/office/drawing/2014/main" id="{FE72B010-4097-44F6-A7CA-7DFEBE7227EB}"/>
              </a:ext>
            </a:extLst>
          </p:cNvPr>
          <p:cNvSpPr txBox="1"/>
          <p:nvPr/>
        </p:nvSpPr>
        <p:spPr>
          <a:xfrm>
            <a:off x="510048" y="1685615"/>
            <a:ext cx="11391440" cy="1446550"/>
          </a:xfrm>
          <a:prstGeom prst="rect">
            <a:avLst/>
          </a:prstGeom>
          <a:noFill/>
        </p:spPr>
        <p:txBody>
          <a:bodyPr wrap="square" rtlCol="0">
            <a:spAutoFit/>
          </a:bodyPr>
          <a:lstStyle/>
          <a:p>
            <a:pPr marL="457200" indent="-457200">
              <a:buFont typeface="Wingdings" panose="05000000000000000000" pitchFamily="2" charset="2"/>
              <a:buChar char="l"/>
            </a:pPr>
            <a:r>
              <a:rPr lang="en-US" altLang="zh-CN" sz="2800" kern="1200" dirty="0">
                <a:effectLst/>
                <a:latin typeface="Calibri" panose="020F0502020204030204" pitchFamily="34" charset="0"/>
                <a:ea typeface="Calibri" panose="020F0502020204030204" pitchFamily="34" charset="0"/>
                <a:cs typeface="宋体" panose="02010600030101010101" pitchFamily="2" charset="-122"/>
              </a:rPr>
              <a:t>The kernel address space is shared memory and also faces partial failures</a:t>
            </a:r>
          </a:p>
          <a:p>
            <a:pPr marL="914400" lvl="1" indent="-457200">
              <a:buFont typeface="Wingdings" panose="05000000000000000000" pitchFamily="2" charset="2"/>
              <a:buChar char="Ø"/>
            </a:pPr>
            <a:r>
              <a:rPr lang="en-US" altLang="zh-CN" sz="2000" kern="1200" dirty="0">
                <a:effectLst/>
                <a:latin typeface="Calibri" panose="020F0502020204030204" pitchFamily="34" charset="0"/>
                <a:ea typeface="Calibri" panose="020F0502020204030204" pitchFamily="34" charset="0"/>
                <a:cs typeface="宋体" panose="02010600030101010101" pitchFamily="2" charset="-122"/>
              </a:rPr>
              <a:t>Kernel metadata is shared across processes</a:t>
            </a:r>
          </a:p>
          <a:p>
            <a:pPr marL="914400" lvl="1" indent="-457200">
              <a:buFont typeface="Wingdings" panose="05000000000000000000" pitchFamily="2" charset="2"/>
              <a:buChar char="Ø"/>
            </a:pPr>
            <a:r>
              <a:rPr lang="en-US" altLang="zh-CN" sz="2000" kern="1200" dirty="0">
                <a:effectLst/>
                <a:latin typeface="Cascadia Code" panose="020B0609020000020004" pitchFamily="49" charset="0"/>
                <a:ea typeface="Cascadia Code" panose="020B0609020000020004" pitchFamily="49" charset="0"/>
                <a:cs typeface="Cascadia Code" panose="020B0609020000020004" pitchFamily="49" charset="0"/>
              </a:rPr>
              <a:t>SIGKILL</a:t>
            </a:r>
            <a:r>
              <a:rPr lang="en-US" altLang="zh-CN" sz="2000" dirty="0">
                <a:latin typeface="Calibri" panose="020F0502020204030204" pitchFamily="34" charset="0"/>
                <a:ea typeface="Calibri" panose="020F0502020204030204" pitchFamily="34" charset="0"/>
                <a:cs typeface="Cascadia Code" panose="020B0609020000020004" pitchFamily="49" charset="0"/>
              </a:rPr>
              <a:t> may</a:t>
            </a:r>
            <a:r>
              <a:rPr lang="en-US" altLang="zh-CN" sz="2000" kern="1200" dirty="0">
                <a:effectLst/>
                <a:latin typeface="Calibri" panose="020F0502020204030204" pitchFamily="34" charset="0"/>
                <a:ea typeface="Calibri" panose="020F0502020204030204" pitchFamily="34" charset="0"/>
                <a:cs typeface="宋体" panose="02010600030101010101" pitchFamily="2" charset="-122"/>
              </a:rPr>
              <a:t> arrive during metadata updates </a:t>
            </a:r>
          </a:p>
          <a:p>
            <a:pPr marL="914400" lvl="1" indent="-457200">
              <a:buFont typeface="Wingdings" panose="05000000000000000000" pitchFamily="2" charset="2"/>
              <a:buChar char="Ø"/>
            </a:pPr>
            <a:r>
              <a:rPr lang="en-US" altLang="zh-CN" sz="2000" dirty="0">
                <a:latin typeface="Calibri" panose="020F0502020204030204" pitchFamily="34" charset="0"/>
                <a:ea typeface="Calibri" panose="020F0502020204030204" pitchFamily="34" charset="0"/>
                <a:cs typeface="宋体" panose="02010600030101010101" pitchFamily="2" charset="-122"/>
              </a:rPr>
              <a:t>K</a:t>
            </a:r>
            <a:r>
              <a:rPr lang="en-US" altLang="zh-CN" sz="2000" kern="1200" dirty="0">
                <a:effectLst/>
                <a:latin typeface="Calibri" panose="020F0502020204030204" pitchFamily="34" charset="0"/>
                <a:ea typeface="Calibri" panose="020F0502020204030204" pitchFamily="34" charset="0"/>
                <a:cs typeface="宋体" panose="02010600030101010101" pitchFamily="2" charset="-122"/>
              </a:rPr>
              <a:t>ernel</a:t>
            </a:r>
            <a:r>
              <a:rPr lang="en-US" altLang="zh-CN" sz="2000" kern="1200" dirty="0">
                <a:solidFill>
                  <a:srgbClr val="C00000"/>
                </a:solidFill>
                <a:effectLst/>
                <a:latin typeface="Calibri" panose="020F0502020204030204" pitchFamily="34" charset="0"/>
                <a:ea typeface="Calibri" panose="020F0502020204030204" pitchFamily="34" charset="0"/>
                <a:cs typeface="宋体" panose="02010600030101010101" pitchFamily="2" charset="-122"/>
              </a:rPr>
              <a:t> defers termination </a:t>
            </a:r>
            <a:r>
              <a:rPr lang="en-US" altLang="zh-CN" sz="2000" kern="1200" dirty="0">
                <a:effectLst/>
                <a:latin typeface="Calibri" panose="020F0502020204030204" pitchFamily="34" charset="0"/>
                <a:ea typeface="Calibri" panose="020F0502020204030204" pitchFamily="34" charset="0"/>
                <a:cs typeface="宋体" panose="02010600030101010101" pitchFamily="2" charset="-122"/>
              </a:rPr>
              <a:t>till</a:t>
            </a:r>
            <a:r>
              <a:rPr lang="en-US" altLang="zh-CN" sz="2000" dirty="0">
                <a:latin typeface="Calibri" panose="020F0502020204030204" pitchFamily="34" charset="0"/>
                <a:ea typeface="Calibri" panose="020F0502020204030204" pitchFamily="34" charset="0"/>
                <a:cs typeface="宋体" panose="02010600030101010101" pitchFamily="2" charset="-122"/>
              </a:rPr>
              <a:t>.</a:t>
            </a:r>
            <a:r>
              <a:rPr lang="en-US" altLang="zh-CN" sz="2000" kern="1200" dirty="0">
                <a:effectLst/>
                <a:latin typeface="Calibri" panose="020F0502020204030204" pitchFamily="34" charset="0"/>
                <a:ea typeface="Calibri" panose="020F0502020204030204" pitchFamily="34" charset="0"/>
                <a:cs typeface="宋体" panose="02010600030101010101" pitchFamily="2" charset="-122"/>
              </a:rPr>
              <a:t> </a:t>
            </a:r>
            <a:r>
              <a:rPr lang="en-US" altLang="zh-CN" sz="2000" dirty="0" err="1">
                <a:latin typeface="Calibri" panose="020F0502020204030204" pitchFamily="34" charset="0"/>
                <a:ea typeface="Calibri" panose="020F0502020204030204" pitchFamily="34" charset="0"/>
                <a:cs typeface="宋体" panose="02010600030101010101" pitchFamily="2" charset="-122"/>
              </a:rPr>
              <a:t>s</a:t>
            </a:r>
            <a:r>
              <a:rPr lang="en-US" altLang="zh-CN" sz="2000" kern="1200" dirty="0" err="1">
                <a:effectLst/>
                <a:latin typeface="Calibri" panose="020F0502020204030204" pitchFamily="34" charset="0"/>
                <a:ea typeface="Calibri" panose="020F0502020204030204" pitchFamily="34" charset="0"/>
                <a:cs typeface="宋体" panose="02010600030101010101" pitchFamily="2" charset="-122"/>
              </a:rPr>
              <a:t>yscall</a:t>
            </a:r>
            <a:r>
              <a:rPr lang="en-US" altLang="zh-CN" sz="2000" kern="1200" dirty="0">
                <a:effectLst/>
                <a:latin typeface="Calibri" panose="020F0502020204030204" pitchFamily="34" charset="0"/>
                <a:ea typeface="Calibri" panose="020F0502020204030204" pitchFamily="34" charset="0"/>
                <a:cs typeface="宋体" panose="02010600030101010101" pitchFamily="2" charset="-122"/>
              </a:rPr>
              <a:t> completes</a:t>
            </a:r>
          </a:p>
        </p:txBody>
      </p:sp>
      <p:pic>
        <p:nvPicPr>
          <p:cNvPr id="3" name="图片 2">
            <a:extLst>
              <a:ext uri="{FF2B5EF4-FFF2-40B4-BE49-F238E27FC236}">
                <a16:creationId xmlns:a16="http://schemas.microsoft.com/office/drawing/2014/main" id="{44D9C0CB-7AE3-487F-987B-AB0D4A67A38E}"/>
              </a:ext>
            </a:extLst>
          </p:cNvPr>
          <p:cNvPicPr>
            <a:picLocks noChangeAspect="1"/>
          </p:cNvPicPr>
          <p:nvPr/>
        </p:nvPicPr>
        <p:blipFill>
          <a:blip r:embed="rId3"/>
          <a:stretch>
            <a:fillRect/>
          </a:stretch>
        </p:blipFill>
        <p:spPr>
          <a:xfrm>
            <a:off x="7618663" y="2899420"/>
            <a:ext cx="4404852" cy="3497971"/>
          </a:xfrm>
          <a:prstGeom prst="rect">
            <a:avLst/>
          </a:prstGeom>
        </p:spPr>
      </p:pic>
      <p:sp>
        <p:nvSpPr>
          <p:cNvPr id="8" name="流程图: 可选过程 7">
            <a:extLst>
              <a:ext uri="{FF2B5EF4-FFF2-40B4-BE49-F238E27FC236}">
                <a16:creationId xmlns:a16="http://schemas.microsoft.com/office/drawing/2014/main" id="{07505C4F-1B0F-4DC1-AD7D-AEC92D5EA932}"/>
              </a:ext>
            </a:extLst>
          </p:cNvPr>
          <p:cNvSpPr/>
          <p:nvPr/>
        </p:nvSpPr>
        <p:spPr>
          <a:xfrm>
            <a:off x="510048" y="3488696"/>
            <a:ext cx="7060248" cy="1329741"/>
          </a:xfrm>
          <a:prstGeom prst="flowChartAlternateProcess">
            <a:avLst/>
          </a:prstGeom>
          <a:solidFill>
            <a:schemeClr val="accent4">
              <a:lumMod val="40000"/>
              <a:lumOff val="60000"/>
            </a:schemeClr>
          </a:solidFill>
          <a:ln>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形 10" descr="灯泡和齿轮 纯色填充">
            <a:extLst>
              <a:ext uri="{FF2B5EF4-FFF2-40B4-BE49-F238E27FC236}">
                <a16:creationId xmlns:a16="http://schemas.microsoft.com/office/drawing/2014/main" id="{C9CB4733-F45C-4D8D-8E4F-23703B667A7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0048" y="3658416"/>
            <a:ext cx="990300" cy="990300"/>
          </a:xfrm>
          <a:prstGeom prst="rect">
            <a:avLst/>
          </a:prstGeom>
        </p:spPr>
      </p:pic>
      <p:sp>
        <p:nvSpPr>
          <p:cNvPr id="10" name="文本框 9">
            <a:extLst>
              <a:ext uri="{FF2B5EF4-FFF2-40B4-BE49-F238E27FC236}">
                <a16:creationId xmlns:a16="http://schemas.microsoft.com/office/drawing/2014/main" id="{5E90FCA1-1BB9-4BFC-A19B-13280272210A}"/>
              </a:ext>
            </a:extLst>
          </p:cNvPr>
          <p:cNvSpPr txBox="1"/>
          <p:nvPr/>
        </p:nvSpPr>
        <p:spPr>
          <a:xfrm>
            <a:off x="1194619" y="3433443"/>
            <a:ext cx="6614650" cy="1384995"/>
          </a:xfrm>
          <a:prstGeom prst="rect">
            <a:avLst/>
          </a:prstGeom>
          <a:noFill/>
        </p:spPr>
        <p:txBody>
          <a:bodyPr wrap="square" rtlCol="0">
            <a:spAutoFit/>
          </a:bodyPr>
          <a:lstStyle/>
          <a:p>
            <a:pPr marL="457200" indent="-457200">
              <a:buFont typeface="Wingdings" panose="05000000000000000000" pitchFamily="2" charset="2"/>
              <a:buChar char="l"/>
            </a:pPr>
            <a:r>
              <a:rPr lang="en-US" altLang="zh-CN" sz="2400" i="1" u="sng" kern="1200" dirty="0">
                <a:solidFill>
                  <a:srgbClr val="C00000"/>
                </a:solidFill>
                <a:effectLst/>
                <a:latin typeface="Calibri" panose="020F0502020204030204" pitchFamily="34" charset="0"/>
                <a:ea typeface="Calibri" panose="020F0502020204030204" pitchFamily="34" charset="0"/>
                <a:cs typeface="宋体" panose="02010600030101010101" pitchFamily="2" charset="-122"/>
              </a:rPr>
              <a:t>A</a:t>
            </a:r>
            <a:r>
              <a:rPr lang="en-US" altLang="zh-CN" sz="2400" i="1" kern="1200" dirty="0">
                <a:solidFill>
                  <a:srgbClr val="C00000"/>
                </a:solidFill>
                <a:effectLst/>
                <a:latin typeface="Calibri" panose="020F0502020204030204" pitchFamily="34" charset="0"/>
                <a:ea typeface="Calibri" panose="020F0502020204030204" pitchFamily="34" charset="0"/>
                <a:cs typeface="宋体" panose="02010600030101010101" pitchFamily="2" charset="-122"/>
              </a:rPr>
              <a:t>tomic </a:t>
            </a:r>
            <a:r>
              <a:rPr lang="en-US" altLang="zh-CN" sz="2400" i="1" u="sng" kern="1200" dirty="0">
                <a:solidFill>
                  <a:srgbClr val="C00000"/>
                </a:solidFill>
                <a:effectLst/>
                <a:latin typeface="Calibri" panose="020F0502020204030204" pitchFamily="34" charset="0"/>
                <a:ea typeface="Calibri" panose="020F0502020204030204" pitchFamily="34" charset="0"/>
                <a:cs typeface="宋体" panose="02010600030101010101" pitchFamily="2" charset="-122"/>
              </a:rPr>
              <a:t>E</a:t>
            </a:r>
            <a:r>
              <a:rPr lang="en-US" altLang="zh-CN" sz="2400" i="1" kern="1200" dirty="0">
                <a:solidFill>
                  <a:srgbClr val="C00000"/>
                </a:solidFill>
                <a:effectLst/>
                <a:latin typeface="Calibri" panose="020F0502020204030204" pitchFamily="34" charset="0"/>
                <a:ea typeface="Calibri" panose="020F0502020204030204" pitchFamily="34" charset="0"/>
                <a:cs typeface="宋体" panose="02010600030101010101" pitchFamily="2" charset="-122"/>
              </a:rPr>
              <a:t>xecution </a:t>
            </a:r>
            <a:r>
              <a:rPr lang="en-US" altLang="zh-CN" sz="2400" i="1" u="sng" kern="1200" dirty="0">
                <a:solidFill>
                  <a:srgbClr val="C00000"/>
                </a:solidFill>
                <a:effectLst/>
                <a:latin typeface="Calibri" panose="020F0502020204030204" pitchFamily="34" charset="0"/>
                <a:ea typeface="Calibri" panose="020F0502020204030204" pitchFamily="34" charset="0"/>
                <a:cs typeface="宋体" panose="02010600030101010101" pitchFamily="2" charset="-122"/>
              </a:rPr>
              <a:t>P</a:t>
            </a:r>
            <a:r>
              <a:rPr lang="en-US" altLang="zh-CN" sz="2400" i="1" kern="1200" dirty="0">
                <a:solidFill>
                  <a:srgbClr val="C00000"/>
                </a:solidFill>
                <a:effectLst/>
                <a:latin typeface="Calibri" panose="020F0502020204030204" pitchFamily="34" charset="0"/>
                <a:ea typeface="Calibri" panose="020F0502020204030204" pitchFamily="34" charset="0"/>
                <a:cs typeface="宋体" panose="02010600030101010101" pitchFamily="2" charset="-122"/>
              </a:rPr>
              <a:t>rotection (AEP)</a:t>
            </a:r>
          </a:p>
          <a:p>
            <a:pPr marL="800100" lvl="1" indent="-342900">
              <a:buFont typeface="Wingdings" panose="05000000000000000000" pitchFamily="2" charset="2"/>
              <a:buChar char="Ø"/>
            </a:pPr>
            <a:r>
              <a:rPr lang="en-US" altLang="zh-CN" sz="2000" kern="1200" dirty="0">
                <a:effectLst/>
                <a:latin typeface="Calibri" panose="020F0502020204030204" pitchFamily="34" charset="0"/>
                <a:ea typeface="Calibri" panose="020F0502020204030204" pitchFamily="34" charset="0"/>
                <a:cs typeface="宋体" panose="02010600030101010101" pitchFamily="2" charset="-122"/>
              </a:rPr>
              <a:t>A novel kernel semantic </a:t>
            </a:r>
          </a:p>
          <a:p>
            <a:pPr marL="800100" lvl="1" indent="-342900">
              <a:buFont typeface="Wingdings" panose="05000000000000000000" pitchFamily="2" charset="2"/>
              <a:buChar char="Ø"/>
            </a:pPr>
            <a:r>
              <a:rPr lang="en-US" altLang="zh-CN" sz="2000" dirty="0">
                <a:latin typeface="Calibri" panose="020F0502020204030204" pitchFamily="34" charset="0"/>
                <a:ea typeface="Calibri" panose="020F0502020204030204" pitchFamily="34" charset="0"/>
                <a:cs typeface="宋体" panose="02010600030101010101" pitchFamily="2" charset="-122"/>
              </a:rPr>
              <a:t>Provide atomicity for </a:t>
            </a:r>
            <a:r>
              <a:rPr lang="en-US" altLang="zh-CN" sz="2000" dirty="0">
                <a:solidFill>
                  <a:srgbClr val="C00000"/>
                </a:solidFill>
                <a:latin typeface="Calibri" panose="020F0502020204030204" pitchFamily="34" charset="0"/>
                <a:ea typeface="Calibri" panose="020F0502020204030204" pitchFamily="34" charset="0"/>
                <a:cs typeface="宋体" panose="02010600030101010101" pitchFamily="2" charset="-122"/>
              </a:rPr>
              <a:t>user-space </a:t>
            </a:r>
            <a:r>
              <a:rPr lang="en-US" altLang="zh-CN" sz="2000" dirty="0">
                <a:latin typeface="Calibri" panose="020F0502020204030204" pitchFamily="34" charset="0"/>
                <a:ea typeface="Calibri" panose="020F0502020204030204" pitchFamily="34" charset="0"/>
                <a:cs typeface="宋体" panose="02010600030101010101" pitchFamily="2" charset="-122"/>
              </a:rPr>
              <a:t>f</a:t>
            </a:r>
            <a:r>
              <a:rPr lang="en-US" altLang="zh-CN" sz="2000" kern="1200" dirty="0">
                <a:effectLst/>
                <a:latin typeface="Calibri" panose="020F0502020204030204" pitchFamily="34" charset="0"/>
                <a:ea typeface="Calibri" panose="020F0502020204030204" pitchFamily="34" charset="0"/>
                <a:cs typeface="宋体" panose="02010600030101010101" pitchFamily="2" charset="-122"/>
              </a:rPr>
              <a:t>unction-level</a:t>
            </a:r>
            <a:r>
              <a:rPr lang="en-US" altLang="zh-CN" sz="2000" dirty="0">
                <a:latin typeface="Calibri" panose="020F0502020204030204" pitchFamily="34" charset="0"/>
                <a:ea typeface="Calibri" panose="020F0502020204030204" pitchFamily="34" charset="0"/>
                <a:cs typeface="宋体" panose="02010600030101010101" pitchFamily="2" charset="-122"/>
              </a:rPr>
              <a:t> code</a:t>
            </a:r>
          </a:p>
          <a:p>
            <a:pPr marL="800100" lvl="1" indent="-342900">
              <a:buFont typeface="Wingdings" panose="05000000000000000000" pitchFamily="2" charset="2"/>
              <a:buChar char="Ø"/>
            </a:pPr>
            <a:r>
              <a:rPr lang="en-US" altLang="zh-CN" sz="2000" dirty="0">
                <a:solidFill>
                  <a:srgbClr val="C00000"/>
                </a:solidFill>
                <a:latin typeface="Calibri" panose="020F0502020204030204" pitchFamily="34" charset="0"/>
                <a:ea typeface="Calibri" panose="020F0502020204030204" pitchFamily="34" charset="0"/>
                <a:cs typeface="宋体" panose="02010600030101010101" pitchFamily="2" charset="-122"/>
              </a:rPr>
              <a:t>Fast path:</a:t>
            </a:r>
            <a:r>
              <a:rPr lang="en-US" altLang="zh-CN" sz="2000" dirty="0">
                <a:latin typeface="Calibri" panose="020F0502020204030204" pitchFamily="34" charset="0"/>
                <a:ea typeface="Calibri" panose="020F0502020204030204" pitchFamily="34" charset="0"/>
                <a:cs typeface="宋体" panose="02010600030101010101" pitchFamily="2" charset="-122"/>
              </a:rPr>
              <a:t> no memory fence, flush, context switch!</a:t>
            </a:r>
          </a:p>
        </p:txBody>
      </p:sp>
      <p:pic>
        <p:nvPicPr>
          <p:cNvPr id="15" name="图片 14">
            <a:extLst>
              <a:ext uri="{FF2B5EF4-FFF2-40B4-BE49-F238E27FC236}">
                <a16:creationId xmlns:a16="http://schemas.microsoft.com/office/drawing/2014/main" id="{F3845740-F8E9-4C1D-81FA-C461447B718B}"/>
              </a:ext>
            </a:extLst>
          </p:cNvPr>
          <p:cNvPicPr>
            <a:picLocks noChangeAspect="1"/>
          </p:cNvPicPr>
          <p:nvPr/>
        </p:nvPicPr>
        <p:blipFill>
          <a:blip r:embed="rId6"/>
          <a:stretch>
            <a:fillRect/>
          </a:stretch>
        </p:blipFill>
        <p:spPr>
          <a:xfrm>
            <a:off x="582211" y="5290068"/>
            <a:ext cx="7017929" cy="1432980"/>
          </a:xfrm>
          <a:prstGeom prst="rect">
            <a:avLst/>
          </a:prstGeom>
        </p:spPr>
      </p:pic>
      <p:sp>
        <p:nvSpPr>
          <p:cNvPr id="16" name="等腰三角形 15">
            <a:extLst>
              <a:ext uri="{FF2B5EF4-FFF2-40B4-BE49-F238E27FC236}">
                <a16:creationId xmlns:a16="http://schemas.microsoft.com/office/drawing/2014/main" id="{0D045DC9-6393-40F8-BA2E-618F34CDB8CA}"/>
              </a:ext>
            </a:extLst>
          </p:cNvPr>
          <p:cNvSpPr/>
          <p:nvPr/>
        </p:nvSpPr>
        <p:spPr>
          <a:xfrm rot="10800000">
            <a:off x="2717310" y="3098377"/>
            <a:ext cx="2747730" cy="335065"/>
          </a:xfrm>
          <a:prstGeom prst="triangle">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a:extLst>
              <a:ext uri="{FF2B5EF4-FFF2-40B4-BE49-F238E27FC236}">
                <a16:creationId xmlns:a16="http://schemas.microsoft.com/office/drawing/2014/main" id="{13919A8B-0BDB-406F-A26D-69059F88F53D}"/>
              </a:ext>
            </a:extLst>
          </p:cNvPr>
          <p:cNvSpPr/>
          <p:nvPr/>
        </p:nvSpPr>
        <p:spPr>
          <a:xfrm rot="10800000">
            <a:off x="2722107" y="4898319"/>
            <a:ext cx="2747730" cy="335065"/>
          </a:xfrm>
          <a:prstGeom prst="triangle">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4B8201D2-B56E-4742-AE44-4E4AD658C093}"/>
              </a:ext>
            </a:extLst>
          </p:cNvPr>
          <p:cNvSpPr txBox="1"/>
          <p:nvPr/>
        </p:nvSpPr>
        <p:spPr>
          <a:xfrm>
            <a:off x="918136" y="4997559"/>
            <a:ext cx="2502075" cy="369332"/>
          </a:xfrm>
          <a:prstGeom prst="rect">
            <a:avLst/>
          </a:prstGeom>
          <a:noFill/>
        </p:spPr>
        <p:txBody>
          <a:bodyPr wrap="square" rtlCol="0">
            <a:spAutoFit/>
          </a:bodyPr>
          <a:lstStyle/>
          <a:p>
            <a:r>
              <a:rPr lang="en-US" altLang="zh-CN" b="1" kern="1200" dirty="0">
                <a:solidFill>
                  <a:schemeClr val="accent2">
                    <a:lumMod val="75000"/>
                  </a:schemeClr>
                </a:solidFill>
                <a:effectLst/>
                <a:latin typeface="Calibri" panose="020F0502020204030204" pitchFamily="34" charset="0"/>
                <a:ea typeface="Calibri" panose="020F0502020204030204" pitchFamily="34" charset="0"/>
                <a:cs typeface="宋体" panose="02010600030101010101" pitchFamily="2" charset="-122"/>
              </a:rPr>
              <a:t>Flat DSM management</a:t>
            </a:r>
            <a:endParaRPr lang="en-US" altLang="zh-CN" sz="1600" b="1" kern="1200" dirty="0">
              <a:solidFill>
                <a:schemeClr val="accent2">
                  <a:lumMod val="75000"/>
                </a:schemeClr>
              </a:solidFill>
              <a:effectLst/>
              <a:latin typeface="Calibri" panose="020F0502020204030204" pitchFamily="34" charset="0"/>
              <a:ea typeface="Calibri" panose="020F0502020204030204" pitchFamily="34" charset="0"/>
              <a:cs typeface="宋体" panose="02010600030101010101" pitchFamily="2" charset="-122"/>
            </a:endParaRPr>
          </a:p>
        </p:txBody>
      </p:sp>
      <p:sp>
        <p:nvSpPr>
          <p:cNvPr id="20" name="文本框 19">
            <a:extLst>
              <a:ext uri="{FF2B5EF4-FFF2-40B4-BE49-F238E27FC236}">
                <a16:creationId xmlns:a16="http://schemas.microsoft.com/office/drawing/2014/main" id="{8EDA81DF-D2A5-4518-8CF8-401595C28493}"/>
              </a:ext>
            </a:extLst>
          </p:cNvPr>
          <p:cNvSpPr txBox="1"/>
          <p:nvPr/>
        </p:nvSpPr>
        <p:spPr>
          <a:xfrm>
            <a:off x="4565098" y="4997559"/>
            <a:ext cx="3281340" cy="369332"/>
          </a:xfrm>
          <a:prstGeom prst="rect">
            <a:avLst/>
          </a:prstGeom>
          <a:noFill/>
        </p:spPr>
        <p:txBody>
          <a:bodyPr wrap="square" rtlCol="0">
            <a:spAutoFit/>
          </a:bodyPr>
          <a:lstStyle/>
          <a:p>
            <a:r>
              <a:rPr lang="en-US" altLang="zh-CN" b="1" kern="1200" dirty="0">
                <a:solidFill>
                  <a:schemeClr val="accent2">
                    <a:lumMod val="75000"/>
                  </a:schemeClr>
                </a:solidFill>
                <a:effectLst/>
                <a:latin typeface="Calibri" panose="020F0502020204030204" pitchFamily="34" charset="0"/>
                <a:ea typeface="Calibri" panose="020F0502020204030204" pitchFamily="34" charset="0"/>
                <a:cs typeface="宋体" panose="02010600030101010101" pitchFamily="2" charset="-122"/>
              </a:rPr>
              <a:t>Hierarchical DSM management</a:t>
            </a:r>
            <a:endParaRPr lang="en-US" altLang="zh-CN" sz="1600" b="1" kern="1200" dirty="0">
              <a:solidFill>
                <a:schemeClr val="accent2">
                  <a:lumMod val="75000"/>
                </a:schemeClr>
              </a:solidFill>
              <a:effectLst/>
              <a:latin typeface="Calibri" panose="020F0502020204030204" pitchFamily="34" charset="0"/>
              <a:ea typeface="Calibri" panose="020F0502020204030204" pitchFamily="34" charset="0"/>
              <a:cs typeface="宋体" panose="02010600030101010101" pitchFamily="2" charset="-122"/>
            </a:endParaRPr>
          </a:p>
        </p:txBody>
      </p:sp>
    </p:spTree>
    <p:extLst>
      <p:ext uri="{BB962C8B-B14F-4D97-AF65-F5344CB8AC3E}">
        <p14:creationId xmlns:p14="http://schemas.microsoft.com/office/powerpoint/2010/main" val="3976811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9893465"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Key Design Elements of AEP</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a:extLst>
              <a:ext uri="{FF2B5EF4-FFF2-40B4-BE49-F238E27FC236}">
                <a16:creationId xmlns:a16="http://schemas.microsoft.com/office/drawing/2014/main" id="{FE72B010-4097-44F6-A7CA-7DFEBE7227EB}"/>
              </a:ext>
            </a:extLst>
          </p:cNvPr>
          <p:cNvSpPr txBox="1"/>
          <p:nvPr/>
        </p:nvSpPr>
        <p:spPr>
          <a:xfrm>
            <a:off x="316106" y="1823825"/>
            <a:ext cx="11682690" cy="523220"/>
          </a:xfrm>
          <a:prstGeom prst="rect">
            <a:avLst/>
          </a:prstGeom>
          <a:noFill/>
        </p:spPr>
        <p:txBody>
          <a:bodyPr wrap="square" rtlCol="0">
            <a:spAutoFit/>
          </a:bodyPr>
          <a:lstStyle/>
          <a:p>
            <a:r>
              <a:rPr lang="en-US" altLang="zh-CN" sz="2800" b="1" kern="1200" dirty="0">
                <a:effectLst/>
                <a:latin typeface="Calibri" panose="020F0502020204030204" pitchFamily="34" charset="0"/>
                <a:ea typeface="Calibri" panose="020F0502020204030204" pitchFamily="34" charset="0"/>
                <a:cs typeface="宋体" panose="02010600030101010101" pitchFamily="2" charset="-122"/>
              </a:rPr>
              <a:t>AEP: </a:t>
            </a:r>
            <a:r>
              <a:rPr lang="en-US" altLang="zh-CN" sz="2800" kern="1200" dirty="0">
                <a:effectLst/>
                <a:latin typeface="Calibri" panose="020F0502020204030204" pitchFamily="34" charset="0"/>
                <a:ea typeface="Calibri" panose="020F0502020204030204" pitchFamily="34" charset="0"/>
                <a:cs typeface="宋体" panose="02010600030101010101" pitchFamily="2" charset="-122"/>
              </a:rPr>
              <a:t>efficient intra-node fault tolerance without log or distributed coordination</a:t>
            </a:r>
          </a:p>
        </p:txBody>
      </p:sp>
      <p:pic>
        <p:nvPicPr>
          <p:cNvPr id="6" name="图片 5">
            <a:extLst>
              <a:ext uri="{FF2B5EF4-FFF2-40B4-BE49-F238E27FC236}">
                <a16:creationId xmlns:a16="http://schemas.microsoft.com/office/drawing/2014/main" id="{897DA10B-BD7D-4B2E-9821-C49A06BC4020}"/>
              </a:ext>
            </a:extLst>
          </p:cNvPr>
          <p:cNvPicPr>
            <a:picLocks noChangeAspect="1"/>
          </p:cNvPicPr>
          <p:nvPr/>
        </p:nvPicPr>
        <p:blipFill>
          <a:blip r:embed="rId3"/>
          <a:stretch>
            <a:fillRect/>
          </a:stretch>
        </p:blipFill>
        <p:spPr>
          <a:xfrm>
            <a:off x="769619" y="2625388"/>
            <a:ext cx="6688535" cy="3771135"/>
          </a:xfrm>
          <a:prstGeom prst="rect">
            <a:avLst/>
          </a:prstGeom>
        </p:spPr>
      </p:pic>
      <p:sp>
        <p:nvSpPr>
          <p:cNvPr id="9" name="矩形: 圆角 8">
            <a:extLst>
              <a:ext uri="{FF2B5EF4-FFF2-40B4-BE49-F238E27FC236}">
                <a16:creationId xmlns:a16="http://schemas.microsoft.com/office/drawing/2014/main" id="{D01C207D-8F6E-4DBD-9CEA-80056F230937}"/>
              </a:ext>
            </a:extLst>
          </p:cNvPr>
          <p:cNvSpPr/>
          <p:nvPr/>
        </p:nvSpPr>
        <p:spPr>
          <a:xfrm>
            <a:off x="7772401" y="2794819"/>
            <a:ext cx="3908322" cy="884904"/>
          </a:xfrm>
          <a:prstGeom prst="round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i="1" u="sng" dirty="0">
                <a:latin typeface="Calibri" panose="020F0502020204030204" pitchFamily="34" charset="0"/>
                <a:ea typeface="Calibri" panose="020F0502020204030204" pitchFamily="34" charset="0"/>
                <a:cs typeface="Calibri" panose="020F0502020204030204" pitchFamily="34" charset="0"/>
              </a:rPr>
              <a:t>Context Management</a:t>
            </a:r>
          </a:p>
          <a:p>
            <a:pPr algn="ctr"/>
            <a:r>
              <a:rPr lang="en-US" altLang="zh-CN" b="1" dirty="0">
                <a:latin typeface="Calibri" panose="020F0502020204030204" pitchFamily="34" charset="0"/>
                <a:ea typeface="Calibri" panose="020F0502020204030204" pitchFamily="34" charset="0"/>
                <a:cs typeface="Calibri" panose="020F0502020204030204" pitchFamily="34" charset="0"/>
              </a:rPr>
              <a:t>Atomic running environment for AEP programs</a:t>
            </a:r>
            <a:endParaRPr lang="zh-CN" altLang="en-US" b="1" dirty="0">
              <a:latin typeface="Calibri" panose="020F0502020204030204" pitchFamily="34" charset="0"/>
              <a:cs typeface="Calibri" panose="020F0502020204030204" pitchFamily="34" charset="0"/>
            </a:endParaRPr>
          </a:p>
        </p:txBody>
      </p:sp>
      <p:sp>
        <p:nvSpPr>
          <p:cNvPr id="18" name="矩形: 圆角 17">
            <a:extLst>
              <a:ext uri="{FF2B5EF4-FFF2-40B4-BE49-F238E27FC236}">
                <a16:creationId xmlns:a16="http://schemas.microsoft.com/office/drawing/2014/main" id="{7CAEA307-C0C8-4914-9272-FF326FA82038}"/>
              </a:ext>
            </a:extLst>
          </p:cNvPr>
          <p:cNvSpPr/>
          <p:nvPr/>
        </p:nvSpPr>
        <p:spPr>
          <a:xfrm>
            <a:off x="7772401" y="5342187"/>
            <a:ext cx="3908322" cy="884904"/>
          </a:xfrm>
          <a:prstGeom prst="roundRect">
            <a:avLst/>
          </a:prstGeom>
          <a:solidFill>
            <a:srgbClr val="8FAADC"/>
          </a:solidFill>
          <a:ln>
            <a:solidFill>
              <a:srgbClr val="8FAA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i="1" u="sng" dirty="0">
                <a:latin typeface="Calibri" panose="020F0502020204030204" pitchFamily="34" charset="0"/>
                <a:ea typeface="Calibri" panose="020F0502020204030204" pitchFamily="34" charset="0"/>
                <a:cs typeface="Calibri" panose="020F0502020204030204" pitchFamily="34" charset="0"/>
              </a:rPr>
              <a:t>Address Management</a:t>
            </a:r>
          </a:p>
          <a:p>
            <a:pPr algn="ctr"/>
            <a:r>
              <a:rPr lang="en-US" altLang="zh-CN" b="1" dirty="0">
                <a:latin typeface="Calibri" panose="020F0502020204030204" pitchFamily="34" charset="0"/>
                <a:ea typeface="Calibri" panose="020F0502020204030204" pitchFamily="34" charset="0"/>
                <a:cs typeface="Calibri" panose="020F0502020204030204" pitchFamily="34" charset="0"/>
              </a:rPr>
              <a:t>Tenant isolation, intra-tenant sharing</a:t>
            </a:r>
            <a:endParaRPr lang="zh-CN" altLang="en-US" b="1" dirty="0">
              <a:latin typeface="Calibri" panose="020F0502020204030204" pitchFamily="34" charset="0"/>
              <a:cs typeface="Calibri" panose="020F0502020204030204" pitchFamily="34" charset="0"/>
            </a:endParaRPr>
          </a:p>
        </p:txBody>
      </p:sp>
      <p:sp>
        <p:nvSpPr>
          <p:cNvPr id="21" name="矩形: 圆角 20">
            <a:extLst>
              <a:ext uri="{FF2B5EF4-FFF2-40B4-BE49-F238E27FC236}">
                <a16:creationId xmlns:a16="http://schemas.microsoft.com/office/drawing/2014/main" id="{C80DD77D-F0B8-413C-9DA6-ECEFE16DC77A}"/>
              </a:ext>
            </a:extLst>
          </p:cNvPr>
          <p:cNvSpPr/>
          <p:nvPr/>
        </p:nvSpPr>
        <p:spPr>
          <a:xfrm>
            <a:off x="7772401" y="4068503"/>
            <a:ext cx="3908322" cy="884904"/>
          </a:xfrm>
          <a:prstGeom prst="roundRect">
            <a:avLst/>
          </a:prstGeom>
          <a:solidFill>
            <a:srgbClr val="FFF2CC"/>
          </a:solidFill>
          <a:ln w="28575">
            <a:solidFill>
              <a:srgbClr val="BF9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i="1" u="sng" dirty="0">
                <a:solidFill>
                  <a:schemeClr val="tx1"/>
                </a:solidFill>
                <a:latin typeface="Calibri" panose="020F0502020204030204" pitchFamily="34" charset="0"/>
                <a:ea typeface="Calibri" panose="020F0502020204030204" pitchFamily="34" charset="0"/>
                <a:cs typeface="Calibri" panose="020F0502020204030204" pitchFamily="34" charset="0"/>
              </a:rPr>
              <a:t>Runtime Management</a:t>
            </a:r>
          </a:p>
          <a:p>
            <a:pPr algn="ctr"/>
            <a:r>
              <a:rPr lang="en-US" altLang="zh-CN" dirty="0">
                <a:solidFill>
                  <a:schemeClr val="tx1"/>
                </a:solidFill>
                <a:latin typeface="Calibri" panose="020F0502020204030204" pitchFamily="34" charset="0"/>
                <a:ea typeface="Calibri" panose="020F0502020204030204" pitchFamily="34" charset="0"/>
                <a:cs typeface="Calibri" panose="020F0502020204030204" pitchFamily="34" charset="0"/>
              </a:rPr>
              <a:t>AEP program development, compilation, and loading</a:t>
            </a:r>
          </a:p>
        </p:txBody>
      </p:sp>
    </p:spTree>
    <p:extLst>
      <p:ext uri="{BB962C8B-B14F-4D97-AF65-F5344CB8AC3E}">
        <p14:creationId xmlns:p14="http://schemas.microsoft.com/office/powerpoint/2010/main" val="691171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9893465"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AEP Context </a:t>
            </a:r>
            <a:r>
              <a:rPr lang="en-US" altLang="zh-CN" sz="44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rPr>
              <a:t>M</a:t>
            </a:r>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anagement: Shadow Entry</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a:extLst>
              <a:ext uri="{FF2B5EF4-FFF2-40B4-BE49-F238E27FC236}">
                <a16:creationId xmlns:a16="http://schemas.microsoft.com/office/drawing/2014/main" id="{FE72B010-4097-44F6-A7CA-7DFEBE7227EB}"/>
              </a:ext>
            </a:extLst>
          </p:cNvPr>
          <p:cNvSpPr txBox="1"/>
          <p:nvPr/>
        </p:nvSpPr>
        <p:spPr>
          <a:xfrm>
            <a:off x="769619" y="1644444"/>
            <a:ext cx="11682690" cy="523220"/>
          </a:xfrm>
          <a:prstGeom prst="rect">
            <a:avLst/>
          </a:prstGeom>
          <a:noFill/>
        </p:spPr>
        <p:txBody>
          <a:bodyPr wrap="square" rtlCol="0">
            <a:spAutoFit/>
          </a:bodyPr>
          <a:lstStyle/>
          <a:p>
            <a:r>
              <a:rPr lang="en-US" altLang="zh-CN" sz="2800" b="1" i="1" u="sng" dirty="0">
                <a:solidFill>
                  <a:srgbClr val="C00000"/>
                </a:solidFill>
                <a:latin typeface="Calibri" panose="020F0502020204030204" pitchFamily="34" charset="0"/>
                <a:ea typeface="Calibri" panose="020F0502020204030204" pitchFamily="34" charset="0"/>
                <a:cs typeface="宋体" panose="02010600030101010101" pitchFamily="2" charset="-122"/>
              </a:rPr>
              <a:t>Challenge</a:t>
            </a:r>
            <a:r>
              <a:rPr lang="en-US" altLang="zh-CN" sz="2800" b="1" i="1" u="sng" kern="1200" dirty="0">
                <a:solidFill>
                  <a:srgbClr val="C00000"/>
                </a:solidFill>
                <a:effectLst/>
                <a:latin typeface="Calibri" panose="020F0502020204030204" pitchFamily="34" charset="0"/>
                <a:ea typeface="Calibri" panose="020F0502020204030204" pitchFamily="34" charset="0"/>
                <a:cs typeface="宋体" panose="02010600030101010101" pitchFamily="2" charset="-122"/>
              </a:rPr>
              <a:t>:</a:t>
            </a:r>
            <a:r>
              <a:rPr lang="en-US" altLang="zh-CN" sz="2800" b="1" i="1" u="sng" kern="1200" dirty="0">
                <a:effectLst/>
                <a:latin typeface="Calibri" panose="020F0502020204030204" pitchFamily="34" charset="0"/>
                <a:ea typeface="Calibri" panose="020F0502020204030204" pitchFamily="34" charset="0"/>
                <a:cs typeface="宋体" panose="02010600030101010101" pitchFamily="2" charset="-122"/>
              </a:rPr>
              <a:t> How can the kernel detect user-level function completion? </a:t>
            </a:r>
          </a:p>
        </p:txBody>
      </p:sp>
      <p:sp>
        <p:nvSpPr>
          <p:cNvPr id="10" name="文本框 9">
            <a:extLst>
              <a:ext uri="{FF2B5EF4-FFF2-40B4-BE49-F238E27FC236}">
                <a16:creationId xmlns:a16="http://schemas.microsoft.com/office/drawing/2014/main" id="{01E2834C-7D68-45F9-9EAD-FA0F0FAD2C99}"/>
              </a:ext>
            </a:extLst>
          </p:cNvPr>
          <p:cNvSpPr txBox="1"/>
          <p:nvPr/>
        </p:nvSpPr>
        <p:spPr>
          <a:xfrm>
            <a:off x="6972300" y="4924561"/>
            <a:ext cx="4429187" cy="2431435"/>
          </a:xfrm>
          <a:prstGeom prst="rect">
            <a:avLst/>
          </a:prstGeom>
          <a:noFill/>
        </p:spPr>
        <p:txBody>
          <a:bodyPr wrap="square" rtlCol="0">
            <a:spAutoFit/>
          </a:bodyPr>
          <a:lstStyle/>
          <a:p>
            <a:r>
              <a:rPr lang="en-US" altLang="zh-CN" sz="2800" b="1" dirty="0">
                <a:solidFill>
                  <a:schemeClr val="accent6">
                    <a:lumMod val="75000"/>
                  </a:schemeClr>
                </a:solidFill>
                <a:latin typeface="Calibri" panose="020F0502020204030204" pitchFamily="34" charset="0"/>
                <a:ea typeface="Calibri" panose="020F0502020204030204" pitchFamily="34" charset="0"/>
                <a:cs typeface="宋体" panose="02010600030101010101" pitchFamily="2" charset="-122"/>
              </a:rPr>
              <a:t>Solution</a:t>
            </a:r>
            <a:r>
              <a:rPr lang="en-US" altLang="zh-CN" sz="2800" b="1" kern="1200" dirty="0">
                <a:solidFill>
                  <a:schemeClr val="accent6">
                    <a:lumMod val="75000"/>
                  </a:schemeClr>
                </a:solidFill>
                <a:effectLst/>
                <a:latin typeface="Calibri" panose="020F0502020204030204" pitchFamily="34" charset="0"/>
                <a:ea typeface="Calibri" panose="020F0502020204030204" pitchFamily="34" charset="0"/>
                <a:cs typeface="宋体" panose="02010600030101010101" pitchFamily="2" charset="-122"/>
              </a:rPr>
              <a:t>: </a:t>
            </a:r>
            <a:r>
              <a:rPr lang="en-US" altLang="zh-CN" sz="2800" b="1" dirty="0">
                <a:latin typeface="Calibri" panose="020F0502020204030204" pitchFamily="34" charset="0"/>
                <a:ea typeface="Calibri" panose="020F0502020204030204" pitchFamily="34" charset="0"/>
                <a:cs typeface="宋体" panose="02010600030101010101" pitchFamily="2" charset="-122"/>
              </a:rPr>
              <a:t>Shadow entry</a:t>
            </a:r>
          </a:p>
          <a:p>
            <a:pPr marL="342900" indent="-342900">
              <a:buFont typeface="Wingdings" panose="05000000000000000000" pitchFamily="2" charset="2"/>
              <a:buChar char="ü"/>
            </a:pPr>
            <a:r>
              <a:rPr lang="en-US" altLang="zh-CN" sz="2400" dirty="0">
                <a:latin typeface="Calibri" panose="020F0502020204030204" pitchFamily="34" charset="0"/>
                <a:ea typeface="Calibri" panose="020F0502020204030204" pitchFamily="34" charset="0"/>
                <a:cs typeface="宋体" panose="02010600030101010101" pitchFamily="2" charset="-122"/>
              </a:rPr>
              <a:t>RIP check</a:t>
            </a:r>
          </a:p>
          <a:p>
            <a:pPr marL="342900" indent="-342900">
              <a:buFont typeface="Wingdings" panose="05000000000000000000" pitchFamily="2" charset="2"/>
              <a:buChar char="ü"/>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Unmap function entry</a:t>
            </a:r>
          </a:p>
          <a:p>
            <a:pPr marL="342900" indent="-342900">
              <a:buFont typeface="Wingdings" panose="05000000000000000000" pitchFamily="2" charset="2"/>
              <a:buChar char="ü"/>
            </a:pPr>
            <a:r>
              <a:rPr lang="en-US" altLang="zh-CN" sz="2400" dirty="0">
                <a:latin typeface="Calibri" panose="020F0502020204030204" pitchFamily="34" charset="0"/>
                <a:ea typeface="Calibri" panose="020F0502020204030204" pitchFamily="34" charset="0"/>
                <a:cs typeface="宋体" panose="02010600030101010101" pitchFamily="2" charset="-122"/>
              </a:rPr>
              <a:t>Return &amp; continue</a:t>
            </a:r>
            <a:endParaRPr lang="en-US" altLang="zh-CN" sz="2400" kern="1200" dirty="0">
              <a:effectLst/>
              <a:latin typeface="Calibri" panose="020F0502020204030204" pitchFamily="34" charset="0"/>
              <a:ea typeface="Calibri" panose="020F0502020204030204" pitchFamily="34" charset="0"/>
              <a:cs typeface="宋体" panose="02010600030101010101" pitchFamily="2" charset="-122"/>
            </a:endParaRPr>
          </a:p>
          <a:p>
            <a:pPr marL="342900" indent="-342900">
              <a:buFont typeface="Wingdings" panose="05000000000000000000" pitchFamily="2" charset="2"/>
              <a:buChar char="ü"/>
            </a:pPr>
            <a:r>
              <a:rPr lang="en-US" altLang="zh-CN" sz="2400" kern="1200" dirty="0" err="1">
                <a:effectLst/>
                <a:latin typeface="Calibri" panose="020F0502020204030204" pitchFamily="34" charset="0"/>
                <a:ea typeface="Calibri" panose="020F0502020204030204" pitchFamily="34" charset="0"/>
                <a:cs typeface="宋体" panose="02010600030101010101" pitchFamily="2" charset="-122"/>
              </a:rPr>
              <a:t>Pagefault</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 &amp; kill</a:t>
            </a:r>
          </a:p>
          <a:p>
            <a:endParaRPr lang="en-US" altLang="zh-CN" sz="2800" kern="1200" dirty="0">
              <a:effectLst/>
              <a:latin typeface="Calibri" panose="020F0502020204030204" pitchFamily="34" charset="0"/>
              <a:ea typeface="Calibri" panose="020F0502020204030204" pitchFamily="34" charset="0"/>
              <a:cs typeface="宋体" panose="02010600030101010101" pitchFamily="2" charset="-122"/>
            </a:endParaRPr>
          </a:p>
        </p:txBody>
      </p:sp>
      <p:pic>
        <p:nvPicPr>
          <p:cNvPr id="3" name="图片 2">
            <a:extLst>
              <a:ext uri="{FF2B5EF4-FFF2-40B4-BE49-F238E27FC236}">
                <a16:creationId xmlns:a16="http://schemas.microsoft.com/office/drawing/2014/main" id="{FBBBBA11-340F-47F2-9C4F-E69C56403B2E}"/>
              </a:ext>
            </a:extLst>
          </p:cNvPr>
          <p:cNvPicPr>
            <a:picLocks noChangeAspect="1"/>
          </p:cNvPicPr>
          <p:nvPr/>
        </p:nvPicPr>
        <p:blipFill>
          <a:blip r:embed="rId3"/>
          <a:stretch>
            <a:fillRect/>
          </a:stretch>
        </p:blipFill>
        <p:spPr>
          <a:xfrm>
            <a:off x="6267620" y="2128326"/>
            <a:ext cx="5924380" cy="2840879"/>
          </a:xfrm>
          <a:prstGeom prst="rect">
            <a:avLst/>
          </a:prstGeom>
        </p:spPr>
      </p:pic>
      <p:sp>
        <p:nvSpPr>
          <p:cNvPr id="12" name="文本框 11">
            <a:extLst>
              <a:ext uri="{FF2B5EF4-FFF2-40B4-BE49-F238E27FC236}">
                <a16:creationId xmlns:a16="http://schemas.microsoft.com/office/drawing/2014/main" id="{F5C5789C-66CD-4CEF-96B1-22C92619A278}"/>
              </a:ext>
            </a:extLst>
          </p:cNvPr>
          <p:cNvSpPr txBox="1"/>
          <p:nvPr/>
        </p:nvSpPr>
        <p:spPr>
          <a:xfrm>
            <a:off x="769619" y="2128326"/>
            <a:ext cx="4731529" cy="1631216"/>
          </a:xfrm>
          <a:prstGeom prst="rect">
            <a:avLst/>
          </a:prstGeom>
          <a:noFill/>
        </p:spPr>
        <p:txBody>
          <a:bodyPr wrap="square" rtlCol="0">
            <a:spAutoFit/>
          </a:bodyPr>
          <a:lstStyle/>
          <a:p>
            <a:r>
              <a:rPr lang="en-US" altLang="zh-CN" sz="2800" b="1" dirty="0">
                <a:solidFill>
                  <a:schemeClr val="accent4">
                    <a:lumMod val="75000"/>
                  </a:schemeClr>
                </a:solidFill>
                <a:latin typeface="Calibri" panose="020F0502020204030204" pitchFamily="34" charset="0"/>
                <a:ea typeface="Calibri" panose="020F0502020204030204" pitchFamily="34" charset="0"/>
                <a:cs typeface="宋体" panose="02010600030101010101" pitchFamily="2" charset="-122"/>
              </a:rPr>
              <a:t>Strawman Solutions:</a:t>
            </a:r>
            <a:r>
              <a:rPr lang="en-US" altLang="zh-CN" sz="2800" b="1" kern="1200" dirty="0">
                <a:solidFill>
                  <a:schemeClr val="accent4">
                    <a:lumMod val="75000"/>
                  </a:schemeClr>
                </a:solidFill>
                <a:effectLst/>
                <a:latin typeface="Calibri" panose="020F0502020204030204" pitchFamily="34" charset="0"/>
                <a:ea typeface="Calibri" panose="020F0502020204030204" pitchFamily="34" charset="0"/>
                <a:cs typeface="宋体" panose="02010600030101010101" pitchFamily="2" charset="-122"/>
              </a:rPr>
              <a:t> </a:t>
            </a:r>
            <a:endParaRPr lang="en-US" altLang="zh-CN" sz="2800" b="1" dirty="0">
              <a:solidFill>
                <a:schemeClr val="accent4">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342900" indent="-342900">
              <a:buFont typeface="Arial" panose="020B0604020202020204" pitchFamily="34" charset="0"/>
              <a:buChar char="•"/>
            </a:pPr>
            <a:r>
              <a:rPr lang="en-US" altLang="zh-CN" sz="2400" dirty="0" err="1">
                <a:latin typeface="Calibri" panose="020F0502020204030204" pitchFamily="34" charset="0"/>
                <a:ea typeface="Calibri" panose="020F0502020204030204" pitchFamily="34" charset="0"/>
                <a:cs typeface="宋体" panose="02010600030101010101" pitchFamily="2" charset="-122"/>
              </a:rPr>
              <a:t>Uprobe</a:t>
            </a:r>
            <a:endParaRPr lang="en-US" altLang="zh-CN" sz="2400" dirty="0">
              <a:latin typeface="Calibri" panose="020F0502020204030204" pitchFamily="34" charset="0"/>
              <a:ea typeface="Calibri" panose="020F0502020204030204" pitchFamily="34" charset="0"/>
              <a:cs typeface="宋体" panose="02010600030101010101" pitchFamily="2" charset="-122"/>
            </a:endParaRPr>
          </a:p>
          <a:p>
            <a:pPr marL="342900" indent="-342900">
              <a:buFont typeface="Arial" panose="020B0604020202020204" pitchFamily="34" charset="0"/>
              <a:buChar char="•"/>
            </a:pPr>
            <a:r>
              <a:rPr lang="en-US" altLang="zh-CN" sz="2400" dirty="0">
                <a:latin typeface="Calibri" panose="020F0502020204030204" pitchFamily="34" charset="0"/>
                <a:ea typeface="Calibri" panose="020F0502020204030204" pitchFamily="34" charset="0"/>
                <a:cs typeface="宋体" panose="02010600030101010101" pitchFamily="2" charset="-122"/>
              </a:rPr>
              <a:t>Call Stack Unwinding</a:t>
            </a:r>
          </a:p>
          <a:p>
            <a:pPr marL="342900" indent="-342900">
              <a:buFont typeface="Calibri" panose="020F0502020204030204" pitchFamily="34" charset="0"/>
              <a:buChar char="ꭗ"/>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Need kernel entry</a:t>
            </a:r>
            <a:r>
              <a:rPr lang="en-US" altLang="zh-CN" sz="2400" dirty="0">
                <a:latin typeface="Calibri" panose="020F0502020204030204" pitchFamily="34" charset="0"/>
                <a:ea typeface="Calibri" panose="020F0502020204030204" pitchFamily="34" charset="0"/>
                <a:cs typeface="宋体" panose="02010600030101010101" pitchFamily="2" charset="-122"/>
              </a:rPr>
              <a:t>,</a:t>
            </a:r>
            <a:r>
              <a:rPr lang="zh-CN" altLang="en-US" sz="2400" dirty="0">
                <a:latin typeface="Calibri" panose="020F0502020204030204" pitchFamily="34" charset="0"/>
                <a:ea typeface="Calibri" panose="020F0502020204030204" pitchFamily="34" charset="0"/>
                <a:cs typeface="宋体" panose="02010600030101010101" pitchFamily="2" charset="-122"/>
              </a:rPr>
              <a:t> </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high overhead!</a:t>
            </a:r>
            <a:r>
              <a:rPr lang="zh-CN" altLang="en-US" sz="2400" kern="1200" dirty="0">
                <a:effectLst/>
                <a:latin typeface="Calibri" panose="020F0502020204030204" pitchFamily="34" charset="0"/>
                <a:ea typeface="Calibri" panose="020F0502020204030204" pitchFamily="34" charset="0"/>
                <a:cs typeface="宋体" panose="02010600030101010101" pitchFamily="2" charset="-122"/>
              </a:rPr>
              <a:t> </a:t>
            </a:r>
            <a:endParaRPr lang="en-US" altLang="zh-CN" sz="2400" kern="1200" dirty="0">
              <a:effectLst/>
              <a:latin typeface="Calibri" panose="020F0502020204030204" pitchFamily="34" charset="0"/>
              <a:ea typeface="Calibri" panose="020F0502020204030204" pitchFamily="34" charset="0"/>
              <a:cs typeface="宋体" panose="02010600030101010101" pitchFamily="2" charset="-122"/>
            </a:endParaRPr>
          </a:p>
        </p:txBody>
      </p:sp>
      <p:pic>
        <p:nvPicPr>
          <p:cNvPr id="11" name="图片 10">
            <a:extLst>
              <a:ext uri="{FF2B5EF4-FFF2-40B4-BE49-F238E27FC236}">
                <a16:creationId xmlns:a16="http://schemas.microsoft.com/office/drawing/2014/main" id="{611340F3-EB7E-4540-8040-CCEFDEE6FE33}"/>
              </a:ext>
            </a:extLst>
          </p:cNvPr>
          <p:cNvPicPr>
            <a:picLocks noChangeAspect="1"/>
          </p:cNvPicPr>
          <p:nvPr/>
        </p:nvPicPr>
        <p:blipFill>
          <a:blip r:embed="rId4"/>
          <a:stretch>
            <a:fillRect/>
          </a:stretch>
        </p:blipFill>
        <p:spPr>
          <a:xfrm>
            <a:off x="233071" y="3949404"/>
            <a:ext cx="5924380" cy="2800144"/>
          </a:xfrm>
          <a:prstGeom prst="rect">
            <a:avLst/>
          </a:prstGeom>
        </p:spPr>
      </p:pic>
      <p:sp>
        <p:nvSpPr>
          <p:cNvPr id="13" name="矩形 12">
            <a:extLst>
              <a:ext uri="{FF2B5EF4-FFF2-40B4-BE49-F238E27FC236}">
                <a16:creationId xmlns:a16="http://schemas.microsoft.com/office/drawing/2014/main" id="{33F6D52F-5DE1-4A6A-A148-ABBB434A7E68}"/>
              </a:ext>
            </a:extLst>
          </p:cNvPr>
          <p:cNvSpPr/>
          <p:nvPr/>
        </p:nvSpPr>
        <p:spPr>
          <a:xfrm>
            <a:off x="2278626" y="5243052"/>
            <a:ext cx="3878825" cy="47194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66877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流程图: 可选过程 16">
            <a:extLst>
              <a:ext uri="{FF2B5EF4-FFF2-40B4-BE49-F238E27FC236}">
                <a16:creationId xmlns:a16="http://schemas.microsoft.com/office/drawing/2014/main" id="{3CF9B61D-82EC-4D44-832E-5DF2E43A7685}"/>
              </a:ext>
            </a:extLst>
          </p:cNvPr>
          <p:cNvSpPr/>
          <p:nvPr/>
        </p:nvSpPr>
        <p:spPr>
          <a:xfrm>
            <a:off x="7499085" y="4644745"/>
            <a:ext cx="2172523" cy="836743"/>
          </a:xfrm>
          <a:prstGeom prst="flowChartAlternateProcess">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9893465"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AEP Runtime Management</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a:extLst>
              <a:ext uri="{FF2B5EF4-FFF2-40B4-BE49-F238E27FC236}">
                <a16:creationId xmlns:a16="http://schemas.microsoft.com/office/drawing/2014/main" id="{FE72B010-4097-44F6-A7CA-7DFEBE7227EB}"/>
              </a:ext>
            </a:extLst>
          </p:cNvPr>
          <p:cNvSpPr txBox="1"/>
          <p:nvPr/>
        </p:nvSpPr>
        <p:spPr>
          <a:xfrm>
            <a:off x="1519084" y="1698522"/>
            <a:ext cx="9144000" cy="523220"/>
          </a:xfrm>
          <a:prstGeom prst="rect">
            <a:avLst/>
          </a:prstGeom>
          <a:noFill/>
        </p:spPr>
        <p:txBody>
          <a:bodyPr wrap="square" rtlCol="0">
            <a:spAutoFit/>
          </a:bodyPr>
          <a:lstStyle/>
          <a:p>
            <a:r>
              <a:rPr lang="en-US" altLang="zh-CN" sz="2800" b="1" i="1" u="sng" dirty="0">
                <a:solidFill>
                  <a:srgbClr val="C00000"/>
                </a:solidFill>
                <a:latin typeface="Calibri" panose="020F0502020204030204" pitchFamily="34" charset="0"/>
                <a:ea typeface="Calibri" panose="020F0502020204030204" pitchFamily="34" charset="0"/>
                <a:cs typeface="宋体" panose="02010600030101010101" pitchFamily="2" charset="-122"/>
              </a:rPr>
              <a:t>Challenge</a:t>
            </a:r>
            <a:r>
              <a:rPr lang="en-US" altLang="zh-CN" sz="2800" b="1" i="1" u="sng" kern="1200" dirty="0">
                <a:solidFill>
                  <a:srgbClr val="C00000"/>
                </a:solidFill>
                <a:effectLst/>
                <a:latin typeface="Calibri" panose="020F0502020204030204" pitchFamily="34" charset="0"/>
                <a:ea typeface="Calibri" panose="020F0502020204030204" pitchFamily="34" charset="0"/>
                <a:cs typeface="宋体" panose="02010600030101010101" pitchFamily="2" charset="-122"/>
              </a:rPr>
              <a:t>:</a:t>
            </a:r>
            <a:r>
              <a:rPr lang="en-US" altLang="zh-CN" sz="2800" b="1" i="1" u="sng" kern="1200" dirty="0">
                <a:effectLst/>
                <a:latin typeface="Calibri" panose="020F0502020204030204" pitchFamily="34" charset="0"/>
                <a:ea typeface="Calibri" panose="020F0502020204030204" pitchFamily="34" charset="0"/>
                <a:cs typeface="宋体" panose="02010600030101010101" pitchFamily="2" charset="-122"/>
              </a:rPr>
              <a:t> How to write, compile and load a AEP program? </a:t>
            </a:r>
          </a:p>
        </p:txBody>
      </p:sp>
      <p:sp>
        <p:nvSpPr>
          <p:cNvPr id="10" name="文本框 9">
            <a:extLst>
              <a:ext uri="{FF2B5EF4-FFF2-40B4-BE49-F238E27FC236}">
                <a16:creationId xmlns:a16="http://schemas.microsoft.com/office/drawing/2014/main" id="{01E2834C-7D68-45F9-9EAD-FA0F0FAD2C99}"/>
              </a:ext>
            </a:extLst>
          </p:cNvPr>
          <p:cNvSpPr txBox="1"/>
          <p:nvPr/>
        </p:nvSpPr>
        <p:spPr>
          <a:xfrm>
            <a:off x="7499085" y="4676352"/>
            <a:ext cx="2172523" cy="830997"/>
          </a:xfrm>
          <a:prstGeom prst="rect">
            <a:avLst/>
          </a:prstGeom>
          <a:noFill/>
        </p:spPr>
        <p:txBody>
          <a:bodyPr wrap="square" rtlCol="0">
            <a:spAutoFit/>
          </a:bodyPr>
          <a:lstStyle/>
          <a:p>
            <a:pPr marL="342900" indent="-342900">
              <a:buFont typeface="Wingdings" panose="05000000000000000000" pitchFamily="2" charset="2"/>
              <a:buChar char="ü"/>
            </a:pPr>
            <a:r>
              <a:rPr lang="en-US" altLang="zh-CN" sz="2400" b="1" kern="1200" dirty="0">
                <a:effectLst/>
                <a:latin typeface="Calibri" panose="020F0502020204030204" pitchFamily="34" charset="0"/>
                <a:ea typeface="Calibri" panose="020F0502020204030204" pitchFamily="34" charset="0"/>
                <a:cs typeface="Calibri" panose="020F0502020204030204" pitchFamily="34" charset="0"/>
              </a:rPr>
              <a:t>Private heap</a:t>
            </a:r>
            <a:r>
              <a:rPr lang="en-US" altLang="zh-CN" sz="2400" b="1" kern="1200" dirty="0">
                <a:effectLst/>
                <a:latin typeface="Calibri" panose="020F0502020204030204" pitchFamily="34" charset="0"/>
                <a:ea typeface="Calibri" panose="020F0502020204030204" pitchFamily="34" charset="0"/>
                <a:cs typeface="宋体" panose="02010600030101010101" pitchFamily="2" charset="-122"/>
              </a:rPr>
              <a:t>: </a:t>
            </a:r>
          </a:p>
          <a:p>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AEP mmap, </a:t>
            </a:r>
            <a:r>
              <a:rPr lang="en-US" altLang="zh-CN" sz="2400" kern="1200" dirty="0" err="1">
                <a:effectLst/>
                <a:latin typeface="Calibri" panose="020F0502020204030204" pitchFamily="34" charset="0"/>
                <a:ea typeface="Calibri" panose="020F0502020204030204" pitchFamily="34" charset="0"/>
                <a:cs typeface="宋体" panose="02010600030101010101" pitchFamily="2" charset="-122"/>
              </a:rPr>
              <a:t>brk</a:t>
            </a:r>
            <a:endParaRPr lang="en-US" altLang="zh-CN" sz="2400" kern="1200" dirty="0">
              <a:effectLst/>
              <a:latin typeface="Calibri" panose="020F0502020204030204" pitchFamily="34" charset="0"/>
              <a:ea typeface="Calibri" panose="020F0502020204030204" pitchFamily="34" charset="0"/>
              <a:cs typeface="宋体" panose="02010600030101010101" pitchFamily="2" charset="-122"/>
            </a:endParaRPr>
          </a:p>
        </p:txBody>
      </p:sp>
      <p:sp>
        <p:nvSpPr>
          <p:cNvPr id="9" name="等腰三角形 8">
            <a:extLst>
              <a:ext uri="{FF2B5EF4-FFF2-40B4-BE49-F238E27FC236}">
                <a16:creationId xmlns:a16="http://schemas.microsoft.com/office/drawing/2014/main" id="{DEFC5AEB-7211-4EEB-B744-43FCDDB1789E}"/>
              </a:ext>
            </a:extLst>
          </p:cNvPr>
          <p:cNvSpPr/>
          <p:nvPr/>
        </p:nvSpPr>
        <p:spPr>
          <a:xfrm rot="10800000">
            <a:off x="7647872" y="4376595"/>
            <a:ext cx="2023736" cy="335065"/>
          </a:xfrm>
          <a:prstGeom prst="triangle">
            <a:avLst/>
          </a:prstGeom>
          <a:solidFill>
            <a:srgbClr val="FFE699"/>
          </a:solidFill>
          <a:ln>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可选过程 10">
            <a:extLst>
              <a:ext uri="{FF2B5EF4-FFF2-40B4-BE49-F238E27FC236}">
                <a16:creationId xmlns:a16="http://schemas.microsoft.com/office/drawing/2014/main" id="{DAE83C43-4584-4768-966C-B35924A2E0F8}"/>
              </a:ext>
            </a:extLst>
          </p:cNvPr>
          <p:cNvSpPr/>
          <p:nvPr/>
        </p:nvSpPr>
        <p:spPr>
          <a:xfrm>
            <a:off x="7499084" y="3094861"/>
            <a:ext cx="4399151" cy="1281735"/>
          </a:xfrm>
          <a:prstGeom prst="flowChartAlternateProcess">
            <a:avLst/>
          </a:prstGeom>
          <a:solidFill>
            <a:schemeClr val="accent4">
              <a:lumMod val="40000"/>
              <a:lumOff val="60000"/>
            </a:schemeClr>
          </a:solidFill>
          <a:ln>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1AD0A8DF-6067-4892-8C33-D6E003908B69}"/>
              </a:ext>
            </a:extLst>
          </p:cNvPr>
          <p:cNvSpPr txBox="1"/>
          <p:nvPr/>
        </p:nvSpPr>
        <p:spPr>
          <a:xfrm>
            <a:off x="7524091" y="3069000"/>
            <a:ext cx="4399151" cy="1261884"/>
          </a:xfrm>
          <a:prstGeom prst="rect">
            <a:avLst/>
          </a:prstGeom>
          <a:noFill/>
        </p:spPr>
        <p:txBody>
          <a:bodyPr wrap="square" rtlCol="0">
            <a:spAutoFit/>
          </a:bodyPr>
          <a:lstStyle/>
          <a:p>
            <a:pPr algn="ctr"/>
            <a:r>
              <a:rPr lang="en-US" altLang="zh-CN" sz="2800" b="1" dirty="0">
                <a:solidFill>
                  <a:schemeClr val="accent4">
                    <a:lumMod val="75000"/>
                  </a:schemeClr>
                </a:solidFill>
                <a:latin typeface="Calibri" panose="020F0502020204030204" pitchFamily="34" charset="0"/>
                <a:ea typeface="Calibri" panose="020F0502020204030204" pitchFamily="34" charset="0"/>
                <a:cs typeface="宋体" panose="02010600030101010101" pitchFamily="2" charset="-122"/>
              </a:rPr>
              <a:t>Corner Case:</a:t>
            </a:r>
            <a:r>
              <a:rPr lang="en-US" altLang="zh-CN" sz="2800" b="1" kern="1200" dirty="0">
                <a:solidFill>
                  <a:schemeClr val="accent4">
                    <a:lumMod val="75000"/>
                  </a:schemeClr>
                </a:solidFill>
                <a:effectLst/>
                <a:latin typeface="Calibri" panose="020F0502020204030204" pitchFamily="34" charset="0"/>
                <a:ea typeface="Calibri" panose="020F0502020204030204" pitchFamily="34" charset="0"/>
                <a:cs typeface="宋体" panose="02010600030101010101" pitchFamily="2" charset="-122"/>
              </a:rPr>
              <a:t> </a:t>
            </a:r>
          </a:p>
          <a:p>
            <a:pPr algn="ctr"/>
            <a:r>
              <a:rPr lang="en-US" altLang="zh-CN" sz="2400" dirty="0">
                <a:solidFill>
                  <a:srgbClr val="C00000"/>
                </a:solidFill>
                <a:latin typeface="Calibri" panose="020F0502020204030204" pitchFamily="34" charset="0"/>
                <a:ea typeface="Calibri" panose="020F0502020204030204" pitchFamily="34" charset="0"/>
                <a:cs typeface="宋体" panose="02010600030101010101" pitchFamily="2" charset="-122"/>
              </a:rPr>
              <a:t>If all clients fail, the AEP program </a:t>
            </a:r>
          </a:p>
          <a:p>
            <a:pPr algn="ctr"/>
            <a:r>
              <a:rPr lang="en-US" altLang="zh-CN" sz="2400" dirty="0">
                <a:solidFill>
                  <a:srgbClr val="C00000"/>
                </a:solidFill>
                <a:latin typeface="Calibri" panose="020F0502020204030204" pitchFamily="34" charset="0"/>
                <a:ea typeface="Calibri" panose="020F0502020204030204" pitchFamily="34" charset="0"/>
                <a:cs typeface="宋体" panose="02010600030101010101" pitchFamily="2" charset="-122"/>
              </a:rPr>
              <a:t>must continue running!</a:t>
            </a:r>
          </a:p>
        </p:txBody>
      </p:sp>
      <p:pic>
        <p:nvPicPr>
          <p:cNvPr id="3" name="图片 2">
            <a:extLst>
              <a:ext uri="{FF2B5EF4-FFF2-40B4-BE49-F238E27FC236}">
                <a16:creationId xmlns:a16="http://schemas.microsoft.com/office/drawing/2014/main" id="{3C6B6025-2B4D-4E98-9E89-12D1647040A7}"/>
              </a:ext>
            </a:extLst>
          </p:cNvPr>
          <p:cNvPicPr>
            <a:picLocks noChangeAspect="1"/>
          </p:cNvPicPr>
          <p:nvPr/>
        </p:nvPicPr>
        <p:blipFill>
          <a:blip r:embed="rId3"/>
          <a:stretch>
            <a:fillRect/>
          </a:stretch>
        </p:blipFill>
        <p:spPr>
          <a:xfrm>
            <a:off x="664942" y="3857025"/>
            <a:ext cx="6760988" cy="2300398"/>
          </a:xfrm>
          <a:prstGeom prst="rect">
            <a:avLst/>
          </a:prstGeom>
        </p:spPr>
      </p:pic>
      <p:sp>
        <p:nvSpPr>
          <p:cNvPr id="15" name="文本框 14">
            <a:extLst>
              <a:ext uri="{FF2B5EF4-FFF2-40B4-BE49-F238E27FC236}">
                <a16:creationId xmlns:a16="http://schemas.microsoft.com/office/drawing/2014/main" id="{3FA7E26F-624A-458F-B0FF-17E9EFD8DAAD}"/>
              </a:ext>
            </a:extLst>
          </p:cNvPr>
          <p:cNvSpPr txBox="1"/>
          <p:nvPr/>
        </p:nvSpPr>
        <p:spPr>
          <a:xfrm>
            <a:off x="1920004" y="2180877"/>
            <a:ext cx="8474893" cy="523220"/>
          </a:xfrm>
          <a:prstGeom prst="rect">
            <a:avLst/>
          </a:prstGeom>
          <a:noFill/>
        </p:spPr>
        <p:txBody>
          <a:bodyPr wrap="square" rtlCol="0">
            <a:spAutoFit/>
          </a:bodyPr>
          <a:lstStyle/>
          <a:p>
            <a:r>
              <a:rPr lang="en-US" altLang="zh-CN" sz="2800" b="1" dirty="0">
                <a:solidFill>
                  <a:schemeClr val="accent6">
                    <a:lumMod val="75000"/>
                  </a:schemeClr>
                </a:solidFill>
                <a:latin typeface="Calibri" panose="020F0502020204030204" pitchFamily="34" charset="0"/>
                <a:ea typeface="Calibri" panose="020F0502020204030204" pitchFamily="34" charset="0"/>
                <a:cs typeface="宋体" panose="02010600030101010101" pitchFamily="2" charset="-122"/>
              </a:rPr>
              <a:t>Solution</a:t>
            </a:r>
            <a:r>
              <a:rPr lang="en-US" altLang="zh-CN" sz="2800" b="1" kern="1200" dirty="0">
                <a:solidFill>
                  <a:schemeClr val="accent6">
                    <a:lumMod val="75000"/>
                  </a:schemeClr>
                </a:solidFill>
                <a:effectLst/>
                <a:latin typeface="Calibri" panose="020F0502020204030204" pitchFamily="34" charset="0"/>
                <a:ea typeface="Calibri" panose="020F0502020204030204" pitchFamily="34" charset="0"/>
                <a:cs typeface="宋体" panose="02010600030101010101" pitchFamily="2" charset="-122"/>
              </a:rPr>
              <a:t>: </a:t>
            </a:r>
            <a:r>
              <a:rPr lang="en-US" altLang="zh-CN" sz="2800" b="1" dirty="0">
                <a:latin typeface="Calibri" panose="020F0502020204030204" pitchFamily="34" charset="0"/>
                <a:ea typeface="Calibri" panose="020F0502020204030204" pitchFamily="34" charset="0"/>
                <a:cs typeface="宋体" panose="02010600030101010101" pitchFamily="2" charset="-122"/>
              </a:rPr>
              <a:t>AEP-lib </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Develop AEP programs based on </a:t>
            </a:r>
            <a:r>
              <a:rPr lang="en-US" altLang="zh-CN" sz="2400" b="1" kern="1200" dirty="0">
                <a:solidFill>
                  <a:srgbClr val="C00000"/>
                </a:solidFill>
                <a:effectLst/>
                <a:latin typeface="Calibri" panose="020F0502020204030204" pitchFamily="34" charset="0"/>
                <a:ea typeface="Calibri" panose="020F0502020204030204" pitchFamily="34" charset="0"/>
                <a:cs typeface="宋体" panose="02010600030101010101" pitchFamily="2" charset="-122"/>
              </a:rPr>
              <a:t>AEP-musl</a:t>
            </a:r>
            <a:endParaRPr lang="en-US" altLang="zh-CN" sz="2400" kern="1200" dirty="0">
              <a:effectLst/>
              <a:latin typeface="Calibri" panose="020F0502020204030204" pitchFamily="34" charset="0"/>
              <a:ea typeface="Calibri" panose="020F0502020204030204" pitchFamily="34" charset="0"/>
              <a:cs typeface="宋体" panose="02010600030101010101" pitchFamily="2" charset="-122"/>
            </a:endParaRPr>
          </a:p>
        </p:txBody>
      </p:sp>
      <p:sp>
        <p:nvSpPr>
          <p:cNvPr id="18" name="流程图: 可选过程 17">
            <a:extLst>
              <a:ext uri="{FF2B5EF4-FFF2-40B4-BE49-F238E27FC236}">
                <a16:creationId xmlns:a16="http://schemas.microsoft.com/office/drawing/2014/main" id="{DEEB59BA-F4A7-4B6B-96E5-EEA901617612}"/>
              </a:ext>
            </a:extLst>
          </p:cNvPr>
          <p:cNvSpPr/>
          <p:nvPr/>
        </p:nvSpPr>
        <p:spPr>
          <a:xfrm>
            <a:off x="9785519" y="4636259"/>
            <a:ext cx="2137723" cy="836743"/>
          </a:xfrm>
          <a:prstGeom prst="flowChartAlternateProcess">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C6198D7F-E9B8-4997-AA5C-C2F068AE1AB0}"/>
              </a:ext>
            </a:extLst>
          </p:cNvPr>
          <p:cNvSpPr txBox="1"/>
          <p:nvPr/>
        </p:nvSpPr>
        <p:spPr>
          <a:xfrm>
            <a:off x="9785519" y="4814261"/>
            <a:ext cx="2235884" cy="461665"/>
          </a:xfrm>
          <a:prstGeom prst="rect">
            <a:avLst/>
          </a:prstGeom>
          <a:noFill/>
        </p:spPr>
        <p:txBody>
          <a:bodyPr wrap="square" rtlCol="0">
            <a:spAutoFit/>
          </a:bodyPr>
          <a:lstStyle/>
          <a:p>
            <a:pPr marL="342900" indent="-342900">
              <a:buFont typeface="Wingdings" panose="05000000000000000000" pitchFamily="2" charset="2"/>
              <a:buChar char="ü"/>
            </a:pPr>
            <a:r>
              <a:rPr lang="en-US" altLang="zh-CN" sz="2400" b="1" dirty="0">
                <a:latin typeface="Calibri" panose="020F0502020204030204" pitchFamily="34" charset="0"/>
                <a:ea typeface="Calibri" panose="020F0502020204030204" pitchFamily="34" charset="0"/>
                <a:cs typeface="Calibri" panose="020F0502020204030204" pitchFamily="34" charset="0"/>
              </a:rPr>
              <a:t>S</a:t>
            </a:r>
            <a:r>
              <a:rPr lang="en-US" altLang="zh-CN" sz="2400" b="1" kern="1200" dirty="0">
                <a:effectLst/>
                <a:latin typeface="Calibri" panose="020F0502020204030204" pitchFamily="34" charset="0"/>
                <a:ea typeface="Calibri" panose="020F0502020204030204" pitchFamily="34" charset="0"/>
                <a:cs typeface="Calibri" panose="020F0502020204030204" pitchFamily="34" charset="0"/>
              </a:rPr>
              <a:t>tatic linked</a:t>
            </a:r>
            <a:r>
              <a:rPr lang="en-US" altLang="zh-CN" sz="2400" b="1" kern="1200" dirty="0">
                <a:effectLst/>
                <a:latin typeface="Calibri" panose="020F0502020204030204" pitchFamily="34" charset="0"/>
                <a:ea typeface="Calibri" panose="020F0502020204030204" pitchFamily="34" charset="0"/>
                <a:cs typeface="宋体" panose="02010600030101010101" pitchFamily="2" charset="-122"/>
              </a:rPr>
              <a:t> </a:t>
            </a:r>
          </a:p>
        </p:txBody>
      </p:sp>
      <p:sp>
        <p:nvSpPr>
          <p:cNvPr id="21" name="文本框 20">
            <a:extLst>
              <a:ext uri="{FF2B5EF4-FFF2-40B4-BE49-F238E27FC236}">
                <a16:creationId xmlns:a16="http://schemas.microsoft.com/office/drawing/2014/main" id="{28B8C0DF-4191-4AA7-87D5-0370D14C7B06}"/>
              </a:ext>
            </a:extLst>
          </p:cNvPr>
          <p:cNvSpPr txBox="1"/>
          <p:nvPr/>
        </p:nvSpPr>
        <p:spPr>
          <a:xfrm>
            <a:off x="769619" y="2843176"/>
            <a:ext cx="6585096" cy="892552"/>
          </a:xfrm>
          <a:prstGeom prst="rect">
            <a:avLst/>
          </a:prstGeom>
          <a:noFill/>
        </p:spPr>
        <p:txBody>
          <a:bodyPr wrap="square" rtlCol="0">
            <a:spAutoFit/>
          </a:bodyPr>
          <a:lstStyle/>
          <a:p>
            <a:pPr marL="457200" indent="-457200">
              <a:buFont typeface="Wingdings" panose="05000000000000000000" pitchFamily="2" charset="2"/>
              <a:buChar char="ü"/>
            </a:pPr>
            <a:r>
              <a:rPr lang="en-US" altLang="zh-CN" sz="2800" b="1" dirty="0">
                <a:latin typeface="Calibri" panose="020F0502020204030204" pitchFamily="34" charset="0"/>
                <a:ea typeface="Calibri" panose="020F0502020204030204" pitchFamily="34" charset="0"/>
                <a:cs typeface="宋体" panose="02010600030101010101" pitchFamily="2" charset="-122"/>
              </a:rPr>
              <a:t>AEP-loader</a:t>
            </a:r>
          </a:p>
          <a:p>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Avoid reimplementing an AEP ELF loader in kernel</a:t>
            </a:r>
          </a:p>
        </p:txBody>
      </p:sp>
      <p:sp>
        <p:nvSpPr>
          <p:cNvPr id="22" name="等腰三角形 21">
            <a:extLst>
              <a:ext uri="{FF2B5EF4-FFF2-40B4-BE49-F238E27FC236}">
                <a16:creationId xmlns:a16="http://schemas.microsoft.com/office/drawing/2014/main" id="{853BEB39-A0D4-462A-A488-981C4BBCA677}"/>
              </a:ext>
            </a:extLst>
          </p:cNvPr>
          <p:cNvSpPr/>
          <p:nvPr/>
        </p:nvSpPr>
        <p:spPr>
          <a:xfrm rot="10800000">
            <a:off x="9723666" y="4387065"/>
            <a:ext cx="2023736" cy="335065"/>
          </a:xfrm>
          <a:prstGeom prst="triangle">
            <a:avLst/>
          </a:prstGeom>
          <a:solidFill>
            <a:srgbClr val="FFE699"/>
          </a:solidFill>
          <a:ln>
            <a:solidFill>
              <a:srgbClr val="FFE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44100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9893465"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AEP Address Management</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a:extLst>
              <a:ext uri="{FF2B5EF4-FFF2-40B4-BE49-F238E27FC236}">
                <a16:creationId xmlns:a16="http://schemas.microsoft.com/office/drawing/2014/main" id="{FE72B010-4097-44F6-A7CA-7DFEBE7227EB}"/>
              </a:ext>
            </a:extLst>
          </p:cNvPr>
          <p:cNvSpPr txBox="1"/>
          <p:nvPr/>
        </p:nvSpPr>
        <p:spPr>
          <a:xfrm>
            <a:off x="73742" y="1683773"/>
            <a:ext cx="12378567" cy="523220"/>
          </a:xfrm>
          <a:prstGeom prst="rect">
            <a:avLst/>
          </a:prstGeom>
          <a:noFill/>
        </p:spPr>
        <p:txBody>
          <a:bodyPr wrap="square" rtlCol="0">
            <a:spAutoFit/>
          </a:bodyPr>
          <a:lstStyle/>
          <a:p>
            <a:r>
              <a:rPr lang="en-US" altLang="zh-CN" sz="2800" b="1" i="1" u="sng" dirty="0">
                <a:solidFill>
                  <a:srgbClr val="C00000"/>
                </a:solidFill>
                <a:latin typeface="Calibri" panose="020F0502020204030204" pitchFamily="34" charset="0"/>
                <a:ea typeface="Calibri" panose="020F0502020204030204" pitchFamily="34" charset="0"/>
                <a:cs typeface="宋体" panose="02010600030101010101" pitchFamily="2" charset="-122"/>
              </a:rPr>
              <a:t>Challenge</a:t>
            </a:r>
            <a:r>
              <a:rPr lang="en-US" altLang="zh-CN" sz="2800" b="1" i="1" u="sng" kern="1200" dirty="0">
                <a:solidFill>
                  <a:srgbClr val="C00000"/>
                </a:solidFill>
                <a:effectLst/>
                <a:latin typeface="Calibri" panose="020F0502020204030204" pitchFamily="34" charset="0"/>
                <a:ea typeface="Calibri" panose="020F0502020204030204" pitchFamily="34" charset="0"/>
                <a:cs typeface="宋体" panose="02010600030101010101" pitchFamily="2" charset="-122"/>
              </a:rPr>
              <a:t>:</a:t>
            </a:r>
            <a:r>
              <a:rPr lang="en-US" altLang="zh-CN" sz="2800" b="1" i="1" u="sng" kern="1200" dirty="0">
                <a:effectLst/>
                <a:latin typeface="Calibri" panose="020F0502020204030204" pitchFamily="34" charset="0"/>
                <a:ea typeface="Calibri" panose="020F0502020204030204" pitchFamily="34" charset="0"/>
                <a:cs typeface="宋体" panose="02010600030101010101" pitchFamily="2" charset="-122"/>
              </a:rPr>
              <a:t> How to provide tenant-level isolation and intra-tenant client sharing? </a:t>
            </a:r>
          </a:p>
        </p:txBody>
      </p:sp>
      <p:sp>
        <p:nvSpPr>
          <p:cNvPr id="10" name="文本框 9">
            <a:extLst>
              <a:ext uri="{FF2B5EF4-FFF2-40B4-BE49-F238E27FC236}">
                <a16:creationId xmlns:a16="http://schemas.microsoft.com/office/drawing/2014/main" id="{01E2834C-7D68-45F9-9EAD-FA0F0FAD2C99}"/>
              </a:ext>
            </a:extLst>
          </p:cNvPr>
          <p:cNvSpPr txBox="1"/>
          <p:nvPr/>
        </p:nvSpPr>
        <p:spPr>
          <a:xfrm>
            <a:off x="5744129" y="4012153"/>
            <a:ext cx="6379045" cy="3108543"/>
          </a:xfrm>
          <a:prstGeom prst="rect">
            <a:avLst/>
          </a:prstGeom>
          <a:noFill/>
        </p:spPr>
        <p:txBody>
          <a:bodyPr wrap="square" rtlCol="0">
            <a:spAutoFit/>
          </a:bodyPr>
          <a:lstStyle/>
          <a:p>
            <a:r>
              <a:rPr lang="en-US" altLang="zh-CN" sz="2800" b="1" dirty="0">
                <a:solidFill>
                  <a:schemeClr val="accent6">
                    <a:lumMod val="75000"/>
                  </a:schemeClr>
                </a:solidFill>
                <a:latin typeface="Calibri" panose="020F0502020204030204" pitchFamily="34" charset="0"/>
                <a:ea typeface="Calibri" panose="020F0502020204030204" pitchFamily="34" charset="0"/>
                <a:cs typeface="宋体" panose="02010600030101010101" pitchFamily="2" charset="-122"/>
              </a:rPr>
              <a:t>Solution</a:t>
            </a:r>
            <a:r>
              <a:rPr lang="en-US" altLang="zh-CN" sz="2800" b="1" kern="1200" dirty="0">
                <a:solidFill>
                  <a:schemeClr val="accent6">
                    <a:lumMod val="75000"/>
                  </a:schemeClr>
                </a:solidFill>
                <a:effectLst/>
                <a:latin typeface="Calibri" panose="020F0502020204030204" pitchFamily="34" charset="0"/>
                <a:ea typeface="Calibri" panose="020F0502020204030204" pitchFamily="34" charset="0"/>
                <a:cs typeface="宋体" panose="02010600030101010101" pitchFamily="2" charset="-122"/>
              </a:rPr>
              <a:t>: </a:t>
            </a:r>
            <a:r>
              <a:rPr lang="en-US" altLang="zh-CN" sz="2800" b="1" dirty="0">
                <a:latin typeface="Calibri" panose="020F0502020204030204" pitchFamily="34" charset="0"/>
                <a:ea typeface="Calibri" panose="020F0502020204030204" pitchFamily="34" charset="0"/>
                <a:cs typeface="宋体" panose="02010600030101010101" pitchFamily="2" charset="-122"/>
              </a:rPr>
              <a:t>AEP </a:t>
            </a:r>
            <a:r>
              <a:rPr lang="en-US" altLang="zh-CN" sz="2800" b="1" dirty="0" err="1">
                <a:latin typeface="Calibri" panose="020F0502020204030204" pitchFamily="34" charset="0"/>
                <a:ea typeface="Calibri" panose="020F0502020204030204" pitchFamily="34" charset="0"/>
                <a:cs typeface="宋体" panose="02010600030101010101" pitchFamily="2" charset="-122"/>
              </a:rPr>
              <a:t>pagetable</a:t>
            </a:r>
            <a:endParaRPr lang="en-US" altLang="zh-CN" sz="2800" b="1" dirty="0">
              <a:latin typeface="Calibri" panose="020F0502020204030204" pitchFamily="34" charset="0"/>
              <a:ea typeface="Calibri" panose="020F0502020204030204" pitchFamily="34" charset="0"/>
              <a:cs typeface="宋体" panose="02010600030101010101" pitchFamily="2" charset="-122"/>
            </a:endParaRPr>
          </a:p>
          <a:p>
            <a:pPr marL="342900" indent="-342900">
              <a:buFont typeface="Wingdings" panose="05000000000000000000" pitchFamily="2" charset="2"/>
              <a:buChar char="Ø"/>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Tenant-private isolated AEP page table tree</a:t>
            </a:r>
          </a:p>
          <a:p>
            <a:pPr marL="342900" indent="-342900">
              <a:buFont typeface="Wingdings" panose="05000000000000000000" pitchFamily="2" charset="2"/>
              <a:buChar char="Ø"/>
            </a:pPr>
            <a:r>
              <a:rPr lang="en-US" altLang="zh-CN" sz="2400" b="1" kern="1200" dirty="0">
                <a:effectLst/>
                <a:latin typeface="Calibri" panose="020F0502020204030204" pitchFamily="34" charset="0"/>
                <a:ea typeface="Calibri" panose="020F0502020204030204" pitchFamily="34" charset="0"/>
                <a:cs typeface="Calibri" panose="020F0502020204030204" pitchFamily="34" charset="0"/>
              </a:rPr>
              <a:t>❶</a:t>
            </a:r>
            <a:r>
              <a:rPr lang="en-US" altLang="zh-CN" sz="2400" b="1" kern="1200" dirty="0" err="1">
                <a:effectLst/>
                <a:latin typeface="Cascadia Code" panose="020B0609020000020004" pitchFamily="49" charset="0"/>
                <a:ea typeface="Cascadia Code" panose="020B0609020000020004" pitchFamily="49" charset="0"/>
                <a:cs typeface="Cascadia Code" panose="020B0609020000020004" pitchFamily="49" charset="0"/>
              </a:rPr>
              <a:t>AEP_init</a:t>
            </a:r>
            <a:r>
              <a:rPr lang="en-US" altLang="zh-CN" sz="2400" b="1" kern="1200" dirty="0">
                <a:effectLst/>
                <a:latin typeface="Calibri" panose="020F0502020204030204" pitchFamily="34" charset="0"/>
                <a:ea typeface="Calibri" panose="020F0502020204030204" pitchFamily="34" charset="0"/>
                <a:cs typeface="宋体" panose="02010600030101010101" pitchFamily="2" charset="-122"/>
              </a:rPr>
              <a:t>: </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Create an AEP page table</a:t>
            </a:r>
          </a:p>
          <a:p>
            <a:pPr marL="342900" indent="-342900">
              <a:buFont typeface="Wingdings" panose="05000000000000000000" pitchFamily="2" charset="2"/>
              <a:buChar char="Ø"/>
            </a:pPr>
            <a:r>
              <a:rPr lang="en-US" altLang="zh-CN" sz="2400" b="1" kern="1200" dirty="0">
                <a:effectLst/>
                <a:latin typeface="Calibri" panose="020F0502020204030204" pitchFamily="34" charset="0"/>
                <a:ea typeface="Calibri" panose="020F0502020204030204" pitchFamily="34" charset="0"/>
                <a:cs typeface="Calibri" panose="020F0502020204030204" pitchFamily="34" charset="0"/>
              </a:rPr>
              <a:t>❷</a:t>
            </a:r>
            <a:r>
              <a:rPr lang="en-US" altLang="zh-CN" sz="2400" b="1" kern="1200" dirty="0" err="1">
                <a:effectLst/>
                <a:latin typeface="Cascadia Code" panose="020B0609020000020004" pitchFamily="49" charset="0"/>
                <a:ea typeface="Cascadia Code" panose="020B0609020000020004" pitchFamily="49" charset="0"/>
                <a:cs typeface="Cascadia Code" panose="020B0609020000020004" pitchFamily="49" charset="0"/>
              </a:rPr>
              <a:t>AEP_join</a:t>
            </a:r>
            <a:r>
              <a:rPr lang="en-US" altLang="zh-CN" sz="2400" b="1" dirty="0">
                <a:latin typeface="Calibri" panose="020F0502020204030204" pitchFamily="34" charset="0"/>
                <a:ea typeface="Calibri" panose="020F0502020204030204" pitchFamily="34" charset="0"/>
                <a:cs typeface="宋体" panose="02010600030101010101" pitchFamily="2" charset="-122"/>
              </a:rPr>
              <a:t>:</a:t>
            </a:r>
            <a:r>
              <a:rPr lang="zh-CN" altLang="en-US" sz="2400" b="1" dirty="0">
                <a:latin typeface="Calibri" panose="020F0502020204030204" pitchFamily="34" charset="0"/>
                <a:ea typeface="Calibri" panose="020F0502020204030204" pitchFamily="34" charset="0"/>
                <a:cs typeface="宋体" panose="02010600030101010101" pitchFamily="2" charset="-122"/>
              </a:rPr>
              <a:t> </a:t>
            </a:r>
            <a:r>
              <a:rPr lang="en-US" altLang="zh-CN" sz="2400" dirty="0">
                <a:latin typeface="Calibri" panose="020F0502020204030204" pitchFamily="34" charset="0"/>
                <a:ea typeface="Calibri" panose="020F0502020204030204" pitchFamily="34" charset="0"/>
                <a:cs typeface="宋体" panose="02010600030101010101" pitchFamily="2" charset="-122"/>
              </a:rPr>
              <a:t>Add the container/app’s first process to the AEP page table</a:t>
            </a:r>
          </a:p>
          <a:p>
            <a:pPr marL="342900" indent="-342900">
              <a:buFont typeface="Wingdings" panose="05000000000000000000" pitchFamily="2" charset="2"/>
              <a:buChar char="Ø"/>
            </a:pPr>
            <a:r>
              <a:rPr lang="en-US" altLang="zh-CN" sz="2400" b="1" dirty="0">
                <a:latin typeface="Calibri" panose="020F0502020204030204" pitchFamily="34" charset="0"/>
                <a:ea typeface="Calibri" panose="020F0502020204030204" pitchFamily="34" charset="0"/>
                <a:cs typeface="宋体" panose="02010600030101010101" pitchFamily="2" charset="-122"/>
              </a:rPr>
              <a:t>❸</a:t>
            </a:r>
            <a:r>
              <a:rPr lang="en-US" altLang="zh-CN" sz="2400" b="1" dirty="0">
                <a:latin typeface="Cascadia Code" panose="020B0609020000020004" pitchFamily="49" charset="0"/>
                <a:ea typeface="Cascadia Code" panose="020B0609020000020004" pitchFamily="49" charset="0"/>
                <a:cs typeface="Cascadia Code" panose="020B0609020000020004" pitchFamily="49" charset="0"/>
              </a:rPr>
              <a:t>Inherit</a:t>
            </a:r>
            <a:r>
              <a:rPr lang="en-US" altLang="zh-CN" sz="2400" b="1" dirty="0">
                <a:latin typeface="Calibri" panose="020F0502020204030204" pitchFamily="34" charset="0"/>
                <a:ea typeface="Calibri" panose="020F0502020204030204" pitchFamily="34" charset="0"/>
                <a:cs typeface="宋体" panose="02010600030101010101" pitchFamily="2" charset="-122"/>
              </a:rPr>
              <a:t>: </a:t>
            </a:r>
            <a:r>
              <a:rPr lang="en-US" altLang="zh-CN" sz="2400" dirty="0">
                <a:latin typeface="Calibri" panose="020F0502020204030204" pitchFamily="34" charset="0"/>
                <a:ea typeface="Calibri" panose="020F0502020204030204" pitchFamily="34" charset="0"/>
                <a:cs typeface="宋体" panose="02010600030101010101" pitchFamily="2" charset="-122"/>
              </a:rPr>
              <a:t>Child processes inherit the AEP page table</a:t>
            </a:r>
          </a:p>
          <a:p>
            <a:pPr marL="342900" indent="-342900">
              <a:buFont typeface="Wingdings" panose="05000000000000000000" pitchFamily="2" charset="2"/>
              <a:buChar char="ü"/>
            </a:pPr>
            <a:endParaRPr lang="en-US" altLang="zh-CN" sz="2400" kern="1200" dirty="0">
              <a:effectLst/>
              <a:latin typeface="Calibri" panose="020F0502020204030204" pitchFamily="34" charset="0"/>
              <a:ea typeface="Calibri" panose="020F0502020204030204" pitchFamily="34" charset="0"/>
              <a:cs typeface="宋体" panose="02010600030101010101" pitchFamily="2" charset="-122"/>
            </a:endParaRPr>
          </a:p>
        </p:txBody>
      </p:sp>
      <p:pic>
        <p:nvPicPr>
          <p:cNvPr id="14" name="图片 13">
            <a:extLst>
              <a:ext uri="{FF2B5EF4-FFF2-40B4-BE49-F238E27FC236}">
                <a16:creationId xmlns:a16="http://schemas.microsoft.com/office/drawing/2014/main" id="{B51D16BD-0609-4E49-BE9D-03E94021EC6A}"/>
              </a:ext>
            </a:extLst>
          </p:cNvPr>
          <p:cNvPicPr>
            <a:picLocks noChangeAspect="1"/>
          </p:cNvPicPr>
          <p:nvPr/>
        </p:nvPicPr>
        <p:blipFill>
          <a:blip r:embed="rId3"/>
          <a:stretch>
            <a:fillRect/>
          </a:stretch>
        </p:blipFill>
        <p:spPr>
          <a:xfrm>
            <a:off x="2761512" y="2206993"/>
            <a:ext cx="5965234" cy="1652681"/>
          </a:xfrm>
          <a:prstGeom prst="rect">
            <a:avLst/>
          </a:prstGeom>
        </p:spPr>
      </p:pic>
      <p:pic>
        <p:nvPicPr>
          <p:cNvPr id="6" name="图片 5">
            <a:extLst>
              <a:ext uri="{FF2B5EF4-FFF2-40B4-BE49-F238E27FC236}">
                <a16:creationId xmlns:a16="http://schemas.microsoft.com/office/drawing/2014/main" id="{3FF3908A-4C1F-4CFF-A0FE-9FE9506A4C3B}"/>
              </a:ext>
            </a:extLst>
          </p:cNvPr>
          <p:cNvPicPr>
            <a:picLocks noChangeAspect="1"/>
          </p:cNvPicPr>
          <p:nvPr/>
        </p:nvPicPr>
        <p:blipFill>
          <a:blip r:embed="rId4"/>
          <a:stretch>
            <a:fillRect/>
          </a:stretch>
        </p:blipFill>
        <p:spPr>
          <a:xfrm>
            <a:off x="587722" y="4012153"/>
            <a:ext cx="4946346" cy="2742716"/>
          </a:xfrm>
          <a:prstGeom prst="rect">
            <a:avLst/>
          </a:prstGeom>
        </p:spPr>
      </p:pic>
    </p:spTree>
    <p:extLst>
      <p:ext uri="{BB962C8B-B14F-4D97-AF65-F5344CB8AC3E}">
        <p14:creationId xmlns:p14="http://schemas.microsoft.com/office/powerpoint/2010/main" val="949179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20" y="717721"/>
            <a:ext cx="10401074"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AEP-DSM: AEP + Inter-node Management </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15" name="文本框 14">
            <a:extLst>
              <a:ext uri="{FF2B5EF4-FFF2-40B4-BE49-F238E27FC236}">
                <a16:creationId xmlns:a16="http://schemas.microsoft.com/office/drawing/2014/main" id="{3FA7E26F-624A-458F-B0FF-17E9EFD8DAAD}"/>
              </a:ext>
            </a:extLst>
          </p:cNvPr>
          <p:cNvSpPr txBox="1"/>
          <p:nvPr/>
        </p:nvSpPr>
        <p:spPr>
          <a:xfrm>
            <a:off x="6196090" y="1735722"/>
            <a:ext cx="6189259" cy="892552"/>
          </a:xfrm>
          <a:prstGeom prst="rect">
            <a:avLst/>
          </a:prstGeom>
          <a:noFill/>
        </p:spPr>
        <p:txBody>
          <a:bodyPr wrap="square" rtlCol="0">
            <a:spAutoFit/>
          </a:bodyPr>
          <a:lstStyle/>
          <a:p>
            <a:r>
              <a:rPr lang="en-US" altLang="zh-CN" sz="2800" b="1" dirty="0">
                <a:solidFill>
                  <a:schemeClr val="accent6">
                    <a:lumMod val="75000"/>
                  </a:schemeClr>
                </a:solidFill>
                <a:latin typeface="Calibri" panose="020F0502020204030204" pitchFamily="34" charset="0"/>
                <a:ea typeface="Calibri" panose="020F0502020204030204" pitchFamily="34" charset="0"/>
                <a:cs typeface="宋体" panose="02010600030101010101" pitchFamily="2" charset="-122"/>
              </a:rPr>
              <a:t>Decouple </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intra-node and inter-node management  </a:t>
            </a:r>
          </a:p>
        </p:txBody>
      </p:sp>
      <p:pic>
        <p:nvPicPr>
          <p:cNvPr id="6" name="图片 5">
            <a:extLst>
              <a:ext uri="{FF2B5EF4-FFF2-40B4-BE49-F238E27FC236}">
                <a16:creationId xmlns:a16="http://schemas.microsoft.com/office/drawing/2014/main" id="{5DF8CF9B-5852-47A4-B9A8-31F857C3822F}"/>
              </a:ext>
            </a:extLst>
          </p:cNvPr>
          <p:cNvPicPr>
            <a:picLocks noChangeAspect="1"/>
          </p:cNvPicPr>
          <p:nvPr/>
        </p:nvPicPr>
        <p:blipFill>
          <a:blip r:embed="rId3"/>
          <a:stretch>
            <a:fillRect/>
          </a:stretch>
        </p:blipFill>
        <p:spPr>
          <a:xfrm>
            <a:off x="769620" y="1735722"/>
            <a:ext cx="5167156" cy="3030123"/>
          </a:xfrm>
          <a:prstGeom prst="rect">
            <a:avLst/>
          </a:prstGeom>
        </p:spPr>
      </p:pic>
      <p:sp>
        <p:nvSpPr>
          <p:cNvPr id="20" name="Rectangle 32">
            <a:extLst>
              <a:ext uri="{FF2B5EF4-FFF2-40B4-BE49-F238E27FC236}">
                <a16:creationId xmlns:a16="http://schemas.microsoft.com/office/drawing/2014/main" id="{0E8EF93A-3BD6-4F14-989F-46A69C7A61CF}"/>
              </a:ext>
            </a:extLst>
          </p:cNvPr>
          <p:cNvSpPr>
            <a:spLocks noChangeArrowheads="1"/>
          </p:cNvSpPr>
          <p:nvPr/>
        </p:nvSpPr>
        <p:spPr bwMode="auto">
          <a:xfrm>
            <a:off x="5663828" y="2453744"/>
            <a:ext cx="6189259" cy="19505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02845" tIns="51424" rIns="102845" bIns="51424">
            <a:spAutoFit/>
          </a:bodyPr>
          <a:lstStyle/>
          <a:p>
            <a:pPr marL="1028453" indent="-514226">
              <a:buFont typeface="Arial" pitchFamily="34" charset="0"/>
              <a:buChar char="•"/>
              <a:defRPr/>
            </a:pPr>
            <a:r>
              <a:rPr lang="pt-BR" altLang="zh-CN" sz="2400" b="1" i="1" u="sng" dirty="0">
                <a:latin typeface="Calibri" panose="020F0502020204030204" pitchFamily="34" charset="0"/>
                <a:ea typeface="Calibri" panose="020F0502020204030204" pitchFamily="34" charset="0"/>
                <a:cs typeface="Calibri" panose="020F0502020204030204" pitchFamily="34" charset="0"/>
              </a:rPr>
              <a:t>Inter-node:</a:t>
            </a:r>
            <a:r>
              <a:rPr lang="pt-BR" altLang="zh-CN" sz="2400" dirty="0">
                <a:latin typeface="Calibri" panose="020F0502020204030204" pitchFamily="34" charset="0"/>
                <a:ea typeface="Calibri" panose="020F0502020204030204" pitchFamily="34" charset="0"/>
                <a:cs typeface="Calibri" panose="020F0502020204030204" pitchFamily="34" charset="0"/>
              </a:rPr>
              <a:t> </a:t>
            </a:r>
            <a:r>
              <a:rPr lang="en-US" altLang="zh-CN" sz="2400" dirty="0">
                <a:latin typeface="Calibri" panose="020F0502020204030204" pitchFamily="34" charset="0"/>
                <a:ea typeface="Calibri" panose="020F0502020204030204" pitchFamily="34" charset="0"/>
                <a:cs typeface="Calibri" panose="020F0502020204030204" pitchFamily="34" charset="0"/>
              </a:rPr>
              <a:t>On first request, a node is assigned a large memory chunk</a:t>
            </a:r>
            <a:r>
              <a:rPr lang="pt-BR" altLang="zh-CN" sz="2400" dirty="0">
                <a:latin typeface="Calibri" panose="020F0502020204030204" pitchFamily="34" charset="0"/>
                <a:ea typeface="Calibri" panose="020F0502020204030204" pitchFamily="34" charset="0"/>
                <a:cs typeface="Calibri" panose="020F0502020204030204" pitchFamily="34" charset="0"/>
              </a:rPr>
              <a:t> </a:t>
            </a:r>
          </a:p>
          <a:p>
            <a:pPr marL="1028453" indent="-514226">
              <a:buFont typeface="Arial" pitchFamily="34" charset="0"/>
              <a:buChar char="•"/>
              <a:defRPr/>
            </a:pPr>
            <a:r>
              <a:rPr lang="en-US" altLang="zh-CN" sz="2400" b="1" i="1" u="sng" dirty="0">
                <a:latin typeface="Calibri" panose="020F0502020204030204" pitchFamily="34" charset="0"/>
                <a:ea typeface="Calibri" panose="020F0502020204030204" pitchFamily="34" charset="0"/>
                <a:cs typeface="Calibri" panose="020F0502020204030204" pitchFamily="34" charset="0"/>
              </a:rPr>
              <a:t>Intra-node: </a:t>
            </a:r>
            <a:r>
              <a:rPr lang="en-US" altLang="zh-CN" sz="2400" dirty="0">
                <a:latin typeface="Calibri" panose="020F0502020204030204" pitchFamily="34" charset="0"/>
                <a:ea typeface="Calibri" panose="020F0502020204030204" pitchFamily="34" charset="0"/>
                <a:cs typeface="Calibri" panose="020F0502020204030204" pitchFamily="34" charset="0"/>
              </a:rPr>
              <a:t>Subsequent requests are </a:t>
            </a:r>
            <a:r>
              <a:rPr lang="en-US" altLang="zh-CN" sz="2400" dirty="0">
                <a:solidFill>
                  <a:srgbClr val="0432FF"/>
                </a:solidFill>
                <a:latin typeface="Calibri" panose="020F0502020204030204" pitchFamily="34" charset="0"/>
                <a:ea typeface="Calibri" panose="020F0502020204030204" pitchFamily="34" charset="0"/>
                <a:cs typeface="Calibri" panose="020F0502020204030204" pitchFamily="34" charset="0"/>
              </a:rPr>
              <a:t>served locally</a:t>
            </a:r>
            <a:r>
              <a:rPr lang="en-US" altLang="zh-CN" sz="2400" dirty="0">
                <a:latin typeface="Calibri" panose="020F0502020204030204" pitchFamily="34" charset="0"/>
                <a:ea typeface="Calibri" panose="020F0502020204030204" pitchFamily="34" charset="0"/>
                <a:cs typeface="Calibri" panose="020F0502020204030204" pitchFamily="34" charset="0"/>
              </a:rPr>
              <a:t> until more chunks are needed</a:t>
            </a:r>
          </a:p>
        </p:txBody>
      </p:sp>
      <p:pic>
        <p:nvPicPr>
          <p:cNvPr id="13" name="图片 12">
            <a:extLst>
              <a:ext uri="{FF2B5EF4-FFF2-40B4-BE49-F238E27FC236}">
                <a16:creationId xmlns:a16="http://schemas.microsoft.com/office/drawing/2014/main" id="{7C99EC09-F984-4777-AECC-2816E4704960}"/>
              </a:ext>
            </a:extLst>
          </p:cNvPr>
          <p:cNvPicPr>
            <a:picLocks noChangeAspect="1"/>
          </p:cNvPicPr>
          <p:nvPr/>
        </p:nvPicPr>
        <p:blipFill>
          <a:blip r:embed="rId4"/>
          <a:stretch>
            <a:fillRect/>
          </a:stretch>
        </p:blipFill>
        <p:spPr>
          <a:xfrm>
            <a:off x="8172141" y="4278226"/>
            <a:ext cx="3750523" cy="2025282"/>
          </a:xfrm>
          <a:prstGeom prst="rect">
            <a:avLst/>
          </a:prstGeom>
        </p:spPr>
      </p:pic>
      <p:sp>
        <p:nvSpPr>
          <p:cNvPr id="23" name="文本框 22">
            <a:extLst>
              <a:ext uri="{FF2B5EF4-FFF2-40B4-BE49-F238E27FC236}">
                <a16:creationId xmlns:a16="http://schemas.microsoft.com/office/drawing/2014/main" id="{626F0B7E-95A7-4100-8860-E8E218774778}"/>
              </a:ext>
            </a:extLst>
          </p:cNvPr>
          <p:cNvSpPr txBox="1"/>
          <p:nvPr/>
        </p:nvSpPr>
        <p:spPr>
          <a:xfrm>
            <a:off x="773936" y="5128868"/>
            <a:ext cx="8349592" cy="1261884"/>
          </a:xfrm>
          <a:prstGeom prst="rect">
            <a:avLst/>
          </a:prstGeom>
          <a:noFill/>
        </p:spPr>
        <p:txBody>
          <a:bodyPr wrap="square" rtlCol="0">
            <a:spAutoFit/>
          </a:bodyPr>
          <a:lstStyle/>
          <a:p>
            <a:r>
              <a:rPr lang="en-US" altLang="zh-CN" sz="2800" b="1" i="1" u="sng" dirty="0">
                <a:solidFill>
                  <a:srgbClr val="C00000"/>
                </a:solidFill>
                <a:latin typeface="Calibri" panose="020F0502020204030204" pitchFamily="34" charset="0"/>
                <a:ea typeface="Calibri" panose="020F0502020204030204" pitchFamily="34" charset="0"/>
                <a:cs typeface="宋体" panose="02010600030101010101" pitchFamily="2" charset="-122"/>
              </a:rPr>
              <a:t>Challenge</a:t>
            </a:r>
            <a:r>
              <a:rPr lang="en-US" altLang="zh-CN" sz="2800" b="1" i="1" u="sng" kern="1200" dirty="0">
                <a:solidFill>
                  <a:srgbClr val="C00000"/>
                </a:solidFill>
                <a:effectLst/>
                <a:latin typeface="Calibri" panose="020F0502020204030204" pitchFamily="34" charset="0"/>
                <a:ea typeface="Calibri" panose="020F0502020204030204" pitchFamily="34" charset="0"/>
                <a:cs typeface="宋体" panose="02010600030101010101" pitchFamily="2" charset="-122"/>
              </a:rPr>
              <a:t>:</a:t>
            </a:r>
            <a:r>
              <a:rPr lang="en-US" altLang="zh-CN" sz="2800" b="1" i="1" u="sng" kern="1200" dirty="0">
                <a:effectLst/>
                <a:latin typeface="Calibri" panose="020F0502020204030204" pitchFamily="34" charset="0"/>
                <a:ea typeface="Calibri" panose="020F0502020204030204" pitchFamily="34" charset="0"/>
                <a:cs typeface="宋体" panose="02010600030101010101" pitchFamily="2" charset="-122"/>
              </a:rPr>
              <a:t> </a:t>
            </a:r>
          </a:p>
          <a:p>
            <a:pPr marL="457200"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Remote metadata access -&gt; 32% performance drop</a:t>
            </a:r>
          </a:p>
          <a:p>
            <a:pPr marL="457200"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Reference counting -&gt; High cross node ref-update overhead</a:t>
            </a:r>
          </a:p>
        </p:txBody>
      </p:sp>
    </p:spTree>
    <p:extLst>
      <p:ext uri="{BB962C8B-B14F-4D97-AF65-F5344CB8AC3E}">
        <p14:creationId xmlns:p14="http://schemas.microsoft.com/office/powerpoint/2010/main" val="657637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20" y="717721"/>
            <a:ext cx="10401074"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AEP-DSM: AEP + Inter-node Management </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23" name="文本框 22">
            <a:extLst>
              <a:ext uri="{FF2B5EF4-FFF2-40B4-BE49-F238E27FC236}">
                <a16:creationId xmlns:a16="http://schemas.microsoft.com/office/drawing/2014/main" id="{626F0B7E-95A7-4100-8860-E8E218774778}"/>
              </a:ext>
            </a:extLst>
          </p:cNvPr>
          <p:cNvSpPr txBox="1"/>
          <p:nvPr/>
        </p:nvSpPr>
        <p:spPr>
          <a:xfrm>
            <a:off x="1340319" y="1801727"/>
            <a:ext cx="3818536" cy="1261884"/>
          </a:xfrm>
          <a:prstGeom prst="rect">
            <a:avLst/>
          </a:prstGeom>
          <a:noFill/>
        </p:spPr>
        <p:txBody>
          <a:bodyPr wrap="square" rtlCol="0">
            <a:spAutoFit/>
          </a:bodyPr>
          <a:lstStyle/>
          <a:p>
            <a:r>
              <a:rPr lang="en-US" altLang="zh-CN" sz="2800" b="1" i="1" u="sng" dirty="0">
                <a:solidFill>
                  <a:srgbClr val="C00000"/>
                </a:solidFill>
                <a:latin typeface="Calibri" panose="020F0502020204030204" pitchFamily="34" charset="0"/>
                <a:ea typeface="Calibri" panose="020F0502020204030204" pitchFamily="34" charset="0"/>
                <a:cs typeface="宋体" panose="02010600030101010101" pitchFamily="2" charset="-122"/>
              </a:rPr>
              <a:t>Challenge</a:t>
            </a:r>
            <a:r>
              <a:rPr lang="en-US" altLang="zh-CN" sz="2800" b="1" i="1" u="sng" kern="1200" dirty="0">
                <a:solidFill>
                  <a:srgbClr val="C00000"/>
                </a:solidFill>
                <a:effectLst/>
                <a:latin typeface="Calibri" panose="020F0502020204030204" pitchFamily="34" charset="0"/>
                <a:ea typeface="Calibri" panose="020F0502020204030204" pitchFamily="34" charset="0"/>
                <a:cs typeface="宋体" panose="02010600030101010101" pitchFamily="2" charset="-122"/>
              </a:rPr>
              <a:t>:</a:t>
            </a:r>
            <a:r>
              <a:rPr lang="en-US" altLang="zh-CN" sz="2800" b="1" i="1" u="sng" kern="1200" dirty="0">
                <a:effectLst/>
                <a:latin typeface="Calibri" panose="020F0502020204030204" pitchFamily="34" charset="0"/>
                <a:ea typeface="Calibri" panose="020F0502020204030204" pitchFamily="34" charset="0"/>
                <a:cs typeface="宋体" panose="02010600030101010101" pitchFamily="2" charset="-122"/>
              </a:rPr>
              <a:t> </a:t>
            </a:r>
          </a:p>
          <a:p>
            <a:pPr marL="457200"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Remote metadata access</a:t>
            </a:r>
          </a:p>
          <a:p>
            <a:pPr marL="457200"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Reference counting</a:t>
            </a:r>
          </a:p>
        </p:txBody>
      </p:sp>
      <p:sp>
        <p:nvSpPr>
          <p:cNvPr id="9" name="文本框 8">
            <a:extLst>
              <a:ext uri="{FF2B5EF4-FFF2-40B4-BE49-F238E27FC236}">
                <a16:creationId xmlns:a16="http://schemas.microsoft.com/office/drawing/2014/main" id="{EF02B35D-C8CB-4F12-9AF1-28FD28E571C3}"/>
              </a:ext>
            </a:extLst>
          </p:cNvPr>
          <p:cNvSpPr txBox="1"/>
          <p:nvPr/>
        </p:nvSpPr>
        <p:spPr>
          <a:xfrm>
            <a:off x="5616054" y="1801727"/>
            <a:ext cx="6161964" cy="1261884"/>
          </a:xfrm>
          <a:prstGeom prst="rect">
            <a:avLst/>
          </a:prstGeom>
          <a:noFill/>
        </p:spPr>
        <p:txBody>
          <a:bodyPr wrap="square" rtlCol="0">
            <a:spAutoFit/>
          </a:bodyPr>
          <a:lstStyle/>
          <a:p>
            <a:r>
              <a:rPr lang="en-US" altLang="zh-CN" sz="2800" b="1" i="1" u="sng" dirty="0">
                <a:solidFill>
                  <a:schemeClr val="accent6">
                    <a:lumMod val="75000"/>
                  </a:schemeClr>
                </a:solidFill>
                <a:latin typeface="Calibri" panose="020F0502020204030204" pitchFamily="34" charset="0"/>
                <a:ea typeface="Calibri" panose="020F0502020204030204" pitchFamily="34" charset="0"/>
                <a:cs typeface="宋体" panose="02010600030101010101" pitchFamily="2" charset="-122"/>
              </a:rPr>
              <a:t>Solutions</a:t>
            </a:r>
            <a:r>
              <a:rPr lang="en-US" altLang="zh-CN" sz="2800" b="1" i="1" u="sng" kern="1200" dirty="0">
                <a:solidFill>
                  <a:schemeClr val="accent6">
                    <a:lumMod val="75000"/>
                  </a:schemeClr>
                </a:solidFill>
                <a:effectLst/>
                <a:latin typeface="Calibri" panose="020F0502020204030204" pitchFamily="34" charset="0"/>
                <a:ea typeface="Calibri" panose="020F0502020204030204" pitchFamily="34" charset="0"/>
                <a:cs typeface="宋体" panose="02010600030101010101" pitchFamily="2" charset="-122"/>
              </a:rPr>
              <a:t>:</a:t>
            </a:r>
            <a:r>
              <a:rPr lang="en-US" altLang="zh-CN" sz="2800" b="1" i="1" u="sng" kern="1200" dirty="0">
                <a:effectLst/>
                <a:latin typeface="Calibri" panose="020F0502020204030204" pitchFamily="34" charset="0"/>
                <a:ea typeface="Calibri" panose="020F0502020204030204" pitchFamily="34" charset="0"/>
                <a:cs typeface="宋体" panose="02010600030101010101" pitchFamily="2" charset="-122"/>
              </a:rPr>
              <a:t> </a:t>
            </a:r>
          </a:p>
          <a:p>
            <a:pPr marL="457200"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decouples memory objects from metadata</a:t>
            </a:r>
          </a:p>
          <a:p>
            <a:pPr marL="457200"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Root-only reference counting</a:t>
            </a:r>
          </a:p>
        </p:txBody>
      </p:sp>
      <p:pic>
        <p:nvPicPr>
          <p:cNvPr id="3" name="图片 2">
            <a:extLst>
              <a:ext uri="{FF2B5EF4-FFF2-40B4-BE49-F238E27FC236}">
                <a16:creationId xmlns:a16="http://schemas.microsoft.com/office/drawing/2014/main" id="{1ABCD007-87FE-486A-A34E-43187AF98899}"/>
              </a:ext>
            </a:extLst>
          </p:cNvPr>
          <p:cNvPicPr>
            <a:picLocks noChangeAspect="1"/>
          </p:cNvPicPr>
          <p:nvPr/>
        </p:nvPicPr>
        <p:blipFill>
          <a:blip r:embed="rId3"/>
          <a:stretch>
            <a:fillRect/>
          </a:stretch>
        </p:blipFill>
        <p:spPr>
          <a:xfrm>
            <a:off x="592200" y="3241360"/>
            <a:ext cx="5571855" cy="2489663"/>
          </a:xfrm>
          <a:prstGeom prst="rect">
            <a:avLst/>
          </a:prstGeom>
        </p:spPr>
      </p:pic>
      <p:sp>
        <p:nvSpPr>
          <p:cNvPr id="12" name="文本框 11">
            <a:extLst>
              <a:ext uri="{FF2B5EF4-FFF2-40B4-BE49-F238E27FC236}">
                <a16:creationId xmlns:a16="http://schemas.microsoft.com/office/drawing/2014/main" id="{C75512E8-CB79-49D7-B856-F6974B7F03D9}"/>
              </a:ext>
            </a:extLst>
          </p:cNvPr>
          <p:cNvSpPr txBox="1"/>
          <p:nvPr/>
        </p:nvSpPr>
        <p:spPr>
          <a:xfrm>
            <a:off x="705135" y="5779454"/>
            <a:ext cx="6161964" cy="461665"/>
          </a:xfrm>
          <a:prstGeom prst="rect">
            <a:avLst/>
          </a:prstGeom>
          <a:noFill/>
        </p:spPr>
        <p:txBody>
          <a:bodyPr wrap="square" rtlCol="0">
            <a:spAutoFit/>
          </a:bodyPr>
          <a:lstStyle/>
          <a:p>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decouples memory objects from metadata</a:t>
            </a:r>
          </a:p>
        </p:txBody>
      </p:sp>
      <p:pic>
        <p:nvPicPr>
          <p:cNvPr id="8" name="图片 7">
            <a:extLst>
              <a:ext uri="{FF2B5EF4-FFF2-40B4-BE49-F238E27FC236}">
                <a16:creationId xmlns:a16="http://schemas.microsoft.com/office/drawing/2014/main" id="{53287F1E-161C-40B2-9FFA-2363B8AAEC92}"/>
              </a:ext>
            </a:extLst>
          </p:cNvPr>
          <p:cNvPicPr>
            <a:picLocks noChangeAspect="1"/>
          </p:cNvPicPr>
          <p:nvPr/>
        </p:nvPicPr>
        <p:blipFill>
          <a:blip r:embed="rId4"/>
          <a:stretch>
            <a:fillRect/>
          </a:stretch>
        </p:blipFill>
        <p:spPr>
          <a:xfrm>
            <a:off x="6813804" y="3241360"/>
            <a:ext cx="4609286" cy="2006201"/>
          </a:xfrm>
          <a:prstGeom prst="rect">
            <a:avLst/>
          </a:prstGeom>
        </p:spPr>
      </p:pic>
      <p:sp>
        <p:nvSpPr>
          <p:cNvPr id="16" name="文本框 15">
            <a:extLst>
              <a:ext uri="{FF2B5EF4-FFF2-40B4-BE49-F238E27FC236}">
                <a16:creationId xmlns:a16="http://schemas.microsoft.com/office/drawing/2014/main" id="{415A0540-2205-42C8-828F-339251861BD6}"/>
              </a:ext>
            </a:extLst>
          </p:cNvPr>
          <p:cNvSpPr txBox="1"/>
          <p:nvPr/>
        </p:nvSpPr>
        <p:spPr>
          <a:xfrm>
            <a:off x="7171367" y="5779454"/>
            <a:ext cx="3894160" cy="461665"/>
          </a:xfrm>
          <a:prstGeom prst="rect">
            <a:avLst/>
          </a:prstGeom>
          <a:noFill/>
        </p:spPr>
        <p:txBody>
          <a:bodyPr wrap="square" rtlCol="0">
            <a:spAutoFit/>
          </a:bodyPr>
          <a:lstStyle/>
          <a:p>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Root-only reference counting</a:t>
            </a:r>
          </a:p>
        </p:txBody>
      </p:sp>
      <p:sp>
        <p:nvSpPr>
          <p:cNvPr id="17" name="文本框 16">
            <a:extLst>
              <a:ext uri="{FF2B5EF4-FFF2-40B4-BE49-F238E27FC236}">
                <a16:creationId xmlns:a16="http://schemas.microsoft.com/office/drawing/2014/main" id="{122E41A8-511B-418C-AD57-97BFE1170407}"/>
              </a:ext>
            </a:extLst>
          </p:cNvPr>
          <p:cNvSpPr txBox="1"/>
          <p:nvPr/>
        </p:nvSpPr>
        <p:spPr>
          <a:xfrm>
            <a:off x="4277531" y="6396335"/>
            <a:ext cx="3385251" cy="461665"/>
          </a:xfrm>
          <a:prstGeom prst="rect">
            <a:avLst/>
          </a:prstGeom>
          <a:noFill/>
        </p:spPr>
        <p:txBody>
          <a:bodyPr wrap="square" rtlCol="0">
            <a:spAutoFit/>
          </a:bodyPr>
          <a:lstStyle/>
          <a:p>
            <a:r>
              <a:rPr lang="en-US" altLang="zh-CN" sz="2400" i="1" u="sng" kern="1200" dirty="0">
                <a:effectLst/>
                <a:latin typeface="Calibri" panose="020F0502020204030204" pitchFamily="34" charset="0"/>
                <a:ea typeface="Calibri" panose="020F0502020204030204" pitchFamily="34" charset="0"/>
                <a:cs typeface="宋体" panose="02010600030101010101" pitchFamily="2" charset="-122"/>
              </a:rPr>
              <a:t>More details in the paper  </a:t>
            </a:r>
          </a:p>
        </p:txBody>
      </p:sp>
    </p:spTree>
    <p:extLst>
      <p:ext uri="{BB962C8B-B14F-4D97-AF65-F5344CB8AC3E}">
        <p14:creationId xmlns:p14="http://schemas.microsoft.com/office/powerpoint/2010/main" val="3929741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2393909"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Agenda</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a:extLst>
              <a:ext uri="{FF2B5EF4-FFF2-40B4-BE49-F238E27FC236}">
                <a16:creationId xmlns:a16="http://schemas.microsoft.com/office/drawing/2014/main" id="{7640FDC8-3DF3-4465-AF2B-958C917E3322}"/>
              </a:ext>
            </a:extLst>
          </p:cNvPr>
          <p:cNvSpPr txBox="1"/>
          <p:nvPr/>
        </p:nvSpPr>
        <p:spPr>
          <a:xfrm>
            <a:off x="1323946" y="2089506"/>
            <a:ext cx="9055265" cy="4955203"/>
          </a:xfrm>
          <a:prstGeom prst="rect">
            <a:avLst/>
          </a:prstGeom>
          <a:noFill/>
        </p:spPr>
        <p:txBody>
          <a:bodyPr wrap="square" rtlCol="0">
            <a:spAutoFit/>
          </a:bodyPr>
          <a:lstStyle/>
          <a:p>
            <a:pPr marL="571500" indent="-571500">
              <a:buFont typeface="Wingdings" panose="05000000000000000000" pitchFamily="2" charset="2"/>
              <a:buChar char="l"/>
            </a:pPr>
            <a:r>
              <a:rPr lang="en-US" altLang="zh-CN" sz="3600" dirty="0">
                <a:solidFill>
                  <a:schemeClr val="bg1">
                    <a:lumMod val="75000"/>
                  </a:schemeClr>
                </a:solidFill>
                <a:latin typeface="Calibri" panose="020F0502020204030204" pitchFamily="34" charset="0"/>
                <a:ea typeface="Calibri" panose="020F0502020204030204" pitchFamily="34" charset="0"/>
                <a:cs typeface="宋体" panose="02010600030101010101" pitchFamily="2" charset="-122"/>
              </a:rPr>
              <a:t>Background &amp; Motivation</a:t>
            </a:r>
          </a:p>
          <a:p>
            <a:pPr marL="571500" indent="-571500">
              <a:buFont typeface="Wingdings" panose="05000000000000000000" pitchFamily="2" charset="2"/>
              <a:buChar char="l"/>
            </a:pPr>
            <a:endParaRPr lang="en-US" altLang="zh-CN" sz="36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r>
              <a:rPr lang="en-US" altLang="zh-CN" sz="3600" kern="1200" dirty="0">
                <a:solidFill>
                  <a:srgbClr val="BFBFBF"/>
                </a:solidFill>
                <a:effectLst/>
                <a:latin typeface="Calibri" panose="020F0502020204030204" pitchFamily="34" charset="0"/>
                <a:ea typeface="Calibri" panose="020F0502020204030204" pitchFamily="34" charset="0"/>
                <a:cs typeface="宋体" panose="02010600030101010101" pitchFamily="2" charset="-122"/>
              </a:rPr>
              <a:t>AEP Design and Implementation</a:t>
            </a:r>
          </a:p>
          <a:p>
            <a:pPr marL="571500" indent="-571500">
              <a:buFont typeface="Wingdings" panose="05000000000000000000" pitchFamily="2" charset="2"/>
              <a:buChar char="l"/>
            </a:pPr>
            <a:endParaRPr lang="en-US" altLang="zh-CN" sz="36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r>
              <a:rPr lang="en-US" altLang="zh-CN" sz="3600" kern="1200" dirty="0">
                <a:solidFill>
                  <a:srgbClr val="2F5597"/>
                </a:solidFill>
                <a:effectLst/>
                <a:latin typeface="Calibri" panose="020F0502020204030204" pitchFamily="34" charset="0"/>
                <a:ea typeface="Calibri" panose="020F0502020204030204" pitchFamily="34" charset="0"/>
                <a:cs typeface="宋体" panose="02010600030101010101" pitchFamily="2" charset="-122"/>
              </a:rPr>
              <a:t>Evaluation</a:t>
            </a:r>
          </a:p>
          <a:p>
            <a:pPr marL="571500" indent="-571500">
              <a:buFont typeface="Wingdings" panose="05000000000000000000" pitchFamily="2" charset="2"/>
              <a:buChar char="l"/>
            </a:pPr>
            <a:endParaRPr lang="en-US" altLang="zh-CN" sz="36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r>
              <a:rPr lang="en-US" altLang="zh-CN" sz="3600" kern="1200" dirty="0">
                <a:solidFill>
                  <a:srgbClr val="BFBFBF"/>
                </a:solidFill>
                <a:effectLst/>
                <a:latin typeface="Calibri" panose="020F0502020204030204" pitchFamily="34" charset="0"/>
                <a:ea typeface="Calibri" panose="020F0502020204030204" pitchFamily="34" charset="0"/>
                <a:cs typeface="宋体" panose="02010600030101010101" pitchFamily="2" charset="-122"/>
              </a:rPr>
              <a:t>Conclusion</a:t>
            </a:r>
          </a:p>
          <a:p>
            <a:pPr marL="571500" indent="-571500">
              <a:buFont typeface="Wingdings" panose="05000000000000000000" pitchFamily="2" charset="2"/>
              <a:buChar char="l"/>
            </a:pPr>
            <a:endParaRPr lang="en-US" altLang="zh-CN" sz="44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809312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6061085"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Evaluation Setup</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a:extLst>
              <a:ext uri="{FF2B5EF4-FFF2-40B4-BE49-F238E27FC236}">
                <a16:creationId xmlns:a16="http://schemas.microsoft.com/office/drawing/2014/main" id="{6F97FDA6-FFAD-4B9E-84FB-1F847E7124EA}"/>
              </a:ext>
            </a:extLst>
          </p:cNvPr>
          <p:cNvSpPr txBox="1"/>
          <p:nvPr/>
        </p:nvSpPr>
        <p:spPr>
          <a:xfrm>
            <a:off x="510048" y="1801727"/>
            <a:ext cx="5625074" cy="4524315"/>
          </a:xfrm>
          <a:prstGeom prst="rect">
            <a:avLst/>
          </a:prstGeom>
          <a:noFill/>
        </p:spPr>
        <p:txBody>
          <a:bodyPr wrap="square" rtlCol="0">
            <a:spAutoFit/>
          </a:bodyPr>
          <a:lstStyle/>
          <a:p>
            <a:pPr marL="457200" indent="-457200">
              <a:buFont typeface="Arial" panose="020B0604020202020204" pitchFamily="34" charset="0"/>
              <a:buChar char="•"/>
            </a:pPr>
            <a:r>
              <a:rPr lang="en-US" altLang="zh-CN" sz="2400" dirty="0">
                <a:latin typeface="Calibri" panose="020F0502020204030204" pitchFamily="34" charset="0"/>
                <a:ea typeface="Calibri" panose="020F0502020204030204" pitchFamily="34" charset="0"/>
                <a:cs typeface="宋体" panose="02010600030101010101" pitchFamily="2" charset="-122"/>
              </a:rPr>
              <a:t>D</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ual-socket server</a:t>
            </a:r>
          </a:p>
          <a:p>
            <a:pPr marL="457200"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CPU: 2 Intel Xeon Gold 6416H 2.10GHz, 36 physical cores (72 logical threads) </a:t>
            </a:r>
          </a:p>
          <a:p>
            <a:pPr marL="457200"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 Memory</a:t>
            </a:r>
            <a:r>
              <a:rPr lang="en-US" altLang="zh-CN" sz="2400" dirty="0">
                <a:latin typeface="Calibri" panose="020F0502020204030204" pitchFamily="34" charset="0"/>
                <a:ea typeface="Calibri" panose="020F0502020204030204" pitchFamily="34" charset="0"/>
                <a:cs typeface="宋体" panose="02010600030101010101" pitchFamily="2" charset="-122"/>
              </a:rPr>
              <a:t>:</a:t>
            </a:r>
            <a:r>
              <a:rPr lang="zh-CN" altLang="en-US" sz="2400" dirty="0">
                <a:latin typeface="Calibri" panose="020F0502020204030204" pitchFamily="34" charset="0"/>
                <a:ea typeface="Calibri" panose="020F0502020204030204" pitchFamily="34" charset="0"/>
                <a:cs typeface="宋体" panose="02010600030101010101" pitchFamily="2" charset="-122"/>
              </a:rPr>
              <a:t> </a:t>
            </a:r>
            <a:r>
              <a:rPr lang="en-US" altLang="zh-CN" sz="2400" dirty="0">
                <a:latin typeface="Calibri" panose="020F0502020204030204" pitchFamily="34" charset="0"/>
                <a:ea typeface="Calibri" panose="020F0502020204030204" pitchFamily="34" charset="0"/>
                <a:cs typeface="宋体" panose="02010600030101010101" pitchFamily="2" charset="-122"/>
              </a:rPr>
              <a:t>128GB local DRAM</a:t>
            </a:r>
          </a:p>
          <a:p>
            <a:pPr marL="457200"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CXL: Montage CXL memory controller [1] (CXL 1.1), 32GB memory pool</a:t>
            </a:r>
          </a:p>
          <a:p>
            <a:pPr marL="457200"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OS: Ubuntu 22.04, Linux 6.9.2</a:t>
            </a:r>
          </a:p>
          <a:p>
            <a:pPr marL="457200"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Compared Systems: </a:t>
            </a:r>
          </a:p>
          <a:p>
            <a:pPr marL="914400" lvl="1" indent="-457200">
              <a:buFont typeface="Arial" panose="020B0604020202020204" pitchFamily="34" charset="0"/>
              <a:buChar char="•"/>
            </a:pPr>
            <a:r>
              <a:rPr lang="en-US" altLang="zh-CN" sz="2400" dirty="0">
                <a:latin typeface="Calibri" panose="020F0502020204030204" pitchFamily="34" charset="0"/>
                <a:ea typeface="Calibri" panose="020F0502020204030204" pitchFamily="34" charset="0"/>
                <a:cs typeface="宋体" panose="02010600030101010101" pitchFamily="2" charset="-122"/>
              </a:rPr>
              <a:t>l</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ock-based DSM: Lightning[VLDB’22]</a:t>
            </a:r>
          </a:p>
          <a:p>
            <a:pPr marL="914400" lvl="1"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lock-free DSM: CXL-SHM[SOSP’23] </a:t>
            </a:r>
          </a:p>
          <a:p>
            <a:pPr marL="914400" lvl="1"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Baseline: local memory, no fault tolerance.</a:t>
            </a:r>
          </a:p>
        </p:txBody>
      </p:sp>
      <p:sp>
        <p:nvSpPr>
          <p:cNvPr id="8" name="内容占位符 2">
            <a:extLst>
              <a:ext uri="{FF2B5EF4-FFF2-40B4-BE49-F238E27FC236}">
                <a16:creationId xmlns:a16="http://schemas.microsoft.com/office/drawing/2014/main" id="{1629308B-BF3C-4203-B9B0-496F2610A9B0}"/>
              </a:ext>
            </a:extLst>
          </p:cNvPr>
          <p:cNvSpPr txBox="1">
            <a:spLocks/>
          </p:cNvSpPr>
          <p:nvPr/>
        </p:nvSpPr>
        <p:spPr>
          <a:xfrm>
            <a:off x="769619" y="6519828"/>
            <a:ext cx="11363508" cy="406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000"/>
              </a:lnSpc>
              <a:buNone/>
            </a:pPr>
            <a:r>
              <a:rPr lang="en-US" altLang="zh-CN" sz="1600" dirty="0">
                <a:solidFill>
                  <a:srgbClr val="BFBFBF"/>
                </a:solidFill>
                <a:latin typeface="Calibri" panose="020F0502020204030204" pitchFamily="34" charset="0"/>
                <a:ea typeface="Calibri" panose="020F0502020204030204" pitchFamily="34" charset="0"/>
                <a:cs typeface="Calibri" panose="020F0502020204030204" pitchFamily="34" charset="0"/>
              </a:rPr>
              <a:t>[1]Montage 2025. Montage CXL Memory Expander Controller. </a:t>
            </a:r>
            <a:r>
              <a:rPr lang="en-US" altLang="zh-CN" sz="1600" dirty="0" err="1">
                <a:solidFill>
                  <a:srgbClr val="BFBFBF"/>
                </a:solidFill>
                <a:latin typeface="Calibri" panose="020F0502020204030204" pitchFamily="34" charset="0"/>
                <a:ea typeface="Calibri" panose="020F0502020204030204" pitchFamily="34" charset="0"/>
                <a:cs typeface="Calibri" panose="020F0502020204030204" pitchFamily="34" charset="0"/>
              </a:rPr>
              <a:t>Montage,https</a:t>
            </a:r>
            <a:r>
              <a:rPr lang="en-US" altLang="zh-CN" sz="1600" dirty="0">
                <a:solidFill>
                  <a:srgbClr val="BFBFBF"/>
                </a:solidFill>
                <a:latin typeface="Calibri" panose="020F0502020204030204" pitchFamily="34" charset="0"/>
                <a:ea typeface="Calibri" panose="020F0502020204030204" pitchFamily="34" charset="0"/>
                <a:cs typeface="Calibri" panose="020F0502020204030204" pitchFamily="34" charset="0"/>
              </a:rPr>
              <a:t>://www.montage-tech.com/MXC/M88MX5891&amp;5851.</a:t>
            </a:r>
            <a:endParaRPr lang="en-US" altLang="zh-CN" dirty="0"/>
          </a:p>
        </p:txBody>
      </p:sp>
      <p:pic>
        <p:nvPicPr>
          <p:cNvPr id="3" name="图片 2">
            <a:extLst>
              <a:ext uri="{FF2B5EF4-FFF2-40B4-BE49-F238E27FC236}">
                <a16:creationId xmlns:a16="http://schemas.microsoft.com/office/drawing/2014/main" id="{53A6A16E-D8FA-40B2-B069-0D91AD8F81C2}"/>
              </a:ext>
            </a:extLst>
          </p:cNvPr>
          <p:cNvPicPr>
            <a:picLocks noChangeAspect="1"/>
          </p:cNvPicPr>
          <p:nvPr/>
        </p:nvPicPr>
        <p:blipFill>
          <a:blip r:embed="rId3"/>
          <a:stretch>
            <a:fillRect/>
          </a:stretch>
        </p:blipFill>
        <p:spPr>
          <a:xfrm>
            <a:off x="6207915" y="4572166"/>
            <a:ext cx="5625074" cy="1199879"/>
          </a:xfrm>
          <a:prstGeom prst="rect">
            <a:avLst/>
          </a:prstGeom>
        </p:spPr>
      </p:pic>
      <p:sp>
        <p:nvSpPr>
          <p:cNvPr id="9" name="文本框 8">
            <a:extLst>
              <a:ext uri="{FF2B5EF4-FFF2-40B4-BE49-F238E27FC236}">
                <a16:creationId xmlns:a16="http://schemas.microsoft.com/office/drawing/2014/main" id="{FBE614F5-AA8D-4BD8-8EED-E705E250413E}"/>
              </a:ext>
            </a:extLst>
          </p:cNvPr>
          <p:cNvSpPr txBox="1"/>
          <p:nvPr/>
        </p:nvSpPr>
        <p:spPr>
          <a:xfrm>
            <a:off x="5939470" y="4184050"/>
            <a:ext cx="6161964" cy="461665"/>
          </a:xfrm>
          <a:prstGeom prst="rect">
            <a:avLst/>
          </a:prstGeom>
          <a:noFill/>
        </p:spPr>
        <p:txBody>
          <a:bodyPr wrap="square" rtlCol="0">
            <a:spAutoFit/>
          </a:bodyPr>
          <a:lstStyle/>
          <a:p>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Memory throughput and latency characteristics</a:t>
            </a:r>
          </a:p>
        </p:txBody>
      </p:sp>
      <p:sp>
        <p:nvSpPr>
          <p:cNvPr id="10" name="矩形 9">
            <a:extLst>
              <a:ext uri="{FF2B5EF4-FFF2-40B4-BE49-F238E27FC236}">
                <a16:creationId xmlns:a16="http://schemas.microsoft.com/office/drawing/2014/main" id="{5FF38C61-F8B3-44C6-9ED1-AAA9560329FB}"/>
              </a:ext>
            </a:extLst>
          </p:cNvPr>
          <p:cNvSpPr/>
          <p:nvPr/>
        </p:nvSpPr>
        <p:spPr>
          <a:xfrm>
            <a:off x="7629104" y="2392228"/>
            <a:ext cx="1003111" cy="614149"/>
          </a:xfrm>
          <a:prstGeom prst="rect">
            <a:avLst/>
          </a:prstGeom>
          <a:solidFill>
            <a:schemeClr val="accent2">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Calibri" panose="020F0502020204030204" pitchFamily="34" charset="0"/>
                <a:ea typeface="Calibri" panose="020F0502020204030204" pitchFamily="34" charset="0"/>
                <a:cs typeface="Calibri" panose="020F0502020204030204" pitchFamily="34" charset="0"/>
              </a:rPr>
              <a:t>CPU 0</a:t>
            </a:r>
            <a:endParaRPr lang="zh-CN" altLang="en-US" sz="2000" dirty="0">
              <a:latin typeface="Calibri" panose="020F0502020204030204" pitchFamily="34" charset="0"/>
              <a:cs typeface="Calibri" panose="020F0502020204030204" pitchFamily="34" charset="0"/>
            </a:endParaRPr>
          </a:p>
        </p:txBody>
      </p:sp>
      <p:sp>
        <p:nvSpPr>
          <p:cNvPr id="11" name="矩形 10">
            <a:extLst>
              <a:ext uri="{FF2B5EF4-FFF2-40B4-BE49-F238E27FC236}">
                <a16:creationId xmlns:a16="http://schemas.microsoft.com/office/drawing/2014/main" id="{6A60630E-16D1-4952-8538-5B8047A762B8}"/>
              </a:ext>
            </a:extLst>
          </p:cNvPr>
          <p:cNvSpPr/>
          <p:nvPr/>
        </p:nvSpPr>
        <p:spPr>
          <a:xfrm>
            <a:off x="9241814" y="2392228"/>
            <a:ext cx="1003111" cy="614149"/>
          </a:xfrm>
          <a:prstGeom prst="rect">
            <a:avLst/>
          </a:prstGeom>
          <a:solidFill>
            <a:schemeClr val="accent2">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Calibri" panose="020F0502020204030204" pitchFamily="34" charset="0"/>
                <a:ea typeface="Calibri" panose="020F0502020204030204" pitchFamily="34" charset="0"/>
                <a:cs typeface="Calibri" panose="020F0502020204030204" pitchFamily="34" charset="0"/>
              </a:rPr>
              <a:t>CPU 1</a:t>
            </a:r>
            <a:endParaRPr lang="zh-CN" altLang="en-US" sz="2000" dirty="0">
              <a:latin typeface="Calibri" panose="020F0502020204030204" pitchFamily="34" charset="0"/>
              <a:cs typeface="Calibri" panose="020F0502020204030204" pitchFamily="34" charset="0"/>
            </a:endParaRPr>
          </a:p>
        </p:txBody>
      </p:sp>
      <p:sp>
        <p:nvSpPr>
          <p:cNvPr id="12" name="矩形 11">
            <a:extLst>
              <a:ext uri="{FF2B5EF4-FFF2-40B4-BE49-F238E27FC236}">
                <a16:creationId xmlns:a16="http://schemas.microsoft.com/office/drawing/2014/main" id="{E691A3F9-245D-4516-82E7-4C0199C03CC1}"/>
              </a:ext>
            </a:extLst>
          </p:cNvPr>
          <p:cNvSpPr/>
          <p:nvPr/>
        </p:nvSpPr>
        <p:spPr>
          <a:xfrm>
            <a:off x="8682257" y="3125000"/>
            <a:ext cx="486769" cy="1816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a:extLst>
              <a:ext uri="{FF2B5EF4-FFF2-40B4-BE49-F238E27FC236}">
                <a16:creationId xmlns:a16="http://schemas.microsoft.com/office/drawing/2014/main" id="{4BA372A5-A785-4F77-9F2E-B7A0502E8DD9}"/>
              </a:ext>
            </a:extLst>
          </p:cNvPr>
          <p:cNvCxnSpPr>
            <a:stCxn id="10" idx="3"/>
            <a:endCxn id="11" idx="1"/>
          </p:cNvCxnSpPr>
          <p:nvPr/>
        </p:nvCxnSpPr>
        <p:spPr>
          <a:xfrm>
            <a:off x="8632215" y="2699303"/>
            <a:ext cx="609599"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矩形: 圆角 14">
            <a:extLst>
              <a:ext uri="{FF2B5EF4-FFF2-40B4-BE49-F238E27FC236}">
                <a16:creationId xmlns:a16="http://schemas.microsoft.com/office/drawing/2014/main" id="{4C55B08A-2275-4ECC-8E7F-C0A152EA208A}"/>
              </a:ext>
            </a:extLst>
          </p:cNvPr>
          <p:cNvSpPr/>
          <p:nvPr/>
        </p:nvSpPr>
        <p:spPr>
          <a:xfrm>
            <a:off x="8096539" y="1801727"/>
            <a:ext cx="1658204" cy="508209"/>
          </a:xfrm>
          <a:prstGeom prst="round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alibri" panose="020F0502020204030204" pitchFamily="34" charset="0"/>
                <a:ea typeface="Calibri" panose="020F0502020204030204" pitchFamily="34" charset="0"/>
                <a:cs typeface="Calibri" panose="020F0502020204030204" pitchFamily="34" charset="0"/>
              </a:rPr>
              <a:t>Local mem 128GB</a:t>
            </a:r>
            <a:endParaRPr lang="zh-CN" altLang="en-US" dirty="0">
              <a:solidFill>
                <a:schemeClr val="tx1"/>
              </a:solidFill>
              <a:latin typeface="Calibri" panose="020F0502020204030204" pitchFamily="34" charset="0"/>
              <a:cs typeface="Calibri" panose="020F0502020204030204" pitchFamily="34" charset="0"/>
            </a:endParaRPr>
          </a:p>
        </p:txBody>
      </p:sp>
      <p:cxnSp>
        <p:nvCxnSpPr>
          <p:cNvPr id="16" name="直接连接符 15">
            <a:extLst>
              <a:ext uri="{FF2B5EF4-FFF2-40B4-BE49-F238E27FC236}">
                <a16:creationId xmlns:a16="http://schemas.microsoft.com/office/drawing/2014/main" id="{57168899-CEFF-4529-9B92-E17CA565885E}"/>
              </a:ext>
            </a:extLst>
          </p:cNvPr>
          <p:cNvCxnSpPr>
            <a:cxnSpLocks/>
            <a:stCxn id="15" idx="2"/>
            <a:endCxn id="12" idx="0"/>
          </p:cNvCxnSpPr>
          <p:nvPr/>
        </p:nvCxnSpPr>
        <p:spPr>
          <a:xfrm>
            <a:off x="8925641" y="2309936"/>
            <a:ext cx="1" cy="815064"/>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20" name="矩形: 圆角 19">
            <a:extLst>
              <a:ext uri="{FF2B5EF4-FFF2-40B4-BE49-F238E27FC236}">
                <a16:creationId xmlns:a16="http://schemas.microsoft.com/office/drawing/2014/main" id="{C8654C9E-9A64-46E2-870A-1AFA6B2FE992}"/>
              </a:ext>
            </a:extLst>
          </p:cNvPr>
          <p:cNvSpPr/>
          <p:nvPr/>
        </p:nvSpPr>
        <p:spPr>
          <a:xfrm>
            <a:off x="8096539" y="3483741"/>
            <a:ext cx="1658204" cy="518630"/>
          </a:xfrm>
          <a:prstGeom prst="round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Calibri" panose="020F0502020204030204" pitchFamily="34" charset="0"/>
                <a:ea typeface="Calibri" panose="020F0502020204030204" pitchFamily="34" charset="0"/>
                <a:cs typeface="Calibri" panose="020F0502020204030204" pitchFamily="34" charset="0"/>
              </a:rPr>
              <a:t>Remote mem pool 32GB</a:t>
            </a:r>
            <a:endParaRPr lang="zh-CN" altLang="en-US" dirty="0">
              <a:solidFill>
                <a:schemeClr val="tx1"/>
              </a:solidFill>
              <a:latin typeface="Calibri" panose="020F0502020204030204" pitchFamily="34" charset="0"/>
              <a:cs typeface="Calibri" panose="020F0502020204030204" pitchFamily="34" charset="0"/>
            </a:endParaRPr>
          </a:p>
        </p:txBody>
      </p:sp>
      <p:cxnSp>
        <p:nvCxnSpPr>
          <p:cNvPr id="21" name="直接连接符 20">
            <a:extLst>
              <a:ext uri="{FF2B5EF4-FFF2-40B4-BE49-F238E27FC236}">
                <a16:creationId xmlns:a16="http://schemas.microsoft.com/office/drawing/2014/main" id="{4C1FB31C-CFDB-4D33-9EC8-A6D7A0650E54}"/>
              </a:ext>
            </a:extLst>
          </p:cNvPr>
          <p:cNvCxnSpPr>
            <a:cxnSpLocks/>
            <a:stCxn id="12" idx="2"/>
            <a:endCxn id="20" idx="0"/>
          </p:cNvCxnSpPr>
          <p:nvPr/>
        </p:nvCxnSpPr>
        <p:spPr>
          <a:xfrm flipH="1">
            <a:off x="8925641" y="3306680"/>
            <a:ext cx="1" cy="1770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椭圆 27">
            <a:extLst>
              <a:ext uri="{FF2B5EF4-FFF2-40B4-BE49-F238E27FC236}">
                <a16:creationId xmlns:a16="http://schemas.microsoft.com/office/drawing/2014/main" id="{18B51E6F-77B6-4D68-836F-6408250C578A}"/>
              </a:ext>
            </a:extLst>
          </p:cNvPr>
          <p:cNvSpPr/>
          <p:nvPr/>
        </p:nvSpPr>
        <p:spPr>
          <a:xfrm>
            <a:off x="8793712" y="2583523"/>
            <a:ext cx="263857" cy="229058"/>
          </a:xfrm>
          <a:prstGeom prst="ellipse">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63989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12100220"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Microbenchmark: </a:t>
            </a:r>
            <a:r>
              <a:rPr lang="en-US" altLang="zh-CN" sz="4400" kern="1200" dirty="0" err="1">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Threadtest</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pic>
        <p:nvPicPr>
          <p:cNvPr id="6" name="图片 5">
            <a:extLst>
              <a:ext uri="{FF2B5EF4-FFF2-40B4-BE49-F238E27FC236}">
                <a16:creationId xmlns:a16="http://schemas.microsoft.com/office/drawing/2014/main" id="{5647431A-CFBF-4127-B845-F66FE9A09214}"/>
              </a:ext>
            </a:extLst>
          </p:cNvPr>
          <p:cNvPicPr>
            <a:picLocks noChangeAspect="1"/>
          </p:cNvPicPr>
          <p:nvPr/>
        </p:nvPicPr>
        <p:blipFill>
          <a:blip r:embed="rId3"/>
          <a:stretch>
            <a:fillRect/>
          </a:stretch>
        </p:blipFill>
        <p:spPr>
          <a:xfrm>
            <a:off x="1078173" y="1801727"/>
            <a:ext cx="9833212" cy="2308771"/>
          </a:xfrm>
          <a:prstGeom prst="rect">
            <a:avLst/>
          </a:prstGeom>
        </p:spPr>
      </p:pic>
      <p:pic>
        <p:nvPicPr>
          <p:cNvPr id="17" name="图片 16">
            <a:extLst>
              <a:ext uri="{FF2B5EF4-FFF2-40B4-BE49-F238E27FC236}">
                <a16:creationId xmlns:a16="http://schemas.microsoft.com/office/drawing/2014/main" id="{48B5B8A9-B548-47D0-9879-F3F722C4CB9E}"/>
              </a:ext>
            </a:extLst>
          </p:cNvPr>
          <p:cNvPicPr>
            <a:picLocks noChangeAspect="1"/>
          </p:cNvPicPr>
          <p:nvPr/>
        </p:nvPicPr>
        <p:blipFill>
          <a:blip r:embed="rId4"/>
          <a:stretch>
            <a:fillRect/>
          </a:stretch>
        </p:blipFill>
        <p:spPr>
          <a:xfrm>
            <a:off x="7465326" y="4428607"/>
            <a:ext cx="3534770" cy="2000015"/>
          </a:xfrm>
          <a:prstGeom prst="rect">
            <a:avLst/>
          </a:prstGeom>
        </p:spPr>
      </p:pic>
      <p:sp>
        <p:nvSpPr>
          <p:cNvPr id="22" name="文本框 21">
            <a:extLst>
              <a:ext uri="{FF2B5EF4-FFF2-40B4-BE49-F238E27FC236}">
                <a16:creationId xmlns:a16="http://schemas.microsoft.com/office/drawing/2014/main" id="{10D29748-F048-4DF1-9E31-C3EE6B834C6D}"/>
              </a:ext>
            </a:extLst>
          </p:cNvPr>
          <p:cNvSpPr txBox="1"/>
          <p:nvPr/>
        </p:nvSpPr>
        <p:spPr>
          <a:xfrm>
            <a:off x="626315" y="4428607"/>
            <a:ext cx="6743476" cy="2308324"/>
          </a:xfrm>
          <a:prstGeom prst="rect">
            <a:avLst/>
          </a:prstGeom>
          <a:noFill/>
        </p:spPr>
        <p:txBody>
          <a:bodyPr wrap="square" rtlCol="0">
            <a:spAutoFit/>
          </a:bodyPr>
          <a:lstStyle/>
          <a:p>
            <a:pPr marL="457200" indent="-457200">
              <a:buFont typeface="Arial" panose="020B0604020202020204" pitchFamily="34" charset="0"/>
              <a:buChar char="•"/>
            </a:pPr>
            <a:r>
              <a:rPr lang="en-US" altLang="zh-CN" sz="2400"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13×</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 higher throughput than CXL-SHM</a:t>
            </a:r>
          </a:p>
          <a:p>
            <a:pPr marL="457200"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 Need </a:t>
            </a:r>
            <a:r>
              <a:rPr lang="en-US" altLang="zh-CN" sz="2400"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6 extra bytes</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 of </a:t>
            </a:r>
            <a:r>
              <a:rPr lang="en-US" altLang="zh-CN" sz="2400"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local</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 metadata per object vs. CXL-SHM</a:t>
            </a:r>
          </a:p>
          <a:p>
            <a:pPr marL="457200" indent="-457200">
              <a:buFont typeface="Arial" panose="020B0604020202020204" pitchFamily="34" charset="0"/>
              <a:buChar char="•"/>
            </a:pPr>
            <a:r>
              <a:rPr lang="en-US" altLang="zh-CN" sz="2400" dirty="0">
                <a:latin typeface="Calibri" panose="020F0502020204030204" pitchFamily="34" charset="0"/>
                <a:ea typeface="Calibri" panose="020F0502020204030204" pitchFamily="34" charset="0"/>
                <a:cs typeface="宋体" panose="02010600030101010101" pitchFamily="2" charset="-122"/>
              </a:rPr>
              <a:t>P</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rofiling: Memory fences &amp; flushes occur only on inter-node allocations, keeping overhead low.</a:t>
            </a:r>
          </a:p>
          <a:p>
            <a:pPr marL="457200" indent="-4572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Intra-node allocator </a:t>
            </a:r>
            <a:r>
              <a:rPr lang="en-US" altLang="zh-CN" sz="2400"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can be customized</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a:t>
            </a:r>
          </a:p>
        </p:txBody>
      </p:sp>
    </p:spTree>
    <p:extLst>
      <p:ext uri="{BB962C8B-B14F-4D97-AF65-F5344CB8AC3E}">
        <p14:creationId xmlns:p14="http://schemas.microsoft.com/office/powerpoint/2010/main" val="2182022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12100220"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Microbenchmark: Memory Transmission</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22" name="文本框 21">
            <a:extLst>
              <a:ext uri="{FF2B5EF4-FFF2-40B4-BE49-F238E27FC236}">
                <a16:creationId xmlns:a16="http://schemas.microsoft.com/office/drawing/2014/main" id="{10D29748-F048-4DF1-9E31-C3EE6B834C6D}"/>
              </a:ext>
            </a:extLst>
          </p:cNvPr>
          <p:cNvSpPr txBox="1"/>
          <p:nvPr/>
        </p:nvSpPr>
        <p:spPr>
          <a:xfrm>
            <a:off x="339713" y="4452705"/>
            <a:ext cx="6613822" cy="1938992"/>
          </a:xfrm>
          <a:prstGeom prst="rect">
            <a:avLst/>
          </a:prstGeom>
          <a:noFill/>
        </p:spPr>
        <p:txBody>
          <a:bodyPr wrap="square" rtlCol="0">
            <a:spAutoFit/>
          </a:bodyPr>
          <a:lstStyle/>
          <a:p>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Single object transfer performance </a:t>
            </a:r>
          </a:p>
          <a:p>
            <a:pPr marL="342900" indent="-342900">
              <a:buFont typeface="Arial" panose="020B0604020202020204" pitchFamily="34" charset="0"/>
              <a:buChar char="•"/>
            </a:pPr>
            <a:r>
              <a:rPr lang="en-US" altLang="zh-CN" sz="2400"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14.4×</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 higher throughput for </a:t>
            </a:r>
            <a:r>
              <a:rPr lang="en-US" altLang="zh-CN" sz="2400"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intra-node </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single-object transfers</a:t>
            </a:r>
          </a:p>
          <a:p>
            <a:pPr marL="342900" indent="-342900">
              <a:buFont typeface="Arial" panose="020B0604020202020204" pitchFamily="34" charset="0"/>
              <a:buChar char="•"/>
            </a:pP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Two systems perform comparably in the </a:t>
            </a:r>
            <a:r>
              <a:rPr lang="en-US" altLang="zh-CN" sz="2400"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cross-node</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 case</a:t>
            </a:r>
          </a:p>
        </p:txBody>
      </p:sp>
      <p:pic>
        <p:nvPicPr>
          <p:cNvPr id="8" name="图片 7">
            <a:extLst>
              <a:ext uri="{FF2B5EF4-FFF2-40B4-BE49-F238E27FC236}">
                <a16:creationId xmlns:a16="http://schemas.microsoft.com/office/drawing/2014/main" id="{0C239425-74E0-4A28-A389-9AA9EFE5FA9B}"/>
              </a:ext>
            </a:extLst>
          </p:cNvPr>
          <p:cNvPicPr>
            <a:picLocks noChangeAspect="1"/>
          </p:cNvPicPr>
          <p:nvPr/>
        </p:nvPicPr>
        <p:blipFill>
          <a:blip r:embed="rId3"/>
          <a:stretch>
            <a:fillRect/>
          </a:stretch>
        </p:blipFill>
        <p:spPr>
          <a:xfrm>
            <a:off x="6455390" y="1992586"/>
            <a:ext cx="5464431" cy="2067623"/>
          </a:xfrm>
          <a:prstGeom prst="rect">
            <a:avLst/>
          </a:prstGeom>
        </p:spPr>
      </p:pic>
      <p:pic>
        <p:nvPicPr>
          <p:cNvPr id="10" name="图片 9">
            <a:extLst>
              <a:ext uri="{FF2B5EF4-FFF2-40B4-BE49-F238E27FC236}">
                <a16:creationId xmlns:a16="http://schemas.microsoft.com/office/drawing/2014/main" id="{E8FB905D-A9FC-4221-9845-68C7C07416AB}"/>
              </a:ext>
            </a:extLst>
          </p:cNvPr>
          <p:cNvPicPr>
            <a:picLocks noChangeAspect="1"/>
          </p:cNvPicPr>
          <p:nvPr/>
        </p:nvPicPr>
        <p:blipFill>
          <a:blip r:embed="rId4"/>
          <a:stretch>
            <a:fillRect/>
          </a:stretch>
        </p:blipFill>
        <p:spPr>
          <a:xfrm>
            <a:off x="213815" y="1969354"/>
            <a:ext cx="6146042" cy="2135210"/>
          </a:xfrm>
          <a:prstGeom prst="rect">
            <a:avLst/>
          </a:prstGeom>
        </p:spPr>
      </p:pic>
      <p:sp>
        <p:nvSpPr>
          <p:cNvPr id="13" name="文本框 12">
            <a:extLst>
              <a:ext uri="{FF2B5EF4-FFF2-40B4-BE49-F238E27FC236}">
                <a16:creationId xmlns:a16="http://schemas.microsoft.com/office/drawing/2014/main" id="{370BC413-D892-4D5E-846F-15D95F5E14D6}"/>
              </a:ext>
            </a:extLst>
          </p:cNvPr>
          <p:cNvSpPr txBox="1"/>
          <p:nvPr/>
        </p:nvSpPr>
        <p:spPr>
          <a:xfrm>
            <a:off x="6819729" y="4452705"/>
            <a:ext cx="5331726" cy="1200329"/>
          </a:xfrm>
          <a:prstGeom prst="rect">
            <a:avLst/>
          </a:prstGeom>
          <a:noFill/>
        </p:spPr>
        <p:txBody>
          <a:bodyPr wrap="square" rtlCol="0">
            <a:spAutoFit/>
          </a:bodyPr>
          <a:lstStyle/>
          <a:p>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Structural object (binary tree) transfer </a:t>
            </a:r>
          </a:p>
          <a:p>
            <a:pPr marL="342900" indent="-342900">
              <a:buFont typeface="Arial" panose="020B0604020202020204" pitchFamily="34" charset="0"/>
              <a:buChar char="•"/>
            </a:pPr>
            <a:r>
              <a:rPr lang="en-US" altLang="zh-CN" sz="2400" dirty="0">
                <a:solidFill>
                  <a:srgbClr val="FF0000"/>
                </a:solidFill>
                <a:latin typeface="Calibri" panose="020F0502020204030204" pitchFamily="34" charset="0"/>
                <a:ea typeface="Calibri" panose="020F0502020204030204" pitchFamily="34" charset="0"/>
                <a:cs typeface="宋体" panose="02010600030101010101" pitchFamily="2" charset="-122"/>
              </a:rPr>
              <a:t>12</a:t>
            </a:r>
            <a:r>
              <a:rPr lang="en-US" altLang="zh-CN" sz="2400"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 </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faster than CXL-SHM -&gt; Root only </a:t>
            </a:r>
            <a:r>
              <a:rPr lang="en-US" altLang="zh-CN" sz="2400" kern="1200" dirty="0" err="1">
                <a:effectLst/>
                <a:latin typeface="Calibri" panose="020F0502020204030204" pitchFamily="34" charset="0"/>
                <a:ea typeface="Calibri" panose="020F0502020204030204" pitchFamily="34" charset="0"/>
                <a:cs typeface="宋体" panose="02010600030101010101" pitchFamily="2" charset="-122"/>
              </a:rPr>
              <a:t>refcount</a:t>
            </a:r>
            <a:endParaRPr lang="en-US" altLang="zh-CN" sz="2400" kern="1200" dirty="0">
              <a:effectLst/>
              <a:latin typeface="Calibri" panose="020F0502020204030204" pitchFamily="34" charset="0"/>
              <a:ea typeface="Calibri" panose="020F0502020204030204" pitchFamily="34" charset="0"/>
              <a:cs typeface="宋体" panose="02010600030101010101" pitchFamily="2" charset="-122"/>
            </a:endParaRPr>
          </a:p>
        </p:txBody>
      </p:sp>
      <p:cxnSp>
        <p:nvCxnSpPr>
          <p:cNvPr id="12" name="直接箭头连接符 11">
            <a:extLst>
              <a:ext uri="{FF2B5EF4-FFF2-40B4-BE49-F238E27FC236}">
                <a16:creationId xmlns:a16="http://schemas.microsoft.com/office/drawing/2014/main" id="{08078949-88AE-4768-8842-FEA35F06F6C4}"/>
              </a:ext>
            </a:extLst>
          </p:cNvPr>
          <p:cNvCxnSpPr>
            <a:cxnSpLocks/>
          </p:cNvCxnSpPr>
          <p:nvPr/>
        </p:nvCxnSpPr>
        <p:spPr>
          <a:xfrm>
            <a:off x="9194014" y="2141865"/>
            <a:ext cx="0" cy="2510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F440F5DF-0BE9-4085-8C9D-8BFF09F710E0}"/>
              </a:ext>
            </a:extLst>
          </p:cNvPr>
          <p:cNvSpPr txBox="1"/>
          <p:nvPr/>
        </p:nvSpPr>
        <p:spPr>
          <a:xfrm>
            <a:off x="8818975" y="2494577"/>
            <a:ext cx="882965" cy="369332"/>
          </a:xfrm>
          <a:prstGeom prst="rect">
            <a:avLst/>
          </a:prstGeom>
          <a:noFill/>
        </p:spPr>
        <p:txBody>
          <a:bodyPr wrap="square" rtlCol="0">
            <a:spAutoFit/>
          </a:bodyPr>
          <a:lstStyle/>
          <a:p>
            <a:r>
              <a:rPr lang="en-US" altLang="zh-CN"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12×</a:t>
            </a:r>
            <a:endParaRPr lang="en-US" altLang="zh-CN" kern="1200" dirty="0">
              <a:effectLst/>
              <a:latin typeface="Calibri" panose="020F0502020204030204" pitchFamily="34" charset="0"/>
              <a:ea typeface="Calibri" panose="020F0502020204030204" pitchFamily="34" charset="0"/>
              <a:cs typeface="宋体" panose="02010600030101010101" pitchFamily="2" charset="-122"/>
            </a:endParaRPr>
          </a:p>
        </p:txBody>
      </p:sp>
      <p:cxnSp>
        <p:nvCxnSpPr>
          <p:cNvPr id="20" name="直接箭头连接符 19">
            <a:extLst>
              <a:ext uri="{FF2B5EF4-FFF2-40B4-BE49-F238E27FC236}">
                <a16:creationId xmlns:a16="http://schemas.microsoft.com/office/drawing/2014/main" id="{F91C2FEE-1EF1-4937-AA64-689832F78C97}"/>
              </a:ext>
            </a:extLst>
          </p:cNvPr>
          <p:cNvCxnSpPr>
            <a:cxnSpLocks/>
          </p:cNvCxnSpPr>
          <p:nvPr/>
        </p:nvCxnSpPr>
        <p:spPr>
          <a:xfrm flipV="1">
            <a:off x="11726954" y="2771096"/>
            <a:ext cx="0" cy="46236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D46A5C5-2FCF-4605-B25E-5A009ECE8337}"/>
              </a:ext>
            </a:extLst>
          </p:cNvPr>
          <p:cNvSpPr txBox="1"/>
          <p:nvPr/>
        </p:nvSpPr>
        <p:spPr>
          <a:xfrm>
            <a:off x="9871274" y="2771096"/>
            <a:ext cx="1457987" cy="369332"/>
          </a:xfrm>
          <a:prstGeom prst="rect">
            <a:avLst/>
          </a:prstGeom>
          <a:noFill/>
        </p:spPr>
        <p:txBody>
          <a:bodyPr wrap="square" rtlCol="0">
            <a:spAutoFit/>
          </a:bodyPr>
          <a:lstStyle/>
          <a:p>
            <a:r>
              <a:rPr lang="en-US" altLang="zh-CN"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3.72× slower</a:t>
            </a:r>
            <a:endParaRPr lang="en-US" altLang="zh-CN" kern="1200" dirty="0">
              <a:effectLst/>
              <a:latin typeface="Calibri" panose="020F0502020204030204" pitchFamily="34" charset="0"/>
              <a:ea typeface="Calibri" panose="020F0502020204030204" pitchFamily="34" charset="0"/>
              <a:cs typeface="宋体" panose="02010600030101010101" pitchFamily="2" charset="-122"/>
            </a:endParaRPr>
          </a:p>
        </p:txBody>
      </p:sp>
    </p:spTree>
    <p:extLst>
      <p:ext uri="{BB962C8B-B14F-4D97-AF65-F5344CB8AC3E}">
        <p14:creationId xmlns:p14="http://schemas.microsoft.com/office/powerpoint/2010/main" val="1835274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12100220"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Real-World Applications: KV store</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22" name="文本框 21">
            <a:extLst>
              <a:ext uri="{FF2B5EF4-FFF2-40B4-BE49-F238E27FC236}">
                <a16:creationId xmlns:a16="http://schemas.microsoft.com/office/drawing/2014/main" id="{10D29748-F048-4DF1-9E31-C3EE6B834C6D}"/>
              </a:ext>
            </a:extLst>
          </p:cNvPr>
          <p:cNvSpPr txBox="1"/>
          <p:nvPr/>
        </p:nvSpPr>
        <p:spPr>
          <a:xfrm>
            <a:off x="1997308" y="4608075"/>
            <a:ext cx="8026973" cy="830997"/>
          </a:xfrm>
          <a:prstGeom prst="rect">
            <a:avLst/>
          </a:prstGeom>
          <a:noFill/>
        </p:spPr>
        <p:txBody>
          <a:bodyPr wrap="square" rtlCol="0">
            <a:spAutoFit/>
          </a:bodyPr>
          <a:lstStyle/>
          <a:p>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 AEP-DSM’s gains over CXL-SHM increase with write intensity, reaching up to </a:t>
            </a:r>
            <a:r>
              <a:rPr lang="en-US" altLang="zh-CN" sz="2400"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2.36× </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higher throughput in the </a:t>
            </a:r>
            <a:r>
              <a:rPr lang="en-US" altLang="zh-CN" sz="2400"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write-only case</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a:t>
            </a:r>
          </a:p>
        </p:txBody>
      </p:sp>
      <p:pic>
        <p:nvPicPr>
          <p:cNvPr id="3" name="图片 2">
            <a:extLst>
              <a:ext uri="{FF2B5EF4-FFF2-40B4-BE49-F238E27FC236}">
                <a16:creationId xmlns:a16="http://schemas.microsoft.com/office/drawing/2014/main" id="{E04E0F4D-C9F3-4333-9F3B-900C13641A0E}"/>
              </a:ext>
            </a:extLst>
          </p:cNvPr>
          <p:cNvPicPr>
            <a:picLocks noChangeAspect="1"/>
          </p:cNvPicPr>
          <p:nvPr/>
        </p:nvPicPr>
        <p:blipFill>
          <a:blip r:embed="rId3"/>
          <a:stretch>
            <a:fillRect/>
          </a:stretch>
        </p:blipFill>
        <p:spPr>
          <a:xfrm>
            <a:off x="152569" y="1881047"/>
            <a:ext cx="11998886" cy="2326653"/>
          </a:xfrm>
          <a:prstGeom prst="rect">
            <a:avLst/>
          </a:prstGeom>
        </p:spPr>
      </p:pic>
    </p:spTree>
    <p:extLst>
      <p:ext uri="{BB962C8B-B14F-4D97-AF65-F5344CB8AC3E}">
        <p14:creationId xmlns:p14="http://schemas.microsoft.com/office/powerpoint/2010/main" val="3962050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a:extLst>
              <a:ext uri="{FF2B5EF4-FFF2-40B4-BE49-F238E27FC236}">
                <a16:creationId xmlns:a16="http://schemas.microsoft.com/office/drawing/2014/main" id="{C4BB2482-7971-41CF-96CB-5024D4867A91}"/>
              </a:ext>
            </a:extLst>
          </p:cNvPr>
          <p:cNvSpPr/>
          <p:nvPr/>
        </p:nvSpPr>
        <p:spPr>
          <a:xfrm>
            <a:off x="509702" y="5067578"/>
            <a:ext cx="11241020" cy="1698734"/>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29310FB8-99D7-4376-80FA-9EBDCF480C82}"/>
              </a:ext>
            </a:extLst>
          </p:cNvPr>
          <p:cNvSpPr/>
          <p:nvPr/>
        </p:nvSpPr>
        <p:spPr>
          <a:xfrm>
            <a:off x="509702" y="1732342"/>
            <a:ext cx="11241020" cy="3197109"/>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12100220"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Real-World Applications: Serverless workflow</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22" name="文本框 21">
            <a:extLst>
              <a:ext uri="{FF2B5EF4-FFF2-40B4-BE49-F238E27FC236}">
                <a16:creationId xmlns:a16="http://schemas.microsoft.com/office/drawing/2014/main" id="{10D29748-F048-4DF1-9E31-C3EE6B834C6D}"/>
              </a:ext>
            </a:extLst>
          </p:cNvPr>
          <p:cNvSpPr txBox="1"/>
          <p:nvPr/>
        </p:nvSpPr>
        <p:spPr>
          <a:xfrm>
            <a:off x="769619" y="3729122"/>
            <a:ext cx="5236005" cy="1200329"/>
          </a:xfrm>
          <a:prstGeom prst="rect">
            <a:avLst/>
          </a:prstGeom>
          <a:noFill/>
        </p:spPr>
        <p:txBody>
          <a:bodyPr wrap="square" rtlCol="0">
            <a:spAutoFit/>
          </a:bodyPr>
          <a:lstStyle/>
          <a:p>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For chain benchmark, </a:t>
            </a:r>
            <a:r>
              <a:rPr lang="en-US" altLang="zh-CN" sz="2400"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1.20×</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 speedup vs. CXL-SHM</a:t>
            </a:r>
          </a:p>
          <a:p>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For PageRank, </a:t>
            </a:r>
            <a:r>
              <a:rPr lang="en-US" altLang="zh-CN" sz="2400"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2.46×</a:t>
            </a:r>
            <a:endParaRPr lang="en-US" altLang="zh-CN" sz="2400" kern="1200" dirty="0">
              <a:effectLst/>
              <a:latin typeface="Calibri" panose="020F0502020204030204" pitchFamily="34" charset="0"/>
              <a:ea typeface="Calibri" panose="020F0502020204030204" pitchFamily="34" charset="0"/>
              <a:cs typeface="宋体" panose="02010600030101010101" pitchFamily="2" charset="-122"/>
            </a:endParaRPr>
          </a:p>
        </p:txBody>
      </p:sp>
      <p:pic>
        <p:nvPicPr>
          <p:cNvPr id="6" name="图片 5">
            <a:extLst>
              <a:ext uri="{FF2B5EF4-FFF2-40B4-BE49-F238E27FC236}">
                <a16:creationId xmlns:a16="http://schemas.microsoft.com/office/drawing/2014/main" id="{00D6AA62-31B3-4F95-88C7-8D5F7B7447CE}"/>
              </a:ext>
            </a:extLst>
          </p:cNvPr>
          <p:cNvPicPr>
            <a:picLocks noChangeAspect="1"/>
          </p:cNvPicPr>
          <p:nvPr/>
        </p:nvPicPr>
        <p:blipFill>
          <a:blip r:embed="rId3"/>
          <a:stretch>
            <a:fillRect/>
          </a:stretch>
        </p:blipFill>
        <p:spPr>
          <a:xfrm>
            <a:off x="1447320" y="1801727"/>
            <a:ext cx="3618136" cy="2055303"/>
          </a:xfrm>
          <a:prstGeom prst="rect">
            <a:avLst/>
          </a:prstGeom>
        </p:spPr>
      </p:pic>
      <p:sp>
        <p:nvSpPr>
          <p:cNvPr id="10" name="文本框 9">
            <a:extLst>
              <a:ext uri="{FF2B5EF4-FFF2-40B4-BE49-F238E27FC236}">
                <a16:creationId xmlns:a16="http://schemas.microsoft.com/office/drawing/2014/main" id="{5885E725-93F3-4B26-A38D-A5DA4562B375}"/>
              </a:ext>
            </a:extLst>
          </p:cNvPr>
          <p:cNvSpPr txBox="1"/>
          <p:nvPr/>
        </p:nvSpPr>
        <p:spPr>
          <a:xfrm>
            <a:off x="6351107" y="3707331"/>
            <a:ext cx="5174589" cy="830997"/>
          </a:xfrm>
          <a:prstGeom prst="rect">
            <a:avLst/>
          </a:prstGeom>
          <a:noFill/>
        </p:spPr>
        <p:txBody>
          <a:bodyPr wrap="square" rtlCol="0">
            <a:spAutoFit/>
          </a:bodyPr>
          <a:lstStyle/>
          <a:p>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AEP-DSM’s efficient memory allocation dominates communication cost</a:t>
            </a:r>
          </a:p>
        </p:txBody>
      </p:sp>
      <p:pic>
        <p:nvPicPr>
          <p:cNvPr id="11" name="图片 10">
            <a:extLst>
              <a:ext uri="{FF2B5EF4-FFF2-40B4-BE49-F238E27FC236}">
                <a16:creationId xmlns:a16="http://schemas.microsoft.com/office/drawing/2014/main" id="{9E8B76C5-522D-4B81-9D4D-C6B7E7861BE7}"/>
              </a:ext>
            </a:extLst>
          </p:cNvPr>
          <p:cNvPicPr>
            <a:picLocks noChangeAspect="1"/>
          </p:cNvPicPr>
          <p:nvPr/>
        </p:nvPicPr>
        <p:blipFill>
          <a:blip r:embed="rId4"/>
          <a:stretch>
            <a:fillRect/>
          </a:stretch>
        </p:blipFill>
        <p:spPr>
          <a:xfrm>
            <a:off x="5566341" y="1870469"/>
            <a:ext cx="5927018" cy="1836862"/>
          </a:xfrm>
          <a:prstGeom prst="rect">
            <a:avLst/>
          </a:prstGeom>
        </p:spPr>
      </p:pic>
      <p:pic>
        <p:nvPicPr>
          <p:cNvPr id="13" name="图片 12">
            <a:extLst>
              <a:ext uri="{FF2B5EF4-FFF2-40B4-BE49-F238E27FC236}">
                <a16:creationId xmlns:a16="http://schemas.microsoft.com/office/drawing/2014/main" id="{FBBF27EF-2722-414A-9893-CBCDC1ECF3E7}"/>
              </a:ext>
            </a:extLst>
          </p:cNvPr>
          <p:cNvPicPr>
            <a:picLocks noChangeAspect="1"/>
          </p:cNvPicPr>
          <p:nvPr/>
        </p:nvPicPr>
        <p:blipFill>
          <a:blip r:embed="rId5"/>
          <a:stretch>
            <a:fillRect/>
          </a:stretch>
        </p:blipFill>
        <p:spPr>
          <a:xfrm>
            <a:off x="769619" y="5158311"/>
            <a:ext cx="5236005" cy="1298970"/>
          </a:xfrm>
          <a:prstGeom prst="rect">
            <a:avLst/>
          </a:prstGeom>
        </p:spPr>
      </p:pic>
      <p:sp>
        <p:nvSpPr>
          <p:cNvPr id="16" name="文本框 15">
            <a:extLst>
              <a:ext uri="{FF2B5EF4-FFF2-40B4-BE49-F238E27FC236}">
                <a16:creationId xmlns:a16="http://schemas.microsoft.com/office/drawing/2014/main" id="{7FC4C1FF-9075-423C-9A57-2A8B5779EA51}"/>
              </a:ext>
            </a:extLst>
          </p:cNvPr>
          <p:cNvSpPr txBox="1"/>
          <p:nvPr/>
        </p:nvSpPr>
        <p:spPr>
          <a:xfrm>
            <a:off x="5065456" y="4461904"/>
            <a:ext cx="2183990" cy="461665"/>
          </a:xfrm>
          <a:prstGeom prst="rect">
            <a:avLst/>
          </a:prstGeom>
          <a:noFill/>
        </p:spPr>
        <p:txBody>
          <a:bodyPr wrap="square" rtlCol="0">
            <a:spAutoFit/>
          </a:bodyPr>
          <a:lstStyle/>
          <a:p>
            <a:r>
              <a:rPr lang="en-US" altLang="zh-CN" sz="2400" b="1" i="1" u="sng" kern="1200" dirty="0">
                <a:effectLst/>
                <a:latin typeface="Calibri" panose="020F0502020204030204" pitchFamily="34" charset="0"/>
                <a:ea typeface="Calibri" panose="020F0502020204030204" pitchFamily="34" charset="0"/>
                <a:cs typeface="宋体" panose="02010600030101010101" pitchFamily="2" charset="-122"/>
              </a:rPr>
              <a:t>Intra-node test </a:t>
            </a:r>
          </a:p>
        </p:txBody>
      </p:sp>
      <p:sp>
        <p:nvSpPr>
          <p:cNvPr id="18" name="文本框 17">
            <a:extLst>
              <a:ext uri="{FF2B5EF4-FFF2-40B4-BE49-F238E27FC236}">
                <a16:creationId xmlns:a16="http://schemas.microsoft.com/office/drawing/2014/main" id="{C838CDD1-6154-4F31-8931-E4B53C2BFA96}"/>
              </a:ext>
            </a:extLst>
          </p:cNvPr>
          <p:cNvSpPr txBox="1"/>
          <p:nvPr/>
        </p:nvSpPr>
        <p:spPr>
          <a:xfrm>
            <a:off x="5094383" y="6317180"/>
            <a:ext cx="2183990" cy="461665"/>
          </a:xfrm>
          <a:prstGeom prst="rect">
            <a:avLst/>
          </a:prstGeom>
          <a:noFill/>
        </p:spPr>
        <p:txBody>
          <a:bodyPr wrap="square" rtlCol="0">
            <a:spAutoFit/>
          </a:bodyPr>
          <a:lstStyle/>
          <a:p>
            <a:r>
              <a:rPr lang="en-US" altLang="zh-CN" sz="2400" b="1" i="1" u="sng" kern="1200" dirty="0">
                <a:effectLst/>
                <a:latin typeface="Calibri" panose="020F0502020204030204" pitchFamily="34" charset="0"/>
                <a:ea typeface="Calibri" panose="020F0502020204030204" pitchFamily="34" charset="0"/>
                <a:cs typeface="宋体" panose="02010600030101010101" pitchFamily="2" charset="-122"/>
              </a:rPr>
              <a:t>Inter-node test </a:t>
            </a:r>
          </a:p>
        </p:txBody>
      </p:sp>
      <p:sp>
        <p:nvSpPr>
          <p:cNvPr id="19" name="文本框 18">
            <a:extLst>
              <a:ext uri="{FF2B5EF4-FFF2-40B4-BE49-F238E27FC236}">
                <a16:creationId xmlns:a16="http://schemas.microsoft.com/office/drawing/2014/main" id="{B565F543-17FF-4803-AB2D-E1FD9B9023DB}"/>
              </a:ext>
            </a:extLst>
          </p:cNvPr>
          <p:cNvSpPr txBox="1"/>
          <p:nvPr/>
        </p:nvSpPr>
        <p:spPr>
          <a:xfrm>
            <a:off x="6507709" y="5202919"/>
            <a:ext cx="5174589" cy="1200329"/>
          </a:xfrm>
          <a:prstGeom prst="rect">
            <a:avLst/>
          </a:prstGeom>
          <a:noFill/>
        </p:spPr>
        <p:txBody>
          <a:bodyPr wrap="square" rtlCol="0">
            <a:spAutoFit/>
          </a:bodyPr>
          <a:lstStyle/>
          <a:p>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AEP-DSM achieves a </a:t>
            </a:r>
            <a:r>
              <a:rPr lang="en-US" altLang="zh-CN" sz="2400" kern="1200" dirty="0">
                <a:solidFill>
                  <a:srgbClr val="FF0000"/>
                </a:solidFill>
                <a:effectLst/>
                <a:latin typeface="Calibri" panose="020F0502020204030204" pitchFamily="34" charset="0"/>
                <a:ea typeface="Calibri" panose="020F0502020204030204" pitchFamily="34" charset="0"/>
                <a:cs typeface="宋体" panose="02010600030101010101" pitchFamily="2" charset="-122"/>
              </a:rPr>
              <a:t>2.12×</a:t>
            </a:r>
            <a:r>
              <a:rPr lang="en-US" altLang="zh-CN" sz="2400" kern="1200" dirty="0">
                <a:effectLst/>
                <a:latin typeface="Calibri" panose="020F0502020204030204" pitchFamily="34" charset="0"/>
                <a:ea typeface="Calibri" panose="020F0502020204030204" pitchFamily="34" charset="0"/>
                <a:cs typeface="宋体" panose="02010600030101010101" pitchFamily="2" charset="-122"/>
              </a:rPr>
              <a:t> speedup over CXL-SHM in PageRank, </a:t>
            </a:r>
            <a:r>
              <a:rPr lang="en-US" altLang="zh-CN" sz="2400" i="1" u="sng" kern="1200" dirty="0">
                <a:effectLst/>
                <a:latin typeface="Calibri" panose="020F0502020204030204" pitchFamily="34" charset="0"/>
                <a:ea typeface="Calibri" panose="020F0502020204030204" pitchFamily="34" charset="0"/>
                <a:cs typeface="宋体" panose="02010600030101010101" pitchFamily="2" charset="-122"/>
              </a:rPr>
              <a:t>memory allocation dominating the workload</a:t>
            </a:r>
          </a:p>
        </p:txBody>
      </p:sp>
    </p:spTree>
    <p:extLst>
      <p:ext uri="{BB962C8B-B14F-4D97-AF65-F5344CB8AC3E}">
        <p14:creationId xmlns:p14="http://schemas.microsoft.com/office/powerpoint/2010/main" val="28118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2393909"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Agenda</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a:extLst>
              <a:ext uri="{FF2B5EF4-FFF2-40B4-BE49-F238E27FC236}">
                <a16:creationId xmlns:a16="http://schemas.microsoft.com/office/drawing/2014/main" id="{7640FDC8-3DF3-4465-AF2B-958C917E3322}"/>
              </a:ext>
            </a:extLst>
          </p:cNvPr>
          <p:cNvSpPr txBox="1"/>
          <p:nvPr/>
        </p:nvSpPr>
        <p:spPr>
          <a:xfrm>
            <a:off x="1323946" y="2089506"/>
            <a:ext cx="9055265" cy="4955203"/>
          </a:xfrm>
          <a:prstGeom prst="rect">
            <a:avLst/>
          </a:prstGeom>
          <a:noFill/>
        </p:spPr>
        <p:txBody>
          <a:bodyPr wrap="square" rtlCol="0">
            <a:spAutoFit/>
          </a:bodyPr>
          <a:lstStyle/>
          <a:p>
            <a:pPr marL="571500" indent="-571500">
              <a:buFont typeface="Wingdings" panose="05000000000000000000" pitchFamily="2" charset="2"/>
              <a:buChar char="l"/>
            </a:pPr>
            <a:r>
              <a:rPr lang="en-US" altLang="zh-CN" sz="3600" dirty="0">
                <a:solidFill>
                  <a:schemeClr val="bg1">
                    <a:lumMod val="75000"/>
                  </a:schemeClr>
                </a:solidFill>
                <a:latin typeface="Calibri" panose="020F0502020204030204" pitchFamily="34" charset="0"/>
                <a:ea typeface="Calibri" panose="020F0502020204030204" pitchFamily="34" charset="0"/>
                <a:cs typeface="宋体" panose="02010600030101010101" pitchFamily="2" charset="-122"/>
              </a:rPr>
              <a:t>Background &amp; Motivation</a:t>
            </a:r>
          </a:p>
          <a:p>
            <a:pPr marL="571500" indent="-571500">
              <a:buFont typeface="Wingdings" panose="05000000000000000000" pitchFamily="2" charset="2"/>
              <a:buChar char="l"/>
            </a:pPr>
            <a:endParaRPr lang="en-US" altLang="zh-CN" sz="36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r>
              <a:rPr lang="en-US" altLang="zh-CN" sz="3600" kern="1200" dirty="0">
                <a:solidFill>
                  <a:srgbClr val="BFBFBF"/>
                </a:solidFill>
                <a:effectLst/>
                <a:latin typeface="Calibri" panose="020F0502020204030204" pitchFamily="34" charset="0"/>
                <a:ea typeface="Calibri" panose="020F0502020204030204" pitchFamily="34" charset="0"/>
                <a:cs typeface="宋体" panose="02010600030101010101" pitchFamily="2" charset="-122"/>
              </a:rPr>
              <a:t>AEP Design and Implementation</a:t>
            </a:r>
          </a:p>
          <a:p>
            <a:pPr marL="571500" indent="-571500">
              <a:buFont typeface="Wingdings" panose="05000000000000000000" pitchFamily="2" charset="2"/>
              <a:buChar char="l"/>
            </a:pPr>
            <a:endParaRPr lang="en-US" altLang="zh-CN" sz="36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r>
              <a:rPr lang="en-US" altLang="zh-CN" sz="3600" kern="1200" dirty="0">
                <a:solidFill>
                  <a:srgbClr val="BFBFBF"/>
                </a:solidFill>
                <a:effectLst/>
                <a:latin typeface="Calibri" panose="020F0502020204030204" pitchFamily="34" charset="0"/>
                <a:ea typeface="Calibri" panose="020F0502020204030204" pitchFamily="34" charset="0"/>
                <a:cs typeface="宋体" panose="02010600030101010101" pitchFamily="2" charset="-122"/>
              </a:rPr>
              <a:t>Evaluation</a:t>
            </a:r>
          </a:p>
          <a:p>
            <a:pPr marL="571500" indent="-571500">
              <a:buFont typeface="Wingdings" panose="05000000000000000000" pitchFamily="2" charset="2"/>
              <a:buChar char="l"/>
            </a:pPr>
            <a:endParaRPr lang="en-US" altLang="zh-CN" sz="36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r>
              <a:rPr lang="en-US" altLang="zh-CN" sz="3600" kern="1200" dirty="0">
                <a:solidFill>
                  <a:srgbClr val="2F5597"/>
                </a:solidFill>
                <a:effectLst/>
                <a:latin typeface="Calibri" panose="020F0502020204030204" pitchFamily="34" charset="0"/>
                <a:ea typeface="Calibri" panose="020F0502020204030204" pitchFamily="34" charset="0"/>
                <a:cs typeface="宋体" panose="02010600030101010101" pitchFamily="2" charset="-122"/>
              </a:rPr>
              <a:t>Conclusion</a:t>
            </a:r>
          </a:p>
          <a:p>
            <a:pPr marL="571500" indent="-571500">
              <a:buFont typeface="Wingdings" panose="05000000000000000000" pitchFamily="2" charset="2"/>
              <a:buChar char="l"/>
            </a:pPr>
            <a:endParaRPr lang="en-US" altLang="zh-CN" sz="4400" dirty="0">
              <a:solidFill>
                <a:schemeClr val="accent1">
                  <a:lumMod val="75000"/>
                </a:schemeClr>
              </a:solidFill>
              <a:latin typeface="Calibri" panose="020F0502020204030204" pitchFamily="34" charset="0"/>
              <a:ea typeface="Calibri" panose="020F0502020204030204" pitchFamily="34" charset="0"/>
              <a:cs typeface="宋体" panose="02010600030101010101" pitchFamily="2" charset="-122"/>
            </a:endParaRPr>
          </a:p>
          <a:p>
            <a:pPr marL="571500" indent="-571500">
              <a:buFont typeface="Wingdings" panose="05000000000000000000" pitchFamily="2" charset="2"/>
              <a:buChar char="l"/>
            </a:pP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327041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973267E-E154-4102-923B-437A90C0FF89}"/>
              </a:ext>
            </a:extLst>
          </p:cNvPr>
          <p:cNvSpPr/>
          <p:nvPr/>
        </p:nvSpPr>
        <p:spPr>
          <a:xfrm>
            <a:off x="-494071" y="560439"/>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22241F3-C36E-41A6-8E10-7268285DFE81}"/>
              </a:ext>
            </a:extLst>
          </p:cNvPr>
          <p:cNvSpPr txBox="1"/>
          <p:nvPr/>
        </p:nvSpPr>
        <p:spPr>
          <a:xfrm>
            <a:off x="769619" y="717721"/>
            <a:ext cx="2990339"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Conclusion</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7" name="Rectangle 32">
            <a:extLst>
              <a:ext uri="{FF2B5EF4-FFF2-40B4-BE49-F238E27FC236}">
                <a16:creationId xmlns:a16="http://schemas.microsoft.com/office/drawing/2014/main" id="{446382C3-00A4-4278-8726-C23A9C822EE9}"/>
              </a:ext>
            </a:extLst>
          </p:cNvPr>
          <p:cNvSpPr>
            <a:spLocks noChangeArrowheads="1"/>
          </p:cNvSpPr>
          <p:nvPr/>
        </p:nvSpPr>
        <p:spPr bwMode="auto">
          <a:xfrm>
            <a:off x="0" y="1699235"/>
            <a:ext cx="12112388" cy="48436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02845" tIns="51424" rIns="102845" bIns="51424">
            <a:spAutoFit/>
          </a:bodyPr>
          <a:lstStyle/>
          <a:p>
            <a:pPr marL="642782" indent="-642782">
              <a:buFont typeface="Wingdings" pitchFamily="2" charset="2"/>
              <a:buChar char="q"/>
              <a:defRPr/>
            </a:pPr>
            <a:r>
              <a:rPr lang="en-US" altLang="zh-Hans" sz="2800" b="1" dirty="0">
                <a:latin typeface="Calibri" panose="020F0502020204030204" pitchFamily="34" charset="0"/>
                <a:ea typeface="Calibri" panose="020F0502020204030204" pitchFamily="34" charset="0"/>
                <a:cs typeface="Calibri" panose="020F0502020204030204" pitchFamily="34" charset="0"/>
              </a:rPr>
              <a:t>AEP</a:t>
            </a:r>
            <a:r>
              <a:rPr lang="en-US" altLang="zh-Hans" sz="2800" dirty="0">
                <a:latin typeface="Calibri" panose="020F0502020204030204" pitchFamily="34" charset="0"/>
                <a:ea typeface="Calibri" panose="020F0502020204030204" pitchFamily="34" charset="0"/>
                <a:cs typeface="Calibri" panose="020F0502020204030204" pitchFamily="34" charset="0"/>
              </a:rPr>
              <a:t>: a light-weight kernel-assisted mechanism that guarantees atomic completion of DSM allocator operations, tolerating </a:t>
            </a:r>
            <a:r>
              <a:rPr lang="en-US" altLang="zh-Hans" sz="2800" b="1" dirty="0">
                <a:solidFill>
                  <a:srgbClr val="0432FF"/>
                </a:solidFill>
                <a:latin typeface="Calibri" panose="020F0502020204030204" pitchFamily="34" charset="0"/>
                <a:ea typeface="Calibri" panose="020F0502020204030204" pitchFamily="34" charset="0"/>
                <a:cs typeface="Calibri" panose="020F0502020204030204" pitchFamily="34" charset="0"/>
              </a:rPr>
              <a:t>intra-node partial failures</a:t>
            </a:r>
            <a:r>
              <a:rPr lang="en-US" altLang="zh-Hans" sz="2800" dirty="0">
                <a:latin typeface="Calibri" panose="020F0502020204030204" pitchFamily="34" charset="0"/>
                <a:ea typeface="Calibri" panose="020F0502020204030204" pitchFamily="34" charset="0"/>
                <a:cs typeface="Calibri" panose="020F0502020204030204" pitchFamily="34" charset="0"/>
              </a:rPr>
              <a:t> without costly distributed coordination</a:t>
            </a:r>
          </a:p>
          <a:p>
            <a:pPr marL="1028453" indent="-514226">
              <a:buClr>
                <a:schemeClr val="tx1"/>
              </a:buClr>
              <a:buFont typeface="Arial" pitchFamily="34" charset="0"/>
              <a:buChar char="•"/>
              <a:defRPr/>
            </a:pPr>
            <a:r>
              <a:rPr lang="en-US" altLang="zh-Hans" sz="2800" b="1" dirty="0">
                <a:latin typeface="Calibri" panose="020F0502020204030204" pitchFamily="34" charset="0"/>
                <a:ea typeface="Calibri" panose="020F0502020204030204" pitchFamily="34" charset="0"/>
                <a:cs typeface="Calibri" panose="020F0502020204030204" pitchFamily="34" charset="0"/>
              </a:rPr>
              <a:t>Hierarchical: </a:t>
            </a:r>
            <a:r>
              <a:rPr lang="en-US" altLang="zh-Hans" sz="2800" dirty="0">
                <a:latin typeface="Calibri" panose="020F0502020204030204" pitchFamily="34" charset="0"/>
                <a:ea typeface="Calibri" panose="020F0502020204030204" pitchFamily="34" charset="0"/>
                <a:cs typeface="Calibri" panose="020F0502020204030204" pitchFamily="34" charset="0"/>
              </a:rPr>
              <a:t>Decouple intra-node and inter-node management </a:t>
            </a:r>
          </a:p>
          <a:p>
            <a:pPr marL="1028453" indent="-514226">
              <a:buClr>
                <a:schemeClr val="tx1"/>
              </a:buClr>
              <a:buFont typeface="Arial" pitchFamily="34" charset="0"/>
              <a:buChar char="•"/>
              <a:defRPr/>
            </a:pPr>
            <a:r>
              <a:rPr lang="en-US" altLang="zh-Hans" sz="2800" b="1" dirty="0">
                <a:latin typeface="Calibri" panose="020F0502020204030204" pitchFamily="34" charset="0"/>
                <a:ea typeface="Calibri" panose="020F0502020204030204" pitchFamily="34" charset="0"/>
                <a:cs typeface="Calibri" panose="020F0502020204030204" pitchFamily="34" charset="0"/>
              </a:rPr>
              <a:t>Supports customizable </a:t>
            </a:r>
            <a:r>
              <a:rPr lang="en-US" altLang="zh-Hans" sz="2800" dirty="0">
                <a:latin typeface="Calibri" panose="020F0502020204030204" pitchFamily="34" charset="0"/>
                <a:ea typeface="Calibri" panose="020F0502020204030204" pitchFamily="34" charset="0"/>
                <a:cs typeface="Calibri" panose="020F0502020204030204" pitchFamily="34" charset="0"/>
              </a:rPr>
              <a:t>memory allocation algorithms</a:t>
            </a:r>
          </a:p>
          <a:p>
            <a:pPr marL="642782" indent="-642782">
              <a:buFont typeface="Wingdings" pitchFamily="2" charset="2"/>
              <a:buChar char="q"/>
              <a:defRPr/>
            </a:pPr>
            <a:r>
              <a:rPr lang="en-US" altLang="zh-Hans" sz="2800" dirty="0">
                <a:latin typeface="Calibri" panose="020F0502020204030204" pitchFamily="34" charset="0"/>
                <a:ea typeface="Calibri" panose="020F0502020204030204" pitchFamily="34" charset="0"/>
                <a:cs typeface="Calibri" panose="020F0502020204030204" pitchFamily="34" charset="0"/>
              </a:rPr>
              <a:t>Three key designs in AEP</a:t>
            </a:r>
          </a:p>
          <a:p>
            <a:pPr marL="1028453" indent="-514226">
              <a:buClr>
                <a:schemeClr val="tx1"/>
              </a:buClr>
              <a:buFont typeface="Arial" pitchFamily="34" charset="0"/>
              <a:buChar char="•"/>
              <a:defRPr/>
            </a:pPr>
            <a:r>
              <a:rPr lang="en-US" altLang="zh-Hans" sz="2800" dirty="0">
                <a:latin typeface="Calibri" panose="020F0502020204030204" pitchFamily="34" charset="0"/>
                <a:ea typeface="Calibri" panose="020F0502020204030204" pitchFamily="34" charset="0"/>
                <a:cs typeface="Calibri" panose="020F0502020204030204" pitchFamily="34" charset="0"/>
              </a:rPr>
              <a:t>Efficient Shadow entry </a:t>
            </a:r>
          </a:p>
          <a:p>
            <a:pPr marL="1028453" indent="-514226">
              <a:buClr>
                <a:schemeClr val="tx1"/>
              </a:buClr>
              <a:buFont typeface="Arial" pitchFamily="34" charset="0"/>
              <a:buChar char="•"/>
              <a:defRPr/>
            </a:pPr>
            <a:r>
              <a:rPr lang="en-US" altLang="zh-Hans" sz="2800" dirty="0">
                <a:latin typeface="Calibri" panose="020F0502020204030204" pitchFamily="34" charset="0"/>
                <a:ea typeface="Calibri" panose="020F0502020204030204" pitchFamily="34" charset="0"/>
                <a:cs typeface="Calibri" panose="020F0502020204030204" pitchFamily="34" charset="0"/>
              </a:rPr>
              <a:t>Efficient </a:t>
            </a:r>
            <a:r>
              <a:rPr lang="en-US" altLang="zh-Hans" sz="2800" b="1" dirty="0">
                <a:solidFill>
                  <a:srgbClr val="0432FF"/>
                </a:solidFill>
                <a:latin typeface="Calibri" panose="020F0502020204030204" pitchFamily="34" charset="0"/>
                <a:ea typeface="Calibri" panose="020F0502020204030204" pitchFamily="34" charset="0"/>
                <a:cs typeface="Calibri" panose="020F0502020204030204" pitchFamily="34" charset="0"/>
              </a:rPr>
              <a:t>multi-tenant isolation </a:t>
            </a:r>
            <a:r>
              <a:rPr lang="en-US" altLang="zh-Hans" sz="2800" dirty="0">
                <a:latin typeface="Calibri" panose="020F0502020204030204" pitchFamily="34" charset="0"/>
                <a:ea typeface="Calibri" panose="020F0502020204030204" pitchFamily="34" charset="0"/>
                <a:cs typeface="Calibri" panose="020F0502020204030204" pitchFamily="34" charset="0"/>
              </a:rPr>
              <a:t>via </a:t>
            </a:r>
            <a:r>
              <a:rPr lang="en-US" altLang="zh-Hans" sz="2800" dirty="0" err="1">
                <a:latin typeface="Calibri" panose="020F0502020204030204" pitchFamily="34" charset="0"/>
                <a:ea typeface="Calibri" panose="020F0502020204030204" pitchFamily="34" charset="0"/>
                <a:cs typeface="Calibri" panose="020F0502020204030204" pitchFamily="34" charset="0"/>
              </a:rPr>
              <a:t>mutipule</a:t>
            </a:r>
            <a:r>
              <a:rPr lang="en-US" altLang="zh-Hans" sz="2800" dirty="0">
                <a:latin typeface="Calibri" panose="020F0502020204030204" pitchFamily="34" charset="0"/>
                <a:ea typeface="Calibri" panose="020F0502020204030204" pitchFamily="34" charset="0"/>
                <a:cs typeface="Calibri" panose="020F0502020204030204" pitchFamily="34" charset="0"/>
              </a:rPr>
              <a:t> AEP page table</a:t>
            </a:r>
          </a:p>
          <a:p>
            <a:pPr marL="1028453" indent="-514226">
              <a:buClr>
                <a:schemeClr val="tx1"/>
              </a:buClr>
              <a:buFont typeface="Arial" pitchFamily="34" charset="0"/>
              <a:buChar char="•"/>
              <a:defRPr/>
            </a:pPr>
            <a:r>
              <a:rPr lang="en-US" altLang="zh-Hans" sz="2800" dirty="0">
                <a:latin typeface="Calibri" panose="020F0502020204030204" pitchFamily="34" charset="0"/>
                <a:ea typeface="Calibri" panose="020F0502020204030204" pitchFamily="34" charset="0"/>
                <a:cs typeface="Calibri" panose="020F0502020204030204" pitchFamily="34" charset="0"/>
              </a:rPr>
              <a:t>Flexible and </a:t>
            </a:r>
            <a:r>
              <a:rPr lang="en-US" altLang="zh-Hans" sz="2800" b="1" dirty="0">
                <a:solidFill>
                  <a:srgbClr val="0432FF"/>
                </a:solidFill>
                <a:latin typeface="Calibri" panose="020F0502020204030204" pitchFamily="34" charset="0"/>
                <a:ea typeface="Calibri" panose="020F0502020204030204" pitchFamily="34" charset="0"/>
                <a:cs typeface="Calibri" panose="020F0502020204030204" pitchFamily="34" charset="0"/>
              </a:rPr>
              <a:t>portable</a:t>
            </a:r>
            <a:r>
              <a:rPr lang="en-US" altLang="zh-Hans" sz="2800" dirty="0">
                <a:solidFill>
                  <a:srgbClr val="0432FF"/>
                </a:solidFill>
                <a:latin typeface="Calibri" panose="020F0502020204030204" pitchFamily="34" charset="0"/>
                <a:ea typeface="Calibri" panose="020F0502020204030204" pitchFamily="34" charset="0"/>
                <a:cs typeface="Calibri" panose="020F0502020204030204" pitchFamily="34" charset="0"/>
              </a:rPr>
              <a:t> </a:t>
            </a:r>
            <a:r>
              <a:rPr lang="en-US" altLang="zh-Hans" sz="2800" dirty="0">
                <a:latin typeface="Calibri" panose="020F0502020204030204" pitchFamily="34" charset="0"/>
                <a:ea typeface="Calibri" panose="020F0502020204030204" pitchFamily="34" charset="0"/>
                <a:cs typeface="Calibri" panose="020F0502020204030204" pitchFamily="34" charset="0"/>
              </a:rPr>
              <a:t>AEP runtime</a:t>
            </a:r>
          </a:p>
          <a:p>
            <a:pPr marL="642782" indent="-642782">
              <a:buFont typeface="Wingdings" pitchFamily="2" charset="2"/>
              <a:buChar char="q"/>
              <a:defRPr/>
            </a:pPr>
            <a:r>
              <a:rPr lang="en-US" altLang="zh-Hans" sz="2800" dirty="0">
                <a:latin typeface="Calibri" panose="020F0502020204030204" pitchFamily="34" charset="0"/>
                <a:ea typeface="Calibri" panose="020F0502020204030204" pitchFamily="34" charset="0"/>
                <a:cs typeface="Calibri" panose="020F0502020204030204" pitchFamily="34" charset="0"/>
              </a:rPr>
              <a:t>Takeaways: In distributed shared memory, memory allocation becomes a performance bottleneck</a:t>
            </a:r>
          </a:p>
        </p:txBody>
      </p:sp>
    </p:spTree>
    <p:extLst>
      <p:ext uri="{BB962C8B-B14F-4D97-AF65-F5344CB8AC3E}">
        <p14:creationId xmlns:p14="http://schemas.microsoft.com/office/powerpoint/2010/main" val="1076322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CD578AFB-4A8D-41D8-9224-101D7F48A874}"/>
              </a:ext>
            </a:extLst>
          </p:cNvPr>
          <p:cNvSpPr/>
          <p:nvPr/>
        </p:nvSpPr>
        <p:spPr>
          <a:xfrm>
            <a:off x="-555525" y="786"/>
            <a:ext cx="13303045" cy="1084006"/>
          </a:xfrm>
          <a:prstGeom prst="rect">
            <a:avLst/>
          </a:prstGeom>
          <a:solidFill>
            <a:schemeClr val="accent1">
              <a:lumMod val="20000"/>
              <a:lumOff val="80000"/>
            </a:schemeClr>
          </a:solidFill>
          <a:ln>
            <a:solidFill>
              <a:srgbClr val="DAE3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9B0566DE-C1E6-48F3-832A-A0BF3CE50F03}"/>
              </a:ext>
            </a:extLst>
          </p:cNvPr>
          <p:cNvSpPr>
            <a:spLocks noGrp="1"/>
          </p:cNvSpPr>
          <p:nvPr>
            <p:ph type="ctrTitle"/>
          </p:nvPr>
        </p:nvSpPr>
        <p:spPr>
          <a:xfrm>
            <a:off x="30479" y="1002018"/>
            <a:ext cx="12131040" cy="1511710"/>
          </a:xfrm>
        </p:spPr>
        <p:txBody>
          <a:bodyPr>
            <a:normAutofit/>
          </a:bodyPr>
          <a:lstStyle/>
          <a:p>
            <a:r>
              <a:rPr lang="en-US" altLang="zh-CN" sz="4400" dirty="0">
                <a:latin typeface="Calibri" panose="020F0502020204030204" pitchFamily="34" charset="0"/>
                <a:ea typeface="Calibri" panose="020F0502020204030204" pitchFamily="34" charset="0"/>
                <a:cs typeface="Calibri" panose="020F0502020204030204" pitchFamily="34" charset="0"/>
              </a:rPr>
              <a:t>AEP: Achieving Hierarchical Fault Tolerance in DSM Through Atomic Execution Protection</a:t>
            </a:r>
            <a:endParaRPr lang="zh-CN" altLang="en-US" sz="4400" dirty="0">
              <a:latin typeface="Calibri" panose="020F0502020204030204" pitchFamily="34" charset="0"/>
              <a:cs typeface="Calibri" panose="020F0502020204030204" pitchFamily="34" charset="0"/>
            </a:endParaRPr>
          </a:p>
        </p:txBody>
      </p:sp>
      <p:sp>
        <p:nvSpPr>
          <p:cNvPr id="3" name="副标题 2">
            <a:extLst>
              <a:ext uri="{FF2B5EF4-FFF2-40B4-BE49-F238E27FC236}">
                <a16:creationId xmlns:a16="http://schemas.microsoft.com/office/drawing/2014/main" id="{DD6479C4-1471-4510-AD44-B2242E1A49A9}"/>
              </a:ext>
            </a:extLst>
          </p:cNvPr>
          <p:cNvSpPr>
            <a:spLocks noGrp="1"/>
          </p:cNvSpPr>
          <p:nvPr>
            <p:ph type="subTitle" idx="1"/>
          </p:nvPr>
        </p:nvSpPr>
        <p:spPr>
          <a:xfrm>
            <a:off x="1000431" y="2972957"/>
            <a:ext cx="10191135" cy="768893"/>
          </a:xfrm>
        </p:spPr>
        <p:txBody>
          <a:bodyPr/>
          <a:lstStyle/>
          <a:p>
            <a:pPr algn="ctr" fontAlgn="base"/>
            <a:r>
              <a:rPr lang="en-US" altLang="zh-CN" sz="2400" b="1" i="1" kern="1200" dirty="0">
                <a:effectLst/>
                <a:latin typeface="Calibri" panose="020F0502020204030204" pitchFamily="34" charset="0"/>
                <a:ea typeface="Calibri" panose="020F0502020204030204" pitchFamily="34" charset="0"/>
                <a:cs typeface="Calibri" panose="020F0502020204030204" pitchFamily="34" charset="0"/>
              </a:rPr>
              <a:t>Zixuan Wang</a:t>
            </a:r>
            <a:r>
              <a:rPr lang="en-US" altLang="zh-CN" sz="2400" b="1" i="1" kern="1200" baseline="30000" dirty="0">
                <a:effectLst/>
                <a:latin typeface="Calibri" panose="020F0502020204030204" pitchFamily="34" charset="0"/>
                <a:ea typeface="Calibri" panose="020F0502020204030204" pitchFamily="34" charset="0"/>
                <a:cs typeface="Calibri" panose="020F0502020204030204" pitchFamily="34" charset="0"/>
              </a:rPr>
              <a:t>1</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Qi Wu</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1</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Hang Huang</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1</a:t>
            </a:r>
            <a:r>
              <a:rPr lang="zh-CN" altLang="zh-CN" sz="2400" kern="1200" baseline="30000" dirty="0">
                <a:effectLst/>
                <a:latin typeface="Calibri" panose="020F0502020204030204" pitchFamily="34" charset="0"/>
                <a:ea typeface="MS Gothic" panose="020B0609070205080204" pitchFamily="49" charset="-128"/>
                <a:cs typeface="Calibri" panose="020F0502020204030204" pitchFamily="34" charset="0"/>
              </a:rPr>
              <a:t>∗</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Jia Rao</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2</a:t>
            </a:r>
            <a:r>
              <a:rPr lang="zh-CN" altLang="zh-CN" sz="2400" kern="1200" baseline="30000" dirty="0">
                <a:effectLst/>
                <a:latin typeface="Calibri" panose="020F0502020204030204" pitchFamily="34" charset="0"/>
                <a:ea typeface="MS Gothic" panose="020B0609070205080204" pitchFamily="49" charset="-128"/>
                <a:cs typeface="Calibri" panose="020F0502020204030204" pitchFamily="34" charset="0"/>
              </a:rPr>
              <a:t>∗</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Hui Lu</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2</a:t>
            </a:r>
            <a:r>
              <a:rPr lang="zh-CN" altLang="zh-CN" sz="2400" kern="1200" baseline="30000" dirty="0">
                <a:effectLst/>
                <a:latin typeface="Calibri" panose="020F0502020204030204" pitchFamily="34" charset="0"/>
                <a:ea typeface="MS Gothic" panose="020B0609070205080204" pitchFamily="49" charset="-128"/>
                <a:cs typeface="Calibri" panose="020F0502020204030204" pitchFamily="34" charset="0"/>
              </a:rPr>
              <a:t>∗</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Hao Fan</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1</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a:t>
            </a:r>
            <a:r>
              <a:rPr lang="en-US" altLang="zh-CN" sz="2400" kern="1200" dirty="0" err="1">
                <a:effectLst/>
                <a:latin typeface="Calibri" panose="020F0502020204030204" pitchFamily="34" charset="0"/>
                <a:ea typeface="Calibri" panose="020F0502020204030204" pitchFamily="34" charset="0"/>
                <a:cs typeface="Calibri" panose="020F0502020204030204" pitchFamily="34" charset="0"/>
              </a:rPr>
              <a:t>Zhuo</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Huang</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1</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 Song Wu</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1</a:t>
            </a:r>
            <a:r>
              <a:rPr lang="zh-CN" altLang="zh-CN" sz="2400" kern="1200" baseline="30000" dirty="0">
                <a:effectLst/>
                <a:latin typeface="Calibri" panose="020F0502020204030204" pitchFamily="34" charset="0"/>
                <a:ea typeface="MS Gothic" panose="020B0609070205080204" pitchFamily="49" charset="-128"/>
                <a:cs typeface="Calibri" panose="020F0502020204030204" pitchFamily="34" charset="0"/>
              </a:rPr>
              <a:t>∗</a:t>
            </a:r>
            <a:r>
              <a:rPr lang="en-US" altLang="zh-CN" sz="2400" kern="1200" dirty="0">
                <a:effectLst/>
                <a:latin typeface="Calibri" panose="020F0502020204030204" pitchFamily="34" charset="0"/>
                <a:ea typeface="Calibri" panose="020F0502020204030204" pitchFamily="34" charset="0"/>
                <a:cs typeface="Calibri" panose="020F0502020204030204" pitchFamily="34" charset="0"/>
              </a:rPr>
              <a:t>,Hai Jin</a:t>
            </a:r>
            <a:r>
              <a:rPr lang="en-US" altLang="zh-CN" sz="2400" kern="1200" baseline="30000" dirty="0">
                <a:effectLst/>
                <a:latin typeface="Calibri" panose="020F0502020204030204" pitchFamily="34" charset="0"/>
                <a:ea typeface="Calibri" panose="020F0502020204030204" pitchFamily="34" charset="0"/>
                <a:cs typeface="Calibri" panose="020F0502020204030204" pitchFamily="34" charset="0"/>
              </a:rPr>
              <a:t>1</a:t>
            </a:r>
            <a:endParaRPr lang="zh-CN" altLang="zh-CN" sz="1050" dirty="0">
              <a:effectLst/>
              <a:latin typeface="Calibri" panose="020F0502020204030204" pitchFamily="34" charset="0"/>
              <a:ea typeface="宋体" panose="02010600030101010101" pitchFamily="2" charset="-122"/>
              <a:cs typeface="Calibri" panose="020F0502020204030204" pitchFamily="34" charset="0"/>
            </a:endParaRPr>
          </a:p>
        </p:txBody>
      </p:sp>
      <p:pic>
        <p:nvPicPr>
          <p:cNvPr id="7" name="图片 6">
            <a:extLst>
              <a:ext uri="{FF2B5EF4-FFF2-40B4-BE49-F238E27FC236}">
                <a16:creationId xmlns:a16="http://schemas.microsoft.com/office/drawing/2014/main" id="{68101B24-E4B2-4F0A-85A8-A293B46994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6723" y="3919845"/>
            <a:ext cx="1820690" cy="1432804"/>
          </a:xfrm>
          <a:prstGeom prst="rect">
            <a:avLst/>
          </a:prstGeom>
        </p:spPr>
      </p:pic>
      <p:sp>
        <p:nvSpPr>
          <p:cNvPr id="9" name="文本框 8">
            <a:extLst>
              <a:ext uri="{FF2B5EF4-FFF2-40B4-BE49-F238E27FC236}">
                <a16:creationId xmlns:a16="http://schemas.microsoft.com/office/drawing/2014/main" id="{2BFED223-9630-41ED-9F6F-062C761E2F9D}"/>
              </a:ext>
            </a:extLst>
          </p:cNvPr>
          <p:cNvSpPr txBox="1"/>
          <p:nvPr/>
        </p:nvSpPr>
        <p:spPr>
          <a:xfrm>
            <a:off x="1794633" y="5288340"/>
            <a:ext cx="3304870" cy="1569660"/>
          </a:xfrm>
          <a:prstGeom prst="rect">
            <a:avLst/>
          </a:prstGeom>
          <a:noFill/>
        </p:spPr>
        <p:txBody>
          <a:bodyPr wrap="square" rtlCol="0">
            <a:spAutoFit/>
          </a:bodyPr>
          <a:lstStyle/>
          <a:p>
            <a:pPr algn="ctr"/>
            <a:r>
              <a:rPr lang="en-US" altLang="zh-CN" sz="2400" kern="1200" baseline="30000" dirty="0">
                <a:solidFill>
                  <a:srgbClr val="000000"/>
                </a:solidFill>
                <a:effectLst/>
                <a:latin typeface="Calibri" panose="020F0502020204030204" pitchFamily="34" charset="0"/>
                <a:ea typeface="Calibri" panose="020F0502020204030204" pitchFamily="34" charset="0"/>
                <a:cs typeface="宋体" panose="02010600030101010101" pitchFamily="2" charset="-122"/>
              </a:rPr>
              <a:t>1</a:t>
            </a:r>
            <a:r>
              <a:rPr lang="en-US" altLang="zh-CN" sz="2400" kern="1200" dirty="0">
                <a:solidFill>
                  <a:srgbClr val="000000"/>
                </a:solidFill>
                <a:effectLst/>
                <a:latin typeface="Calibri" panose="020F0502020204030204" pitchFamily="34" charset="0"/>
                <a:ea typeface="Calibri" panose="020F0502020204030204" pitchFamily="34" charset="0"/>
                <a:cs typeface="宋体" panose="02010600030101010101" pitchFamily="2" charset="-122"/>
              </a:rPr>
              <a:t>Huazhong University of Science and Technology (HUST)</a:t>
            </a:r>
            <a:endParaRPr lang="zh-CN" altLang="zh-CN" sz="1200" dirty="0">
              <a:effectLst/>
              <a:latin typeface="宋体" panose="02010600030101010101" pitchFamily="2" charset="-122"/>
              <a:ea typeface="宋体" panose="02010600030101010101" pitchFamily="2" charset="-122"/>
              <a:cs typeface="宋体" panose="02010600030101010101" pitchFamily="2" charset="-122"/>
            </a:endParaRPr>
          </a:p>
          <a:p>
            <a:endParaRPr lang="en-US" altLang="zh-CN" sz="2400" dirty="0">
              <a:latin typeface="Calibri" panose="020F0502020204030204" pitchFamily="34" charset="0"/>
              <a:ea typeface="Calibri" panose="020F0502020204030204" pitchFamily="34" charset="0"/>
              <a:cs typeface="Calibri" panose="020F0502020204030204" pitchFamily="34" charset="0"/>
            </a:endParaRPr>
          </a:p>
        </p:txBody>
      </p:sp>
      <p:pic>
        <p:nvPicPr>
          <p:cNvPr id="10" name="Picture 13">
            <a:extLst>
              <a:ext uri="{FF2B5EF4-FFF2-40B4-BE49-F238E27FC236}">
                <a16:creationId xmlns:a16="http://schemas.microsoft.com/office/drawing/2014/main" id="{2A010A13-B795-48C5-AA58-C1A9EE88B04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bright="20000"/>
                    </a14:imgEffect>
                  </a14:imgLayer>
                </a14:imgProps>
              </a:ext>
            </a:extLst>
          </a:blip>
          <a:stretch>
            <a:fillRect/>
          </a:stretch>
        </p:blipFill>
        <p:spPr>
          <a:xfrm>
            <a:off x="7834589" y="3950424"/>
            <a:ext cx="1551037" cy="1371646"/>
          </a:xfrm>
          <a:prstGeom prst="rect">
            <a:avLst/>
          </a:prstGeom>
        </p:spPr>
      </p:pic>
      <p:sp>
        <p:nvSpPr>
          <p:cNvPr id="11" name="文本框 10">
            <a:extLst>
              <a:ext uri="{FF2B5EF4-FFF2-40B4-BE49-F238E27FC236}">
                <a16:creationId xmlns:a16="http://schemas.microsoft.com/office/drawing/2014/main" id="{12500CAE-6830-4DBF-9F43-583E316E2119}"/>
              </a:ext>
            </a:extLst>
          </p:cNvPr>
          <p:cNvSpPr txBox="1"/>
          <p:nvPr/>
        </p:nvSpPr>
        <p:spPr>
          <a:xfrm>
            <a:off x="6957672" y="5288340"/>
            <a:ext cx="3304870" cy="1569660"/>
          </a:xfrm>
          <a:prstGeom prst="rect">
            <a:avLst/>
          </a:prstGeom>
          <a:noFill/>
        </p:spPr>
        <p:txBody>
          <a:bodyPr wrap="square" rtlCol="0">
            <a:spAutoFit/>
          </a:bodyPr>
          <a:lstStyle/>
          <a:p>
            <a:pPr algn="ctr"/>
            <a:r>
              <a:rPr lang="en-US" altLang="zh-CN" sz="2400" baseline="30000" dirty="0">
                <a:solidFill>
                  <a:srgbClr val="000000"/>
                </a:solidFill>
                <a:latin typeface="Calibri" panose="020F0502020204030204" pitchFamily="34" charset="0"/>
                <a:ea typeface="Calibri" panose="020F0502020204030204" pitchFamily="34" charset="0"/>
                <a:cs typeface="宋体" panose="02010600030101010101" pitchFamily="2" charset="-122"/>
              </a:rPr>
              <a:t>2</a:t>
            </a:r>
            <a:r>
              <a:rPr lang="en-US" altLang="zh-CN" sz="2400" kern="1200" dirty="0">
                <a:solidFill>
                  <a:srgbClr val="000000"/>
                </a:solidFill>
                <a:effectLst/>
                <a:latin typeface="Calibri" panose="020F0502020204030204" pitchFamily="34" charset="0"/>
                <a:ea typeface="Calibri" panose="020F0502020204030204" pitchFamily="34" charset="0"/>
                <a:cs typeface="宋体" panose="02010600030101010101" pitchFamily="2" charset="-122"/>
              </a:rPr>
              <a:t>The University of Texas at Arlington</a:t>
            </a:r>
          </a:p>
          <a:p>
            <a:pPr algn="ctr"/>
            <a:r>
              <a:rPr lang="en-US" altLang="zh-CN" sz="2400" dirty="0">
                <a:solidFill>
                  <a:srgbClr val="000000"/>
                </a:solidFill>
                <a:latin typeface="Calibri" panose="020F0502020204030204" pitchFamily="34" charset="0"/>
                <a:ea typeface="Calibri" panose="020F0502020204030204" pitchFamily="34" charset="0"/>
                <a:cs typeface="宋体" panose="02010600030101010101" pitchFamily="2" charset="-122"/>
              </a:rPr>
              <a:t>(UTA)</a:t>
            </a:r>
            <a:endParaRPr lang="zh-CN" altLang="zh-CN" sz="1200" dirty="0">
              <a:effectLst/>
              <a:latin typeface="宋体" panose="02010600030101010101" pitchFamily="2" charset="-122"/>
              <a:ea typeface="宋体" panose="02010600030101010101" pitchFamily="2" charset="-122"/>
              <a:cs typeface="宋体" panose="02010600030101010101" pitchFamily="2" charset="-122"/>
            </a:endParaRPr>
          </a:p>
          <a:p>
            <a:endParaRPr lang="en-US" altLang="zh-CN" sz="2400" dirty="0">
              <a:latin typeface="Calibri" panose="020F0502020204030204" pitchFamily="34" charset="0"/>
              <a:ea typeface="Calibri" panose="020F0502020204030204" pitchFamily="34" charset="0"/>
              <a:cs typeface="Calibri" panose="020F0502020204030204" pitchFamily="34" charset="0"/>
            </a:endParaRPr>
          </a:p>
        </p:txBody>
      </p:sp>
      <p:sp>
        <p:nvSpPr>
          <p:cNvPr id="8" name="文本框 7">
            <a:extLst>
              <a:ext uri="{FF2B5EF4-FFF2-40B4-BE49-F238E27FC236}">
                <a16:creationId xmlns:a16="http://schemas.microsoft.com/office/drawing/2014/main" id="{0DC48E53-43C1-4426-9C2D-A7288DCFCF77}"/>
              </a:ext>
            </a:extLst>
          </p:cNvPr>
          <p:cNvSpPr txBox="1"/>
          <p:nvPr/>
        </p:nvSpPr>
        <p:spPr>
          <a:xfrm>
            <a:off x="4007890" y="116682"/>
            <a:ext cx="4176214" cy="769441"/>
          </a:xfrm>
          <a:prstGeom prst="rect">
            <a:avLst/>
          </a:prstGeom>
          <a:noFill/>
        </p:spPr>
        <p:txBody>
          <a:bodyPr wrap="square" rtlCol="0">
            <a:spAutoFit/>
          </a:bodyPr>
          <a:lstStyle/>
          <a:p>
            <a:r>
              <a:rPr lang="en-US" altLang="zh-CN" sz="4400" kern="1200" dirty="0">
                <a:solidFill>
                  <a:schemeClr val="accent1">
                    <a:lumMod val="75000"/>
                  </a:schemeClr>
                </a:solidFill>
                <a:effectLst/>
                <a:latin typeface="Calibri" panose="020F0502020204030204" pitchFamily="34" charset="0"/>
                <a:ea typeface="Calibri" panose="020F0502020204030204" pitchFamily="34" charset="0"/>
                <a:cs typeface="宋体" panose="02010600030101010101" pitchFamily="2" charset="-122"/>
              </a:rPr>
              <a:t>Thank You!   Q&amp;A</a:t>
            </a:r>
            <a:endParaRPr lang="zh-CN" altLang="zh-CN" sz="2000" dirty="0">
              <a:solidFill>
                <a:schemeClr val="accent1">
                  <a:lumMod val="75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111120988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1490</TotalTime>
  <Words>5829</Words>
  <Application>Microsoft Office PowerPoint</Application>
  <PresentationFormat>宽屏</PresentationFormat>
  <Paragraphs>397</Paragraphs>
  <Slides>24</Slides>
  <Notes>19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等线</vt:lpstr>
      <vt:lpstr>等线 Light</vt:lpstr>
      <vt:lpstr>宋体</vt:lpstr>
      <vt:lpstr>Arial</vt:lpstr>
      <vt:lpstr>Calibri</vt:lpstr>
      <vt:lpstr>Cascadia Code</vt:lpstr>
      <vt:lpstr>Wingdings</vt:lpstr>
      <vt:lpstr>Office 主题​​</vt:lpstr>
      <vt:lpstr>AEP: Achieving Hierarchical Fault Tolerance in DSM Through Atomic Execution Protection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AEP: Achieving Hierarchical Fault Tolerance in DSM Through Atomic Execution Protection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AEP: Achieving Hierarchical Fault Tolerance in DSM Through Atomic Execution Protection</dc:title>
  <dc:creator>wang zixuan</dc:creator>
  <cp:lastModifiedBy>wang zixuan</cp:lastModifiedBy>
  <cp:revision>225</cp:revision>
  <dcterms:created xsi:type="dcterms:W3CDTF">2026-04-21T02:49:29Z</dcterms:created>
  <dcterms:modified xsi:type="dcterms:W3CDTF">2026-04-22T14:27:18Z</dcterms:modified>
</cp:coreProperties>
</file>