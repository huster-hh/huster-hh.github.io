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34"/>
  </p:notesMasterIdLst>
  <p:handoutMasterIdLst>
    <p:handoutMasterId r:id="rId35"/>
  </p:handoutMasterIdLst>
  <p:sldIdLst>
    <p:sldId id="256" r:id="rId2"/>
    <p:sldId id="285" r:id="rId3"/>
    <p:sldId id="287" r:id="rId4"/>
    <p:sldId id="288" r:id="rId5"/>
    <p:sldId id="289" r:id="rId6"/>
    <p:sldId id="286" r:id="rId7"/>
    <p:sldId id="327" r:id="rId8"/>
    <p:sldId id="290" r:id="rId9"/>
    <p:sldId id="301" r:id="rId10"/>
    <p:sldId id="291" r:id="rId11"/>
    <p:sldId id="311" r:id="rId12"/>
    <p:sldId id="312" r:id="rId13"/>
    <p:sldId id="314" r:id="rId14"/>
    <p:sldId id="313" r:id="rId15"/>
    <p:sldId id="329" r:id="rId16"/>
    <p:sldId id="315" r:id="rId17"/>
    <p:sldId id="316" r:id="rId18"/>
    <p:sldId id="317" r:id="rId19"/>
    <p:sldId id="330" r:id="rId20"/>
    <p:sldId id="318" r:id="rId21"/>
    <p:sldId id="331" r:id="rId22"/>
    <p:sldId id="319" r:id="rId23"/>
    <p:sldId id="332" r:id="rId24"/>
    <p:sldId id="321" r:id="rId25"/>
    <p:sldId id="322" r:id="rId26"/>
    <p:sldId id="323" r:id="rId27"/>
    <p:sldId id="320" r:id="rId28"/>
    <p:sldId id="326" r:id="rId29"/>
    <p:sldId id="324" r:id="rId30"/>
    <p:sldId id="325" r:id="rId31"/>
    <p:sldId id="281" r:id="rId32"/>
    <p:sldId id="280" r:id="rId3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B73"/>
    <a:srgbClr val="0432FF"/>
    <a:srgbClr val="405888"/>
    <a:srgbClr val="9DC3E6"/>
    <a:srgbClr val="2E75B6"/>
    <a:srgbClr val="41719C"/>
    <a:srgbClr val="D9D9D9"/>
    <a:srgbClr val="595959"/>
    <a:srgbClr val="D6D6D6"/>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1538" autoAdjust="0"/>
  </p:normalViewPr>
  <p:slideViewPr>
    <p:cSldViewPr snapToGrid="0">
      <p:cViewPr varScale="1">
        <p:scale>
          <a:sx n="70" d="100"/>
          <a:sy n="70" d="100"/>
        </p:scale>
        <p:origin x="2304" y="176"/>
      </p:cViewPr>
      <p:guideLst/>
    </p:cSldViewPr>
  </p:slideViewPr>
  <p:notesTextViewPr>
    <p:cViewPr>
      <p:scale>
        <a:sx n="100" d="100"/>
        <a:sy n="100" d="100"/>
      </p:scale>
      <p:origin x="0" y="0"/>
    </p:cViewPr>
  </p:notesTextViewPr>
  <p:notesViewPr>
    <p:cSldViewPr snapToGrid="0">
      <p:cViewPr varScale="1">
        <p:scale>
          <a:sx n="87" d="100"/>
          <a:sy n="87" d="100"/>
        </p:scale>
        <p:origin x="384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istrator\Desktop\&#25253;&#21578;.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istrator\Desktop\&#25253;&#21578;.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istrator\Desktop\&#25253;&#21578;.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dministrator\Desktop\&#25253;&#21578;.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471977767484967E-2"/>
          <c:y val="4.7224424350438408E-2"/>
          <c:w val="0.90532246410375183"/>
          <c:h val="0.6997021662981"/>
        </c:manualLayout>
      </c:layout>
      <c:barChart>
        <c:barDir val="col"/>
        <c:grouping val="clustered"/>
        <c:varyColors val="0"/>
        <c:ser>
          <c:idx val="0"/>
          <c:order val="0"/>
          <c:tx>
            <c:strRef>
              <c:f>Sheet1!$B$2</c:f>
              <c:strCache>
                <c:ptCount val="1"/>
                <c:pt idx="0">
                  <c:v>8T</c:v>
                </c:pt>
              </c:strCache>
            </c:strRef>
          </c:tx>
          <c:spPr>
            <a:solidFill>
              <a:srgbClr val="FF0000"/>
            </a:solidFill>
            <a:ln>
              <a:noFill/>
            </a:ln>
            <a:effectLst/>
          </c:spPr>
          <c:invertIfNegative val="0"/>
          <c:cat>
            <c:strRef>
              <c:f>Sheet1!$A$3:$A$36</c:f>
              <c:strCache>
                <c:ptCount val="34"/>
                <c:pt idx="0">
                  <c:v>blackscholes</c:v>
                </c:pt>
                <c:pt idx="1">
                  <c:v>canneal</c:v>
                </c:pt>
                <c:pt idx="2">
                  <c:v>ferret</c:v>
                </c:pt>
                <c:pt idx="3">
                  <c:v>swaptions</c:v>
                </c:pt>
                <c:pt idx="4">
                  <c:v>vips</c:v>
                </c:pt>
                <c:pt idx="5">
                  <c:v>barnes</c:v>
                </c:pt>
                <c:pt idx="6">
                  <c:v>fft</c:v>
                </c:pt>
                <c:pt idx="7">
                  <c:v>fmm</c:v>
                </c:pt>
                <c:pt idx="8">
                  <c:v>radiosity</c:v>
                </c:pt>
                <c:pt idx="9">
                  <c:v>raytrace</c:v>
                </c:pt>
                <c:pt idx="10">
                  <c:v>ep</c:v>
                </c:pt>
                <c:pt idx="12">
                  <c:v>bodytrack</c:v>
                </c:pt>
                <c:pt idx="13">
                  <c:v>facesim</c:v>
                </c:pt>
                <c:pt idx="14">
                  <c:v>x264</c:v>
                </c:pt>
                <c:pt idx="15">
                  <c:v>water</c:v>
                </c:pt>
                <c:pt idx="17">
                  <c:v>dedup</c:v>
                </c:pt>
                <c:pt idx="18">
                  <c:v>fluidanimate</c:v>
                </c:pt>
                <c:pt idx="19">
                  <c:v>freqmine</c:v>
                </c:pt>
                <c:pt idx="20">
                  <c:v>streamcluster</c:v>
                </c:pt>
                <c:pt idx="21">
                  <c:v>cholesky</c:v>
                </c:pt>
                <c:pt idx="22">
                  <c:v>lu_cb</c:v>
                </c:pt>
                <c:pt idx="23">
                  <c:v>ocean</c:v>
                </c:pt>
                <c:pt idx="24">
                  <c:v>radix</c:v>
                </c:pt>
                <c:pt idx="25">
                  <c:v>volrend</c:v>
                </c:pt>
                <c:pt idx="26">
                  <c:v>is</c:v>
                </c:pt>
                <c:pt idx="27">
                  <c:v>cg</c:v>
                </c:pt>
                <c:pt idx="28">
                  <c:v>mg</c:v>
                </c:pt>
                <c:pt idx="29">
                  <c:v>ft</c:v>
                </c:pt>
                <c:pt idx="30">
                  <c:v>sp</c:v>
                </c:pt>
                <c:pt idx="31">
                  <c:v>bt</c:v>
                </c:pt>
                <c:pt idx="32">
                  <c:v>ua</c:v>
                </c:pt>
                <c:pt idx="33">
                  <c:v>lu</c:v>
                </c:pt>
              </c:strCache>
            </c:strRef>
          </c:cat>
          <c:val>
            <c:numRef>
              <c:f>Sheet1!$B$3:$B$36</c:f>
              <c:numCache>
                <c:formatCode>General</c:formatCode>
                <c:ptCount val="34"/>
                <c:pt idx="0">
                  <c:v>1</c:v>
                </c:pt>
                <c:pt idx="1">
                  <c:v>1</c:v>
                </c:pt>
                <c:pt idx="2">
                  <c:v>1</c:v>
                </c:pt>
                <c:pt idx="3">
                  <c:v>1</c:v>
                </c:pt>
                <c:pt idx="4">
                  <c:v>1</c:v>
                </c:pt>
                <c:pt idx="5">
                  <c:v>1</c:v>
                </c:pt>
                <c:pt idx="6">
                  <c:v>1</c:v>
                </c:pt>
                <c:pt idx="7">
                  <c:v>1</c:v>
                </c:pt>
                <c:pt idx="8">
                  <c:v>1</c:v>
                </c:pt>
                <c:pt idx="9">
                  <c:v>1</c:v>
                </c:pt>
                <c:pt idx="10">
                  <c:v>1</c:v>
                </c:pt>
                <c:pt idx="11">
                  <c:v>0</c:v>
                </c:pt>
                <c:pt idx="12">
                  <c:v>1</c:v>
                </c:pt>
                <c:pt idx="13">
                  <c:v>1</c:v>
                </c:pt>
                <c:pt idx="14">
                  <c:v>1</c:v>
                </c:pt>
                <c:pt idx="15">
                  <c:v>1</c:v>
                </c:pt>
                <c:pt idx="16">
                  <c:v>0</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numCache>
            </c:numRef>
          </c:val>
          <c:extLst>
            <c:ext xmlns:c16="http://schemas.microsoft.com/office/drawing/2014/chart" uri="{C3380CC4-5D6E-409C-BE32-E72D297353CC}">
              <c16:uniqueId val="{00000000-C0E3-4F01-A540-1DC8A9060A18}"/>
            </c:ext>
          </c:extLst>
        </c:ser>
        <c:ser>
          <c:idx val="1"/>
          <c:order val="1"/>
          <c:tx>
            <c:strRef>
              <c:f>Sheet1!$C$2</c:f>
              <c:strCache>
                <c:ptCount val="1"/>
                <c:pt idx="0">
                  <c:v>32T</c:v>
                </c:pt>
              </c:strCache>
            </c:strRef>
          </c:tx>
          <c:spPr>
            <a:solidFill>
              <a:schemeClr val="accent5">
                <a:lumMod val="75000"/>
              </a:schemeClr>
            </a:solidFill>
            <a:ln>
              <a:noFill/>
            </a:ln>
            <a:effectLst/>
          </c:spPr>
          <c:invertIfNegative val="0"/>
          <c:cat>
            <c:strRef>
              <c:f>Sheet1!$A$3:$A$36</c:f>
              <c:strCache>
                <c:ptCount val="34"/>
                <c:pt idx="0">
                  <c:v>blackscholes</c:v>
                </c:pt>
                <c:pt idx="1">
                  <c:v>canneal</c:v>
                </c:pt>
                <c:pt idx="2">
                  <c:v>ferret</c:v>
                </c:pt>
                <c:pt idx="3">
                  <c:v>swaptions</c:v>
                </c:pt>
                <c:pt idx="4">
                  <c:v>vips</c:v>
                </c:pt>
                <c:pt idx="5">
                  <c:v>barnes</c:v>
                </c:pt>
                <c:pt idx="6">
                  <c:v>fft</c:v>
                </c:pt>
                <c:pt idx="7">
                  <c:v>fmm</c:v>
                </c:pt>
                <c:pt idx="8">
                  <c:v>radiosity</c:v>
                </c:pt>
                <c:pt idx="9">
                  <c:v>raytrace</c:v>
                </c:pt>
                <c:pt idx="10">
                  <c:v>ep</c:v>
                </c:pt>
                <c:pt idx="12">
                  <c:v>bodytrack</c:v>
                </c:pt>
                <c:pt idx="13">
                  <c:v>facesim</c:v>
                </c:pt>
                <c:pt idx="14">
                  <c:v>x264</c:v>
                </c:pt>
                <c:pt idx="15">
                  <c:v>water</c:v>
                </c:pt>
                <c:pt idx="17">
                  <c:v>dedup</c:v>
                </c:pt>
                <c:pt idx="18">
                  <c:v>fluidanimate</c:v>
                </c:pt>
                <c:pt idx="19">
                  <c:v>freqmine</c:v>
                </c:pt>
                <c:pt idx="20">
                  <c:v>streamcluster</c:v>
                </c:pt>
                <c:pt idx="21">
                  <c:v>cholesky</c:v>
                </c:pt>
                <c:pt idx="22">
                  <c:v>lu_cb</c:v>
                </c:pt>
                <c:pt idx="23">
                  <c:v>ocean</c:v>
                </c:pt>
                <c:pt idx="24">
                  <c:v>radix</c:v>
                </c:pt>
                <c:pt idx="25">
                  <c:v>volrend</c:v>
                </c:pt>
                <c:pt idx="26">
                  <c:v>is</c:v>
                </c:pt>
                <c:pt idx="27">
                  <c:v>cg</c:v>
                </c:pt>
                <c:pt idx="28">
                  <c:v>mg</c:v>
                </c:pt>
                <c:pt idx="29">
                  <c:v>ft</c:v>
                </c:pt>
                <c:pt idx="30">
                  <c:v>sp</c:v>
                </c:pt>
                <c:pt idx="31">
                  <c:v>bt</c:v>
                </c:pt>
                <c:pt idx="32">
                  <c:v>ua</c:v>
                </c:pt>
                <c:pt idx="33">
                  <c:v>lu</c:v>
                </c:pt>
              </c:strCache>
            </c:strRef>
          </c:cat>
          <c:val>
            <c:numRef>
              <c:f>Sheet1!$C$3:$C$36</c:f>
              <c:numCache>
                <c:formatCode>General</c:formatCode>
                <c:ptCount val="34"/>
                <c:pt idx="0">
                  <c:v>0.99075999999999997</c:v>
                </c:pt>
                <c:pt idx="1">
                  <c:v>1.0164899999999999</c:v>
                </c:pt>
                <c:pt idx="2">
                  <c:v>1.0099199999999999</c:v>
                </c:pt>
                <c:pt idx="3">
                  <c:v>0.99955000000000005</c:v>
                </c:pt>
                <c:pt idx="4">
                  <c:v>1.00146</c:v>
                </c:pt>
                <c:pt idx="5">
                  <c:v>1.0241499999999999</c:v>
                </c:pt>
                <c:pt idx="6">
                  <c:v>1.0453399999999999</c:v>
                </c:pt>
                <c:pt idx="7">
                  <c:v>1.0268699999999999</c:v>
                </c:pt>
                <c:pt idx="8">
                  <c:v>1.0480100000000001</c:v>
                </c:pt>
                <c:pt idx="9">
                  <c:v>1.01264</c:v>
                </c:pt>
                <c:pt idx="10">
                  <c:v>0.99721000000000004</c:v>
                </c:pt>
                <c:pt idx="11">
                  <c:v>0</c:v>
                </c:pt>
                <c:pt idx="12">
                  <c:v>0.94960999999999995</c:v>
                </c:pt>
                <c:pt idx="13">
                  <c:v>0.89117000000000002</c:v>
                </c:pt>
                <c:pt idx="14">
                  <c:v>0.89502999999999999</c:v>
                </c:pt>
                <c:pt idx="15">
                  <c:v>0.89524999999999999</c:v>
                </c:pt>
                <c:pt idx="16">
                  <c:v>0</c:v>
                </c:pt>
                <c:pt idx="17">
                  <c:v>1.73041</c:v>
                </c:pt>
                <c:pt idx="18">
                  <c:v>1.3026500000000001</c:v>
                </c:pt>
                <c:pt idx="19">
                  <c:v>1.0558000000000001</c:v>
                </c:pt>
                <c:pt idx="20">
                  <c:v>1.56741</c:v>
                </c:pt>
                <c:pt idx="21">
                  <c:v>2.7877700000000001</c:v>
                </c:pt>
                <c:pt idx="22">
                  <c:v>1.0774900000000001</c:v>
                </c:pt>
                <c:pt idx="23">
                  <c:v>1.12266</c:v>
                </c:pt>
                <c:pt idx="24">
                  <c:v>1.18222</c:v>
                </c:pt>
                <c:pt idx="25">
                  <c:v>9.9499999999999993</c:v>
                </c:pt>
                <c:pt idx="26">
                  <c:v>1.15263</c:v>
                </c:pt>
                <c:pt idx="27">
                  <c:v>1.3238000000000001</c:v>
                </c:pt>
                <c:pt idx="28">
                  <c:v>1.40862</c:v>
                </c:pt>
                <c:pt idx="29">
                  <c:v>1.07962</c:v>
                </c:pt>
                <c:pt idx="30">
                  <c:v>1.06101</c:v>
                </c:pt>
                <c:pt idx="31">
                  <c:v>1.3253999999999999</c:v>
                </c:pt>
                <c:pt idx="32">
                  <c:v>1.3232200000000001</c:v>
                </c:pt>
                <c:pt idx="33">
                  <c:v>25.66</c:v>
                </c:pt>
              </c:numCache>
            </c:numRef>
          </c:val>
          <c:extLst>
            <c:ext xmlns:c16="http://schemas.microsoft.com/office/drawing/2014/chart" uri="{C3380CC4-5D6E-409C-BE32-E72D297353CC}">
              <c16:uniqueId val="{00000001-C0E3-4F01-A540-1DC8A9060A18}"/>
            </c:ext>
          </c:extLst>
        </c:ser>
        <c:dLbls>
          <c:showLegendKey val="0"/>
          <c:showVal val="0"/>
          <c:showCatName val="0"/>
          <c:showSerName val="0"/>
          <c:showPercent val="0"/>
          <c:showBubbleSize val="0"/>
        </c:dLbls>
        <c:gapWidth val="219"/>
        <c:overlap val="-27"/>
        <c:axId val="393613359"/>
        <c:axId val="393615023"/>
      </c:barChart>
      <c:catAx>
        <c:axId val="3936133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393615023"/>
        <c:crosses val="autoZero"/>
        <c:auto val="1"/>
        <c:lblAlgn val="ctr"/>
        <c:lblOffset val="100"/>
        <c:noMultiLvlLbl val="0"/>
      </c:catAx>
      <c:valAx>
        <c:axId val="393615023"/>
        <c:scaling>
          <c:orientation val="minMax"/>
          <c:max val="2"/>
          <c:min val="0.5"/>
        </c:scaling>
        <c:delete val="0"/>
        <c:axPos val="l"/>
        <c:majorGridlines>
          <c:spPr>
            <a:ln w="25400"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CN" sz="1800" b="0" i="0" u="none" strike="noStrike" baseline="0" dirty="0">
                    <a:effectLst/>
                  </a:rPr>
                  <a:t>Normalized Execution Time</a:t>
                </a:r>
                <a:endParaRPr lang="zh-CN" altLang="en-US" sz="1800"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93613359"/>
        <c:crosses val="autoZero"/>
        <c:crossBetween val="between"/>
        <c:majorUnit val="0.5"/>
      </c:valAx>
      <c:spPr>
        <a:noFill/>
        <a:ln w="25400">
          <a:solidFill>
            <a:schemeClr val="bg1">
              <a:lumMod val="85000"/>
            </a:schemeClr>
          </a:solidFill>
        </a:ln>
        <a:effectLst/>
      </c:spPr>
    </c:plotArea>
    <c:legend>
      <c:legendPos val="b"/>
      <c:layout>
        <c:manualLayout>
          <c:xMode val="edge"/>
          <c:yMode val="edge"/>
          <c:x val="7.65406795320272E-2"/>
          <c:y val="4.1445576305232844E-2"/>
          <c:w val="0.22638047509300216"/>
          <c:h val="0.1308986073939849"/>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276694695522604"/>
          <c:y val="5.0925925925925923E-2"/>
          <c:w val="0.66667733338584645"/>
          <c:h val="0.72130431612715074"/>
        </c:manualLayout>
      </c:layout>
      <c:lineChart>
        <c:grouping val="standard"/>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Sheet2!$A$3:$A$10</c:f>
              <c:numCache>
                <c:formatCode>General</c:formatCode>
                <c:ptCount val="8"/>
                <c:pt idx="0">
                  <c:v>1</c:v>
                </c:pt>
                <c:pt idx="1">
                  <c:v>2</c:v>
                </c:pt>
                <c:pt idx="2">
                  <c:v>3</c:v>
                </c:pt>
                <c:pt idx="3">
                  <c:v>4</c:v>
                </c:pt>
                <c:pt idx="4">
                  <c:v>5</c:v>
                </c:pt>
                <c:pt idx="5">
                  <c:v>6</c:v>
                </c:pt>
                <c:pt idx="6">
                  <c:v>7</c:v>
                </c:pt>
                <c:pt idx="7">
                  <c:v>8</c:v>
                </c:pt>
              </c:numCache>
            </c:numRef>
          </c:cat>
          <c:val>
            <c:numRef>
              <c:f>Sheet2!$B$3:$B$10</c:f>
              <c:numCache>
                <c:formatCode>General</c:formatCode>
                <c:ptCount val="8"/>
                <c:pt idx="0">
                  <c:v>1</c:v>
                </c:pt>
                <c:pt idx="1">
                  <c:v>1.0031600000000001</c:v>
                </c:pt>
                <c:pt idx="2">
                  <c:v>1.00095</c:v>
                </c:pt>
                <c:pt idx="3">
                  <c:v>1.00095</c:v>
                </c:pt>
                <c:pt idx="4">
                  <c:v>0.99936999999999998</c:v>
                </c:pt>
                <c:pt idx="5">
                  <c:v>0.99841999999999997</c:v>
                </c:pt>
                <c:pt idx="6">
                  <c:v>0.99778</c:v>
                </c:pt>
                <c:pt idx="7">
                  <c:v>0.99809999999999999</c:v>
                </c:pt>
              </c:numCache>
            </c:numRef>
          </c:val>
          <c:smooth val="0"/>
          <c:extLst>
            <c:ext xmlns:c16="http://schemas.microsoft.com/office/drawing/2014/chart" uri="{C3380CC4-5D6E-409C-BE32-E72D297353CC}">
              <c16:uniqueId val="{00000000-2FD0-4DCF-8726-D604BA18F0FF}"/>
            </c:ext>
          </c:extLst>
        </c:ser>
        <c:dLbls>
          <c:showLegendKey val="0"/>
          <c:showVal val="0"/>
          <c:showCatName val="0"/>
          <c:showSerName val="0"/>
          <c:showPercent val="0"/>
          <c:showBubbleSize val="0"/>
        </c:dLbls>
        <c:marker val="1"/>
        <c:smooth val="0"/>
        <c:axId val="392831231"/>
        <c:axId val="392822079"/>
      </c:lineChart>
      <c:catAx>
        <c:axId val="392831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92822079"/>
        <c:crosses val="autoZero"/>
        <c:auto val="1"/>
        <c:lblAlgn val="ctr"/>
        <c:lblOffset val="100"/>
        <c:noMultiLvlLbl val="0"/>
      </c:catAx>
      <c:valAx>
        <c:axId val="392822079"/>
        <c:scaling>
          <c:orientation val="minMax"/>
          <c:max val="1.5"/>
          <c:min val="0"/>
        </c:scaling>
        <c:delete val="0"/>
        <c:axPos val="l"/>
        <c:majorGridlines>
          <c:spPr>
            <a:ln w="2540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92831231"/>
        <c:crosses val="autoZero"/>
        <c:crossBetween val="between"/>
        <c:majorUnit val="0.5"/>
      </c:valAx>
      <c:spPr>
        <a:noFill/>
        <a:ln w="25400">
          <a:solidFill>
            <a:schemeClr val="bg1">
              <a:lumMod val="85000"/>
            </a:schemeClr>
          </a:solid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391688547810474"/>
          <c:y val="5.0925925925925923E-2"/>
          <c:w val="0.71523008676142574"/>
          <c:h val="0.72130431612715074"/>
        </c:manualLayout>
      </c:layout>
      <c:lineChart>
        <c:grouping val="standard"/>
        <c:varyColors val="0"/>
        <c:ser>
          <c:idx val="0"/>
          <c:order val="0"/>
          <c:spPr>
            <a:ln w="28575" cap="rnd">
              <a:solidFill>
                <a:schemeClr val="accent4">
                  <a:lumMod val="75000"/>
                </a:schemeClr>
              </a:solidFill>
              <a:round/>
            </a:ln>
            <a:effectLst/>
          </c:spPr>
          <c:marker>
            <c:symbol val="circle"/>
            <c:size val="5"/>
            <c:spPr>
              <a:solidFill>
                <a:schemeClr val="accent1"/>
              </a:solidFill>
              <a:ln w="9525">
                <a:solidFill>
                  <a:schemeClr val="accent1"/>
                </a:solidFill>
              </a:ln>
              <a:effectLst/>
            </c:spPr>
          </c:marker>
          <c:cat>
            <c:numRef>
              <c:f>Sheet2!$A$3:$A$10</c:f>
              <c:numCache>
                <c:formatCode>General</c:formatCode>
                <c:ptCount val="8"/>
                <c:pt idx="0">
                  <c:v>1</c:v>
                </c:pt>
                <c:pt idx="1">
                  <c:v>2</c:v>
                </c:pt>
                <c:pt idx="2">
                  <c:v>3</c:v>
                </c:pt>
                <c:pt idx="3">
                  <c:v>4</c:v>
                </c:pt>
                <c:pt idx="4">
                  <c:v>5</c:v>
                </c:pt>
                <c:pt idx="5">
                  <c:v>6</c:v>
                </c:pt>
                <c:pt idx="6">
                  <c:v>7</c:v>
                </c:pt>
                <c:pt idx="7">
                  <c:v>8</c:v>
                </c:pt>
              </c:numCache>
            </c:numRef>
          </c:cat>
          <c:val>
            <c:numRef>
              <c:f>Sheet2!$B$3:$B$10</c:f>
              <c:numCache>
                <c:formatCode>General</c:formatCode>
                <c:ptCount val="8"/>
                <c:pt idx="0">
                  <c:v>1</c:v>
                </c:pt>
                <c:pt idx="1">
                  <c:v>1.0031600000000001</c:v>
                </c:pt>
                <c:pt idx="2">
                  <c:v>1.00095</c:v>
                </c:pt>
                <c:pt idx="3">
                  <c:v>1.00095</c:v>
                </c:pt>
                <c:pt idx="4">
                  <c:v>0.99936999999999998</c:v>
                </c:pt>
                <c:pt idx="5">
                  <c:v>0.99841999999999997</c:v>
                </c:pt>
                <c:pt idx="6">
                  <c:v>0.99778</c:v>
                </c:pt>
                <c:pt idx="7">
                  <c:v>0.99809999999999999</c:v>
                </c:pt>
              </c:numCache>
            </c:numRef>
          </c:val>
          <c:smooth val="0"/>
          <c:extLst>
            <c:ext xmlns:c16="http://schemas.microsoft.com/office/drawing/2014/chart" uri="{C3380CC4-5D6E-409C-BE32-E72D297353CC}">
              <c16:uniqueId val="{00000000-73F8-412C-BF5F-DAFD48886BF9}"/>
            </c:ext>
          </c:extLst>
        </c:ser>
        <c:dLbls>
          <c:showLegendKey val="0"/>
          <c:showVal val="0"/>
          <c:showCatName val="0"/>
          <c:showSerName val="0"/>
          <c:showPercent val="0"/>
          <c:showBubbleSize val="0"/>
        </c:dLbls>
        <c:marker val="1"/>
        <c:smooth val="0"/>
        <c:axId val="392831231"/>
        <c:axId val="392822079"/>
      </c:lineChart>
      <c:catAx>
        <c:axId val="392831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92822079"/>
        <c:crosses val="autoZero"/>
        <c:auto val="1"/>
        <c:lblAlgn val="ctr"/>
        <c:lblOffset val="100"/>
        <c:noMultiLvlLbl val="0"/>
      </c:catAx>
      <c:valAx>
        <c:axId val="392822079"/>
        <c:scaling>
          <c:orientation val="minMax"/>
          <c:max val="1.5"/>
          <c:min val="0"/>
        </c:scaling>
        <c:delete val="0"/>
        <c:axPos val="l"/>
        <c:majorGridlines>
          <c:spPr>
            <a:ln w="2540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92831231"/>
        <c:crosses val="autoZero"/>
        <c:crossBetween val="between"/>
        <c:majorUnit val="0.5"/>
      </c:valAx>
      <c:spPr>
        <a:noFill/>
        <a:ln w="25400">
          <a:solidFill>
            <a:schemeClr val="bg1">
              <a:lumMod val="85000"/>
            </a:schemeClr>
          </a:solid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102606108968438E-2"/>
          <c:y val="3.20463287587835E-2"/>
          <c:w val="0.87208033180528266"/>
          <c:h val="0.6305427092297835"/>
        </c:manualLayout>
      </c:layout>
      <c:barChart>
        <c:barDir val="col"/>
        <c:grouping val="clustered"/>
        <c:varyColors val="0"/>
        <c:ser>
          <c:idx val="0"/>
          <c:order val="0"/>
          <c:tx>
            <c:strRef>
              <c:f>Sheet3!$D$3</c:f>
              <c:strCache>
                <c:ptCount val="1"/>
                <c:pt idx="0">
                  <c:v>8T(vanilla-8c)</c:v>
                </c:pt>
              </c:strCache>
            </c:strRef>
          </c:tx>
          <c:spPr>
            <a:solidFill>
              <a:schemeClr val="tx1"/>
            </a:solidFill>
            <a:ln>
              <a:noFill/>
            </a:ln>
            <a:effectLst/>
          </c:spPr>
          <c:invertIfNegative val="0"/>
          <c:cat>
            <c:strRef>
              <c:f>Sheet3!$C$4:$C$16</c:f>
              <c:strCache>
                <c:ptCount val="13"/>
                <c:pt idx="0">
                  <c:v>fluidanimate</c:v>
                </c:pt>
                <c:pt idx="1">
                  <c:v>freqmine</c:v>
                </c:pt>
                <c:pt idx="2">
                  <c:v>streamcluster</c:v>
                </c:pt>
                <c:pt idx="3">
                  <c:v>lu_cb</c:v>
                </c:pt>
                <c:pt idx="4">
                  <c:v>ocean</c:v>
                </c:pt>
                <c:pt idx="5">
                  <c:v>radix</c:v>
                </c:pt>
                <c:pt idx="6">
                  <c:v>is</c:v>
                </c:pt>
                <c:pt idx="7">
                  <c:v>cg</c:v>
                </c:pt>
                <c:pt idx="8">
                  <c:v>mg</c:v>
                </c:pt>
                <c:pt idx="9">
                  <c:v>ft</c:v>
                </c:pt>
                <c:pt idx="10">
                  <c:v>sp</c:v>
                </c:pt>
                <c:pt idx="11">
                  <c:v>bt</c:v>
                </c:pt>
                <c:pt idx="12">
                  <c:v>ua</c:v>
                </c:pt>
              </c:strCache>
            </c:strRef>
          </c:cat>
          <c:val>
            <c:numRef>
              <c:f>Sheet3!$D$4:$D$16</c:f>
              <c:numCache>
                <c:formatCode>General</c:formatCode>
                <c:ptCount val="13"/>
                <c:pt idx="0">
                  <c:v>1</c:v>
                </c:pt>
                <c:pt idx="1">
                  <c:v>1</c:v>
                </c:pt>
                <c:pt idx="2">
                  <c:v>1</c:v>
                </c:pt>
                <c:pt idx="3">
                  <c:v>1</c:v>
                </c:pt>
                <c:pt idx="4">
                  <c:v>1</c:v>
                </c:pt>
                <c:pt idx="5">
                  <c:v>1</c:v>
                </c:pt>
                <c:pt idx="6">
                  <c:v>1</c:v>
                </c:pt>
                <c:pt idx="7">
                  <c:v>1</c:v>
                </c:pt>
                <c:pt idx="8">
                  <c:v>1</c:v>
                </c:pt>
                <c:pt idx="9">
                  <c:v>1</c:v>
                </c:pt>
                <c:pt idx="10">
                  <c:v>1</c:v>
                </c:pt>
                <c:pt idx="11">
                  <c:v>1</c:v>
                </c:pt>
                <c:pt idx="12">
                  <c:v>1</c:v>
                </c:pt>
              </c:numCache>
            </c:numRef>
          </c:val>
          <c:extLst>
            <c:ext xmlns:c16="http://schemas.microsoft.com/office/drawing/2014/chart" uri="{C3380CC4-5D6E-409C-BE32-E72D297353CC}">
              <c16:uniqueId val="{00000000-C9BD-4C1D-9D78-CBBBA79A83AE}"/>
            </c:ext>
          </c:extLst>
        </c:ser>
        <c:ser>
          <c:idx val="1"/>
          <c:order val="1"/>
          <c:tx>
            <c:strRef>
              <c:f>Sheet3!$E$3</c:f>
              <c:strCache>
                <c:ptCount val="1"/>
                <c:pt idx="0">
                  <c:v>32T(vanilla-8c)</c:v>
                </c:pt>
              </c:strCache>
            </c:strRef>
          </c:tx>
          <c:spPr>
            <a:pattFill prst="wdDnDiag">
              <a:fgClr>
                <a:schemeClr val="bg2">
                  <a:lumMod val="75000"/>
                </a:schemeClr>
              </a:fgClr>
              <a:bgClr>
                <a:schemeClr val="bg1"/>
              </a:bgClr>
            </a:pattFill>
            <a:ln>
              <a:solidFill>
                <a:schemeClr val="tx1"/>
              </a:solidFill>
            </a:ln>
            <a:effectLst/>
          </c:spPr>
          <c:invertIfNegative val="0"/>
          <c:cat>
            <c:strRef>
              <c:f>Sheet3!$C$4:$C$16</c:f>
              <c:strCache>
                <c:ptCount val="13"/>
                <c:pt idx="0">
                  <c:v>fluidanimate</c:v>
                </c:pt>
                <c:pt idx="1">
                  <c:v>freqmine</c:v>
                </c:pt>
                <c:pt idx="2">
                  <c:v>streamcluster</c:v>
                </c:pt>
                <c:pt idx="3">
                  <c:v>lu_cb</c:v>
                </c:pt>
                <c:pt idx="4">
                  <c:v>ocean</c:v>
                </c:pt>
                <c:pt idx="5">
                  <c:v>radix</c:v>
                </c:pt>
                <c:pt idx="6">
                  <c:v>is</c:v>
                </c:pt>
                <c:pt idx="7">
                  <c:v>cg</c:v>
                </c:pt>
                <c:pt idx="8">
                  <c:v>mg</c:v>
                </c:pt>
                <c:pt idx="9">
                  <c:v>ft</c:v>
                </c:pt>
                <c:pt idx="10">
                  <c:v>sp</c:v>
                </c:pt>
                <c:pt idx="11">
                  <c:v>bt</c:v>
                </c:pt>
                <c:pt idx="12">
                  <c:v>ua</c:v>
                </c:pt>
              </c:strCache>
            </c:strRef>
          </c:cat>
          <c:val>
            <c:numRef>
              <c:f>Sheet3!$E$4:$E$16</c:f>
              <c:numCache>
                <c:formatCode>General</c:formatCode>
                <c:ptCount val="13"/>
                <c:pt idx="0">
                  <c:v>1.3026500000000001</c:v>
                </c:pt>
                <c:pt idx="1">
                  <c:v>1.0558000000000001</c:v>
                </c:pt>
                <c:pt idx="2">
                  <c:v>1.56741</c:v>
                </c:pt>
                <c:pt idx="3">
                  <c:v>1.0774900000000001</c:v>
                </c:pt>
                <c:pt idx="4">
                  <c:v>1.12266</c:v>
                </c:pt>
                <c:pt idx="5">
                  <c:v>1.18222</c:v>
                </c:pt>
                <c:pt idx="6">
                  <c:v>1.15263</c:v>
                </c:pt>
                <c:pt idx="7">
                  <c:v>1.3238000000000001</c:v>
                </c:pt>
                <c:pt idx="8">
                  <c:v>1.40862</c:v>
                </c:pt>
                <c:pt idx="9">
                  <c:v>1.07962</c:v>
                </c:pt>
                <c:pt idx="10">
                  <c:v>1.06101</c:v>
                </c:pt>
                <c:pt idx="11">
                  <c:v>1.3253999999999999</c:v>
                </c:pt>
                <c:pt idx="12">
                  <c:v>1.3232200000000001</c:v>
                </c:pt>
              </c:numCache>
            </c:numRef>
          </c:val>
          <c:extLst>
            <c:ext xmlns:c16="http://schemas.microsoft.com/office/drawing/2014/chart" uri="{C3380CC4-5D6E-409C-BE32-E72D297353CC}">
              <c16:uniqueId val="{00000001-C9BD-4C1D-9D78-CBBBA79A83AE}"/>
            </c:ext>
          </c:extLst>
        </c:ser>
        <c:ser>
          <c:idx val="2"/>
          <c:order val="2"/>
          <c:tx>
            <c:strRef>
              <c:f>Sheet3!$F$3</c:f>
              <c:strCache>
                <c:ptCount val="1"/>
                <c:pt idx="0">
                  <c:v>8T(optimized-8c)</c:v>
                </c:pt>
              </c:strCache>
            </c:strRef>
          </c:tx>
          <c:spPr>
            <a:solidFill>
              <a:srgbClr val="FF0000"/>
            </a:solidFill>
            <a:ln>
              <a:solidFill>
                <a:schemeClr val="tx1"/>
              </a:solidFill>
            </a:ln>
            <a:effectLst/>
          </c:spPr>
          <c:invertIfNegative val="0"/>
          <c:cat>
            <c:strRef>
              <c:f>Sheet3!$C$4:$C$16</c:f>
              <c:strCache>
                <c:ptCount val="13"/>
                <c:pt idx="0">
                  <c:v>fluidanimate</c:v>
                </c:pt>
                <c:pt idx="1">
                  <c:v>freqmine</c:v>
                </c:pt>
                <c:pt idx="2">
                  <c:v>streamcluster</c:v>
                </c:pt>
                <c:pt idx="3">
                  <c:v>lu_cb</c:v>
                </c:pt>
                <c:pt idx="4">
                  <c:v>ocean</c:v>
                </c:pt>
                <c:pt idx="5">
                  <c:v>radix</c:v>
                </c:pt>
                <c:pt idx="6">
                  <c:v>is</c:v>
                </c:pt>
                <c:pt idx="7">
                  <c:v>cg</c:v>
                </c:pt>
                <c:pt idx="8">
                  <c:v>mg</c:v>
                </c:pt>
                <c:pt idx="9">
                  <c:v>ft</c:v>
                </c:pt>
                <c:pt idx="10">
                  <c:v>sp</c:v>
                </c:pt>
                <c:pt idx="11">
                  <c:v>bt</c:v>
                </c:pt>
                <c:pt idx="12">
                  <c:v>ua</c:v>
                </c:pt>
              </c:strCache>
            </c:strRef>
          </c:cat>
          <c:val>
            <c:numRef>
              <c:f>Sheet3!$F$4:$F$16</c:f>
              <c:numCache>
                <c:formatCode>General</c:formatCode>
                <c:ptCount val="13"/>
                <c:pt idx="0">
                  <c:v>1.1499999999999999</c:v>
                </c:pt>
                <c:pt idx="1">
                  <c:v>0.82650000000000001</c:v>
                </c:pt>
                <c:pt idx="2">
                  <c:v>1.00149</c:v>
                </c:pt>
                <c:pt idx="3">
                  <c:v>1.00804</c:v>
                </c:pt>
                <c:pt idx="4">
                  <c:v>0.84145000000000003</c:v>
                </c:pt>
                <c:pt idx="5">
                  <c:v>1.03878</c:v>
                </c:pt>
                <c:pt idx="6">
                  <c:v>0.99211000000000005</c:v>
                </c:pt>
                <c:pt idx="7">
                  <c:v>0.74658000000000002</c:v>
                </c:pt>
                <c:pt idx="8">
                  <c:v>0.81896999999999998</c:v>
                </c:pt>
                <c:pt idx="9">
                  <c:v>0.99041000000000001</c:v>
                </c:pt>
                <c:pt idx="10">
                  <c:v>0.99797999999999998</c:v>
                </c:pt>
                <c:pt idx="11">
                  <c:v>1.0423</c:v>
                </c:pt>
                <c:pt idx="12">
                  <c:v>1.0113799999999999</c:v>
                </c:pt>
              </c:numCache>
            </c:numRef>
          </c:val>
          <c:extLst>
            <c:ext xmlns:c16="http://schemas.microsoft.com/office/drawing/2014/chart" uri="{C3380CC4-5D6E-409C-BE32-E72D297353CC}">
              <c16:uniqueId val="{00000002-C9BD-4C1D-9D78-CBBBA79A83AE}"/>
            </c:ext>
          </c:extLst>
        </c:ser>
        <c:ser>
          <c:idx val="3"/>
          <c:order val="3"/>
          <c:tx>
            <c:strRef>
              <c:f>Sheet3!$G$3</c:f>
              <c:strCache>
                <c:ptCount val="1"/>
                <c:pt idx="0">
                  <c:v>8T(vanilla-8ht)</c:v>
                </c:pt>
              </c:strCache>
            </c:strRef>
          </c:tx>
          <c:spPr>
            <a:solidFill>
              <a:schemeClr val="bg1">
                <a:lumMod val="65000"/>
              </a:schemeClr>
            </a:solidFill>
            <a:ln>
              <a:solidFill>
                <a:schemeClr val="tx1"/>
              </a:solidFill>
            </a:ln>
            <a:effectLst/>
          </c:spPr>
          <c:invertIfNegative val="0"/>
          <c:cat>
            <c:strRef>
              <c:f>Sheet3!$C$4:$C$16</c:f>
              <c:strCache>
                <c:ptCount val="13"/>
                <c:pt idx="0">
                  <c:v>fluidanimate</c:v>
                </c:pt>
                <c:pt idx="1">
                  <c:v>freqmine</c:v>
                </c:pt>
                <c:pt idx="2">
                  <c:v>streamcluster</c:v>
                </c:pt>
                <c:pt idx="3">
                  <c:v>lu_cb</c:v>
                </c:pt>
                <c:pt idx="4">
                  <c:v>ocean</c:v>
                </c:pt>
                <c:pt idx="5">
                  <c:v>radix</c:v>
                </c:pt>
                <c:pt idx="6">
                  <c:v>is</c:v>
                </c:pt>
                <c:pt idx="7">
                  <c:v>cg</c:v>
                </c:pt>
                <c:pt idx="8">
                  <c:v>mg</c:v>
                </c:pt>
                <c:pt idx="9">
                  <c:v>ft</c:v>
                </c:pt>
                <c:pt idx="10">
                  <c:v>sp</c:v>
                </c:pt>
                <c:pt idx="11">
                  <c:v>bt</c:v>
                </c:pt>
                <c:pt idx="12">
                  <c:v>ua</c:v>
                </c:pt>
              </c:strCache>
            </c:strRef>
          </c:cat>
          <c:val>
            <c:numRef>
              <c:f>Sheet3!$G$4:$G$16</c:f>
              <c:numCache>
                <c:formatCode>General</c:formatCode>
                <c:ptCount val="13"/>
                <c:pt idx="0">
                  <c:v>1.4578500000000001</c:v>
                </c:pt>
                <c:pt idx="1">
                  <c:v>1.3012300000000001</c:v>
                </c:pt>
                <c:pt idx="2">
                  <c:v>1.28467</c:v>
                </c:pt>
                <c:pt idx="3">
                  <c:v>1.5226900000000001</c:v>
                </c:pt>
                <c:pt idx="4">
                  <c:v>1.7412000000000001</c:v>
                </c:pt>
                <c:pt idx="5">
                  <c:v>1.0914600000000001</c:v>
                </c:pt>
                <c:pt idx="6">
                  <c:v>1.2026300000000001</c:v>
                </c:pt>
                <c:pt idx="7">
                  <c:v>1.30731</c:v>
                </c:pt>
                <c:pt idx="8">
                  <c:v>1.4931000000000001</c:v>
                </c:pt>
                <c:pt idx="9">
                  <c:v>1.5199</c:v>
                </c:pt>
                <c:pt idx="10">
                  <c:v>1.76193</c:v>
                </c:pt>
                <c:pt idx="11">
                  <c:v>1.6510800000000001</c:v>
                </c:pt>
                <c:pt idx="12">
                  <c:v>1.4377800000000001</c:v>
                </c:pt>
              </c:numCache>
            </c:numRef>
          </c:val>
          <c:extLst>
            <c:ext xmlns:c16="http://schemas.microsoft.com/office/drawing/2014/chart" uri="{C3380CC4-5D6E-409C-BE32-E72D297353CC}">
              <c16:uniqueId val="{00000003-C9BD-4C1D-9D78-CBBBA79A83AE}"/>
            </c:ext>
          </c:extLst>
        </c:ser>
        <c:ser>
          <c:idx val="4"/>
          <c:order val="4"/>
          <c:tx>
            <c:strRef>
              <c:f>Sheet3!$H$3</c:f>
              <c:strCache>
                <c:ptCount val="1"/>
                <c:pt idx="0">
                  <c:v>8T(vanilla-8ht)</c:v>
                </c:pt>
              </c:strCache>
            </c:strRef>
          </c:tx>
          <c:spPr>
            <a:pattFill prst="wdUpDiag">
              <a:fgClr>
                <a:schemeClr val="bg1">
                  <a:lumMod val="50000"/>
                </a:schemeClr>
              </a:fgClr>
              <a:bgClr>
                <a:schemeClr val="bg1"/>
              </a:bgClr>
            </a:pattFill>
            <a:ln>
              <a:solidFill>
                <a:schemeClr val="tx1"/>
              </a:solidFill>
            </a:ln>
            <a:effectLst/>
          </c:spPr>
          <c:invertIfNegative val="0"/>
          <c:cat>
            <c:strRef>
              <c:f>Sheet3!$C$4:$C$16</c:f>
              <c:strCache>
                <c:ptCount val="13"/>
                <c:pt idx="0">
                  <c:v>fluidanimate</c:v>
                </c:pt>
                <c:pt idx="1">
                  <c:v>freqmine</c:v>
                </c:pt>
                <c:pt idx="2">
                  <c:v>streamcluster</c:v>
                </c:pt>
                <c:pt idx="3">
                  <c:v>lu_cb</c:v>
                </c:pt>
                <c:pt idx="4">
                  <c:v>ocean</c:v>
                </c:pt>
                <c:pt idx="5">
                  <c:v>radix</c:v>
                </c:pt>
                <c:pt idx="6">
                  <c:v>is</c:v>
                </c:pt>
                <c:pt idx="7">
                  <c:v>cg</c:v>
                </c:pt>
                <c:pt idx="8">
                  <c:v>mg</c:v>
                </c:pt>
                <c:pt idx="9">
                  <c:v>ft</c:v>
                </c:pt>
                <c:pt idx="10">
                  <c:v>sp</c:v>
                </c:pt>
                <c:pt idx="11">
                  <c:v>bt</c:v>
                </c:pt>
                <c:pt idx="12">
                  <c:v>ua</c:v>
                </c:pt>
              </c:strCache>
            </c:strRef>
          </c:cat>
          <c:val>
            <c:numRef>
              <c:f>Sheet3!$H$4:$H$16</c:f>
              <c:numCache>
                <c:formatCode>General</c:formatCode>
                <c:ptCount val="13"/>
                <c:pt idx="0">
                  <c:v>1.88689</c:v>
                </c:pt>
                <c:pt idx="1">
                  <c:v>1.37164</c:v>
                </c:pt>
                <c:pt idx="2">
                  <c:v>1.9011199999999999</c:v>
                </c:pt>
                <c:pt idx="3">
                  <c:v>1.6198600000000001</c:v>
                </c:pt>
                <c:pt idx="4">
                  <c:v>1.81193</c:v>
                </c:pt>
                <c:pt idx="5">
                  <c:v>1.3256600000000001</c:v>
                </c:pt>
                <c:pt idx="6">
                  <c:v>1.44737</c:v>
                </c:pt>
                <c:pt idx="7">
                  <c:v>1.6601699999999999</c:v>
                </c:pt>
                <c:pt idx="8">
                  <c:v>2.1051700000000002</c:v>
                </c:pt>
                <c:pt idx="9">
                  <c:v>1.5908899999999999</c:v>
                </c:pt>
                <c:pt idx="10">
                  <c:v>1.81592</c:v>
                </c:pt>
                <c:pt idx="11">
                  <c:v>1.9446000000000001</c:v>
                </c:pt>
                <c:pt idx="12">
                  <c:v>1.72472</c:v>
                </c:pt>
              </c:numCache>
            </c:numRef>
          </c:val>
          <c:extLst>
            <c:ext xmlns:c16="http://schemas.microsoft.com/office/drawing/2014/chart" uri="{C3380CC4-5D6E-409C-BE32-E72D297353CC}">
              <c16:uniqueId val="{00000004-C9BD-4C1D-9D78-CBBBA79A83AE}"/>
            </c:ext>
          </c:extLst>
        </c:ser>
        <c:ser>
          <c:idx val="5"/>
          <c:order val="5"/>
          <c:tx>
            <c:strRef>
              <c:f>Sheet3!$I$3</c:f>
              <c:strCache>
                <c:ptCount val="1"/>
                <c:pt idx="0">
                  <c:v>8T(vanilla-8ht)</c:v>
                </c:pt>
              </c:strCache>
            </c:strRef>
          </c:tx>
          <c:spPr>
            <a:pattFill prst="smConfetti">
              <a:fgClr>
                <a:srgbClr val="FF0000"/>
              </a:fgClr>
              <a:bgClr>
                <a:schemeClr val="bg1"/>
              </a:bgClr>
            </a:pattFill>
            <a:ln>
              <a:solidFill>
                <a:schemeClr val="tx1"/>
              </a:solidFill>
            </a:ln>
            <a:effectLst/>
          </c:spPr>
          <c:invertIfNegative val="0"/>
          <c:cat>
            <c:strRef>
              <c:f>Sheet3!$C$4:$C$16</c:f>
              <c:strCache>
                <c:ptCount val="13"/>
                <c:pt idx="0">
                  <c:v>fluidanimate</c:v>
                </c:pt>
                <c:pt idx="1">
                  <c:v>freqmine</c:v>
                </c:pt>
                <c:pt idx="2">
                  <c:v>streamcluster</c:v>
                </c:pt>
                <c:pt idx="3">
                  <c:v>lu_cb</c:v>
                </c:pt>
                <c:pt idx="4">
                  <c:v>ocean</c:v>
                </c:pt>
                <c:pt idx="5">
                  <c:v>radix</c:v>
                </c:pt>
                <c:pt idx="6">
                  <c:v>is</c:v>
                </c:pt>
                <c:pt idx="7">
                  <c:v>cg</c:v>
                </c:pt>
                <c:pt idx="8">
                  <c:v>mg</c:v>
                </c:pt>
                <c:pt idx="9">
                  <c:v>ft</c:v>
                </c:pt>
                <c:pt idx="10">
                  <c:v>sp</c:v>
                </c:pt>
                <c:pt idx="11">
                  <c:v>bt</c:v>
                </c:pt>
                <c:pt idx="12">
                  <c:v>ua</c:v>
                </c:pt>
              </c:strCache>
            </c:strRef>
          </c:cat>
          <c:val>
            <c:numRef>
              <c:f>Sheet3!$I$4:$I$16</c:f>
              <c:numCache>
                <c:formatCode>General</c:formatCode>
                <c:ptCount val="13"/>
                <c:pt idx="0">
                  <c:v>1.55145</c:v>
                </c:pt>
                <c:pt idx="1">
                  <c:v>1.2625999999999999</c:v>
                </c:pt>
                <c:pt idx="2">
                  <c:v>1.25823</c:v>
                </c:pt>
                <c:pt idx="3">
                  <c:v>1.5593699999999999</c:v>
                </c:pt>
                <c:pt idx="4">
                  <c:v>1.66534</c:v>
                </c:pt>
                <c:pt idx="5">
                  <c:v>1.0704400000000001</c:v>
                </c:pt>
                <c:pt idx="6">
                  <c:v>1.2368399999999999</c:v>
                </c:pt>
                <c:pt idx="7">
                  <c:v>1.2936399999999999</c:v>
                </c:pt>
                <c:pt idx="8">
                  <c:v>1.3655200000000001</c:v>
                </c:pt>
                <c:pt idx="9">
                  <c:v>1.49472</c:v>
                </c:pt>
                <c:pt idx="10">
                  <c:v>1.7622599999999999</c:v>
                </c:pt>
                <c:pt idx="11">
                  <c:v>1.7561800000000001</c:v>
                </c:pt>
                <c:pt idx="12">
                  <c:v>1.46241</c:v>
                </c:pt>
              </c:numCache>
            </c:numRef>
          </c:val>
          <c:extLst>
            <c:ext xmlns:c16="http://schemas.microsoft.com/office/drawing/2014/chart" uri="{C3380CC4-5D6E-409C-BE32-E72D297353CC}">
              <c16:uniqueId val="{00000005-C9BD-4C1D-9D78-CBBBA79A83AE}"/>
            </c:ext>
          </c:extLst>
        </c:ser>
        <c:dLbls>
          <c:showLegendKey val="0"/>
          <c:showVal val="0"/>
          <c:showCatName val="0"/>
          <c:showSerName val="0"/>
          <c:showPercent val="0"/>
          <c:showBubbleSize val="0"/>
        </c:dLbls>
        <c:gapWidth val="219"/>
        <c:overlap val="-27"/>
        <c:axId val="391261551"/>
        <c:axId val="391264047"/>
      </c:barChart>
      <c:catAx>
        <c:axId val="391261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391264047"/>
        <c:crosses val="autoZero"/>
        <c:auto val="1"/>
        <c:lblAlgn val="ctr"/>
        <c:lblOffset val="100"/>
        <c:noMultiLvlLbl val="0"/>
      </c:catAx>
      <c:valAx>
        <c:axId val="391264047"/>
        <c:scaling>
          <c:orientation val="minMax"/>
        </c:scaling>
        <c:delete val="0"/>
        <c:axPos val="l"/>
        <c:majorGridlines>
          <c:spPr>
            <a:ln w="25400"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CN" sz="1400">
                    <a:solidFill>
                      <a:schemeClr val="tx1"/>
                    </a:solidFill>
                  </a:rPr>
                  <a:t>Normalized Execution Time</a:t>
                </a:r>
                <a:endParaRPr lang="zh-CN" altLang="en-US" sz="1400">
                  <a:solidFill>
                    <a:schemeClr val="tx1"/>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1261551"/>
        <c:crosses val="autoZero"/>
        <c:crossBetween val="between"/>
      </c:valAx>
      <c:spPr>
        <a:noFill/>
        <a:ln w="25400">
          <a:solidFill>
            <a:schemeClr val="bg1">
              <a:lumMod val="75000"/>
            </a:schemeClr>
          </a:solidFill>
        </a:ln>
        <a:effectLst/>
      </c:spPr>
    </c:plotArea>
    <c:legend>
      <c:legendPos val="b"/>
      <c:layout>
        <c:manualLayout>
          <c:xMode val="edge"/>
          <c:yMode val="edge"/>
          <c:x val="0.10675608083370718"/>
          <c:y val="4.0261770138793937E-2"/>
          <c:w val="0.67297533289674738"/>
          <c:h val="9.150533915640525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0.88688</cdr:x>
      <cdr:y>0.01741</cdr:y>
    </cdr:from>
    <cdr:to>
      <cdr:x>0.91873</cdr:x>
      <cdr:y>0.04012</cdr:y>
    </cdr:to>
    <cdr:sp macro="" textlink="">
      <cdr:nvSpPr>
        <cdr:cNvPr id="2" name="文本框 1"/>
        <cdr:cNvSpPr txBox="1"/>
      </cdr:nvSpPr>
      <cdr:spPr>
        <a:xfrm xmlns:a="http://schemas.openxmlformats.org/drawingml/2006/main">
          <a:off x="6153150" y="87630"/>
          <a:ext cx="220980" cy="1143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0.61604</cdr:x>
      <cdr:y>0.00454</cdr:y>
    </cdr:from>
    <cdr:to>
      <cdr:x>0.67643</cdr:x>
      <cdr:y>0.05678</cdr:y>
    </cdr:to>
    <cdr:sp macro="" textlink="">
      <cdr:nvSpPr>
        <cdr:cNvPr id="3" name="文本框 2"/>
        <cdr:cNvSpPr txBox="1"/>
      </cdr:nvSpPr>
      <cdr:spPr>
        <a:xfrm xmlns:a="http://schemas.openxmlformats.org/drawingml/2006/main">
          <a:off x="5208270" y="22860"/>
          <a:ext cx="510540" cy="26289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zh-CN" sz="1100"/>
            <a:t>2.78</a:t>
          </a:r>
          <a:endParaRPr lang="zh-CN" altLang="en-US" sz="1100"/>
        </a:p>
      </cdr:txBody>
    </cdr:sp>
  </cdr:relSizeAnchor>
  <cdr:relSizeAnchor xmlns:cdr="http://schemas.openxmlformats.org/drawingml/2006/chartDrawing">
    <cdr:from>
      <cdr:x>0.72871</cdr:x>
      <cdr:y>0.00379</cdr:y>
    </cdr:from>
    <cdr:to>
      <cdr:x>0.79901</cdr:x>
      <cdr:y>0.04164</cdr:y>
    </cdr:to>
    <cdr:sp macro="" textlink="">
      <cdr:nvSpPr>
        <cdr:cNvPr id="4" name="文本框 3"/>
        <cdr:cNvSpPr txBox="1"/>
      </cdr:nvSpPr>
      <cdr:spPr>
        <a:xfrm xmlns:a="http://schemas.openxmlformats.org/drawingml/2006/main">
          <a:off x="6160770" y="19050"/>
          <a:ext cx="594360" cy="1905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zh-CN" sz="1100"/>
            <a:t>9.95</a:t>
          </a:r>
          <a:endParaRPr lang="zh-CN" altLang="en-US" sz="1100"/>
        </a:p>
      </cdr:txBody>
    </cdr:sp>
  </cdr:relSizeAnchor>
  <cdr:relSizeAnchor xmlns:cdr="http://schemas.openxmlformats.org/drawingml/2006/chartDrawing">
    <cdr:from>
      <cdr:x>0.93511</cdr:x>
      <cdr:y>0.00379</cdr:y>
    </cdr:from>
    <cdr:to>
      <cdr:x>0.99549</cdr:x>
      <cdr:y>0.05526</cdr:y>
    </cdr:to>
    <cdr:sp macro="" textlink="">
      <cdr:nvSpPr>
        <cdr:cNvPr id="5" name="文本框 4"/>
        <cdr:cNvSpPr txBox="1"/>
      </cdr:nvSpPr>
      <cdr:spPr>
        <a:xfrm xmlns:a="http://schemas.openxmlformats.org/drawingml/2006/main">
          <a:off x="7905750" y="19050"/>
          <a:ext cx="510540" cy="25908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zh-CN" sz="1100"/>
            <a:t>25.66</a:t>
          </a:r>
          <a:endParaRPr lang="zh-CN" altLang="en-US" sz="1100"/>
        </a:p>
      </cdr:txBody>
    </cdr:sp>
  </cdr:relSizeAnchor>
</c:userShapes>
</file>

<file path=ppt/drawings/drawing2.xml><?xml version="1.0" encoding="utf-8"?>
<c:userShapes xmlns:c="http://schemas.openxmlformats.org/drawingml/2006/chart">
  <cdr:relSizeAnchor xmlns:cdr="http://schemas.openxmlformats.org/drawingml/2006/chartDrawing">
    <cdr:from>
      <cdr:x>0.33083</cdr:x>
      <cdr:y>0.9125</cdr:y>
    </cdr:from>
    <cdr:to>
      <cdr:x>0.67083</cdr:x>
      <cdr:y>0.9875</cdr:y>
    </cdr:to>
    <cdr:sp macro="" textlink="">
      <cdr:nvSpPr>
        <cdr:cNvPr id="2" name="文本框 1"/>
        <cdr:cNvSpPr txBox="1"/>
      </cdr:nvSpPr>
      <cdr:spPr>
        <a:xfrm xmlns:a="http://schemas.openxmlformats.org/drawingml/2006/main">
          <a:off x="1512570" y="2503170"/>
          <a:ext cx="1554480" cy="20574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0.29583</cdr:x>
      <cdr:y>0.88194</cdr:y>
    </cdr:from>
    <cdr:to>
      <cdr:x>0.80731</cdr:x>
      <cdr:y>0.99749</cdr:y>
    </cdr:to>
    <cdr:sp macro="" textlink="">
      <cdr:nvSpPr>
        <cdr:cNvPr id="3" name="文本框 2"/>
        <cdr:cNvSpPr txBox="1"/>
      </cdr:nvSpPr>
      <cdr:spPr>
        <a:xfrm xmlns:a="http://schemas.openxmlformats.org/drawingml/2006/main">
          <a:off x="1104453" y="2710990"/>
          <a:ext cx="1909570" cy="35518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zh-CN" sz="1600" dirty="0"/>
            <a:t>Number of Threads</a:t>
          </a:r>
          <a:endParaRPr lang="zh-CN" altLang="en-US" sz="1600" dirty="0"/>
        </a:p>
      </cdr:txBody>
    </cdr:sp>
  </cdr:relSizeAnchor>
  <cdr:relSizeAnchor xmlns:cdr="http://schemas.openxmlformats.org/drawingml/2006/chartDrawing">
    <cdr:from>
      <cdr:x>0.01833</cdr:x>
      <cdr:y>0.01528</cdr:y>
    </cdr:from>
    <cdr:to>
      <cdr:x>0.08333</cdr:x>
      <cdr:y>0.8125</cdr:y>
    </cdr:to>
    <cdr:sp macro="" textlink="">
      <cdr:nvSpPr>
        <cdr:cNvPr id="4" name="文本框 3"/>
        <cdr:cNvSpPr txBox="1"/>
      </cdr:nvSpPr>
      <cdr:spPr>
        <a:xfrm xmlns:a="http://schemas.openxmlformats.org/drawingml/2006/main" rot="16200000">
          <a:off x="-861060" y="986790"/>
          <a:ext cx="2186940" cy="29718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zh-CN" sz="1600" dirty="0"/>
            <a:t>Normalized Execution</a:t>
          </a:r>
          <a:r>
            <a:rPr lang="en-US" altLang="zh-CN" sz="1600" baseline="0" dirty="0"/>
            <a:t> Time</a:t>
          </a:r>
          <a:endParaRPr lang="zh-CN" altLang="en-US" sz="1600" dirty="0"/>
        </a:p>
      </cdr:txBody>
    </cdr:sp>
  </cdr:relSizeAnchor>
</c:userShapes>
</file>

<file path=ppt/drawings/drawing3.xml><?xml version="1.0" encoding="utf-8"?>
<c:userShapes xmlns:c="http://schemas.openxmlformats.org/drawingml/2006/chart">
  <cdr:relSizeAnchor xmlns:cdr="http://schemas.openxmlformats.org/drawingml/2006/chartDrawing">
    <cdr:from>
      <cdr:x>0.33083</cdr:x>
      <cdr:y>0.9125</cdr:y>
    </cdr:from>
    <cdr:to>
      <cdr:x>0.67083</cdr:x>
      <cdr:y>0.9875</cdr:y>
    </cdr:to>
    <cdr:sp macro="" textlink="">
      <cdr:nvSpPr>
        <cdr:cNvPr id="2" name="文本框 1"/>
        <cdr:cNvSpPr txBox="1"/>
      </cdr:nvSpPr>
      <cdr:spPr>
        <a:xfrm xmlns:a="http://schemas.openxmlformats.org/drawingml/2006/main">
          <a:off x="1512570" y="2503170"/>
          <a:ext cx="1554480" cy="20574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0.29583</cdr:x>
      <cdr:y>0.88194</cdr:y>
    </cdr:from>
    <cdr:to>
      <cdr:x>0.81</cdr:x>
      <cdr:y>0.97699</cdr:y>
    </cdr:to>
    <cdr:sp macro="" textlink="">
      <cdr:nvSpPr>
        <cdr:cNvPr id="3" name="文本框 2"/>
        <cdr:cNvSpPr txBox="1"/>
      </cdr:nvSpPr>
      <cdr:spPr>
        <a:xfrm xmlns:a="http://schemas.openxmlformats.org/drawingml/2006/main">
          <a:off x="1058267" y="2710990"/>
          <a:ext cx="1839332" cy="29217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zh-CN" sz="1600" dirty="0"/>
            <a:t>Number of Threads</a:t>
          </a:r>
          <a:endParaRPr lang="zh-CN" altLang="en-US" sz="1600" dirty="0"/>
        </a:p>
      </cdr:txBody>
    </cdr:sp>
  </cdr:relSizeAnchor>
  <cdr:relSizeAnchor xmlns:cdr="http://schemas.openxmlformats.org/drawingml/2006/chartDrawing">
    <cdr:from>
      <cdr:x>0.01833</cdr:x>
      <cdr:y>0.01528</cdr:y>
    </cdr:from>
    <cdr:to>
      <cdr:x>0.08333</cdr:x>
      <cdr:y>0.8125</cdr:y>
    </cdr:to>
    <cdr:sp macro="" textlink="">
      <cdr:nvSpPr>
        <cdr:cNvPr id="4" name="文本框 3"/>
        <cdr:cNvSpPr txBox="1"/>
      </cdr:nvSpPr>
      <cdr:spPr>
        <a:xfrm xmlns:a="http://schemas.openxmlformats.org/drawingml/2006/main" rot="16200000">
          <a:off x="-861060" y="986790"/>
          <a:ext cx="2186940" cy="29718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zh-CN" sz="1600" dirty="0"/>
            <a:t>Normalized Execution</a:t>
          </a:r>
          <a:r>
            <a:rPr lang="en-US" altLang="zh-CN" sz="1600" baseline="0" dirty="0"/>
            <a:t> Time</a:t>
          </a:r>
          <a:endParaRPr lang="zh-CN" altLang="en-US" sz="16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05D836A-DE53-445B-A2CE-98421BA6AA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10CD92C-3387-4CEC-AA73-A236853DD9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A33DC2-CC1F-4FE0-8535-03E72A232FF1}" type="datetimeFigureOut">
              <a:rPr lang="zh-CN" altLang="en-US" smtClean="0"/>
              <a:t>2021/6/6</a:t>
            </a:fld>
            <a:endParaRPr lang="zh-CN" altLang="en-US"/>
          </a:p>
        </p:txBody>
      </p:sp>
      <p:sp>
        <p:nvSpPr>
          <p:cNvPr id="4" name="页脚占位符 3">
            <a:extLst>
              <a:ext uri="{FF2B5EF4-FFF2-40B4-BE49-F238E27FC236}">
                <a16:creationId xmlns:a16="http://schemas.microsoft.com/office/drawing/2014/main" id="{645A5CB3-6233-4726-A9E8-E70AD4E24E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CA625CB7-CAC2-4965-9A6A-4ADC5266FE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E35A54-ECD2-4C15-9845-9321CEEEE06A}" type="slidenum">
              <a:rPr lang="zh-CN" altLang="en-US" smtClean="0"/>
              <a:t>‹#›</a:t>
            </a:fld>
            <a:endParaRPr lang="zh-CN" altLang="en-US"/>
          </a:p>
        </p:txBody>
      </p:sp>
    </p:spTree>
    <p:extLst>
      <p:ext uri="{BB962C8B-B14F-4D97-AF65-F5344CB8AC3E}">
        <p14:creationId xmlns:p14="http://schemas.microsoft.com/office/powerpoint/2010/main" val="2660504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9A334-9FDE-4BB1-9003-31F3D9610E2B}" type="datetimeFigureOut">
              <a:rPr lang="zh-CN" altLang="en-US" smtClean="0"/>
              <a:t>2021/6/6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CA73F-299E-4B3B-81F1-87346DCC89E7}" type="slidenum">
              <a:rPr lang="zh-CN" altLang="en-US" smtClean="0"/>
              <a:t>‹#›</a:t>
            </a:fld>
            <a:endParaRPr lang="zh-CN" altLang="en-US"/>
          </a:p>
        </p:txBody>
      </p:sp>
    </p:spTree>
    <p:extLst>
      <p:ext uri="{BB962C8B-B14F-4D97-AF65-F5344CB8AC3E}">
        <p14:creationId xmlns:p14="http://schemas.microsoft.com/office/powerpoint/2010/main" val="89437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a:solidFill>
                  <a:schemeClr val="tx1"/>
                </a:solidFill>
                <a:effectLst/>
                <a:latin typeface="+mn-lt"/>
                <a:ea typeface="+mn-ea"/>
                <a:cs typeface="+mn-cs"/>
              </a:rPr>
              <a:t>Hello, everyone:</a:t>
            </a:r>
          </a:p>
          <a:p>
            <a:r>
              <a:rPr lang="en-US" altLang="zh-CN" sz="1100" kern="1200" dirty="0">
                <a:solidFill>
                  <a:schemeClr val="tx1"/>
                </a:solidFill>
                <a:effectLst/>
                <a:latin typeface="+mn-lt"/>
                <a:ea typeface="+mn-ea"/>
                <a:cs typeface="+mn-cs"/>
              </a:rPr>
              <a:t>I am Hang Huang. Today, I will be presenting our work “Towards Exploiting CPU Elasticity via </a:t>
            </a:r>
          </a:p>
          <a:p>
            <a:r>
              <a:rPr lang="en-US" altLang="zh-CN" sz="1100" kern="1200" dirty="0">
                <a:solidFill>
                  <a:schemeClr val="tx1"/>
                </a:solidFill>
                <a:effectLst/>
                <a:latin typeface="+mn-lt"/>
                <a:ea typeface="+mn-ea"/>
                <a:cs typeface="+mn-cs"/>
              </a:rPr>
              <a:t>Efficient Thread Oversubscription”. This</a:t>
            </a:r>
            <a:r>
              <a:rPr lang="en-US" altLang="zh-CN" sz="1100" kern="1200" baseline="0" dirty="0">
                <a:solidFill>
                  <a:schemeClr val="tx1"/>
                </a:solidFill>
                <a:effectLst/>
                <a:latin typeface="+mn-lt"/>
                <a:ea typeface="+mn-ea"/>
                <a:cs typeface="+mn-cs"/>
              </a:rPr>
              <a:t> work</a:t>
            </a:r>
            <a:r>
              <a:rPr lang="en-US" altLang="zh-CN" sz="1100" kern="1200" dirty="0">
                <a:solidFill>
                  <a:schemeClr val="tx1"/>
                </a:solidFill>
                <a:effectLst/>
                <a:latin typeface="+mn-lt"/>
                <a:ea typeface="+mn-ea"/>
                <a:cs typeface="+mn-cs"/>
              </a:rPr>
              <a:t> comes from the collaboration between </a:t>
            </a:r>
            <a:r>
              <a:rPr lang="en-US" altLang="zh-CN" sz="1100" kern="1200" dirty="0" err="1">
                <a:solidFill>
                  <a:schemeClr val="tx1"/>
                </a:solidFill>
                <a:effectLst/>
                <a:latin typeface="+mn-lt"/>
                <a:ea typeface="+mn-ea"/>
                <a:cs typeface="+mn-cs"/>
              </a:rPr>
              <a:t>Huazhong</a:t>
            </a:r>
            <a:r>
              <a:rPr lang="en-US" altLang="zh-CN" sz="1100" kern="1200" dirty="0">
                <a:solidFill>
                  <a:schemeClr val="tx1"/>
                </a:solidFill>
                <a:effectLst/>
                <a:latin typeface="+mn-lt"/>
                <a:ea typeface="+mn-ea"/>
                <a:cs typeface="+mn-cs"/>
              </a:rPr>
              <a:t> University of Science and Technology and the</a:t>
            </a:r>
            <a:r>
              <a:rPr lang="en-US" altLang="zh-CN" sz="1100" kern="1200" baseline="0" dirty="0">
                <a:solidFill>
                  <a:schemeClr val="tx1"/>
                </a:solidFill>
                <a:effectLst/>
                <a:latin typeface="+mn-lt"/>
                <a:ea typeface="+mn-ea"/>
                <a:cs typeface="+mn-cs"/>
              </a:rPr>
              <a:t> </a:t>
            </a:r>
            <a:r>
              <a:rPr lang="en-US" altLang="zh-CN" sz="1100" kern="1200" dirty="0">
                <a:solidFill>
                  <a:schemeClr val="tx1"/>
                </a:solidFill>
                <a:effectLst/>
                <a:latin typeface="+mn-lt"/>
                <a:ea typeface="+mn-ea"/>
                <a:cs typeface="+mn-cs"/>
              </a:rPr>
              <a:t>University</a:t>
            </a:r>
            <a:r>
              <a:rPr lang="en-US" altLang="zh-CN" sz="1100" kern="1200" baseline="0" dirty="0">
                <a:solidFill>
                  <a:schemeClr val="tx1"/>
                </a:solidFill>
                <a:effectLst/>
                <a:latin typeface="+mn-lt"/>
                <a:ea typeface="+mn-ea"/>
                <a:cs typeface="+mn-cs"/>
              </a:rPr>
              <a:t> of Texas at Arlington.</a:t>
            </a:r>
            <a:endParaRPr lang="en-US" altLang="zh-CN" sz="11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77CA73F-299E-4B3B-81F1-87346DCC89E7}" type="slidenum">
              <a:rPr lang="zh-CN" altLang="en-US" smtClean="0"/>
              <a:t>1</a:t>
            </a:fld>
            <a:endParaRPr lang="zh-CN" altLang="en-US"/>
          </a:p>
        </p:txBody>
      </p:sp>
    </p:spTree>
    <p:extLst>
      <p:ext uri="{BB962C8B-B14F-4D97-AF65-F5344CB8AC3E}">
        <p14:creationId xmlns:p14="http://schemas.microsoft.com/office/powerpoint/2010/main" val="2553023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2400" b="0" i="0" kern="1200" dirty="0">
                <a:solidFill>
                  <a:schemeClr val="tx1"/>
                </a:solidFill>
                <a:effectLst/>
                <a:latin typeface="+mn-lt"/>
                <a:ea typeface="+mn-ea"/>
                <a:cs typeface="+mn-cs"/>
              </a:rPr>
              <a:t>At first,</a:t>
            </a:r>
            <a:r>
              <a:rPr lang="en-US" altLang="zh-CN" sz="2400" b="0" i="0" kern="1200" baseline="0" dirty="0">
                <a:solidFill>
                  <a:schemeClr val="tx1"/>
                </a:solidFill>
                <a:effectLst/>
                <a:latin typeface="+mn-lt"/>
                <a:ea typeface="+mn-ea"/>
                <a:cs typeface="+mn-cs"/>
              </a:rPr>
              <a:t> Let’s </a:t>
            </a:r>
            <a:r>
              <a:rPr lang="en-US" altLang="zh-CN" sz="2400" b="0" i="0" kern="1200" dirty="0">
                <a:solidFill>
                  <a:schemeClr val="tx1"/>
                </a:solidFill>
                <a:effectLst/>
                <a:latin typeface="+mn-lt"/>
                <a:ea typeface="+mn-ea"/>
                <a:cs typeface="+mn-cs"/>
              </a:rPr>
              <a:t>take a look at what Elasticity is and what advantages it can offer for us. </a:t>
            </a:r>
            <a:r>
              <a:rPr lang="en-US" altLang="zh-CN" sz="2400" dirty="0"/>
              <a:t>Elasticity, as one of the central attributes of modern cloud computing, is the ability of a system to adapt to workload changes by growing</a:t>
            </a:r>
            <a:r>
              <a:rPr lang="en-US" altLang="zh-CN" sz="2400" baseline="0" dirty="0"/>
              <a:t> or </a:t>
            </a:r>
            <a:r>
              <a:rPr lang="en-US" altLang="zh-CN" sz="2400" dirty="0"/>
              <a:t>shrinking system resources(e.g.</a:t>
            </a:r>
            <a:r>
              <a:rPr lang="en-US" altLang="zh-CN" sz="2400" baseline="0" dirty="0"/>
              <a:t> CPU, network, Memory and disk</a:t>
            </a:r>
            <a:r>
              <a:rPr lang="en-US" altLang="zh-CN" sz="2400" dirty="0"/>
              <a:t>).  So elasticity help match</a:t>
            </a:r>
            <a:r>
              <a:rPr lang="en-US" altLang="zh-CN" sz="2400" baseline="0" dirty="0"/>
              <a:t> </a:t>
            </a:r>
            <a:r>
              <a:rPr lang="en-US" altLang="zh-CN" sz="2400" dirty="0"/>
              <a:t>system capacity with users’ demand</a:t>
            </a:r>
            <a:r>
              <a:rPr lang="en-US" altLang="zh-CN" sz="2400" baseline="0" dirty="0"/>
              <a:t> and </a:t>
            </a:r>
            <a:r>
              <a:rPr lang="en-US" altLang="zh-CN" sz="2400" dirty="0"/>
              <a:t>brings many </a:t>
            </a:r>
            <a:r>
              <a:rPr lang="en-US" altLang="zh-CN" sz="2400" b="0" i="0" kern="1200" dirty="0">
                <a:solidFill>
                  <a:schemeClr val="tx1"/>
                </a:solidFill>
                <a:effectLst/>
                <a:latin typeface="+mn-lt"/>
                <a:ea typeface="+mn-ea"/>
                <a:cs typeface="+mn-cs"/>
              </a:rPr>
              <a:t>advanced features</a:t>
            </a:r>
            <a:r>
              <a:rPr lang="en-US" altLang="zh-CN" sz="2400" dirty="0"/>
              <a:t>:</a:t>
            </a:r>
            <a:r>
              <a:rPr lang="en-US" altLang="zh-CN" sz="2400" baseline="0" dirty="0"/>
              <a:t> </a:t>
            </a:r>
            <a:r>
              <a:rPr lang="en-US" altLang="zh-CN" sz="1200" b="0" i="0" kern="1200" dirty="0">
                <a:solidFill>
                  <a:schemeClr val="tx1"/>
                </a:solidFill>
                <a:effectLst/>
                <a:latin typeface="+mn-lt"/>
                <a:ea typeface="+mn-ea"/>
                <a:cs typeface="+mn-cs"/>
              </a:rPr>
              <a:t>High availability and reliability,</a:t>
            </a:r>
            <a:r>
              <a:rPr lang="en-US" altLang="zh-CN" sz="1200" b="0" i="0" kern="1200" baseline="0" dirty="0">
                <a:solidFill>
                  <a:schemeClr val="tx1"/>
                </a:solidFill>
                <a:effectLst/>
                <a:latin typeface="+mn-lt"/>
                <a:ea typeface="+mn-ea"/>
                <a:cs typeface="+mn-cs"/>
              </a:rPr>
              <a:t> </a:t>
            </a:r>
            <a:r>
              <a:rPr lang="en-US" altLang="zh-CN" sz="2400" dirty="0"/>
              <a:t>Facilitating growth,</a:t>
            </a:r>
            <a:r>
              <a:rPr lang="en-US" altLang="zh-CN" sz="2400" baseline="0" dirty="0"/>
              <a:t> </a:t>
            </a:r>
            <a:r>
              <a:rPr lang="en-US" altLang="zh-CN" sz="2400" dirty="0"/>
              <a:t>Automation,</a:t>
            </a:r>
            <a:r>
              <a:rPr lang="en-US" altLang="zh-CN" sz="2400" baseline="0" dirty="0"/>
              <a:t> cost-effectiveness</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sz="2400" baseline="0" dirty="0"/>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2400" baseline="0" dirty="0"/>
              <a:t>标题 </a:t>
            </a:r>
            <a:endParaRPr lang="en-US" altLang="zh-CN" sz="2400" baseline="0"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2400" baseline="0" dirty="0"/>
              <a:t>1</a:t>
            </a:r>
            <a:r>
              <a:rPr lang="zh-CN" altLang="en-US" sz="2400" baseline="0" dirty="0"/>
              <a:t>、</a:t>
            </a:r>
            <a:r>
              <a:rPr lang="en-US" altLang="zh-CN" sz="2400" baseline="0" dirty="0" err="1"/>
              <a:t>cr</a:t>
            </a:r>
            <a:endParaRPr lang="en-US" altLang="zh-CN" sz="2400" baseline="0"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2400" baseline="0" dirty="0"/>
              <a:t>2</a:t>
            </a:r>
            <a:r>
              <a:rPr lang="zh-CN" altLang="en-US" sz="2400" baseline="0" dirty="0"/>
              <a:t>、</a:t>
            </a:r>
            <a:r>
              <a:rPr lang="en-US" altLang="zh-CN" sz="2400" baseline="0" dirty="0"/>
              <a:t>light</a:t>
            </a:r>
            <a:endParaRPr lang="en-US" altLang="zh-CN" sz="2400" dirty="0"/>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sz="2200" b="0"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2</a:t>
            </a:fld>
            <a:endParaRPr lang="zh-CN" altLang="en-US"/>
          </a:p>
        </p:txBody>
      </p:sp>
    </p:spTree>
    <p:extLst>
      <p:ext uri="{BB962C8B-B14F-4D97-AF65-F5344CB8AC3E}">
        <p14:creationId xmlns:p14="http://schemas.microsoft.com/office/powerpoint/2010/main" val="1243803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2400" dirty="0"/>
              <a:t>Modern cloud providers already support elasticity  and implements the on-the-fly resource reconfiguration for existing virtualization techniques, such as virtual machines (VMs) and containers.</a:t>
            </a:r>
            <a:endParaRPr lang="en-US" altLang="zh-CN" sz="2200"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3</a:t>
            </a:fld>
            <a:endParaRPr lang="zh-CN" altLang="en-US"/>
          </a:p>
        </p:txBody>
      </p:sp>
    </p:spTree>
    <p:extLst>
      <p:ext uri="{BB962C8B-B14F-4D97-AF65-F5344CB8AC3E}">
        <p14:creationId xmlns:p14="http://schemas.microsoft.com/office/powerpoint/2010/main" val="793127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Among reconfigurable cloud resources, memory or storage needs to be reclaimed before it can be re-allocated to other users. However, </a:t>
            </a:r>
            <a:r>
              <a:rPr lang="en-US" altLang="zh-CN" baseline="0" dirty="0"/>
              <a:t> </a:t>
            </a:r>
            <a:r>
              <a:rPr lang="en-US" altLang="zh-CN" dirty="0"/>
              <a:t>CPU is mainly an execution vehicle with a small amount of data storage (i.e., registers and caches). It</a:t>
            </a:r>
            <a:r>
              <a:rPr lang="en-US" altLang="zh-CN" baseline="0" dirty="0"/>
              <a:t> can be </a:t>
            </a:r>
            <a:r>
              <a:rPr lang="en-US" altLang="zh-CN" dirty="0"/>
              <a:t>quickly provisioned or </a:t>
            </a:r>
            <a:r>
              <a:rPr lang="en-US" altLang="zh-CN" dirty="0" err="1"/>
              <a:t>deprovisioned</a:t>
            </a:r>
            <a:r>
              <a:rPr lang="en-US" altLang="zh-CN" dirty="0"/>
              <a:t> and only loading or saving little context. It is most suitable for elastic resource management.</a:t>
            </a:r>
            <a:r>
              <a:rPr lang="en-US" altLang="zh-CN" baseline="0" dirty="0"/>
              <a:t> Therefore, traditional virtual machine achieve CPU elasticity based on vCPU hot-plug. Users can hot-add and hot-remove vCPUs for virtual machines. While containers achieve CPU elasticity just based on </a:t>
            </a:r>
            <a:r>
              <a:rPr lang="en-US" altLang="zh-CN" baseline="0" dirty="0" err="1"/>
              <a:t>Cgroups</a:t>
            </a:r>
            <a:r>
              <a:rPr lang="en-US" altLang="zh-CN" baseline="0" dirty="0"/>
              <a:t>. Users can change </a:t>
            </a:r>
            <a:r>
              <a:rPr lang="en-US" altLang="zh-CN" baseline="0" dirty="0" err="1"/>
              <a:t>cgroups</a:t>
            </a:r>
            <a:r>
              <a:rPr lang="en-US" altLang="zh-CN" baseline="0" dirty="0"/>
              <a:t> setting for containers at runtime to changes their CPU capability.</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4</a:t>
            </a:fld>
            <a:endParaRPr lang="zh-CN" altLang="en-US"/>
          </a:p>
        </p:txBody>
      </p:sp>
    </p:spTree>
    <p:extLst>
      <p:ext uri="{BB962C8B-B14F-4D97-AF65-F5344CB8AC3E}">
        <p14:creationId xmlns:p14="http://schemas.microsoft.com/office/powerpoint/2010/main" val="890061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However, developing applications that can effectively utilize a varying number of CPU cores during its execution is non-trivial.  Traditional applications always match the number of threads to the number of cores to achieve best performance. However, when the number of cores varies</a:t>
            </a:r>
            <a:r>
              <a:rPr lang="en-US" altLang="zh-CN" baseline="0" dirty="0"/>
              <a:t> at runtime, applications may suffer two problems. On the one hand, when </a:t>
            </a:r>
            <a:r>
              <a:rPr lang="en-US" altLang="zh-CN" dirty="0"/>
              <a:t>the number of CPUs scales up</a:t>
            </a:r>
            <a:r>
              <a:rPr lang="en-US" altLang="zh-CN" baseline="0" dirty="0"/>
              <a:t>, the applications will waste the additional CPU resources because of lack of enough concurrency(or threads). On the other hand, when </a:t>
            </a:r>
            <a:r>
              <a:rPr lang="en-US" altLang="zh-CN" dirty="0"/>
              <a:t>CPUs scale down, maintaining more threads than CPU cores is believed to incur large overhead.</a:t>
            </a:r>
          </a:p>
          <a:p>
            <a:endParaRPr lang="en-US" altLang="zh-CN" dirty="0">
              <a:effectLst/>
            </a:endParaRPr>
          </a:p>
          <a:p>
            <a:r>
              <a:rPr lang="en-US" altLang="zh-CN" b="1" dirty="0">
                <a:solidFill>
                  <a:srgbClr val="FF0000"/>
                </a:solidFill>
                <a:effectLst/>
              </a:rPr>
              <a:t>FIXME:</a:t>
            </a:r>
            <a:r>
              <a:rPr lang="zh-CN" altLang="en-US" b="1" dirty="0">
                <a:solidFill>
                  <a:srgbClr val="FF0000"/>
                </a:solidFill>
                <a:effectLst/>
              </a:rPr>
              <a:t> </a:t>
            </a:r>
            <a:r>
              <a:rPr lang="en-US" altLang="zh-CN" b="1" dirty="0">
                <a:solidFill>
                  <a:srgbClr val="FF0000"/>
                </a:solidFill>
                <a:effectLst/>
              </a:rPr>
              <a:t>Add</a:t>
            </a:r>
            <a:r>
              <a:rPr lang="zh-CN" altLang="en-US" b="1" dirty="0">
                <a:solidFill>
                  <a:srgbClr val="FF0000"/>
                </a:solidFill>
                <a:effectLst/>
              </a:rPr>
              <a:t> </a:t>
            </a:r>
            <a:r>
              <a:rPr lang="en-US" altLang="zh-CN" b="1" dirty="0">
                <a:solidFill>
                  <a:srgbClr val="FF0000"/>
                </a:solidFill>
                <a:effectLst/>
              </a:rPr>
              <a:t>legend</a:t>
            </a:r>
            <a:r>
              <a:rPr lang="zh-CN" altLang="en-US" b="1" dirty="0">
                <a:solidFill>
                  <a:srgbClr val="FF0000"/>
                </a:solidFill>
                <a:effectLst/>
              </a:rPr>
              <a:t> </a:t>
            </a:r>
            <a:r>
              <a:rPr lang="en-US" altLang="zh-CN" b="1" dirty="0">
                <a:solidFill>
                  <a:srgbClr val="FF0000"/>
                </a:solidFill>
                <a:effectLst/>
              </a:rPr>
              <a:t>for</a:t>
            </a:r>
            <a:r>
              <a:rPr lang="zh-CN" altLang="en-US" b="1" dirty="0">
                <a:solidFill>
                  <a:srgbClr val="FF0000"/>
                </a:solidFill>
                <a:effectLst/>
              </a:rPr>
              <a:t> </a:t>
            </a:r>
            <a:r>
              <a:rPr lang="en-US" altLang="zh-CN" b="1" dirty="0">
                <a:solidFill>
                  <a:srgbClr val="FF0000"/>
                </a:solidFill>
                <a:effectLst/>
              </a:rPr>
              <a:t>threads</a:t>
            </a:r>
            <a:r>
              <a:rPr lang="zh-CN" altLang="en-US" b="1" dirty="0">
                <a:solidFill>
                  <a:srgbClr val="FF0000"/>
                </a:solidFill>
                <a:effectLst/>
              </a:rPr>
              <a:t> </a:t>
            </a:r>
            <a:r>
              <a:rPr lang="en-US" altLang="zh-CN" b="1" dirty="0">
                <a:solidFill>
                  <a:srgbClr val="FF0000"/>
                </a:solidFill>
                <a:effectLst/>
              </a:rPr>
              <a:t>and</a:t>
            </a:r>
            <a:r>
              <a:rPr lang="zh-CN" altLang="en-US" b="1" dirty="0">
                <a:solidFill>
                  <a:srgbClr val="FF0000"/>
                </a:solidFill>
                <a:effectLst/>
              </a:rPr>
              <a:t> </a:t>
            </a:r>
            <a:r>
              <a:rPr lang="en-US" altLang="zh-CN" b="1" dirty="0">
                <a:solidFill>
                  <a:srgbClr val="FF0000"/>
                </a:solidFill>
                <a:effectLst/>
              </a:rPr>
              <a:t>cores</a:t>
            </a:r>
          </a:p>
          <a:p>
            <a:endParaRPr lang="en-US" altLang="zh-CN" b="1" dirty="0">
              <a:solidFill>
                <a:srgbClr val="FF0000"/>
              </a:solidFill>
              <a:effectLst/>
            </a:endParaRPr>
          </a:p>
          <a:p>
            <a:r>
              <a:rPr lang="zh-CN" altLang="en-US" b="1" dirty="0">
                <a:solidFill>
                  <a:srgbClr val="FF0000"/>
                </a:solidFill>
                <a:effectLst/>
              </a:rPr>
              <a:t>红色不好，曲线线程  不要用红色</a:t>
            </a:r>
            <a:endParaRPr lang="en-US" altLang="zh-CN" b="1" dirty="0">
              <a:solidFill>
                <a:srgbClr val="FF0000"/>
              </a:solidFill>
              <a:effectLst/>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5</a:t>
            </a:fld>
            <a:endParaRPr lang="zh-CN" altLang="en-US"/>
          </a:p>
        </p:txBody>
      </p:sp>
    </p:spTree>
    <p:extLst>
      <p:ext uri="{BB962C8B-B14F-4D97-AF65-F5344CB8AC3E}">
        <p14:creationId xmlns:p14="http://schemas.microsoft.com/office/powerpoint/2010/main" val="2563631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a:t>
            </a:r>
            <a:r>
              <a:rPr lang="en-US" altLang="zh-CN" baseline="0" dirty="0"/>
              <a:t> our work, </a:t>
            </a:r>
            <a:r>
              <a:rPr lang="en-US" altLang="zh-CN" dirty="0"/>
              <a:t>we explore thread oversubscription as a general approach to exploiting CPU elasticity. Users always launch an optimal number of threads for an application regardless of the availability of CPUs in the cloud. The optimal degree of concurrency is determined offline as the maximum number of threads an application can use until it stops scaling. Provisioning sufficient concurrency allows the application to take advantages when more cores are available. </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6</a:t>
            </a:fld>
            <a:endParaRPr lang="zh-CN" altLang="en-US"/>
          </a:p>
        </p:txBody>
      </p:sp>
    </p:spTree>
    <p:extLst>
      <p:ext uri="{BB962C8B-B14F-4D97-AF65-F5344CB8AC3E}">
        <p14:creationId xmlns:p14="http://schemas.microsoft.com/office/powerpoint/2010/main" val="3350712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However, when CPU</a:t>
            </a:r>
            <a:r>
              <a:rPr lang="en-US" altLang="zh-CN" baseline="0" dirty="0"/>
              <a:t> is in short supply, there are still prohibitive overheads due to </a:t>
            </a:r>
            <a:r>
              <a:rPr lang="en-US" altLang="zh-CN" dirty="0"/>
              <a:t>excessive context switches, loss of locality, and contentions for shared resources.</a:t>
            </a:r>
          </a:p>
          <a:p>
            <a:r>
              <a:rPr lang="zh-CN" altLang="en-US" dirty="0"/>
              <a:t>暗红色 </a:t>
            </a:r>
            <a:r>
              <a:rPr lang="en-US" altLang="zh-CN" dirty="0">
                <a:sym typeface="Wingdings" panose="05000000000000000000" pitchFamily="2" charset="2"/>
              </a:rPr>
              <a:t></a:t>
            </a:r>
            <a:r>
              <a:rPr lang="zh-CN" altLang="en-US" dirty="0"/>
              <a:t>不好的</a:t>
            </a:r>
            <a:endParaRPr lang="en-US" altLang="zh-CN"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7</a:t>
            </a:fld>
            <a:endParaRPr lang="zh-CN" altLang="en-US"/>
          </a:p>
        </p:txBody>
      </p:sp>
    </p:spTree>
    <p:extLst>
      <p:ext uri="{BB962C8B-B14F-4D97-AF65-F5344CB8AC3E}">
        <p14:creationId xmlns:p14="http://schemas.microsoft.com/office/powerpoint/2010/main" val="2618051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studied how different multi-threaded programs perform with and without thread oversubscription. The benchmarks were from PARSEC, NPB , and SPLASH2, and tested with two settings – 1) 8 threads on 8 cores, an exact one-to-one thread-to-core mapping; 2) 32 threads on 8 cores, an oversubscription ratio of 4. As shown in the figure, The first and second groups from the left include benchmarks that do not suffer or even benefit from thread oversubscription. In contrast, benchmarks from the third group suffer as much as 25x performance slowdown with oversubscription. The results suggest that thread oversubscription is already a viable approach to exploiting CPU elasticity for certain applications despite concerns about the potential overhead. However, thread oversubscription is still inefficient for a large number of applications.</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8</a:t>
            </a:fld>
            <a:endParaRPr lang="zh-CN" altLang="en-US"/>
          </a:p>
        </p:txBody>
      </p:sp>
    </p:spTree>
    <p:extLst>
      <p:ext uri="{BB962C8B-B14F-4D97-AF65-F5344CB8AC3E}">
        <p14:creationId xmlns:p14="http://schemas.microsoft.com/office/powerpoint/2010/main" val="1179649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Next, we introduce how oversubscribed threads are scheduled on a single core. Modern OSes employ fair-sharing algorithms to schedule threads on the same core. Each thread is assigned a time slice. Each time </a:t>
            </a:r>
            <a:r>
              <a:rPr lang="en-US" altLang="zh-CN" dirty="0">
                <a:solidFill>
                  <a:schemeClr val="tx1"/>
                </a:solidFill>
              </a:rPr>
              <a:t>Completely Fair Scheduler</a:t>
            </a:r>
            <a:r>
              <a:rPr lang="zh-CN" altLang="en-US" baseline="0" dirty="0">
                <a:solidFill>
                  <a:schemeClr val="tx1"/>
                </a:solidFill>
              </a:rPr>
              <a:t> </a:t>
            </a:r>
            <a:r>
              <a:rPr lang="en-US" altLang="zh-CN" baseline="0" dirty="0">
                <a:solidFill>
                  <a:schemeClr val="tx1"/>
                </a:solidFill>
              </a:rPr>
              <a:t>select the thread with smallest virtual runtime as the next running threads. When the scheduler try to run another threads, context switches occurs in order to load and save threads state. </a:t>
            </a:r>
            <a:r>
              <a:rPr lang="en-US" altLang="zh-CN" dirty="0"/>
              <a:t>Context switches occur involuntarily or voluntarily. Involuntary context switches  happens on two occasions. For</a:t>
            </a:r>
            <a:r>
              <a:rPr lang="en-US" altLang="zh-CN" baseline="0" dirty="0"/>
              <a:t> </a:t>
            </a:r>
            <a:r>
              <a:rPr lang="en-US" altLang="zh-CN" dirty="0"/>
              <a:t>compute-bound workloads, threads are switched each time a regular time slice expires. For I/O-bound or blocking workloads, context switches occur no more often than the minimum time slice. In Linux’s default completely fair scheduler, the regular time slice is 3</a:t>
            </a:r>
            <a:r>
              <a:rPr lang="zh-CN" altLang="en-US" dirty="0"/>
              <a:t>𝑚𝑠</a:t>
            </a:r>
            <a:r>
              <a:rPr lang="en-US" altLang="zh-CN" dirty="0"/>
              <a:t>, and the minimum time slice is 750 </a:t>
            </a:r>
            <a:r>
              <a:rPr lang="zh-CN" altLang="en-US" dirty="0"/>
              <a:t>𝜇𝑠</a:t>
            </a:r>
            <a:r>
              <a:rPr lang="en-US" altLang="zh-CN" dirty="0"/>
              <a:t>. Voluntary switching happens when a thread yields CPU or blocks on an event (e.g., blocking on synchronization or waiting for I/O completion).</a:t>
            </a:r>
            <a:endParaRPr lang="zh-CN" altLang="en-US" dirty="0">
              <a:solidFill>
                <a:schemeClr val="tx1"/>
              </a:solidFill>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9</a:t>
            </a:fld>
            <a:endParaRPr lang="zh-CN" altLang="en-US"/>
          </a:p>
        </p:txBody>
      </p:sp>
    </p:spTree>
    <p:extLst>
      <p:ext uri="{BB962C8B-B14F-4D97-AF65-F5344CB8AC3E}">
        <p14:creationId xmlns:p14="http://schemas.microsoft.com/office/powerpoint/2010/main" val="2448988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As </a:t>
            </a:r>
            <a:r>
              <a:rPr lang="en-US" altLang="zh-CN" dirty="0"/>
              <a:t>oversubscribing threads on a single core causes more context switches, we </a:t>
            </a:r>
            <a:r>
              <a:rPr lang="en-US" altLang="zh-CN" baseline="0" dirty="0"/>
              <a:t>study the </a:t>
            </a:r>
            <a:r>
              <a:rPr lang="en-US" altLang="zh-CN" dirty="0"/>
              <a:t>cost of each context. We write a micro-benchmark that iterates for a fixed number of times. At each iteration, the benchmark performs some arbitrary computation or atomic instructions. We started with one thread and increased the thread count across different runs. We configure threads to yield CPU to trigger a context switch after they finish the minimum time slice (750 </a:t>
            </a:r>
            <a:r>
              <a:rPr lang="zh-CN" altLang="en-US" dirty="0"/>
              <a:t>𝜇𝑠</a:t>
            </a:r>
            <a:r>
              <a:rPr lang="en-US" altLang="zh-CN" dirty="0"/>
              <a:t>) in Linux. Results show that the per context switch cost is relatively stable at 1.5 </a:t>
            </a:r>
            <a:r>
              <a:rPr lang="zh-CN" altLang="en-US" dirty="0"/>
              <a:t>𝜇𝑠 </a:t>
            </a:r>
            <a:r>
              <a:rPr lang="en-US" altLang="zh-CN" dirty="0"/>
              <a:t>on our Intel-based platform. Since for compute-bound workloads, each thread is guaranteed a minimum time slice (750 </a:t>
            </a:r>
            <a:r>
              <a:rPr lang="zh-CN" altLang="en-US" dirty="0"/>
              <a:t>𝜇𝑠</a:t>
            </a:r>
            <a:r>
              <a:rPr lang="en-US" altLang="zh-CN" dirty="0"/>
              <a:t>), and there is one context switch per 750 </a:t>
            </a:r>
            <a:r>
              <a:rPr lang="zh-CN" altLang="en-US" dirty="0"/>
              <a:t>𝜇𝑠</a:t>
            </a:r>
            <a:r>
              <a:rPr lang="en-US" altLang="zh-CN" dirty="0"/>
              <a:t>, the overall cost to the benchmark execution time is only 0.2%, and it does not increase with the number of threads. Furthermore, oversubscription does not add additional overhead to the benchmark because of synchronization.</a:t>
            </a:r>
            <a:endParaRPr lang="en-US" altLang="zh-CN" sz="1200" b="0" i="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10</a:t>
            </a:fld>
            <a:endParaRPr lang="zh-CN" altLang="en-US"/>
          </a:p>
        </p:txBody>
      </p:sp>
    </p:spTree>
    <p:extLst>
      <p:ext uri="{BB962C8B-B14F-4D97-AF65-F5344CB8AC3E}">
        <p14:creationId xmlns:p14="http://schemas.microsoft.com/office/powerpoint/2010/main" val="2651381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For workloads that block (voluntary switch), the frequency of context switching depends on the interval between synchronization, The frequency of synchronization increases with the number of threads because the work that should be done before each synchronization is less with more threads. Figure 3 shows the interval between two synchronizations in the PARSEC, SPLASH2, and NPB benchmarks. Since not all (only failed) synchronizations lead to context switches, the frequency of context switching is no higher than synchronization frequency. As shown in the figure, most applications perform context switches no more often than every 1000 </a:t>
            </a:r>
            <a:r>
              <a:rPr lang="zh-CN" altLang="en-US" dirty="0"/>
              <a:t>𝜇𝑠</a:t>
            </a:r>
            <a:r>
              <a:rPr lang="en-US" altLang="zh-CN" dirty="0"/>
              <a:t>, resulting in a CS overhead of 0.15%.</a:t>
            </a:r>
            <a:r>
              <a:rPr lang="en-US" altLang="zh-CN" baseline="0" dirty="0"/>
              <a:t> </a:t>
            </a:r>
            <a:r>
              <a:rPr lang="en-US" altLang="zh-CN" dirty="0"/>
              <a:t>The most frequent context switch could occur in </a:t>
            </a:r>
            <a:r>
              <a:rPr lang="en-US" altLang="zh-CN" dirty="0" err="1"/>
              <a:t>facesim</a:t>
            </a:r>
            <a:r>
              <a:rPr lang="en-US" altLang="zh-CN" dirty="0"/>
              <a:t> which has a synchronization interval of 160 </a:t>
            </a:r>
            <a:r>
              <a:rPr lang="zh-CN" altLang="en-US" dirty="0"/>
              <a:t>𝜇𝑠</a:t>
            </a:r>
            <a:r>
              <a:rPr lang="en-US" altLang="zh-CN" dirty="0"/>
              <a:t>. Nevertheless, the CS overhead is still less than 1%.</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蓝色</a:t>
            </a:r>
            <a:endParaRPr lang="en-US" altLang="zh-CN" sz="1200" b="0" i="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11</a:t>
            </a:fld>
            <a:endParaRPr lang="zh-CN" altLang="en-US"/>
          </a:p>
        </p:txBody>
      </p:sp>
    </p:spTree>
    <p:extLst>
      <p:ext uri="{BB962C8B-B14F-4D97-AF65-F5344CB8AC3E}">
        <p14:creationId xmlns:p14="http://schemas.microsoft.com/office/powerpoint/2010/main" val="3679050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Another</a:t>
            </a:r>
            <a:r>
              <a:rPr lang="en-US" altLang="zh-CN" sz="1200" b="0" i="0" baseline="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 concern is </a:t>
            </a:r>
            <a:r>
              <a:rPr lang="en-US" altLang="zh-CN" sz="1200" b="0" i="0" baseline="0" dirty="0">
                <a:solidFill>
                  <a:schemeClr val="tx1"/>
                </a:solidFill>
                <a:latin typeface="+mn-lt"/>
                <a:ea typeface="+mn-ea"/>
                <a:cs typeface="+mn-cs"/>
              </a:rPr>
              <a:t>t</a:t>
            </a:r>
            <a:r>
              <a:rPr lang="en-US" altLang="zh-CN" dirty="0"/>
              <a:t>he effect of context switching on cache performance. We modified the micro-benchmark so that each thread traverses a sub-array between context switches. By varying the total array size, we alter the working set size of the program. The indirect cost is calculated by the execution</a:t>
            </a:r>
            <a:r>
              <a:rPr lang="en-US" altLang="zh-CN" baseline="0" dirty="0"/>
              <a:t> time of two threads minus  the </a:t>
            </a:r>
            <a:r>
              <a:rPr lang="en-US" altLang="zh-CN" dirty="0"/>
              <a:t>execution</a:t>
            </a:r>
            <a:r>
              <a:rPr lang="en-US" altLang="zh-CN" baseline="0" dirty="0"/>
              <a:t> time of one threads then divided by the number of context switches. </a:t>
            </a:r>
            <a:r>
              <a:rPr lang="en-US" altLang="zh-CN" dirty="0"/>
              <a:t>All threads were pinned on</a:t>
            </a:r>
            <a:r>
              <a:rPr lang="en-US" altLang="zh-CN" baseline="0" dirty="0"/>
              <a:t> the same core. </a:t>
            </a:r>
            <a:r>
              <a:rPr lang="en-US" altLang="zh-CN" dirty="0"/>
              <a:t>A negative cost indicates that thread oversubscription helps improve performance. The four access patterns are: 1) sequential read (</a:t>
            </a:r>
            <a:r>
              <a:rPr lang="en-US" altLang="zh-CN" dirty="0" err="1"/>
              <a:t>seq</a:t>
            </a:r>
            <a:r>
              <a:rPr lang="en-US" altLang="zh-CN" dirty="0"/>
              <a:t>-r), 2) sequential read-modify-write (</a:t>
            </a:r>
            <a:r>
              <a:rPr lang="en-US" altLang="zh-CN" dirty="0" err="1"/>
              <a:t>seq-rmw</a:t>
            </a:r>
            <a:r>
              <a:rPr lang="en-US" altLang="zh-CN" dirty="0"/>
              <a:t>), 3) random read (</a:t>
            </a:r>
            <a:r>
              <a:rPr lang="en-US" altLang="zh-CN" dirty="0" err="1"/>
              <a:t>rnd</a:t>
            </a:r>
            <a:r>
              <a:rPr lang="en-US" altLang="zh-CN" dirty="0"/>
              <a:t>-r), and 4) random read-modify-write (</a:t>
            </a:r>
            <a:r>
              <a:rPr lang="en-US" altLang="zh-CN" dirty="0" err="1"/>
              <a:t>rnd-rmw</a:t>
            </a:r>
            <a:r>
              <a:rPr lang="en-US" altLang="zh-CN" dirty="0"/>
              <a:t>). There are two observations : For</a:t>
            </a:r>
            <a:r>
              <a:rPr lang="en-US" altLang="zh-CN" baseline="0" dirty="0"/>
              <a:t> </a:t>
            </a:r>
            <a:r>
              <a:rPr lang="en-US" altLang="zh-CN" dirty="0"/>
              <a:t>sequential access patterns, the hardware </a:t>
            </a:r>
            <a:r>
              <a:rPr lang="en-US" altLang="zh-CN" dirty="0" err="1"/>
              <a:t>prefetcher</a:t>
            </a:r>
            <a:r>
              <a:rPr lang="en-US" altLang="zh-CN" dirty="0"/>
              <a:t> is more effective for a single thread as its access pattern is more predictable,</a:t>
            </a:r>
            <a:r>
              <a:rPr lang="en-US" altLang="zh-CN" baseline="0" dirty="0"/>
              <a:t> and </a:t>
            </a:r>
            <a:r>
              <a:rPr lang="en-US" altLang="zh-CN" dirty="0"/>
              <a:t>the overhead due to the indirect cost is less than 6%. For</a:t>
            </a:r>
            <a:r>
              <a:rPr lang="en-US" altLang="zh-CN" baseline="0" dirty="0"/>
              <a:t> </a:t>
            </a:r>
            <a:r>
              <a:rPr lang="en-US" altLang="zh-CN" sz="1200" dirty="0">
                <a:latin typeface="Calibri" panose="020F0502020204030204" pitchFamily="34" charset="0"/>
                <a:cs typeface="Calibri" panose="020F0502020204030204" pitchFamily="34" charset="0"/>
              </a:rPr>
              <a:t>random access</a:t>
            </a:r>
            <a:r>
              <a:rPr lang="en-US" altLang="zh-CN" sz="1200" b="0" i="0" baseline="0" dirty="0">
                <a:solidFill>
                  <a:srgbClr val="C00000"/>
                </a:solidFill>
                <a:latin typeface="Helvetica Neue" panose="02000503000000020004" pitchFamily="2" charset="0"/>
                <a:cs typeface="Calibri" panose="020F0502020204030204" pitchFamily="34" charset="0"/>
              </a:rPr>
              <a:t> </a:t>
            </a:r>
            <a:r>
              <a:rPr lang="en-US" altLang="zh-CN" dirty="0"/>
              <a:t>pattern,  thread oversubscription could improve the performance. Realistic workloads are a combination of sequential and random accesses, and contain a mix of reads and writes. Contrary to what was believed previously, the results suggest that thread oversubscription should benefit caching performance in most cases with a worst-case performance penalty of 6%.</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12</a:t>
            </a:fld>
            <a:endParaRPr lang="zh-CN" altLang="en-US"/>
          </a:p>
        </p:txBody>
      </p:sp>
    </p:spTree>
    <p:extLst>
      <p:ext uri="{BB962C8B-B14F-4D97-AF65-F5344CB8AC3E}">
        <p14:creationId xmlns:p14="http://schemas.microsoft.com/office/powerpoint/2010/main" val="472545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Calibri" panose="020F0502020204030204" pitchFamily="34" charset="0"/>
                <a:cs typeface="Calibri" panose="020F0502020204030204" pitchFamily="34" charset="0"/>
              </a:rPr>
              <a:t>To summary, the direct and indirect costs of context switching are </a:t>
            </a:r>
            <a:r>
              <a:rPr lang="en-US" altLang="zh-CN" sz="1200" b="1" dirty="0">
                <a:solidFill>
                  <a:srgbClr val="FF0000"/>
                </a:solidFill>
                <a:latin typeface="Calibri" panose="020F0502020204030204" pitchFamily="34" charset="0"/>
                <a:cs typeface="Calibri" panose="020F0502020204030204" pitchFamily="34" charset="0"/>
              </a:rPr>
              <a:t>negligible or even beneficial </a:t>
            </a:r>
            <a:r>
              <a:rPr lang="en-US" altLang="zh-CN" sz="1200" dirty="0">
                <a:latin typeface="Calibri" panose="020F0502020204030204" pitchFamily="34" charset="0"/>
                <a:cs typeface="Calibri" panose="020F0502020204030204" pitchFamily="34" charset="0"/>
              </a:rPr>
              <a:t>to most programs without inter-thread synchronization. </a:t>
            </a:r>
            <a:endParaRPr lang="zh-CN" altLang="en-US" sz="1200" b="1"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13</a:t>
            </a:fld>
            <a:endParaRPr lang="zh-CN" altLang="en-US"/>
          </a:p>
        </p:txBody>
      </p:sp>
    </p:spTree>
    <p:extLst>
      <p:ext uri="{BB962C8B-B14F-4D97-AF65-F5344CB8AC3E}">
        <p14:creationId xmlns:p14="http://schemas.microsoft.com/office/powerpoint/2010/main" val="1657478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Then, we shows</a:t>
            </a:r>
            <a:r>
              <a:rPr lang="en-US" altLang="zh-CN" sz="1200" b="0" i="0" baseline="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dirty="0"/>
              <a:t>mechanisms designed for managing threads are inefficient for managing oversubscribed threads. Blocking synchronization, such as </a:t>
            </a:r>
            <a:r>
              <a:rPr lang="en-US" altLang="zh-CN" dirty="0" err="1"/>
              <a:t>mutex</a:t>
            </a:r>
            <a:r>
              <a:rPr lang="en-US" altLang="zh-CN" dirty="0"/>
              <a:t>, semaphore, and condition variable, puts a caller thread into sleep if it fails to acquire a lock or does not meet a certain condition. The thread is later woken up when the lock becomes available or the condition is met. As thread sleep/wakeup needs to be handled by the OS kernel, the OS kernel supports Fast </a:t>
            </a:r>
            <a:r>
              <a:rPr lang="en-US" altLang="zh-CN" dirty="0" err="1"/>
              <a:t>userspace</a:t>
            </a:r>
            <a:r>
              <a:rPr lang="en-US" altLang="zh-CN" dirty="0"/>
              <a:t> </a:t>
            </a:r>
            <a:r>
              <a:rPr lang="en-US" altLang="zh-CN" dirty="0" err="1"/>
              <a:t>mutex</a:t>
            </a:r>
            <a:r>
              <a:rPr lang="en-US" altLang="zh-CN" dirty="0"/>
              <a:t> (</a:t>
            </a:r>
            <a:r>
              <a:rPr lang="en-US" altLang="zh-CN" dirty="0" err="1"/>
              <a:t>futex</a:t>
            </a:r>
            <a:r>
              <a:rPr lang="en-US" altLang="zh-CN" dirty="0"/>
              <a:t>) for implementing blocking synchronization. The </a:t>
            </a:r>
            <a:r>
              <a:rPr lang="en-US" altLang="zh-CN" dirty="0" err="1"/>
              <a:t>futex</a:t>
            </a:r>
            <a:r>
              <a:rPr lang="en-US" altLang="zh-CN" dirty="0"/>
              <a:t> itself is a variable at the user level. Successful synchronization returns directly from the user space. Thread with</a:t>
            </a:r>
            <a:r>
              <a:rPr lang="en-US" altLang="zh-CN" baseline="0" dirty="0"/>
              <a:t> u</a:t>
            </a:r>
            <a:r>
              <a:rPr lang="en-US" altLang="zh-CN" dirty="0"/>
              <a:t>nsuccessful synchronization calls </a:t>
            </a:r>
            <a:r>
              <a:rPr lang="en-US" altLang="zh-CN" dirty="0" err="1"/>
              <a:t>futex</a:t>
            </a:r>
            <a:r>
              <a:rPr lang="en-US" altLang="zh-CN" dirty="0"/>
              <a:t> wait to traps into the kernel and goes to sleeps. The sleeping threads can be woken</a:t>
            </a:r>
            <a:r>
              <a:rPr lang="en-US" altLang="zh-CN" baseline="0" dirty="0"/>
              <a:t> up while the lock holder release the lock and calls </a:t>
            </a:r>
            <a:r>
              <a:rPr lang="en-US" altLang="zh-CN" baseline="0" dirty="0" err="1"/>
              <a:t>futex</a:t>
            </a:r>
            <a:r>
              <a:rPr lang="en-US" altLang="zh-CN" baseline="0" dirty="0"/>
              <a:t> wake.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baseline="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14</a:t>
            </a:fld>
            <a:endParaRPr lang="zh-CN" altLang="en-US"/>
          </a:p>
        </p:txBody>
      </p:sp>
    </p:spTree>
    <p:extLst>
      <p:ext uri="{BB962C8B-B14F-4D97-AF65-F5344CB8AC3E}">
        <p14:creationId xmlns:p14="http://schemas.microsoft.com/office/powerpoint/2010/main" val="2673861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As shown in Figure, the waiter thread invokes </a:t>
            </a:r>
            <a:r>
              <a:rPr lang="en-US" altLang="zh-CN" dirty="0" err="1"/>
              <a:t>futex_wait</a:t>
            </a:r>
            <a:r>
              <a:rPr lang="en-US" altLang="zh-CN" dirty="0"/>
              <a:t> and starts the sleep process. It first acquires the lock that protects the </a:t>
            </a:r>
            <a:r>
              <a:rPr lang="en-US" altLang="zh-CN" dirty="0" err="1"/>
              <a:t>futex_hash_bucket</a:t>
            </a:r>
            <a:r>
              <a:rPr lang="en-US" altLang="zh-CN" dirty="0"/>
              <a:t> queue, where it will be sleeping. The waiter is then removed from the CPU </a:t>
            </a:r>
            <a:r>
              <a:rPr lang="en-US" altLang="zh-CN" dirty="0" err="1"/>
              <a:t>runqueue</a:t>
            </a:r>
            <a:r>
              <a:rPr lang="en-US" altLang="zh-CN" dirty="0"/>
              <a:t>, </a:t>
            </a:r>
            <a:r>
              <a:rPr lang="en-US" altLang="zh-CN" dirty="0" err="1"/>
              <a:t>enqueued</a:t>
            </a:r>
            <a:r>
              <a:rPr lang="en-US" altLang="zh-CN" dirty="0"/>
              <a:t> on the sleep queue, and its runtime state is changed from “runnable” to “sleep” (TASK_INTERRUPTIBLE). When the user-level lock is released, the lock holder acquires the lock on the hash bucket and moves one or more waiters from the sleep queue to a temporary wakeup queue </a:t>
            </a:r>
            <a:r>
              <a:rPr lang="en-US" altLang="zh-CN" dirty="0" err="1"/>
              <a:t>wake_q</a:t>
            </a:r>
            <a:r>
              <a:rPr lang="en-US" altLang="zh-CN" dirty="0"/>
              <a:t>, from where the waiter(s) awaken. The lock holder is responsible for awakening the waiters one at a time, which includes selecting a core for this waiter and </a:t>
            </a:r>
            <a:r>
              <a:rPr lang="en-US" altLang="zh-CN" dirty="0" err="1"/>
              <a:t>enqueuing</a:t>
            </a:r>
            <a:r>
              <a:rPr lang="en-US" altLang="zh-CN" dirty="0"/>
              <a:t> it to the new </a:t>
            </a:r>
            <a:r>
              <a:rPr lang="en-US" altLang="zh-CN" dirty="0" err="1"/>
              <a:t>runqueue</a:t>
            </a:r>
            <a:r>
              <a:rPr lang="en-US" altLang="zh-CN" dirty="0"/>
              <a:t>.</a:t>
            </a:r>
            <a:endParaRPr lang="en-US" altLang="zh-CN" sz="1200" b="0" i="0" dirty="0">
              <a:solidFill>
                <a:srgbClr val="C0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15</a:t>
            </a:fld>
            <a:endParaRPr lang="zh-CN" altLang="en-US"/>
          </a:p>
        </p:txBody>
      </p:sp>
    </p:spTree>
    <p:extLst>
      <p:ext uri="{BB962C8B-B14F-4D97-AF65-F5344CB8AC3E}">
        <p14:creationId xmlns:p14="http://schemas.microsoft.com/office/powerpoint/2010/main" val="1744495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The sleep and wakeup process can be quite expensive when threads are oversubscribed.</a:t>
            </a:r>
            <a:r>
              <a:rPr lang="en-US" altLang="zh-CN" baseline="0" dirty="0"/>
              <a:t> </a:t>
            </a:r>
            <a:r>
              <a:rPr lang="en-US" altLang="zh-CN" dirty="0"/>
              <a:t>The wake up operation first selects the most idle core and inserts the awakening thread to its </a:t>
            </a:r>
            <a:r>
              <a:rPr lang="en-US" altLang="zh-CN" dirty="0" err="1"/>
              <a:t>runqueue</a:t>
            </a:r>
            <a:r>
              <a:rPr lang="en-US" altLang="zh-CN" dirty="0"/>
              <a:t>. This operation requires </a:t>
            </a:r>
            <a:r>
              <a:rPr lang="en-US" altLang="zh-CN" dirty="0" err="1"/>
              <a:t>runqueue</a:t>
            </a:r>
            <a:r>
              <a:rPr lang="en-US" altLang="zh-CN" dirty="0"/>
              <a:t> locking ,</a:t>
            </a:r>
            <a:r>
              <a:rPr lang="en-US" altLang="zh-CN" baseline="0" dirty="0"/>
              <a:t> and </a:t>
            </a:r>
            <a:r>
              <a:rPr lang="en-US" altLang="zh-CN" dirty="0"/>
              <a:t>the kernel need</a:t>
            </a:r>
            <a:r>
              <a:rPr lang="en-US" altLang="zh-CN" baseline="0" dirty="0"/>
              <a:t>s to check</a:t>
            </a:r>
            <a:r>
              <a:rPr lang="en-US" altLang="zh-CN" dirty="0"/>
              <a:t> preemption</a:t>
            </a:r>
            <a:r>
              <a:rPr lang="en-US" altLang="zh-CN" baseline="0" dirty="0"/>
              <a:t> </a:t>
            </a:r>
            <a:r>
              <a:rPr lang="en-US" altLang="zh-CN" dirty="0"/>
              <a:t>for the waking thread.</a:t>
            </a:r>
            <a:r>
              <a:rPr lang="en-US" altLang="zh-CN" baseline="0" dirty="0"/>
              <a:t> </a:t>
            </a:r>
            <a:r>
              <a:rPr lang="en-US" altLang="zh-CN" dirty="0"/>
              <a:t>When there are many more threads than cores and a large number of threads are awakening, </a:t>
            </a:r>
            <a:r>
              <a:rPr lang="en-US" altLang="zh-CN" dirty="0" err="1"/>
              <a:t>runqueue</a:t>
            </a:r>
            <a:r>
              <a:rPr lang="en-US" altLang="zh-CN" dirty="0"/>
              <a:t> locking and the possible preemption of a recently awakened thread not only cause serialization but also incur cascading performance degradation. Moving waiters from the bucket queue to the temporary </a:t>
            </a:r>
            <a:r>
              <a:rPr lang="en-US" altLang="zh-CN" dirty="0" err="1"/>
              <a:t>wake_q</a:t>
            </a:r>
            <a:r>
              <a:rPr lang="en-US" altLang="zh-CN" dirty="0"/>
              <a:t> queue adds additional serialization. Thread sleep and wakeup involve </a:t>
            </a:r>
            <a:r>
              <a:rPr lang="en-US" altLang="zh-CN" sz="1200" dirty="0"/>
              <a:t>frequent</a:t>
            </a:r>
            <a:r>
              <a:rPr lang="en-US" altLang="zh-CN" dirty="0"/>
              <a:t> state transitions between “runnable” and “sleep”,  and</a:t>
            </a:r>
            <a:r>
              <a:rPr lang="en-US" altLang="zh-CN" baseline="0" dirty="0"/>
              <a:t> lead to</a:t>
            </a:r>
            <a:r>
              <a:rPr lang="en-US" altLang="zh-CN" dirty="0"/>
              <a:t> </a:t>
            </a:r>
            <a:r>
              <a:rPr lang="en-US" altLang="zh-CN" sz="2800" dirty="0"/>
              <a:t>fluctuating load</a:t>
            </a:r>
            <a:r>
              <a:rPr lang="en-US" altLang="zh-CN" dirty="0"/>
              <a:t>. Therefore, Linux performs many unnecessary thread migration to balance load across.</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16</a:t>
            </a:fld>
            <a:endParaRPr lang="zh-CN" altLang="en-US"/>
          </a:p>
        </p:txBody>
      </p:sp>
    </p:spTree>
    <p:extLst>
      <p:ext uri="{BB962C8B-B14F-4D97-AF65-F5344CB8AC3E}">
        <p14:creationId xmlns:p14="http://schemas.microsoft.com/office/powerpoint/2010/main" val="2820600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Compared with blocking synchronization, busy-waiting synchronization (spinning) provides fast lock acquisition at the cost of wasting CPU cycles on spinning. </a:t>
            </a:r>
            <a:r>
              <a:rPr lang="en-US" altLang="zh-CN" sz="1200" b="0" i="0" kern="1200" dirty="0">
                <a:solidFill>
                  <a:schemeClr val="tx1"/>
                </a:solidFill>
                <a:effectLst/>
                <a:latin typeface="+mn-lt"/>
                <a:ea typeface="+mn-ea"/>
                <a:cs typeface="+mn-cs"/>
              </a:rPr>
              <a:t>The busy-waiting threads repeatedly checks to see if a condition is met without relinquishing the processor.</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17</a:t>
            </a:fld>
            <a:endParaRPr lang="zh-CN" altLang="en-US"/>
          </a:p>
        </p:txBody>
      </p:sp>
    </p:spTree>
    <p:extLst>
      <p:ext uri="{BB962C8B-B14F-4D97-AF65-F5344CB8AC3E}">
        <p14:creationId xmlns:p14="http://schemas.microsoft.com/office/powerpoint/2010/main" val="3615631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when threads are oversubscribed and spinning threads are placed with other threads doing useful work, spinning can burn the CPU time that can be used for useful work. Oversubscription also exacerbates the lock-holder preemption (LHP) problem. A waiter thread may exhaust its time slice doing spinning before becoming the lock holder who will soon be preempted.</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18</a:t>
            </a:fld>
            <a:endParaRPr lang="zh-CN" altLang="en-US"/>
          </a:p>
        </p:txBody>
      </p:sp>
    </p:spTree>
    <p:extLst>
      <p:ext uri="{BB962C8B-B14F-4D97-AF65-F5344CB8AC3E}">
        <p14:creationId xmlns:p14="http://schemas.microsoft.com/office/powerpoint/2010/main" val="883561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VB adds a flag </a:t>
            </a:r>
            <a:r>
              <a:rPr lang="en-US" altLang="zh-CN" dirty="0" err="1"/>
              <a:t>thread_state</a:t>
            </a:r>
            <a:r>
              <a:rPr lang="en-US" altLang="zh-CN" dirty="0"/>
              <a:t> to each thread to indicate whether the thread is blocked (1) or not (0). VB still preserves the </a:t>
            </a:r>
            <a:r>
              <a:rPr lang="en-US" altLang="zh-CN" dirty="0" err="1"/>
              <a:t>futex</a:t>
            </a:r>
            <a:r>
              <a:rPr lang="en-US" altLang="zh-CN" dirty="0"/>
              <a:t>_ </a:t>
            </a:r>
            <a:r>
              <a:rPr lang="en-US" altLang="zh-CN" dirty="0" err="1"/>
              <a:t>hash_bucket</a:t>
            </a:r>
            <a:r>
              <a:rPr lang="en-US" altLang="zh-CN" dirty="0"/>
              <a:t> queue in </a:t>
            </a:r>
            <a:r>
              <a:rPr lang="en-US" altLang="zh-CN" dirty="0" err="1"/>
              <a:t>futex</a:t>
            </a:r>
            <a:r>
              <a:rPr lang="en-US" altLang="zh-CN" dirty="0"/>
              <a:t> in order to preserve the order threads is put to sleep as well as their wakeup order. However, threads are not put into real sleep after the thread is </a:t>
            </a:r>
            <a:r>
              <a:rPr lang="en-US" altLang="zh-CN" dirty="0" err="1"/>
              <a:t>enqueued</a:t>
            </a:r>
            <a:r>
              <a:rPr lang="en-US" altLang="zh-CN" dirty="0"/>
              <a:t> to the bucket queue.</a:t>
            </a:r>
            <a:r>
              <a:rPr lang="en-US" altLang="zh-CN" baseline="0" dirty="0"/>
              <a:t> VB inserts the threads to the end of CPU </a:t>
            </a:r>
            <a:r>
              <a:rPr lang="en-US" altLang="zh-CN" baseline="0" dirty="0" err="1"/>
              <a:t>runqueue</a:t>
            </a:r>
            <a:r>
              <a:rPr lang="en-US" altLang="zh-CN" baseline="0" dirty="0"/>
              <a:t> to keep active. However, b</a:t>
            </a:r>
            <a:r>
              <a:rPr lang="en-US" altLang="zh-CN" dirty="0"/>
              <a:t>locked threads are skipped during CPU scheduling until </a:t>
            </a:r>
            <a:r>
              <a:rPr lang="en-US" altLang="zh-CN" dirty="0" err="1"/>
              <a:t>thread_state</a:t>
            </a:r>
            <a:r>
              <a:rPr lang="en-US" altLang="zh-CN" dirty="0"/>
              <a:t> is cleared. If all threads on a core are blocked, which is not uncommon under thread oversubscription, each thread takes turns to briefly run on CPU to check if its flag has been cleared. </a:t>
            </a:r>
            <a:r>
              <a:rPr lang="en-US" altLang="zh-CN" baseline="0" dirty="0"/>
              <a:t> </a:t>
            </a:r>
            <a:r>
              <a:rPr lang="en-US" altLang="zh-CN" dirty="0"/>
              <a:t>Since threads are not put into real sleep,</a:t>
            </a:r>
            <a:r>
              <a:rPr lang="zh-CN" altLang="en-US" dirty="0"/>
              <a:t> </a:t>
            </a:r>
            <a:r>
              <a:rPr lang="en-US" altLang="zh-CN" dirty="0"/>
              <a:t>When a thread is awakened by </a:t>
            </a:r>
            <a:r>
              <a:rPr lang="en-US" altLang="zh-CN" dirty="0" err="1"/>
              <a:t>futex_wake</a:t>
            </a:r>
            <a:r>
              <a:rPr lang="en-US" altLang="zh-CN" dirty="0"/>
              <a:t>, its </a:t>
            </a:r>
            <a:r>
              <a:rPr lang="en-US" altLang="zh-CN" dirty="0" err="1"/>
              <a:t>thread_state</a:t>
            </a:r>
            <a:r>
              <a:rPr lang="en-US" altLang="zh-CN" dirty="0"/>
              <a:t> is cleared and it is removed from the </a:t>
            </a:r>
            <a:r>
              <a:rPr lang="en-US" altLang="zh-CN" dirty="0" err="1"/>
              <a:t>futex_hash_bucket</a:t>
            </a:r>
            <a:r>
              <a:rPr lang="en-US" altLang="zh-CN" dirty="0"/>
              <a:t> queue. After </a:t>
            </a:r>
            <a:r>
              <a:rPr lang="en-US" altLang="zh-CN" dirty="0" err="1"/>
              <a:t>thread_state</a:t>
            </a:r>
            <a:r>
              <a:rPr lang="en-US" altLang="zh-CN" dirty="0"/>
              <a:t> turns to 0, a thread resumes normal scheduling and is “awakened” from virtual blocking</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20</a:t>
            </a:fld>
            <a:endParaRPr lang="zh-CN" altLang="en-US"/>
          </a:p>
        </p:txBody>
      </p:sp>
    </p:spTree>
    <p:extLst>
      <p:ext uri="{BB962C8B-B14F-4D97-AF65-F5344CB8AC3E}">
        <p14:creationId xmlns:p14="http://schemas.microsoft.com/office/powerpoint/2010/main" val="38179804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VB required</a:t>
            </a:r>
            <a:r>
              <a:rPr lang="en-US" altLang="zh-CN" baseline="0" dirty="0"/>
              <a:t> no changes to user applications or libraries. The sleep and wake-up process is </a:t>
            </a:r>
            <a:r>
              <a:rPr lang="en-US" altLang="zh-CN" baseline="0" dirty="0" err="1"/>
              <a:t>preety</a:t>
            </a:r>
            <a:r>
              <a:rPr lang="en-US" altLang="zh-CN" baseline="0" dirty="0"/>
              <a:t> simple. VB also avoids the influence of frequent blocking on system load and reduce threads migrations.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对齐要一致</a:t>
            </a:r>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21</a:t>
            </a:fld>
            <a:endParaRPr lang="zh-CN" altLang="en-US"/>
          </a:p>
        </p:txBody>
      </p:sp>
    </p:spTree>
    <p:extLst>
      <p:ext uri="{BB962C8B-B14F-4D97-AF65-F5344CB8AC3E}">
        <p14:creationId xmlns:p14="http://schemas.microsoft.com/office/powerpoint/2010/main" val="3864724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Although there are various kinds of busy-waiting implementations, they share a common feature -- a spin loop is a small code segment that is repeated for many times. Specifically, 1) spin loops are typically backward conditional branches; 2) each iteration is quite short, taking only a few cycles to execute; 3) during spinning, branching is predictable with hundreds of thousands backward branching until moving onto the next code segment.</a:t>
            </a:r>
          </a:p>
          <a:p>
            <a:endParaRPr lang="en-US" altLang="zh-CN" dirty="0"/>
          </a:p>
          <a:p>
            <a:r>
              <a:rPr lang="zh-CN" altLang="en-US" dirty="0"/>
              <a:t>统一二层</a:t>
            </a:r>
          </a:p>
        </p:txBody>
      </p:sp>
      <p:sp>
        <p:nvSpPr>
          <p:cNvPr id="4" name="灯片编号占位符 3"/>
          <p:cNvSpPr>
            <a:spLocks noGrp="1"/>
          </p:cNvSpPr>
          <p:nvPr>
            <p:ph type="sldNum" sz="quarter" idx="5"/>
          </p:nvPr>
        </p:nvSpPr>
        <p:spPr/>
        <p:txBody>
          <a:bodyPr/>
          <a:lstStyle/>
          <a:p>
            <a:fld id="{F77CA73F-299E-4B3B-81F1-87346DCC89E7}" type="slidenum">
              <a:rPr lang="zh-CN" altLang="en-US" smtClean="0"/>
              <a:t>22</a:t>
            </a:fld>
            <a:endParaRPr lang="zh-CN" altLang="en-US"/>
          </a:p>
        </p:txBody>
      </p:sp>
    </p:spTree>
    <p:extLst>
      <p:ext uri="{BB962C8B-B14F-4D97-AF65-F5344CB8AC3E}">
        <p14:creationId xmlns:p14="http://schemas.microsoft.com/office/powerpoint/2010/main" val="626520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BWD seeks to detect futile spinning in an application and </a:t>
            </a:r>
            <a:r>
              <a:rPr lang="en-US" altLang="zh-CN" dirty="0" err="1"/>
              <a:t>deschedule</a:t>
            </a:r>
            <a:r>
              <a:rPr lang="en-US" altLang="zh-CN" dirty="0"/>
              <a:t> the spinning threads so that CPU cycles can be spent on critical threads.  BWD employs the </a:t>
            </a:r>
            <a:r>
              <a:rPr lang="en-US" altLang="zh-CN" dirty="0" err="1"/>
              <a:t>the</a:t>
            </a:r>
            <a:r>
              <a:rPr lang="en-US" altLang="zh-CN" dirty="0"/>
              <a:t> last branch records (LBRs) and hardware performance counters (PMCs) as well as a high resolution timer to detect spinning. The LBRs record the from and to virtual addresses of the recently completed branches. PMCs record the number of TLB misses and cache misses. a high resolution timer on each core to periodically check the LBRs and PMCs. If the readings of LBRs and PMCs indicate spinning, the timer forces the thread or vCPU currently running on the core to be </a:t>
            </a:r>
            <a:r>
              <a:rPr lang="en-US" altLang="zh-CN" dirty="0" err="1"/>
              <a:t>descheduled</a:t>
            </a:r>
            <a:r>
              <a:rPr lang="en-US" altLang="zh-CN" dirty="0"/>
              <a:t>.</a:t>
            </a:r>
          </a:p>
        </p:txBody>
      </p:sp>
      <p:sp>
        <p:nvSpPr>
          <p:cNvPr id="4" name="灯片编号占位符 3"/>
          <p:cNvSpPr>
            <a:spLocks noGrp="1"/>
          </p:cNvSpPr>
          <p:nvPr>
            <p:ph type="sldNum" sz="quarter" idx="5"/>
          </p:nvPr>
        </p:nvSpPr>
        <p:spPr/>
        <p:txBody>
          <a:bodyPr/>
          <a:lstStyle/>
          <a:p>
            <a:fld id="{F77CA73F-299E-4B3B-81F1-87346DCC89E7}" type="slidenum">
              <a:rPr lang="zh-CN" altLang="en-US" smtClean="0"/>
              <a:t>23</a:t>
            </a:fld>
            <a:endParaRPr lang="zh-CN" altLang="en-US"/>
          </a:p>
        </p:txBody>
      </p:sp>
    </p:spTree>
    <p:extLst>
      <p:ext uri="{BB962C8B-B14F-4D97-AF65-F5344CB8AC3E}">
        <p14:creationId xmlns:p14="http://schemas.microsoft.com/office/powerpoint/2010/main" val="4110344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These are our </a:t>
            </a:r>
            <a:r>
              <a:rPr lang="en-US" altLang="zh-CN" dirty="0">
                <a:latin typeface="Helvetica Neue" panose="02000503000000020004" pitchFamily="2" charset="0"/>
                <a:ea typeface="Helvetica Neue" panose="02000503000000020004" pitchFamily="2" charset="0"/>
                <a:cs typeface="Helvetica Neue" panose="02000503000000020004" pitchFamily="2" charset="0"/>
              </a:rPr>
              <a:t>Experimental Settings. </a:t>
            </a:r>
            <a:r>
              <a:rPr lang="en-US" altLang="zh-CN" dirty="0"/>
              <a:t>Docker 18.06.1 was used as the containers technology and KVM was the virtual machine technology. </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24</a:t>
            </a:fld>
            <a:endParaRPr lang="zh-CN" altLang="en-US"/>
          </a:p>
        </p:txBody>
      </p:sp>
    </p:spTree>
    <p:extLst>
      <p:ext uri="{BB962C8B-B14F-4D97-AF65-F5344CB8AC3E}">
        <p14:creationId xmlns:p14="http://schemas.microsoft.com/office/powerpoint/2010/main" val="735740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7CA73F-299E-4B3B-81F1-87346DCC89E7}" type="slidenum">
              <a:rPr lang="zh-CN" altLang="en-US" smtClean="0"/>
              <a:t>25</a:t>
            </a:fld>
            <a:endParaRPr lang="zh-CN" altLang="en-US"/>
          </a:p>
        </p:txBody>
      </p:sp>
    </p:spTree>
    <p:extLst>
      <p:ext uri="{BB962C8B-B14F-4D97-AF65-F5344CB8AC3E}">
        <p14:creationId xmlns:p14="http://schemas.microsoft.com/office/powerpoint/2010/main" val="703269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w</a:t>
            </a:r>
            <a:r>
              <a:rPr lang="en-US" altLang="zh-CN" b="0" i="0" dirty="0">
                <a:effectLst/>
                <a:latin typeface="Arial" panose="020B0604020202020204" pitchFamily="34" charset="0"/>
              </a:rPr>
              <a:t>e show how much benefit VB can bring to realistic benchmarks in over-subscribed scenarios. The benchmarks were run in containers configured with two set-tings: 8 cores or 8 hyper-threads on 4 cores. The figure shows the results of application that are suffered from </a:t>
            </a:r>
            <a:r>
              <a:rPr lang="en-US" altLang="zh-CN" b="0" i="0" dirty="0" err="1">
                <a:effectLst/>
                <a:latin typeface="Arial" panose="020B0604020202020204" pitchFamily="34" charset="0"/>
              </a:rPr>
              <a:t>oversubcription</a:t>
            </a:r>
            <a:r>
              <a:rPr lang="en-US" altLang="zh-CN" b="0" i="0" dirty="0">
                <a:effectLst/>
                <a:latin typeface="Arial" panose="020B0604020202020204" pitchFamily="34" charset="0"/>
              </a:rPr>
              <a:t>. While experiments with and without hyperthreading achieved different </a:t>
            </a:r>
            <a:r>
              <a:rPr lang="en-US" altLang="zh-CN" b="0" i="0" dirty="0" err="1">
                <a:effectLst/>
                <a:latin typeface="Arial" panose="020B0604020202020204" pitchFamily="34" charset="0"/>
              </a:rPr>
              <a:t>performance,t</a:t>
            </a:r>
            <a:r>
              <a:rPr lang="en-US" altLang="zh-CN" b="0" i="0" dirty="0">
                <a:effectLst/>
                <a:latin typeface="Arial" panose="020B0604020202020204" pitchFamily="34" charset="0"/>
              </a:rPr>
              <a:t> he trend was similar across all benchmarks. Thread oversubscription introduced 5.5% to 56.7% performance slowdown under vanilla Linux. The culprits were the loss of CPU utilization and excessive thread migrations across cores. In comparison, VB helped attain performance close to the baseline without oversubscription (i.e., 8 threads on 8 cores), except for </a:t>
            </a:r>
            <a:r>
              <a:rPr lang="en-US" altLang="zh-CN" b="0" i="0" dirty="0" err="1">
                <a:effectLst/>
                <a:latin typeface="Arial" panose="020B0604020202020204" pitchFamily="34" charset="0"/>
              </a:rPr>
              <a:t>fluidanimate</a:t>
            </a:r>
            <a:r>
              <a:rPr lang="en-US" altLang="zh-CN" b="0" i="0" dirty="0">
                <a:effectLst/>
                <a:latin typeface="Arial" panose="020B0604020202020204" pitchFamily="34" charset="0"/>
              </a:rPr>
              <a:t>. The reason is that the number of locks </a:t>
            </a:r>
            <a:r>
              <a:rPr lang="en-US" altLang="zh-CN" b="0" i="0" dirty="0" err="1">
                <a:effectLst/>
                <a:latin typeface="Arial" panose="020B0604020202020204" pitchFamily="34" charset="0"/>
              </a:rPr>
              <a:t>influidanimate</a:t>
            </a:r>
            <a:r>
              <a:rPr lang="en-US" altLang="zh-CN" b="0" i="0" dirty="0">
                <a:effectLst/>
                <a:latin typeface="Arial" panose="020B0604020202020204" pitchFamily="34" charset="0"/>
              </a:rPr>
              <a:t> scales with the thread count, thereby inevitably inflicting higher overhead with more threads. </a:t>
            </a:r>
            <a:r>
              <a:rPr lang="en-US" altLang="zh-CN" b="0" i="0" dirty="0" err="1">
                <a:effectLst/>
                <a:latin typeface="Arial" panose="020B0604020202020204" pitchFamily="34" charset="0"/>
              </a:rPr>
              <a:t>Notably,VB</a:t>
            </a:r>
            <a:r>
              <a:rPr lang="en-US" altLang="zh-CN" b="0" i="0" dirty="0">
                <a:effectLst/>
                <a:latin typeface="Arial" panose="020B0604020202020204" pitchFamily="34" charset="0"/>
              </a:rPr>
              <a:t> outperformed the baseline in </a:t>
            </a:r>
            <a:r>
              <a:rPr lang="en-US" altLang="zh-CN" b="0" i="0" dirty="0" err="1">
                <a:effectLst/>
                <a:latin typeface="Arial" panose="020B0604020202020204" pitchFamily="34" charset="0"/>
              </a:rPr>
              <a:t>freqmine</a:t>
            </a:r>
            <a:r>
              <a:rPr lang="en-US" altLang="zh-CN" b="0" i="0" dirty="0">
                <a:effectLst/>
                <a:latin typeface="Arial" panose="020B0604020202020204" pitchFamily="34" charset="0"/>
              </a:rPr>
              <a:t>, ocean, cg, and mg, suggesting that VB could be an effective approach for improving the efficiency of blocking synchronization in non-oversubscribed scenarios. </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26</a:t>
            </a:fld>
            <a:endParaRPr lang="zh-CN" altLang="en-US"/>
          </a:p>
        </p:txBody>
      </p:sp>
    </p:spTree>
    <p:extLst>
      <p:ext uri="{BB962C8B-B14F-4D97-AF65-F5344CB8AC3E}">
        <p14:creationId xmlns:p14="http://schemas.microsoft.com/office/powerpoint/2010/main" val="19568540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effectLst/>
                <a:latin typeface="Arial" panose="020B0604020202020204" pitchFamily="34" charset="0"/>
              </a:rPr>
              <a:t>We then dynamically varied the number of available cores and evaluated how oversubscribed threads exploit CPU elasticity. We chose four benchmarks with distinct characteristics and allocated 8 cores at startup, while varying the number </a:t>
            </a:r>
            <a:r>
              <a:rPr lang="en-US" altLang="zh-CN" b="0" i="0" dirty="0" err="1">
                <a:effectLst/>
                <a:latin typeface="Arial" panose="020B0604020202020204" pitchFamily="34" charset="0"/>
              </a:rPr>
              <a:t>ofcores</a:t>
            </a:r>
            <a:r>
              <a:rPr lang="en-US" altLang="zh-CN" b="0" i="0" dirty="0">
                <a:effectLst/>
                <a:latin typeface="Arial" panose="020B0604020202020204" pitchFamily="34" charset="0"/>
              </a:rPr>
              <a:t> from 2 to 32 at runtime. Ep did not suffer much from oversubscription and benefited greatly from it. Compared to provisioning 8 threads, ep with 32 threads can better utilize 32 cores, achieving a 51% performance gain. </a:t>
            </a:r>
            <a:r>
              <a:rPr lang="en-US" altLang="zh-CN" b="0" i="0" dirty="0" err="1">
                <a:effectLst/>
                <a:latin typeface="Arial" panose="020B0604020202020204" pitchFamily="34" charset="0"/>
              </a:rPr>
              <a:t>Streamcluster</a:t>
            </a:r>
            <a:r>
              <a:rPr lang="en-US" altLang="zh-CN" b="0" i="0" dirty="0">
                <a:effectLst/>
                <a:latin typeface="Arial" panose="020B0604020202020204" pitchFamily="34" charset="0"/>
              </a:rPr>
              <a:t>, and cg always suffered from oversubscription in vanilla Linux. With VB, running 32 threads was never worse than running 8threads, and always better than with pinning method. </a:t>
            </a:r>
            <a:r>
              <a:rPr lang="en-US" altLang="zh-CN" b="0" i="0" dirty="0" err="1">
                <a:effectLst/>
                <a:latin typeface="Arial" panose="020B0604020202020204" pitchFamily="34" charset="0"/>
              </a:rPr>
              <a:t>Facesim</a:t>
            </a:r>
            <a:r>
              <a:rPr lang="en-US" altLang="zh-CN" b="0" i="0" dirty="0">
                <a:effectLst/>
                <a:latin typeface="Arial" panose="020B0604020202020204" pitchFamily="34" charset="0"/>
              </a:rPr>
              <a:t> is a bit different. In some cases, it benefited from oversubscription even in vanilla Linux. VB was able to further improve its performance by as much as 34%, while pinning threads to cores can hurt performance as tasks are not evenly distributed among threads. There are two fundamental limitations of pinning: 1) it is unable to deal with varying CPU count and needs to re-pin threads when CPU count changes. In most applications we tested, programs crashed when CPU count decreased. 2) pinning turns off all migrations even real load imbalance occurs.</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27</a:t>
            </a:fld>
            <a:endParaRPr lang="zh-CN" altLang="en-US"/>
          </a:p>
        </p:txBody>
      </p:sp>
    </p:spTree>
    <p:extLst>
      <p:ext uri="{BB962C8B-B14F-4D97-AF65-F5344CB8AC3E}">
        <p14:creationId xmlns:p14="http://schemas.microsoft.com/office/powerpoint/2010/main" val="38972173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Compared to conventional parallel programs, cloud workloads usually employ loosely-coupled threads and event-based notification mechanisms for thread coordination. Memcached is a widely used high-performance, distributed memory caching system. It employs the </a:t>
            </a:r>
            <a:r>
              <a:rPr lang="en-US" altLang="zh-CN" dirty="0" err="1"/>
              <a:t>libevent</a:t>
            </a:r>
            <a:r>
              <a:rPr lang="en-US" altLang="zh-CN" dirty="0"/>
              <a:t> library, which is based on </a:t>
            </a:r>
            <a:r>
              <a:rPr lang="en-US" altLang="zh-CN" dirty="0" err="1"/>
              <a:t>epoll</a:t>
            </a:r>
            <a:r>
              <a:rPr lang="en-US" altLang="zh-CN" dirty="0"/>
              <a:t>, to synchronize worker threads. Initially, Memcached worker threads call </a:t>
            </a:r>
            <a:r>
              <a:rPr lang="en-US" altLang="zh-CN" dirty="0" err="1"/>
              <a:t>epoll</a:t>
            </a:r>
            <a:r>
              <a:rPr lang="en-US" altLang="zh-CN" dirty="0"/>
              <a:t>\_wait and block to wait for incoming requests. Workers are awakened upon the arrival of client requests. Besides </a:t>
            </a:r>
            <a:r>
              <a:rPr lang="en-US" altLang="zh-CN" dirty="0" err="1"/>
              <a:t>epoll</a:t>
            </a:r>
            <a:r>
              <a:rPr lang="en-US" altLang="zh-CN" dirty="0"/>
              <a:t>, </a:t>
            </a:r>
            <a:r>
              <a:rPr lang="en-US" altLang="zh-CN" dirty="0" err="1"/>
              <a:t>memcached</a:t>
            </a:r>
            <a:r>
              <a:rPr lang="en-US" altLang="zh-CN" dirty="0"/>
              <a:t> also relies on </a:t>
            </a:r>
            <a:r>
              <a:rPr lang="en-US" altLang="zh-CN" dirty="0" err="1"/>
              <a:t>pthreads</a:t>
            </a:r>
            <a:r>
              <a:rPr lang="en-US" altLang="zh-CN" dirty="0"/>
              <a:t> mutex to protect the hash table it uses for key-value pairs lookup from concurrent updates. Similar to the changes made in </a:t>
            </a:r>
            <a:r>
              <a:rPr lang="en-US" altLang="zh-CN" dirty="0" err="1"/>
              <a:t>futex</a:t>
            </a:r>
            <a:r>
              <a:rPr lang="en-US" altLang="zh-CN" dirty="0"/>
              <a:t>, we implemented VB in </a:t>
            </a:r>
            <a:r>
              <a:rPr lang="en-US" altLang="zh-CN" dirty="0" err="1"/>
              <a:t>epoll</a:t>
            </a:r>
            <a:r>
              <a:rPr lang="en-US" altLang="zh-CN" dirty="0"/>
              <a:t> by removing the sleep queue and emulating sleeping via schedule skipping. Since </a:t>
            </a:r>
            <a:r>
              <a:rPr lang="en-US" altLang="zh-CN" dirty="0" err="1"/>
              <a:t>memcached</a:t>
            </a:r>
            <a:r>
              <a:rPr lang="en-US" altLang="zh-CN" dirty="0"/>
              <a:t> uses both </a:t>
            </a:r>
            <a:r>
              <a:rPr lang="en-US" altLang="zh-CN" dirty="0" err="1"/>
              <a:t>epoll</a:t>
            </a:r>
            <a:r>
              <a:rPr lang="en-US" altLang="zh-CN" dirty="0"/>
              <a:t> and </a:t>
            </a:r>
            <a:r>
              <a:rPr lang="en-US" altLang="zh-CN" dirty="0" err="1"/>
              <a:t>futex</a:t>
            </a:r>
            <a:r>
              <a:rPr lang="en-US" altLang="zh-CN" dirty="0"/>
              <a:t>, VB was enabled for both blocking mechanisms. We used mutilate to stress test the performance of the </a:t>
            </a:r>
            <a:r>
              <a:rPr lang="en-US" altLang="zh-CN" dirty="0" err="1"/>
              <a:t>memcached</a:t>
            </a:r>
            <a:r>
              <a:rPr lang="en-US" altLang="zh-CN" dirty="0"/>
              <a:t> server. The baseline had 4 worker threads while the oversubscribed scenarios had 16 threads. We evaluated three core settings: 4, 8, and 16 cores and with 16 workers the oversubscription ratio was 4, 2, and 1, respectively. The Figure shows the benefit of VB in improving the average, the tail latencies ,and the throughput of the </a:t>
            </a:r>
            <a:r>
              <a:rPr lang="en-US" altLang="zh-CN" dirty="0" err="1"/>
              <a:t>memcached</a:t>
            </a:r>
            <a:r>
              <a:rPr lang="en-US" altLang="zh-CN" dirty="0"/>
              <a:t> server. Oversubscription led to 8x increase in tail latencies. In contrast, VB effectively reduced the tail latency by 92\% and 60\%,</a:t>
            </a:r>
          </a:p>
          <a:p>
            <a:endParaRPr lang="en-US" altLang="zh-CN" dirty="0"/>
          </a:p>
          <a:p>
            <a:r>
              <a:rPr lang="zh-CN" altLang="en-US" dirty="0"/>
              <a:t>文字就好</a:t>
            </a:r>
          </a:p>
        </p:txBody>
      </p:sp>
      <p:sp>
        <p:nvSpPr>
          <p:cNvPr id="4" name="灯片编号占位符 3"/>
          <p:cNvSpPr>
            <a:spLocks noGrp="1"/>
          </p:cNvSpPr>
          <p:nvPr>
            <p:ph type="sldNum" sz="quarter" idx="5"/>
          </p:nvPr>
        </p:nvSpPr>
        <p:spPr/>
        <p:txBody>
          <a:bodyPr/>
          <a:lstStyle/>
          <a:p>
            <a:fld id="{F77CA73F-299E-4B3B-81F1-87346DCC89E7}" type="slidenum">
              <a:rPr lang="zh-CN" altLang="en-US" smtClean="0"/>
              <a:t>28</a:t>
            </a:fld>
            <a:endParaRPr lang="zh-CN" altLang="en-US"/>
          </a:p>
        </p:txBody>
      </p:sp>
    </p:spTree>
    <p:extLst>
      <p:ext uri="{BB962C8B-B14F-4D97-AF65-F5344CB8AC3E}">
        <p14:creationId xmlns:p14="http://schemas.microsoft.com/office/powerpoint/2010/main" val="4240214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tested BWD with two applications with customized busy-waiting algorithms. The Figures show the result of </a:t>
            </a:r>
            <a:r>
              <a:rPr lang="en-US" altLang="zh-CN" dirty="0" err="1"/>
              <a:t>lu</a:t>
            </a:r>
            <a:r>
              <a:rPr lang="en-US" altLang="zh-CN" dirty="0"/>
              <a:t> from NPB and </a:t>
            </a:r>
            <a:r>
              <a:rPr lang="en-US" altLang="zh-CN" dirty="0" err="1"/>
              <a:t>volrend</a:t>
            </a:r>
            <a:r>
              <a:rPr lang="en-US" altLang="zh-CN" dirty="0"/>
              <a:t> from SPLASH-2, We made two observations: First, BWD was able to effectively bring the performance under oversubscription close to that without oversubscription, in both container and VM tests. PLE was not effective for user-customized spinning. Second, BWD inflicted some slowdown compared to the baseline and the slowdown worsened as the oversubscription ratio increased. The overhead is due to two reasons: 1) BWD may have false positives and mistakenly stop looping used in non-synchronization functions; 2) BWD detects spinning at fixed intervals (every 100 us). As the number of threads increases, the aggregate amount of spinning would increase. Nevertheless, BWD is significantly more efficient than the vanilla Linux and contains oversubscription overhead to an acceptable level.</a:t>
            </a:r>
          </a:p>
          <a:p>
            <a:endParaRPr lang="en-US" altLang="zh-CN" dirty="0"/>
          </a:p>
          <a:p>
            <a:r>
              <a:rPr lang="zh-CN" altLang="en-US" dirty="0"/>
              <a:t>粉色换蓝色</a:t>
            </a:r>
          </a:p>
        </p:txBody>
      </p:sp>
      <p:sp>
        <p:nvSpPr>
          <p:cNvPr id="4" name="灯片编号占位符 3"/>
          <p:cNvSpPr>
            <a:spLocks noGrp="1"/>
          </p:cNvSpPr>
          <p:nvPr>
            <p:ph type="sldNum" sz="quarter" idx="5"/>
          </p:nvPr>
        </p:nvSpPr>
        <p:spPr/>
        <p:txBody>
          <a:bodyPr/>
          <a:lstStyle/>
          <a:p>
            <a:fld id="{F77CA73F-299E-4B3B-81F1-87346DCC89E7}" type="slidenum">
              <a:rPr lang="zh-CN" altLang="en-US" smtClean="0"/>
              <a:t>29</a:t>
            </a:fld>
            <a:endParaRPr lang="zh-CN" altLang="en-US"/>
          </a:p>
        </p:txBody>
      </p:sp>
    </p:spTree>
    <p:extLst>
      <p:ext uri="{BB962C8B-B14F-4D97-AF65-F5344CB8AC3E}">
        <p14:creationId xmlns:p14="http://schemas.microsoft.com/office/powerpoint/2010/main" val="24274483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SHFLLOCKS is a recently proposed lock design that decouples lock acquisition from a lock policy enforcement. It allows threads in the waiter queue to implement various locking policies and optimizations. An important feature of SHFLLOCKS is to allow waiter threads to adjust their lock policies, i.e., NUMA-awareness and efficient parking/wakeup strategies. SHFLLOCKS manages both the active and passive waiters in the same queue to decrease memory footprint, and enables lock stealing and shuffling to efficiently wake up waiters. This design improves fairness and throughput under over-subscription. We performed a comparison between SHFLLOCKS and our approach as well as the two spin-then-park algorithms. The results indicate that spin-then-park algorithms still suffered drastic slowdowns when threads are oversubscribed while our approaches, VB and BWD, are up to 5.4x more efficient. The culprit was that these spin-then-park algorithms still rely on the </a:t>
            </a:r>
            <a:r>
              <a:rPr lang="en-US" altLang="zh-CN" dirty="0" err="1"/>
              <a:t>futex</a:t>
            </a:r>
            <a:r>
              <a:rPr lang="en-US" altLang="zh-CN" dirty="0"/>
              <a:t> interface for sleeping in the OS kernel, which may cause severe slowdowns under oversubscription. SHFLLOCKS performed even worse in this case. In an oversubscribed scenario, simultaneously waking up a large number of threads causes unnecessary migrations across cores. Not only does SHFLLOCKS have no optimizations for bulk wakeups but its NUMA-awareness may hurt performance as it always wakes up threads from the same socket, causing load </a:t>
            </a:r>
            <a:r>
              <a:rPr lang="en-US" altLang="zh-CN" dirty="0" err="1"/>
              <a:t>flucturations</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F77CA73F-299E-4B3B-81F1-87346DCC89E7}" type="slidenum">
              <a:rPr lang="zh-CN" altLang="en-US" smtClean="0"/>
              <a:t>30</a:t>
            </a:fld>
            <a:endParaRPr lang="zh-CN" altLang="en-US"/>
          </a:p>
        </p:txBody>
      </p:sp>
    </p:spTree>
    <p:extLst>
      <p:ext uri="{BB962C8B-B14F-4D97-AF65-F5344CB8AC3E}">
        <p14:creationId xmlns:p14="http://schemas.microsoft.com/office/powerpoint/2010/main" val="3642714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dirty="0"/>
              <a:t>To conclude,</a:t>
            </a:r>
            <a:r>
              <a:rPr lang="en-US" altLang="zh-CN" sz="1200" dirty="0">
                <a:ea typeface="Open Sans" panose="020B0606030504020204" pitchFamily="34" charset="0"/>
                <a:cs typeface="Open Sans" panose="020B0606030504020204" pitchFamily="34" charset="0"/>
              </a:rPr>
              <a:t> </a:t>
            </a:r>
          </a:p>
        </p:txBody>
      </p:sp>
      <p:sp>
        <p:nvSpPr>
          <p:cNvPr id="4" name="灯片编号占位符 3"/>
          <p:cNvSpPr>
            <a:spLocks noGrp="1"/>
          </p:cNvSpPr>
          <p:nvPr>
            <p:ph type="sldNum" sz="quarter" idx="10"/>
          </p:nvPr>
        </p:nvSpPr>
        <p:spPr/>
        <p:txBody>
          <a:bodyPr/>
          <a:lstStyle/>
          <a:p>
            <a:fld id="{F77CA73F-299E-4B3B-81F1-87346DCC89E7}" type="slidenum">
              <a:rPr lang="zh-CN" altLang="en-US" smtClean="0"/>
              <a:t>31</a:t>
            </a:fld>
            <a:endParaRPr lang="zh-CN" altLang="en-US"/>
          </a:p>
        </p:txBody>
      </p:sp>
    </p:spTree>
    <p:extLst>
      <p:ext uri="{BB962C8B-B14F-4D97-AF65-F5344CB8AC3E}">
        <p14:creationId xmlns:p14="http://schemas.microsoft.com/office/powerpoint/2010/main" val="2815386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NYTCheltenham"/>
                <a:cs typeface="NYTCheltenham"/>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2338C-F91A-E746-A325-9793CE5DC6CB}" type="datetimeFigureOut">
              <a:rPr lang="en-US" smtClean="0"/>
              <a:t>6/6/21</a:t>
            </a:fld>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262141114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b="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b="0" i="0">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buSzPct val="80000"/>
              <a:buFont typeface="Helvetica" charset="0"/>
              <a:buChar char="-"/>
              <a:defRPr b="0" i="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buFont typeface="Helvetica" charset="0"/>
              <a:buChar char="-"/>
              <a:defRPr b="0" i="0">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buFont typeface="Helvetica" charset="0"/>
              <a:buChar char="-"/>
              <a:defRPr b="0" i="0">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buFont typeface="Helvetica" charset="0"/>
              <a:buChar char="-"/>
              <a:defRPr b="0" i="0">
                <a:latin typeface="Helvetica Neue Light" panose="02000403000000020004" pitchFamily="2" charset="0"/>
                <a:ea typeface="Helvetica Neue Light" panose="02000403000000020004" pitchFamily="2" charset="0"/>
                <a:cs typeface="Helvetica Neue Light" panose="02000403000000020004"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2338C-F91A-E746-A325-9793CE5DC6CB}" type="datetimeFigureOut">
              <a:rPr lang="en-US" smtClean="0"/>
              <a:t>6/6/21</a:t>
            </a:fld>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265093168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42338C-F91A-E746-A325-9793CE5DC6CB}" type="datetimeFigureOut">
              <a:rPr lang="en-US" smtClean="0"/>
              <a:t>6/6/21</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1781860741"/>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42338C-F91A-E746-A325-9793CE5DC6CB}" type="datetimeFigureOut">
              <a:rPr lang="en-US" smtClean="0"/>
              <a:t>6/6/21</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104432546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42338C-F91A-E746-A325-9793CE5DC6CB}" type="datetimeFigureOut">
              <a:rPr lang="en-US" smtClean="0"/>
              <a:t>6/6/21</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199728832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842338C-F91A-E746-A325-9793CE5DC6CB}" type="datetimeFigureOut">
              <a:rPr lang="en-US" smtClean="0"/>
              <a:t>6/6/21</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178012232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2338C-F91A-E746-A325-9793CE5DC6CB}" type="datetimeFigureOut">
              <a:rPr lang="en-US" smtClean="0"/>
              <a:t>6/6/21</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4095757957"/>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842338C-F91A-E746-A325-9793CE5DC6CB}" type="datetimeFigureOut">
              <a:rPr lang="en-US" smtClean="0"/>
              <a:t>6/6/21</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302070854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842338C-F91A-E746-A325-9793CE5DC6CB}" type="datetimeFigureOut">
              <a:rPr lang="en-US" smtClean="0"/>
              <a:t>6/6/21</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221250608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42338C-F91A-E746-A325-9793CE5DC6CB}" type="datetimeFigureOut">
              <a:rPr lang="en-US" smtClean="0"/>
              <a:t>6/6/21</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4202769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42338C-F91A-E746-A325-9793CE5DC6CB}" type="datetimeFigureOut">
              <a:rPr lang="en-US" smtClean="0"/>
              <a:t>6/6/21</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72E3C5E5-1620-704A-B1BC-D84381C5FEE1}" type="slidenum">
              <a:rPr lang="en-US" smtClean="0"/>
              <a:t>‹#›</a:t>
            </a:fld>
            <a:endParaRPr lang="en-US"/>
          </a:p>
        </p:txBody>
      </p:sp>
    </p:spTree>
    <p:extLst>
      <p:ext uri="{BB962C8B-B14F-4D97-AF65-F5344CB8AC3E}">
        <p14:creationId xmlns:p14="http://schemas.microsoft.com/office/powerpoint/2010/main" val="2261847079"/>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9716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962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454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8253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08048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9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979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extLst>
      <p:ext uri="{BB962C8B-B14F-4D97-AF65-F5344CB8AC3E}">
        <p14:creationId xmlns:p14="http://schemas.microsoft.com/office/powerpoint/2010/main" val="7679658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7916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2338C-F91A-E746-A325-9793CE5DC6CB}" type="datetimeFigureOut">
              <a:rPr lang="en-US" smtClean="0"/>
              <a:t>6/6/21</a:t>
            </a:fld>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E3C5E5-1620-704A-B1BC-D84381C5FEE1}" type="slidenum">
              <a:rPr lang="en-US" smtClean="0"/>
              <a:t>‹#›</a:t>
            </a:fld>
            <a:endParaRPr lang="en-US"/>
          </a:p>
        </p:txBody>
      </p:sp>
    </p:spTree>
    <p:extLst>
      <p:ext uri="{BB962C8B-B14F-4D97-AF65-F5344CB8AC3E}">
        <p14:creationId xmlns:p14="http://schemas.microsoft.com/office/powerpoint/2010/main" val="6658493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51" r:id="rId13"/>
    <p:sldLayoutId id="2147483652" r:id="rId14"/>
    <p:sldLayoutId id="2147483653"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120000"/>
        </a:lnSpc>
        <a:spcBef>
          <a:spcPts val="500"/>
        </a:spcBef>
        <a:buSzPct val="80000"/>
        <a:buFont typeface="Wingdings" charset="2"/>
        <a:buChar char="ü"/>
        <a:defRPr sz="2400" b="0" i="0" kern="1200">
          <a:solidFill>
            <a:schemeClr val="tx1"/>
          </a:solidFill>
          <a:latin typeface="Helvetica Neue Light" panose="02000403000000020004" pitchFamily="2" charset="0"/>
          <a:ea typeface="Helvetica Neue Light" panose="02000403000000020004" pitchFamily="2" charset="0"/>
          <a:cs typeface="+mn-cs"/>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Helvetica Neue Light" panose="02000403000000020004" pitchFamily="2" charset="0"/>
          <a:ea typeface="Helvetica Neue Light" panose="02000403000000020004" pitchFamily="2" charset="0"/>
          <a:cs typeface="+mn-cs"/>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Helvetica Neue Light" panose="02000403000000020004" pitchFamily="2" charset="0"/>
          <a:ea typeface="Helvetica Neue Light" panose="02000403000000020004" pitchFamily="2" charset="0"/>
          <a:cs typeface="+mn-cs"/>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Helvetica Neue Light" panose="02000403000000020004" pitchFamily="2" charset="0"/>
          <a:ea typeface="Helvetica Neue Light" panose="02000403000000020004" pitchFamily="2" charset="0"/>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microsoft.com/office/2007/relationships/hdphoto" Target="../media/hdphoto2.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jpeg"/><Relationship Id="rId4" Type="http://schemas.openxmlformats.org/officeDocument/2006/relationships/image" Target="../media/image10.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3.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2390" y="1490580"/>
            <a:ext cx="9250612" cy="1323439"/>
          </a:xfrm>
          <a:prstGeom prst="rect">
            <a:avLst/>
          </a:prstGeom>
          <a:noFill/>
        </p:spPr>
        <p:txBody>
          <a:bodyPr wrap="square" rtlCol="0">
            <a:spAutoFit/>
          </a:bodyPr>
          <a:lstStyle/>
          <a:p>
            <a:pPr algn="ctr"/>
            <a:r>
              <a:rPr lang="en-US" altLang="zh-CN" sz="4000" b="1" dirty="0">
                <a:latin typeface="Calibri" panose="020F0502020204030204" pitchFamily="34" charset="0"/>
                <a:ea typeface="Helvetica Neue" panose="02000503000000020004" pitchFamily="2" charset="0"/>
                <a:cs typeface="Calibri" panose="020F0502020204030204" pitchFamily="34" charset="0"/>
              </a:rPr>
              <a:t>Towards Exploiting CPU Elasticity via </a:t>
            </a:r>
          </a:p>
          <a:p>
            <a:pPr algn="ctr"/>
            <a:r>
              <a:rPr lang="en-US" altLang="zh-CN" sz="4000" b="1" dirty="0">
                <a:latin typeface="Calibri" panose="020F0502020204030204" pitchFamily="34" charset="0"/>
                <a:ea typeface="Helvetica Neue" panose="02000503000000020004" pitchFamily="2" charset="0"/>
                <a:cs typeface="Calibri" panose="020F0502020204030204" pitchFamily="34" charset="0"/>
              </a:rPr>
              <a:t>Efficient Thread Oversubscription</a:t>
            </a:r>
            <a:endParaRPr lang="zh-CN" altLang="en-US" sz="4000" b="1" dirty="0">
              <a:latin typeface="Calibri" panose="020F0502020204030204" pitchFamily="34" charset="0"/>
              <a:cs typeface="Calibri" panose="020F0502020204030204" pitchFamily="34" charset="0"/>
            </a:endParaRPr>
          </a:p>
        </p:txBody>
      </p:sp>
      <p:sp>
        <p:nvSpPr>
          <p:cNvPr id="11" name="文本框 10"/>
          <p:cNvSpPr txBox="1"/>
          <p:nvPr/>
        </p:nvSpPr>
        <p:spPr>
          <a:xfrm>
            <a:off x="0" y="3529006"/>
            <a:ext cx="9250613" cy="1015663"/>
          </a:xfrm>
          <a:prstGeom prst="rect">
            <a:avLst/>
          </a:prstGeom>
          <a:noFill/>
        </p:spPr>
        <p:txBody>
          <a:bodyPr wrap="square" rtlCol="0">
            <a:spAutoFit/>
          </a:bodyPr>
          <a:lstStyle/>
          <a:p>
            <a:pPr algn="ctr"/>
            <a:r>
              <a:rPr lang="en-US" altLang="zh-CN" sz="2000" b="1" dirty="0">
                <a:solidFill>
                  <a:schemeClr val="accent1">
                    <a:lumMod val="75000"/>
                  </a:schemeClr>
                </a:solidFill>
                <a:latin typeface="+mj-lt"/>
                <a:ea typeface="Helvetica Neue Medium" panose="02000503000000020004" pitchFamily="2" charset="0"/>
                <a:cs typeface="Calibri" panose="020F0502020204030204" pitchFamily="34" charset="0"/>
              </a:rPr>
              <a:t>Hang Huang</a:t>
            </a:r>
            <a:r>
              <a:rPr lang="en-US" altLang="zh-CN" sz="2000" b="1" baseline="30000" dirty="0">
                <a:solidFill>
                  <a:schemeClr val="accent1">
                    <a:lumMod val="75000"/>
                  </a:schemeClr>
                </a:solidFill>
                <a:latin typeface="+mj-lt"/>
                <a:ea typeface="Helvetica Neue Medium" panose="02000503000000020004" pitchFamily="2" charset="0"/>
                <a:cs typeface="Calibri" panose="020F0502020204030204" pitchFamily="34" charset="0"/>
              </a:rPr>
              <a:t>1</a:t>
            </a:r>
            <a:r>
              <a:rPr lang="en-US" altLang="zh-CN" sz="2000" dirty="0">
                <a:latin typeface="+mj-lt"/>
                <a:cs typeface="Calibri" panose="020F0502020204030204" pitchFamily="34" charset="0"/>
              </a:rPr>
              <a:t>, </a:t>
            </a:r>
            <a:r>
              <a:rPr lang="en-US" altLang="zh-CN" dirty="0" err="1">
                <a:latin typeface="+mj-lt"/>
                <a:ea typeface="Helvetica Neue Thin" panose="020B0403020202020204" pitchFamily="34" charset="0"/>
                <a:cs typeface="Calibri" panose="020F0502020204030204" pitchFamily="34" charset="0"/>
              </a:rPr>
              <a:t>Jia</a:t>
            </a:r>
            <a:r>
              <a:rPr lang="en-US" altLang="zh-CN" dirty="0">
                <a:latin typeface="+mj-lt"/>
                <a:ea typeface="Helvetica Neue Thin" panose="020B0403020202020204" pitchFamily="34" charset="0"/>
                <a:cs typeface="Calibri" panose="020F0502020204030204" pitchFamily="34" charset="0"/>
              </a:rPr>
              <a:t> Rao</a:t>
            </a:r>
            <a:r>
              <a:rPr lang="en-US" altLang="zh-CN" baseline="30000" dirty="0">
                <a:latin typeface="+mj-lt"/>
                <a:ea typeface="Helvetica Neue Thin" panose="020B0403020202020204" pitchFamily="34" charset="0"/>
                <a:cs typeface="Calibri" panose="020F0502020204030204" pitchFamily="34" charset="0"/>
              </a:rPr>
              <a:t>2</a:t>
            </a:r>
            <a:r>
              <a:rPr lang="en-US" altLang="zh-CN" dirty="0">
                <a:latin typeface="+mj-lt"/>
                <a:ea typeface="Helvetica Neue Thin" panose="020B0403020202020204" pitchFamily="34" charset="0"/>
                <a:cs typeface="Calibri" panose="020F0502020204030204" pitchFamily="34" charset="0"/>
              </a:rPr>
              <a:t>, Song Wu</a:t>
            </a:r>
            <a:r>
              <a:rPr lang="en-US" altLang="zh-CN" baseline="30000" dirty="0">
                <a:latin typeface="+mj-lt"/>
                <a:ea typeface="Helvetica Neue Thin" panose="020B0403020202020204" pitchFamily="34" charset="0"/>
                <a:cs typeface="Calibri" panose="020F0502020204030204" pitchFamily="34" charset="0"/>
              </a:rPr>
              <a:t>1</a:t>
            </a:r>
            <a:r>
              <a:rPr lang="en-US" altLang="zh-CN" dirty="0">
                <a:latin typeface="+mj-lt"/>
                <a:ea typeface="Helvetica Neue Thin" panose="020B0403020202020204" pitchFamily="34" charset="0"/>
                <a:cs typeface="Calibri" panose="020F0502020204030204" pitchFamily="34" charset="0"/>
              </a:rPr>
              <a:t>, Hai Jin</a:t>
            </a:r>
            <a:r>
              <a:rPr lang="en-US" altLang="zh-CN" baseline="30000" dirty="0">
                <a:latin typeface="+mj-lt"/>
                <a:ea typeface="Helvetica Neue Thin" panose="020B0403020202020204" pitchFamily="34" charset="0"/>
                <a:cs typeface="Calibri" panose="020F0502020204030204" pitchFamily="34" charset="0"/>
              </a:rPr>
              <a:t>1</a:t>
            </a:r>
            <a:r>
              <a:rPr lang="en-US" altLang="zh-CN" dirty="0">
                <a:latin typeface="+mj-lt"/>
                <a:ea typeface="Helvetica Neue Thin" panose="020B0403020202020204" pitchFamily="34" charset="0"/>
                <a:cs typeface="Calibri" panose="020F0502020204030204" pitchFamily="34" charset="0"/>
              </a:rPr>
              <a:t>, Hong Jiang</a:t>
            </a:r>
            <a:r>
              <a:rPr lang="en-US" altLang="zh-CN" baseline="30000" dirty="0">
                <a:latin typeface="+mj-lt"/>
                <a:ea typeface="Helvetica Neue Thin" panose="020B0403020202020204" pitchFamily="34" charset="0"/>
                <a:cs typeface="Calibri" panose="020F0502020204030204" pitchFamily="34" charset="0"/>
              </a:rPr>
              <a:t>2</a:t>
            </a:r>
            <a:r>
              <a:rPr lang="en-US" altLang="zh-CN" dirty="0">
                <a:latin typeface="+mj-lt"/>
                <a:ea typeface="Helvetica Neue Thin" panose="020B0403020202020204" pitchFamily="34" charset="0"/>
                <a:cs typeface="Calibri" panose="020F0502020204030204" pitchFamily="34" charset="0"/>
              </a:rPr>
              <a:t>, </a:t>
            </a:r>
            <a:r>
              <a:rPr lang="en-US" altLang="zh-CN" dirty="0" err="1">
                <a:latin typeface="+mj-lt"/>
                <a:ea typeface="Helvetica Neue Thin" panose="020B0403020202020204" pitchFamily="34" charset="0"/>
                <a:cs typeface="Calibri" panose="020F0502020204030204" pitchFamily="34" charset="0"/>
              </a:rPr>
              <a:t>Hao</a:t>
            </a:r>
            <a:r>
              <a:rPr lang="en-US" altLang="zh-CN" dirty="0">
                <a:latin typeface="+mj-lt"/>
                <a:ea typeface="Helvetica Neue Thin" panose="020B0403020202020204" pitchFamily="34" charset="0"/>
                <a:cs typeface="Calibri" panose="020F0502020204030204" pitchFamily="34" charset="0"/>
              </a:rPr>
              <a:t> Che</a:t>
            </a:r>
            <a:r>
              <a:rPr lang="en-US" altLang="zh-CN" baseline="30000" dirty="0">
                <a:latin typeface="+mj-lt"/>
                <a:ea typeface="Helvetica Neue Thin" panose="020B0403020202020204" pitchFamily="34" charset="0"/>
                <a:cs typeface="Calibri" panose="020F0502020204030204" pitchFamily="34" charset="0"/>
              </a:rPr>
              <a:t>2</a:t>
            </a:r>
            <a:r>
              <a:rPr lang="en-US" altLang="zh-CN" dirty="0">
                <a:latin typeface="+mj-lt"/>
                <a:ea typeface="Helvetica Neue Thin" panose="020B0403020202020204" pitchFamily="34" charset="0"/>
                <a:cs typeface="Calibri" panose="020F0502020204030204" pitchFamily="34" charset="0"/>
              </a:rPr>
              <a:t>, and </a:t>
            </a:r>
            <a:r>
              <a:rPr lang="en-US" altLang="zh-CN" dirty="0" err="1">
                <a:latin typeface="+mj-lt"/>
                <a:ea typeface="Helvetica Neue Thin" panose="020B0403020202020204" pitchFamily="34" charset="0"/>
                <a:cs typeface="Calibri" panose="020F0502020204030204" pitchFamily="34" charset="0"/>
              </a:rPr>
              <a:t>Xiaofeng</a:t>
            </a:r>
            <a:r>
              <a:rPr lang="en-US" altLang="zh-CN" dirty="0">
                <a:latin typeface="+mj-lt"/>
                <a:ea typeface="Helvetica Neue Thin" panose="020B0403020202020204" pitchFamily="34" charset="0"/>
                <a:cs typeface="Calibri" panose="020F0502020204030204" pitchFamily="34" charset="0"/>
              </a:rPr>
              <a:t> Wu</a:t>
            </a:r>
            <a:r>
              <a:rPr lang="en-US" altLang="zh-CN" baseline="30000" dirty="0">
                <a:latin typeface="+mj-lt"/>
                <a:ea typeface="Helvetica Neue Thin" panose="020B0403020202020204" pitchFamily="34" charset="0"/>
                <a:cs typeface="Calibri" panose="020F0502020204030204" pitchFamily="34" charset="0"/>
              </a:rPr>
              <a:t>2</a:t>
            </a:r>
          </a:p>
          <a:p>
            <a:pPr algn="ctr"/>
            <a:r>
              <a:rPr lang="en-US" altLang="zh-CN" sz="2000" baseline="30000" dirty="0">
                <a:latin typeface="+mj-lt"/>
                <a:ea typeface="Helvetica Neue Thin" panose="020B0403020202020204" pitchFamily="34" charset="0"/>
                <a:cs typeface="Calibri" panose="020F0502020204030204" pitchFamily="34" charset="0"/>
              </a:rPr>
              <a:t>1 </a:t>
            </a:r>
            <a:r>
              <a:rPr lang="en-US" altLang="zh-CN" sz="2000" dirty="0" err="1">
                <a:latin typeface="+mj-lt"/>
                <a:ea typeface="Helvetica Neue Thin" panose="020B0403020202020204" pitchFamily="34" charset="0"/>
                <a:cs typeface="Calibri" panose="020F0502020204030204" pitchFamily="34" charset="0"/>
              </a:rPr>
              <a:t>Huazhong</a:t>
            </a:r>
            <a:r>
              <a:rPr lang="en-US" altLang="zh-CN" sz="2000" dirty="0">
                <a:latin typeface="+mj-lt"/>
                <a:ea typeface="Helvetica Neue Thin" panose="020B0403020202020204" pitchFamily="34" charset="0"/>
                <a:cs typeface="Calibri" panose="020F0502020204030204" pitchFamily="34" charset="0"/>
              </a:rPr>
              <a:t> University of Science and Technology</a:t>
            </a:r>
          </a:p>
          <a:p>
            <a:pPr algn="ctr"/>
            <a:r>
              <a:rPr lang="en-US" altLang="zh-CN" sz="2000" baseline="30000" dirty="0">
                <a:latin typeface="+mj-lt"/>
                <a:ea typeface="Helvetica Neue Thin" panose="020B0403020202020204" pitchFamily="34" charset="0"/>
                <a:cs typeface="Calibri" panose="020F0502020204030204" pitchFamily="34" charset="0"/>
              </a:rPr>
              <a:t>2 </a:t>
            </a:r>
            <a:r>
              <a:rPr lang="en-US" altLang="zh-CN" sz="2000" dirty="0">
                <a:latin typeface="+mj-lt"/>
                <a:ea typeface="Helvetica Neue Thin" panose="020B0403020202020204" pitchFamily="34" charset="0"/>
                <a:cs typeface="Calibri" panose="020F0502020204030204" pitchFamily="34" charset="0"/>
              </a:rPr>
              <a:t>The University of Texas at Arlington</a:t>
            </a:r>
          </a:p>
        </p:txBody>
      </p:sp>
      <p:sp>
        <p:nvSpPr>
          <p:cNvPr id="12" name="文本框 11"/>
          <p:cNvSpPr txBox="1"/>
          <p:nvPr/>
        </p:nvSpPr>
        <p:spPr>
          <a:xfrm>
            <a:off x="7040880" y="6550223"/>
            <a:ext cx="2103120" cy="307777"/>
          </a:xfrm>
          <a:prstGeom prst="rect">
            <a:avLst/>
          </a:prstGeom>
          <a:noFill/>
        </p:spPr>
        <p:txBody>
          <a:bodyPr wrap="square" rtlCol="0">
            <a:spAutoFit/>
          </a:bodyPr>
          <a:lstStyle/>
          <a:p>
            <a:pPr algn="r"/>
            <a:r>
              <a:rPr lang="en-US" altLang="zh-CN" sz="1400" dirty="0"/>
              <a:t>June 22 2021</a:t>
            </a:r>
            <a:endParaRPr lang="zh-CN" altLang="en-US" sz="1400" dirty="0"/>
          </a:p>
        </p:txBody>
      </p:sp>
      <p:pic>
        <p:nvPicPr>
          <p:cNvPr id="8" name="图片 10">
            <a:extLst>
              <a:ext uri="{FF2B5EF4-FFF2-40B4-BE49-F238E27FC236}">
                <a16:creationId xmlns:a16="http://schemas.microsoft.com/office/drawing/2014/main" id="{AF7D37D5-52CD-8344-94A0-364A4B882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050" y="5921375"/>
            <a:ext cx="3346517" cy="838200"/>
          </a:xfrm>
          <a:prstGeom prst="rect">
            <a:avLst/>
          </a:prstGeom>
        </p:spPr>
      </p:pic>
      <p:pic>
        <p:nvPicPr>
          <p:cNvPr id="7" name="Picture 6">
            <a:extLst>
              <a:ext uri="{FF2B5EF4-FFF2-40B4-BE49-F238E27FC236}">
                <a16:creationId xmlns:a16="http://schemas.microsoft.com/office/drawing/2014/main" id="{68C0DFB6-BBA0-9541-AEB6-D8BD692699C3}"/>
              </a:ext>
            </a:extLst>
          </p:cNvPr>
          <p:cNvPicPr>
            <a:picLocks noChangeAspect="1"/>
          </p:cNvPicPr>
          <p:nvPr/>
        </p:nvPicPr>
        <p:blipFill>
          <a:blip r:embed="rId4"/>
          <a:stretch>
            <a:fillRect/>
          </a:stretch>
        </p:blipFill>
        <p:spPr>
          <a:xfrm>
            <a:off x="5246647" y="5752195"/>
            <a:ext cx="2353120" cy="1176560"/>
          </a:xfrm>
          <a:prstGeom prst="rect">
            <a:avLst/>
          </a:prstGeom>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6578" y="5669647"/>
            <a:ext cx="792676" cy="1089928"/>
          </a:xfrm>
          <a:prstGeom prst="rect">
            <a:avLst/>
          </a:prstGeom>
        </p:spPr>
      </p:pic>
    </p:spTree>
    <p:extLst>
      <p:ext uri="{BB962C8B-B14F-4D97-AF65-F5344CB8AC3E}">
        <p14:creationId xmlns:p14="http://schemas.microsoft.com/office/powerpoint/2010/main" val="1852480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442D16-163A-1A43-A418-203B383FD6D3}"/>
              </a:ext>
            </a:extLst>
          </p:cNvPr>
          <p:cNvSpPr>
            <a:spLocks noGrp="1"/>
          </p:cNvSpPr>
          <p:nvPr>
            <p:ph idx="1"/>
          </p:nvPr>
        </p:nvSpPr>
        <p:spPr>
          <a:xfrm>
            <a:off x="540045" y="1380533"/>
            <a:ext cx="8334876" cy="4351338"/>
          </a:xfrm>
        </p:spPr>
        <p:txBody>
          <a:bodyPr>
            <a:normAutofit/>
          </a:bodyPr>
          <a:lstStyle/>
          <a:p>
            <a:pPr>
              <a:lnSpc>
                <a:spcPct val="170000"/>
              </a:lnSpc>
            </a:pPr>
            <a:r>
              <a:rPr lang="en-US" altLang="zh-CN" dirty="0">
                <a:latin typeface="+mn-lt"/>
                <a:cs typeface="Calibri" panose="020F0502020204030204" pitchFamily="34" charset="0"/>
              </a:rPr>
              <a:t>The</a:t>
            </a:r>
            <a:r>
              <a:rPr lang="zh-CN" altLang="en-US" dirty="0">
                <a:latin typeface="+mn-lt"/>
                <a:cs typeface="Calibri" panose="020F0502020204030204" pitchFamily="34" charset="0"/>
              </a:rPr>
              <a:t> </a:t>
            </a:r>
            <a:r>
              <a:rPr lang="en-US" altLang="zh-CN" dirty="0">
                <a:latin typeface="+mn-lt"/>
                <a:cs typeface="Calibri" panose="020F0502020204030204" pitchFamily="34" charset="0"/>
              </a:rPr>
              <a:t>ability of a system to adapt to workload changes</a:t>
            </a:r>
          </a:p>
          <a:p>
            <a:pPr lvl="1">
              <a:lnSpc>
                <a:spcPct val="170000"/>
              </a:lnSpc>
            </a:pPr>
            <a:r>
              <a:rPr lang="en-US" altLang="zh-CN" dirty="0">
                <a:latin typeface="+mj-lt"/>
                <a:cs typeface="Calibri" panose="020F0502020204030204" pitchFamily="34" charset="0"/>
              </a:rPr>
              <a:t>High availability and reliability</a:t>
            </a:r>
          </a:p>
          <a:p>
            <a:pPr lvl="1">
              <a:lnSpc>
                <a:spcPct val="170000"/>
              </a:lnSpc>
            </a:pPr>
            <a:r>
              <a:rPr lang="en-US" altLang="zh-CN" dirty="0">
                <a:latin typeface="+mj-lt"/>
                <a:cs typeface="Calibri" panose="020F0502020204030204" pitchFamily="34" charset="0"/>
              </a:rPr>
              <a:t>Facilitating growth</a:t>
            </a:r>
          </a:p>
          <a:p>
            <a:pPr lvl="1">
              <a:lnSpc>
                <a:spcPct val="170000"/>
              </a:lnSpc>
            </a:pPr>
            <a:r>
              <a:rPr lang="en-US" altLang="zh-CN" dirty="0">
                <a:latin typeface="+mj-lt"/>
                <a:cs typeface="Calibri" panose="020F0502020204030204" pitchFamily="34" charset="0"/>
              </a:rPr>
              <a:t>Automation</a:t>
            </a:r>
          </a:p>
          <a:p>
            <a:pPr lvl="1">
              <a:lnSpc>
                <a:spcPct val="170000"/>
              </a:lnSpc>
            </a:pPr>
            <a:r>
              <a:rPr lang="en-US" altLang="zh-CN" dirty="0">
                <a:latin typeface="+mj-lt"/>
                <a:cs typeface="Calibri" panose="020F0502020204030204" pitchFamily="34" charset="0"/>
              </a:rPr>
              <a:t>Cost-effectiveness</a:t>
            </a:r>
          </a:p>
        </p:txBody>
      </p:sp>
      <p:sp>
        <p:nvSpPr>
          <p:cNvPr id="2" name="Title 1">
            <a:extLst>
              <a:ext uri="{FF2B5EF4-FFF2-40B4-BE49-F238E27FC236}">
                <a16:creationId xmlns:a16="http://schemas.microsoft.com/office/drawing/2014/main" id="{B0BA4139-1ACD-194E-BB11-143A83A6A457}"/>
              </a:ext>
            </a:extLst>
          </p:cNvPr>
          <p:cNvSpPr>
            <a:spLocks noGrp="1"/>
          </p:cNvSpPr>
          <p:nvPr>
            <p:ph type="title"/>
          </p:nvPr>
        </p:nvSpPr>
        <p:spPr>
          <a:xfrm>
            <a:off x="0" y="11537"/>
            <a:ext cx="9144000" cy="1325563"/>
          </a:xfrm>
        </p:spPr>
        <p:txBody>
          <a:bodyPr>
            <a:normAutofit/>
          </a:bodyPr>
          <a:lstStyle/>
          <a:p>
            <a:r>
              <a:rPr lang="en-US" altLang="zh-CN" sz="3600" b="1" dirty="0">
                <a:latin typeface="Calibri" panose="020F0502020204030204" pitchFamily="34" charset="0"/>
                <a:cs typeface="Calibri" panose="020F0502020204030204" pitchFamily="34" charset="0"/>
              </a:rPr>
              <a:t>Elasticity</a:t>
            </a:r>
            <a:endParaRPr lang="en-US" sz="3600" b="1"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1894EFA-49E8-FA4F-9F68-31A9BD9E160E}"/>
              </a:ext>
            </a:extLst>
          </p:cNvPr>
          <p:cNvSpPr>
            <a:spLocks noGrp="1"/>
          </p:cNvSpPr>
          <p:nvPr>
            <p:ph type="sldNum" sz="quarter" idx="12"/>
          </p:nvPr>
        </p:nvSpPr>
        <p:spPr/>
        <p:txBody>
          <a:bodyPr/>
          <a:lstStyle/>
          <a:p>
            <a:fld id="{72E3C5E5-1620-704A-B1BC-D84381C5FEE1}" type="slidenum">
              <a:rPr lang="en-US" smtClean="0"/>
              <a:t>2</a:t>
            </a:fld>
            <a:endParaRPr lang="en-US"/>
          </a:p>
        </p:txBody>
      </p:sp>
      <p:grpSp>
        <p:nvGrpSpPr>
          <p:cNvPr id="5" name="组合 4"/>
          <p:cNvGrpSpPr/>
          <p:nvPr/>
        </p:nvGrpSpPr>
        <p:grpSpPr>
          <a:xfrm>
            <a:off x="3489462" y="3556202"/>
            <a:ext cx="5936975" cy="3325973"/>
            <a:chOff x="3207025" y="3894935"/>
            <a:chExt cx="5936975" cy="3325973"/>
          </a:xfrm>
        </p:grpSpPr>
        <p:grpSp>
          <p:nvGrpSpPr>
            <p:cNvPr id="23" name="组合 22"/>
            <p:cNvGrpSpPr/>
            <p:nvPr/>
          </p:nvGrpSpPr>
          <p:grpSpPr>
            <a:xfrm>
              <a:off x="3207025" y="3894935"/>
              <a:ext cx="5936975" cy="3325973"/>
              <a:chOff x="3255099" y="3293356"/>
              <a:chExt cx="5936975" cy="3325973"/>
            </a:xfrm>
          </p:grpSpPr>
          <p:pic>
            <p:nvPicPr>
              <p:cNvPr id="1032" name="Picture 8" descr="Cloud Server Logo Template #Server#Cloud#Logo#Templates | Logo templates,  Templates, Logo design"/>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978790" y="4501331"/>
                <a:ext cx="3175252" cy="2117998"/>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组合 21"/>
              <p:cNvGrpSpPr/>
              <p:nvPr/>
            </p:nvGrpSpPr>
            <p:grpSpPr>
              <a:xfrm>
                <a:off x="3255099" y="3293356"/>
                <a:ext cx="5936975" cy="2981653"/>
                <a:chOff x="3255099" y="3293356"/>
                <a:chExt cx="5936975" cy="2981653"/>
              </a:xfrm>
            </p:grpSpPr>
            <p:sp>
              <p:nvSpPr>
                <p:cNvPr id="27" name="圆角右箭头 26"/>
                <p:cNvSpPr/>
                <p:nvPr/>
              </p:nvSpPr>
              <p:spPr>
                <a:xfrm flipH="1">
                  <a:off x="4755557" y="3841886"/>
                  <a:ext cx="745068" cy="1074377"/>
                </a:xfrm>
                <a:prstGeom prst="bentArrow">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圆角右箭头 17"/>
                <p:cNvSpPr/>
                <p:nvPr/>
              </p:nvSpPr>
              <p:spPr>
                <a:xfrm flipH="1">
                  <a:off x="4409878" y="4506205"/>
                  <a:ext cx="544021" cy="624087"/>
                </a:xfrm>
                <a:prstGeom prst="bentArrow">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圆角右箭头 12"/>
                <p:cNvSpPr/>
                <p:nvPr/>
              </p:nvSpPr>
              <p:spPr>
                <a:xfrm>
                  <a:off x="5787193" y="3878101"/>
                  <a:ext cx="719430" cy="1045640"/>
                </a:xfrm>
                <a:prstGeom prst="bentArrow">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030" name="Picture 6" descr="Microchip line icon. CPU, Central ... | Stock vector | Colourbox"/>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60670" y="4098215"/>
                  <a:ext cx="1226064" cy="1226064"/>
                </a:xfrm>
                <a:prstGeom prst="rect">
                  <a:avLst/>
                </a:prstGeom>
                <a:noFill/>
                <a:extLst>
                  <a:ext uri="{909E8E84-426E-40DD-AFC4-6F175D3DCCD1}">
                    <a14:hiddenFill xmlns:a14="http://schemas.microsoft.com/office/drawing/2010/main">
                      <a:solidFill>
                        <a:srgbClr val="FFFFFF"/>
                      </a:solidFill>
                    </a14:hiddenFill>
                  </a:ext>
                </a:extLst>
              </p:spPr>
            </p:pic>
            <p:sp>
              <p:nvSpPr>
                <p:cNvPr id="6" name="圆角右箭头 5"/>
                <p:cNvSpPr/>
                <p:nvPr/>
              </p:nvSpPr>
              <p:spPr>
                <a:xfrm>
                  <a:off x="6112306" y="4536618"/>
                  <a:ext cx="821155" cy="673768"/>
                </a:xfrm>
                <a:prstGeom prst="bentArrow">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文本框 8"/>
                <p:cNvSpPr txBox="1"/>
                <p:nvPr/>
              </p:nvSpPr>
              <p:spPr>
                <a:xfrm>
                  <a:off x="4647312" y="5813344"/>
                  <a:ext cx="2113358"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CLOUD SERVER</a:t>
                  </a:r>
                  <a:endParaRPr lang="zh-CN" altLang="en-US" sz="2400" dirty="0">
                    <a:latin typeface="Calibri" panose="020F0502020204030204" pitchFamily="34" charset="0"/>
                    <a:cs typeface="Calibri" panose="020F0502020204030204" pitchFamily="34" charset="0"/>
                  </a:endParaRPr>
                </a:p>
              </p:txBody>
            </p:sp>
            <p:sp>
              <p:nvSpPr>
                <p:cNvPr id="11" name="空心弧 10"/>
                <p:cNvSpPr/>
                <p:nvPr/>
              </p:nvSpPr>
              <p:spPr>
                <a:xfrm>
                  <a:off x="4745113" y="4828229"/>
                  <a:ext cx="1573901" cy="1066476"/>
                </a:xfrm>
                <a:prstGeom prst="blockArc">
                  <a:avLst>
                    <a:gd name="adj1" fmla="val 10872225"/>
                    <a:gd name="adj2" fmla="val 21350132"/>
                    <a:gd name="adj3" fmla="val 15672"/>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文本框 11"/>
                <p:cNvSpPr txBox="1"/>
                <p:nvPr/>
              </p:nvSpPr>
              <p:spPr>
                <a:xfrm>
                  <a:off x="7790159" y="4463274"/>
                  <a:ext cx="731543"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CPU</a:t>
                  </a:r>
                  <a:endParaRPr lang="zh-CN" altLang="en-US" sz="2400" dirty="0">
                    <a:latin typeface="Calibri" panose="020F0502020204030204" pitchFamily="34" charset="0"/>
                    <a:cs typeface="Calibri" panose="020F0502020204030204" pitchFamily="34" charset="0"/>
                  </a:endParaRPr>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69950" y="3453377"/>
                  <a:ext cx="1215341" cy="841912"/>
                </a:xfrm>
                <a:prstGeom prst="rect">
                  <a:avLst/>
                </a:prstGeom>
              </p:spPr>
            </p:pic>
            <p:sp>
              <p:nvSpPr>
                <p:cNvPr id="19" name="文本框 18"/>
                <p:cNvSpPr txBox="1"/>
                <p:nvPr/>
              </p:nvSpPr>
              <p:spPr>
                <a:xfrm>
                  <a:off x="7770215" y="3588247"/>
                  <a:ext cx="1421859"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Network</a:t>
                  </a:r>
                  <a:endParaRPr lang="zh-CN" altLang="en-US" sz="2400" dirty="0">
                    <a:latin typeface="Calibri" panose="020F0502020204030204" pitchFamily="34" charset="0"/>
                    <a:cs typeface="Calibri" panose="020F0502020204030204" pitchFamily="34" charset="0"/>
                  </a:endParaRPr>
                </a:p>
              </p:txBody>
            </p:sp>
            <p:pic>
              <p:nvPicPr>
                <p:cNvPr id="20" name="图片 1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55099" y="3683794"/>
                  <a:ext cx="1484647" cy="460269"/>
                </a:xfrm>
                <a:prstGeom prst="rect">
                  <a:avLst/>
                </a:prstGeom>
              </p:spPr>
            </p:pic>
            <p:sp>
              <p:nvSpPr>
                <p:cNvPr id="24" name="文本框 23"/>
                <p:cNvSpPr txBox="1"/>
                <p:nvPr/>
              </p:nvSpPr>
              <p:spPr>
                <a:xfrm>
                  <a:off x="3376459" y="3293356"/>
                  <a:ext cx="1421859"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Memory</a:t>
                  </a:r>
                  <a:endParaRPr lang="zh-CN" altLang="en-US" sz="2400" dirty="0">
                    <a:latin typeface="Calibri" panose="020F0502020204030204" pitchFamily="34" charset="0"/>
                    <a:cs typeface="Calibri" panose="020F0502020204030204" pitchFamily="34" charset="0"/>
                  </a:endParaRPr>
                </a:p>
              </p:txBody>
            </p:sp>
            <p:pic>
              <p:nvPicPr>
                <p:cNvPr id="1038" name="Picture 14" descr="Hard Drive ic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6829" y="4376409"/>
                  <a:ext cx="683780" cy="683781"/>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1" name="文本框 20"/>
            <p:cNvSpPr txBox="1"/>
            <p:nvPr/>
          </p:nvSpPr>
          <p:spPr>
            <a:xfrm>
              <a:off x="3725687" y="5564940"/>
              <a:ext cx="888809"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Disk</a:t>
              </a:r>
              <a:endParaRPr lang="zh-CN" altLang="en-US" sz="24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879109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85527-9091-B347-A46D-AB3E2974EDB7}"/>
              </a:ext>
            </a:extLst>
          </p:cNvPr>
          <p:cNvSpPr>
            <a:spLocks noGrp="1"/>
          </p:cNvSpPr>
          <p:nvPr>
            <p:ph type="title"/>
          </p:nvPr>
        </p:nvSpPr>
        <p:spPr>
          <a:xfrm>
            <a:off x="0" y="0"/>
            <a:ext cx="9144000" cy="1325563"/>
          </a:xfrm>
        </p:spPr>
        <p:txBody>
          <a:bodyPr/>
          <a:lstStyle/>
          <a:p>
            <a:r>
              <a:rPr lang="en-US" altLang="zh-CN" b="1" dirty="0">
                <a:latin typeface="Calibri" panose="020F0502020204030204" pitchFamily="34" charset="0"/>
                <a:cs typeface="Calibri" panose="020F0502020204030204" pitchFamily="34" charset="0"/>
              </a:rPr>
              <a:t>Elasticity in the Cloud</a:t>
            </a:r>
            <a:endParaRPr lang="en-US" b="1"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2C89F20-D74A-BA43-B188-1FADB6256E08}"/>
              </a:ext>
            </a:extLst>
          </p:cNvPr>
          <p:cNvSpPr>
            <a:spLocks noGrp="1"/>
          </p:cNvSpPr>
          <p:nvPr>
            <p:ph type="sldNum" sz="quarter" idx="12"/>
          </p:nvPr>
        </p:nvSpPr>
        <p:spPr/>
        <p:txBody>
          <a:bodyPr/>
          <a:lstStyle/>
          <a:p>
            <a:fld id="{72E3C5E5-1620-704A-B1BC-D84381C5FEE1}" type="slidenum">
              <a:rPr lang="en-US" smtClean="0"/>
              <a:t>3</a:t>
            </a:fld>
            <a:endParaRPr lang="en-US" dirty="0"/>
          </a:p>
        </p:txBody>
      </p:sp>
      <p:grpSp>
        <p:nvGrpSpPr>
          <p:cNvPr id="7" name="组合 6"/>
          <p:cNvGrpSpPr/>
          <p:nvPr/>
        </p:nvGrpSpPr>
        <p:grpSpPr>
          <a:xfrm>
            <a:off x="888624" y="2288265"/>
            <a:ext cx="7366752" cy="4068086"/>
            <a:chOff x="213143" y="1956471"/>
            <a:chExt cx="7366752" cy="4068086"/>
          </a:xfrm>
        </p:grpSpPr>
        <p:pic>
          <p:nvPicPr>
            <p:cNvPr id="2064" name="Picture 16" descr="Baidu Cloud Logo - LogoDi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894" y="4708111"/>
              <a:ext cx="1470958" cy="131644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BM Cloud - Wikipedi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3178" y="3447447"/>
              <a:ext cx="1923964" cy="137371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libaba Cloud ME (@AlibabaCloudME) | Twit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0729" y="3249589"/>
              <a:ext cx="1815562" cy="18155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etting Started with Google Kubernetes Engine - Techolution"/>
            <p:cNvPicPr>
              <a:picLocks noChangeAspect="1" noChangeArrowheads="1"/>
            </p:cNvPicPr>
            <p:nvPr/>
          </p:nvPicPr>
          <p:blipFill>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513807" y="2145613"/>
              <a:ext cx="3477126" cy="152537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n Introduction To Amazon EC2 - Testprep Training Blo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143" y="1956471"/>
              <a:ext cx="2744035" cy="175313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hat the swarm of new Azure announcements mean | VentureBeat"/>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51685" y="2027360"/>
              <a:ext cx="3128210" cy="156410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Cloud Virtual Machin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577440" y="3349169"/>
              <a:ext cx="1616402" cy="1616402"/>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57178" y="4891032"/>
              <a:ext cx="3474571" cy="834187"/>
            </a:xfrm>
            <a:prstGeom prst="rect">
              <a:avLst/>
            </a:prstGeom>
          </p:spPr>
        </p:pic>
      </p:grpSp>
      <p:sp>
        <p:nvSpPr>
          <p:cNvPr id="14" name="Content Placeholder 2">
            <a:extLst>
              <a:ext uri="{FF2B5EF4-FFF2-40B4-BE49-F238E27FC236}">
                <a16:creationId xmlns:a16="http://schemas.microsoft.com/office/drawing/2014/main" id="{0BFA0933-0AA4-490A-B845-DF9DF2C49480}"/>
              </a:ext>
            </a:extLst>
          </p:cNvPr>
          <p:cNvSpPr txBox="1">
            <a:spLocks/>
          </p:cNvSpPr>
          <p:nvPr/>
        </p:nvSpPr>
        <p:spPr>
          <a:xfrm>
            <a:off x="29407" y="1380533"/>
            <a:ext cx="9144000" cy="435133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70000"/>
              </a:lnSpc>
            </a:pPr>
            <a:r>
              <a:rPr lang="en-US" altLang="zh-CN" dirty="0">
                <a:latin typeface="+mn-lt"/>
                <a:cs typeface="Calibri" panose="020F0502020204030204" pitchFamily="34" charset="0"/>
              </a:rPr>
              <a:t>Cloud providers support on-the-fly resource reconfiguration</a:t>
            </a:r>
          </a:p>
        </p:txBody>
      </p:sp>
    </p:spTree>
    <p:extLst>
      <p:ext uri="{BB962C8B-B14F-4D97-AF65-F5344CB8AC3E}">
        <p14:creationId xmlns:p14="http://schemas.microsoft.com/office/powerpoint/2010/main" val="396922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A059E0-423D-8F4B-B5C1-7B1CFE346B1B}"/>
              </a:ext>
            </a:extLst>
          </p:cNvPr>
          <p:cNvSpPr>
            <a:spLocks noGrp="1"/>
          </p:cNvSpPr>
          <p:nvPr>
            <p:ph type="sldNum" sz="quarter" idx="12"/>
          </p:nvPr>
        </p:nvSpPr>
        <p:spPr/>
        <p:txBody>
          <a:bodyPr/>
          <a:lstStyle/>
          <a:p>
            <a:fld id="{72E3C5E5-1620-704A-B1BC-D84381C5FEE1}" type="slidenum">
              <a:rPr lang="en-US" smtClean="0"/>
              <a:t>4</a:t>
            </a:fld>
            <a:endParaRPr lang="en-US" dirty="0"/>
          </a:p>
        </p:txBody>
      </p:sp>
      <p:sp>
        <p:nvSpPr>
          <p:cNvPr id="5" name="Title 1">
            <a:extLst>
              <a:ext uri="{FF2B5EF4-FFF2-40B4-BE49-F238E27FC236}">
                <a16:creationId xmlns:a16="http://schemas.microsoft.com/office/drawing/2014/main" id="{98F85527-9091-B347-A46D-AB3E2974EDB7}"/>
              </a:ext>
            </a:extLst>
          </p:cNvPr>
          <p:cNvSpPr>
            <a:spLocks noGrp="1"/>
          </p:cNvSpPr>
          <p:nvPr>
            <p:ph type="title"/>
          </p:nvPr>
        </p:nvSpPr>
        <p:spPr>
          <a:xfrm>
            <a:off x="1" y="365126"/>
            <a:ext cx="8939462" cy="1325563"/>
          </a:xfrm>
        </p:spPr>
        <p:txBody>
          <a:bodyPr/>
          <a:lstStyle/>
          <a:p>
            <a:r>
              <a:rPr lang="en-US" altLang="zh-CN" dirty="0"/>
              <a:t> </a:t>
            </a:r>
            <a:endParaRPr lang="en-US" dirty="0"/>
          </a:p>
        </p:txBody>
      </p:sp>
      <p:sp>
        <p:nvSpPr>
          <p:cNvPr id="6" name="Title 1">
            <a:extLst>
              <a:ext uri="{FF2B5EF4-FFF2-40B4-BE49-F238E27FC236}">
                <a16:creationId xmlns:a16="http://schemas.microsoft.com/office/drawing/2014/main" id="{98F85527-9091-B347-A46D-AB3E2974EDB7}"/>
              </a:ext>
            </a:extLst>
          </p:cNvPr>
          <p:cNvSpPr txBox="1">
            <a:spLocks/>
          </p:cNvSpPr>
          <p:nvPr/>
        </p:nvSpPr>
        <p:spPr>
          <a:xfrm>
            <a:off x="0" y="-72"/>
            <a:ext cx="9143999"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CPU Elasticity</a:t>
            </a:r>
            <a:endParaRPr lang="en-US" b="1" dirty="0">
              <a:latin typeface="Calibri" panose="020F0502020204030204" pitchFamily="34" charset="0"/>
              <a:cs typeface="Calibri" panose="020F0502020204030204" pitchFamily="34" charset="0"/>
            </a:endParaRPr>
          </a:p>
        </p:txBody>
      </p:sp>
      <p:sp>
        <p:nvSpPr>
          <p:cNvPr id="11" name="矩形 10"/>
          <p:cNvSpPr/>
          <p:nvPr/>
        </p:nvSpPr>
        <p:spPr>
          <a:xfrm>
            <a:off x="4854079" y="4706978"/>
            <a:ext cx="2590921" cy="84189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2865260" y="5767310"/>
            <a:ext cx="4504055" cy="59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26" name="Picture 2" descr="Docker Logos | Dock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7788" y="4050799"/>
            <a:ext cx="1376045" cy="98681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Kopano on a Virtual Machine - How To Get Kopan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9638" y="3175043"/>
            <a:ext cx="1901825" cy="1901825"/>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83521" y="5991659"/>
            <a:ext cx="733300" cy="729817"/>
          </a:xfrm>
          <a:prstGeom prst="rect">
            <a:avLst/>
          </a:prstGeom>
        </p:spPr>
      </p:pic>
      <p:pic>
        <p:nvPicPr>
          <p:cNvPr id="26" name="图片 2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20622" y="5991659"/>
            <a:ext cx="733300" cy="729817"/>
          </a:xfrm>
          <a:prstGeom prst="rect">
            <a:avLst/>
          </a:prstGeom>
        </p:spPr>
      </p:pic>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57723" y="5991659"/>
            <a:ext cx="733300" cy="729817"/>
          </a:xfrm>
          <a:prstGeom prst="rect">
            <a:avLst/>
          </a:prstGeom>
        </p:spPr>
      </p:pic>
      <p:pic>
        <p:nvPicPr>
          <p:cNvPr id="29" name="图片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06254" y="5991659"/>
            <a:ext cx="733300" cy="729817"/>
          </a:xfrm>
          <a:prstGeom prst="rect">
            <a:avLst/>
          </a:prstGeom>
        </p:spPr>
      </p:pic>
      <p:sp>
        <p:nvSpPr>
          <p:cNvPr id="23" name="矩形 22"/>
          <p:cNvSpPr/>
          <p:nvPr/>
        </p:nvSpPr>
        <p:spPr>
          <a:xfrm>
            <a:off x="5329745" y="4926544"/>
            <a:ext cx="623132" cy="5155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剪去单角的矩形 23"/>
          <p:cNvSpPr/>
          <p:nvPr/>
        </p:nvSpPr>
        <p:spPr>
          <a:xfrm rot="16200000" flipV="1">
            <a:off x="5429633" y="4933784"/>
            <a:ext cx="405962" cy="478980"/>
          </a:xfrm>
          <a:prstGeom prst="snip1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文本框 24"/>
          <p:cNvSpPr txBox="1"/>
          <p:nvPr/>
        </p:nvSpPr>
        <p:spPr>
          <a:xfrm>
            <a:off x="5335068" y="5022253"/>
            <a:ext cx="680160" cy="338554"/>
          </a:xfrm>
          <a:prstGeom prst="rect">
            <a:avLst/>
          </a:prstGeom>
          <a:noFill/>
        </p:spPr>
        <p:txBody>
          <a:bodyPr wrap="square" rtlCol="0">
            <a:spAutoFit/>
          </a:bodyPr>
          <a:lstStyle/>
          <a:p>
            <a:r>
              <a:rPr lang="en-US" altLang="zh-CN" sz="1600" dirty="0"/>
              <a:t>vCPU</a:t>
            </a:r>
            <a:endParaRPr lang="zh-CN" altLang="en-US" sz="1600" dirty="0"/>
          </a:p>
        </p:txBody>
      </p:sp>
      <p:grpSp>
        <p:nvGrpSpPr>
          <p:cNvPr id="42" name="组合 41"/>
          <p:cNvGrpSpPr/>
          <p:nvPr/>
        </p:nvGrpSpPr>
        <p:grpSpPr>
          <a:xfrm>
            <a:off x="6363232" y="4926544"/>
            <a:ext cx="685483" cy="515532"/>
            <a:chOff x="7235582" y="3138138"/>
            <a:chExt cx="685483" cy="515532"/>
          </a:xfrm>
        </p:grpSpPr>
        <p:sp>
          <p:nvSpPr>
            <p:cNvPr id="35" name="矩形 34"/>
            <p:cNvSpPr/>
            <p:nvPr/>
          </p:nvSpPr>
          <p:spPr>
            <a:xfrm>
              <a:off x="7235582" y="3138138"/>
              <a:ext cx="623132" cy="5155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剪去单角的矩形 35"/>
            <p:cNvSpPr/>
            <p:nvPr/>
          </p:nvSpPr>
          <p:spPr>
            <a:xfrm rot="16200000" flipV="1">
              <a:off x="7335470" y="3145378"/>
              <a:ext cx="405962" cy="478980"/>
            </a:xfrm>
            <a:prstGeom prst="snip1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p:cNvSpPr txBox="1"/>
            <p:nvPr/>
          </p:nvSpPr>
          <p:spPr>
            <a:xfrm>
              <a:off x="7240905" y="3233847"/>
              <a:ext cx="680160" cy="338554"/>
            </a:xfrm>
            <a:prstGeom prst="rect">
              <a:avLst/>
            </a:prstGeom>
            <a:noFill/>
          </p:spPr>
          <p:txBody>
            <a:bodyPr wrap="square" rtlCol="0">
              <a:spAutoFit/>
            </a:bodyPr>
            <a:lstStyle/>
            <a:p>
              <a:r>
                <a:rPr lang="en-US" altLang="zh-CN" sz="1600" dirty="0"/>
                <a:t>vCPU</a:t>
              </a:r>
              <a:endParaRPr lang="zh-CN" altLang="en-US" sz="1600" dirty="0"/>
            </a:p>
          </p:txBody>
        </p:sp>
      </p:grpSp>
      <p:cxnSp>
        <p:nvCxnSpPr>
          <p:cNvPr id="31" name="直接箭头连接符 30"/>
          <p:cNvCxnSpPr>
            <a:endCxn id="23" idx="2"/>
          </p:cNvCxnSpPr>
          <p:nvPr/>
        </p:nvCxnSpPr>
        <p:spPr>
          <a:xfrm flipH="1" flipV="1">
            <a:off x="5641311" y="5442076"/>
            <a:ext cx="17443" cy="582495"/>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29" idx="0"/>
            <a:endCxn id="35" idx="2"/>
          </p:cNvCxnSpPr>
          <p:nvPr/>
        </p:nvCxnSpPr>
        <p:spPr>
          <a:xfrm flipV="1">
            <a:off x="6672904" y="5442076"/>
            <a:ext cx="1894" cy="549583"/>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1" idx="0"/>
          </p:cNvCxnSpPr>
          <p:nvPr/>
        </p:nvCxnSpPr>
        <p:spPr>
          <a:xfrm flipV="1">
            <a:off x="3550171" y="5127927"/>
            <a:ext cx="47211" cy="863732"/>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26" idx="0"/>
          </p:cNvCxnSpPr>
          <p:nvPr/>
        </p:nvCxnSpPr>
        <p:spPr>
          <a:xfrm flipH="1" flipV="1">
            <a:off x="3689942" y="5127927"/>
            <a:ext cx="897330" cy="863732"/>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178713" y="3589062"/>
            <a:ext cx="1119943" cy="369332"/>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Container</a:t>
            </a:r>
            <a:endParaRPr lang="zh-CN" altLang="en-US" dirty="0">
              <a:latin typeface="Calibri" panose="020F0502020204030204" pitchFamily="34" charset="0"/>
              <a:cs typeface="Calibri" panose="020F0502020204030204" pitchFamily="34" charset="0"/>
            </a:endParaRPr>
          </a:p>
        </p:txBody>
      </p:sp>
      <p:sp>
        <p:nvSpPr>
          <p:cNvPr id="53" name="文本框 52"/>
          <p:cNvSpPr txBox="1"/>
          <p:nvPr/>
        </p:nvSpPr>
        <p:spPr>
          <a:xfrm>
            <a:off x="6924575" y="3277600"/>
            <a:ext cx="1779748" cy="369332"/>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Virtual Machine</a:t>
            </a:r>
            <a:endParaRPr lang="zh-CN" altLang="en-US" dirty="0">
              <a:latin typeface="Calibri" panose="020F0502020204030204" pitchFamily="34" charset="0"/>
              <a:cs typeface="Calibri" panose="020F0502020204030204" pitchFamily="34" charset="0"/>
            </a:endParaRPr>
          </a:p>
        </p:txBody>
      </p:sp>
      <p:sp>
        <p:nvSpPr>
          <p:cNvPr id="50" name="文本框 49"/>
          <p:cNvSpPr txBox="1"/>
          <p:nvPr/>
        </p:nvSpPr>
        <p:spPr>
          <a:xfrm>
            <a:off x="3399339" y="5245890"/>
            <a:ext cx="955839" cy="369332"/>
          </a:xfrm>
          <a:prstGeom prst="rect">
            <a:avLst/>
          </a:prstGeom>
          <a:noFill/>
        </p:spPr>
        <p:txBody>
          <a:bodyPr wrap="square" rtlCol="0">
            <a:spAutoFit/>
          </a:bodyPr>
          <a:lstStyle/>
          <a:p>
            <a:r>
              <a:rPr lang="en-US" altLang="zh-CN" dirty="0" err="1">
                <a:latin typeface="Calibri" panose="020F0502020204030204" pitchFamily="34" charset="0"/>
                <a:cs typeface="Calibri" panose="020F0502020204030204" pitchFamily="34" charset="0"/>
              </a:rPr>
              <a:t>Cgroup</a:t>
            </a:r>
            <a:endParaRPr lang="zh-CN" altLang="en-US" dirty="0">
              <a:latin typeface="Calibri" panose="020F0502020204030204" pitchFamily="34" charset="0"/>
              <a:cs typeface="Calibri" panose="020F0502020204030204" pitchFamily="34" charset="0"/>
            </a:endParaRPr>
          </a:p>
        </p:txBody>
      </p:sp>
      <p:sp>
        <p:nvSpPr>
          <p:cNvPr id="51" name="文本框 50"/>
          <p:cNvSpPr txBox="1"/>
          <p:nvPr/>
        </p:nvSpPr>
        <p:spPr>
          <a:xfrm>
            <a:off x="7464878" y="4926544"/>
            <a:ext cx="1679122" cy="369332"/>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vCPU hot-plug</a:t>
            </a:r>
            <a:endParaRPr lang="zh-CN" altLang="en-US" dirty="0">
              <a:latin typeface="Calibri" panose="020F0502020204030204" pitchFamily="34" charset="0"/>
              <a:cs typeface="Calibri" panose="020F0502020204030204" pitchFamily="34" charset="0"/>
            </a:endParaRPr>
          </a:p>
        </p:txBody>
      </p:sp>
      <p:sp>
        <p:nvSpPr>
          <p:cNvPr id="34" name="Content Placeholder 2">
            <a:extLst>
              <a:ext uri="{FF2B5EF4-FFF2-40B4-BE49-F238E27FC236}">
                <a16:creationId xmlns:a16="http://schemas.microsoft.com/office/drawing/2014/main" id="{7A9B87E7-B092-4FEC-8DA4-0AFEF8020196}"/>
              </a:ext>
            </a:extLst>
          </p:cNvPr>
          <p:cNvSpPr txBox="1">
            <a:spLocks/>
          </p:cNvSpPr>
          <p:nvPr/>
        </p:nvSpPr>
        <p:spPr>
          <a:xfrm>
            <a:off x="692445" y="1425545"/>
            <a:ext cx="8334876" cy="435133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70000"/>
              </a:lnSpc>
            </a:pPr>
            <a:r>
              <a:rPr lang="en-US" altLang="zh-CN" dirty="0">
                <a:latin typeface="+mn-lt"/>
                <a:cs typeface="Calibri" panose="020F0502020204030204" pitchFamily="34" charset="0"/>
              </a:rPr>
              <a:t>CPU is mainly an execution vehicle</a:t>
            </a:r>
          </a:p>
          <a:p>
            <a:pPr lvl="1">
              <a:lnSpc>
                <a:spcPct val="170000"/>
              </a:lnSpc>
            </a:pPr>
            <a:r>
              <a:rPr lang="en-US" altLang="zh-CN" dirty="0">
                <a:latin typeface="+mj-lt"/>
                <a:cs typeface="Calibri" panose="020F0502020204030204" pitchFamily="34" charset="0"/>
              </a:rPr>
              <a:t>Provision or deprovision quickly</a:t>
            </a:r>
          </a:p>
          <a:p>
            <a:pPr lvl="1">
              <a:lnSpc>
                <a:spcPct val="170000"/>
              </a:lnSpc>
            </a:pPr>
            <a:r>
              <a:rPr lang="en-US" altLang="zh-CN" dirty="0">
                <a:latin typeface="+mj-lt"/>
                <a:cs typeface="Calibri" panose="020F0502020204030204" pitchFamily="34" charset="0"/>
              </a:rPr>
              <a:t>Loading or saving little context</a:t>
            </a:r>
          </a:p>
        </p:txBody>
      </p:sp>
    </p:spTree>
    <p:extLst>
      <p:ext uri="{BB962C8B-B14F-4D97-AF65-F5344CB8AC3E}">
        <p14:creationId xmlns:p14="http://schemas.microsoft.com/office/powerpoint/2010/main" val="3971443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Content Placeholder 2">
            <a:extLst>
              <a:ext uri="{FF2B5EF4-FFF2-40B4-BE49-F238E27FC236}">
                <a16:creationId xmlns:a16="http://schemas.microsoft.com/office/drawing/2014/main" id="{A4D89CFA-D53A-462A-A256-810B89F71624}"/>
              </a:ext>
            </a:extLst>
          </p:cNvPr>
          <p:cNvSpPr>
            <a:spLocks noGrp="1"/>
          </p:cNvSpPr>
          <p:nvPr>
            <p:ph idx="1"/>
          </p:nvPr>
        </p:nvSpPr>
        <p:spPr>
          <a:xfrm>
            <a:off x="520857" y="1294010"/>
            <a:ext cx="8334876" cy="4351338"/>
          </a:xfrm>
        </p:spPr>
        <p:txBody>
          <a:bodyPr>
            <a:normAutofit/>
          </a:bodyPr>
          <a:lstStyle/>
          <a:p>
            <a:pPr>
              <a:lnSpc>
                <a:spcPct val="170000"/>
              </a:lnSpc>
            </a:pPr>
            <a:r>
              <a:rPr lang="en-US" altLang="zh-CN" dirty="0">
                <a:latin typeface="+mn-lt"/>
                <a:cs typeface="Calibri" panose="020F0502020204030204" pitchFamily="34" charset="0"/>
              </a:rPr>
              <a:t>Goal: # of threads = # of cores</a:t>
            </a:r>
          </a:p>
        </p:txBody>
      </p:sp>
      <p:sp>
        <p:nvSpPr>
          <p:cNvPr id="4" name="Slide Number Placeholder 3">
            <a:extLst>
              <a:ext uri="{FF2B5EF4-FFF2-40B4-BE49-F238E27FC236}">
                <a16:creationId xmlns:a16="http://schemas.microsoft.com/office/drawing/2014/main" id="{F0ADF116-FAC9-B646-A7C8-8677A7E2C709}"/>
              </a:ext>
            </a:extLst>
          </p:cNvPr>
          <p:cNvSpPr>
            <a:spLocks noGrp="1"/>
          </p:cNvSpPr>
          <p:nvPr>
            <p:ph type="sldNum" sz="quarter" idx="12"/>
          </p:nvPr>
        </p:nvSpPr>
        <p:spPr/>
        <p:txBody>
          <a:bodyPr/>
          <a:lstStyle/>
          <a:p>
            <a:fld id="{72E3C5E5-1620-704A-B1BC-D84381C5FEE1}" type="slidenum">
              <a:rPr lang="en-US" smtClean="0"/>
              <a:t>5</a:t>
            </a:fld>
            <a:endParaRPr lang="en-US"/>
          </a:p>
        </p:txBody>
      </p:sp>
      <p:sp>
        <p:nvSpPr>
          <p:cNvPr id="5" name="Title 1">
            <a:extLst>
              <a:ext uri="{FF2B5EF4-FFF2-40B4-BE49-F238E27FC236}">
                <a16:creationId xmlns:a16="http://schemas.microsoft.com/office/drawing/2014/main" id="{98F85527-9091-B347-A46D-AB3E2974EDB7}"/>
              </a:ext>
            </a:extLst>
          </p:cNvPr>
          <p:cNvSpPr txBox="1">
            <a:spLocks/>
          </p:cNvSpPr>
          <p:nvPr/>
        </p:nvSpPr>
        <p:spPr>
          <a:xfrm>
            <a:off x="0" y="8937"/>
            <a:ext cx="9144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Unlocking CPU Elasticity is Non-trivial</a:t>
            </a:r>
            <a:endParaRPr lang="en-US" b="1" dirty="0">
              <a:latin typeface="Calibri" panose="020F0502020204030204" pitchFamily="34" charset="0"/>
              <a:cs typeface="Calibri" panose="020F0502020204030204" pitchFamily="34" charset="0"/>
            </a:endParaRPr>
          </a:p>
        </p:txBody>
      </p:sp>
      <p:sp>
        <p:nvSpPr>
          <p:cNvPr id="3" name="矩形 2"/>
          <p:cNvSpPr/>
          <p:nvPr/>
        </p:nvSpPr>
        <p:spPr>
          <a:xfrm>
            <a:off x="945015" y="2307005"/>
            <a:ext cx="720000"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103255" y="2307005"/>
            <a:ext cx="720000"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261495" y="2307005"/>
            <a:ext cx="720000"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45015" y="4106351"/>
            <a:ext cx="720000"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103255" y="4106351"/>
            <a:ext cx="720000"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3261495" y="4106351"/>
            <a:ext cx="720000"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4328295" y="4086345"/>
            <a:ext cx="720000" cy="720000"/>
          </a:xfrm>
          <a:prstGeom prst="rect">
            <a:avLst/>
          </a:prstGeom>
          <a:noFill/>
          <a:ln w="50800">
            <a:solidFill>
              <a:srgbClr val="9DC3E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38" name="矩形 37"/>
          <p:cNvSpPr/>
          <p:nvPr/>
        </p:nvSpPr>
        <p:spPr>
          <a:xfrm>
            <a:off x="5318325" y="4099440"/>
            <a:ext cx="720000" cy="720000"/>
          </a:xfrm>
          <a:prstGeom prst="rect">
            <a:avLst/>
          </a:prstGeom>
          <a:noFill/>
          <a:ln w="50800">
            <a:solidFill>
              <a:srgbClr val="9DC3E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1959110" y="5874526"/>
            <a:ext cx="1707105"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下箭头 7"/>
          <p:cNvSpPr/>
          <p:nvPr/>
        </p:nvSpPr>
        <p:spPr>
          <a:xfrm>
            <a:off x="2439090" y="3284733"/>
            <a:ext cx="403199" cy="5638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下箭头 8"/>
          <p:cNvSpPr/>
          <p:nvPr/>
        </p:nvSpPr>
        <p:spPr>
          <a:xfrm>
            <a:off x="2527664" y="5104765"/>
            <a:ext cx="384165" cy="6098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a:extLst>
              <a:ext uri="{FF2B5EF4-FFF2-40B4-BE49-F238E27FC236}">
                <a16:creationId xmlns:a16="http://schemas.microsoft.com/office/drawing/2014/main" id="{2BFD324F-8566-4ABD-94CF-4FE5462BBB2F}"/>
              </a:ext>
            </a:extLst>
          </p:cNvPr>
          <p:cNvSpPr/>
          <p:nvPr/>
        </p:nvSpPr>
        <p:spPr>
          <a:xfrm rot="362030">
            <a:off x="1134629" y="2359344"/>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任意多边形: 形状 50">
            <a:extLst>
              <a:ext uri="{FF2B5EF4-FFF2-40B4-BE49-F238E27FC236}">
                <a16:creationId xmlns:a16="http://schemas.microsoft.com/office/drawing/2014/main" id="{77DBF14A-840F-4960-9A4E-282DA3A3E4DA}"/>
              </a:ext>
            </a:extLst>
          </p:cNvPr>
          <p:cNvSpPr/>
          <p:nvPr/>
        </p:nvSpPr>
        <p:spPr>
          <a:xfrm rot="362030">
            <a:off x="2292869" y="2350740"/>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形状 51">
            <a:extLst>
              <a:ext uri="{FF2B5EF4-FFF2-40B4-BE49-F238E27FC236}">
                <a16:creationId xmlns:a16="http://schemas.microsoft.com/office/drawing/2014/main" id="{7FB92073-031B-42FD-8CD0-5B60BA034765}"/>
              </a:ext>
            </a:extLst>
          </p:cNvPr>
          <p:cNvSpPr/>
          <p:nvPr/>
        </p:nvSpPr>
        <p:spPr>
          <a:xfrm rot="362030">
            <a:off x="3495417" y="2351525"/>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Content Placeholder 2">
            <a:extLst>
              <a:ext uri="{FF2B5EF4-FFF2-40B4-BE49-F238E27FC236}">
                <a16:creationId xmlns:a16="http://schemas.microsoft.com/office/drawing/2014/main" id="{46B14D8E-2DFE-474B-93FB-C57C7964622A}"/>
              </a:ext>
            </a:extLst>
          </p:cNvPr>
          <p:cNvSpPr txBox="1">
            <a:spLocks/>
          </p:cNvSpPr>
          <p:nvPr/>
        </p:nvSpPr>
        <p:spPr>
          <a:xfrm>
            <a:off x="4219662" y="2277034"/>
            <a:ext cx="2863263" cy="77646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70000"/>
              </a:lnSpc>
              <a:buNone/>
            </a:pPr>
            <a:r>
              <a:rPr lang="en-US" altLang="zh-CN" sz="2400" b="1" dirty="0">
                <a:latin typeface="+mj-lt"/>
                <a:cs typeface="Calibri" panose="020F0502020204030204" pitchFamily="34" charset="0"/>
              </a:rPr>
              <a:t>Best Performance</a:t>
            </a:r>
          </a:p>
        </p:txBody>
      </p:sp>
      <p:sp>
        <p:nvSpPr>
          <p:cNvPr id="61" name="矩形 60">
            <a:extLst>
              <a:ext uri="{FF2B5EF4-FFF2-40B4-BE49-F238E27FC236}">
                <a16:creationId xmlns:a16="http://schemas.microsoft.com/office/drawing/2014/main" id="{C3BD00DA-BE84-494C-9280-9EAFC7E79DBE}"/>
              </a:ext>
            </a:extLst>
          </p:cNvPr>
          <p:cNvSpPr/>
          <p:nvPr/>
        </p:nvSpPr>
        <p:spPr>
          <a:xfrm>
            <a:off x="5856752" y="1667372"/>
            <a:ext cx="411605" cy="361039"/>
          </a:xfrm>
          <a:prstGeom prst="rect">
            <a:avLst/>
          </a:prstGeom>
          <a:noFill/>
          <a:ln w="508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Content Placeholder 2">
            <a:extLst>
              <a:ext uri="{FF2B5EF4-FFF2-40B4-BE49-F238E27FC236}">
                <a16:creationId xmlns:a16="http://schemas.microsoft.com/office/drawing/2014/main" id="{C5BB6347-B74F-4ECB-ABC7-08AA5A99B329}"/>
              </a:ext>
            </a:extLst>
          </p:cNvPr>
          <p:cNvSpPr txBox="1">
            <a:spLocks/>
          </p:cNvSpPr>
          <p:nvPr/>
        </p:nvSpPr>
        <p:spPr>
          <a:xfrm>
            <a:off x="6262238" y="1418749"/>
            <a:ext cx="1052257" cy="77646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70000"/>
              </a:lnSpc>
              <a:buNone/>
            </a:pPr>
            <a:r>
              <a:rPr lang="en-US" altLang="zh-CN" sz="2400" b="1" dirty="0">
                <a:latin typeface="+mj-lt"/>
                <a:cs typeface="Calibri" panose="020F0502020204030204" pitchFamily="34" charset="0"/>
              </a:rPr>
              <a:t>Core</a:t>
            </a:r>
          </a:p>
        </p:txBody>
      </p:sp>
      <p:sp>
        <p:nvSpPr>
          <p:cNvPr id="63" name="任意多边形: 形状 62">
            <a:extLst>
              <a:ext uri="{FF2B5EF4-FFF2-40B4-BE49-F238E27FC236}">
                <a16:creationId xmlns:a16="http://schemas.microsoft.com/office/drawing/2014/main" id="{9C00B650-E486-44FE-836A-5D4A3B477D60}"/>
              </a:ext>
            </a:extLst>
          </p:cNvPr>
          <p:cNvSpPr/>
          <p:nvPr/>
        </p:nvSpPr>
        <p:spPr>
          <a:xfrm rot="362030">
            <a:off x="7404267" y="1501059"/>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Content Placeholder 2">
            <a:extLst>
              <a:ext uri="{FF2B5EF4-FFF2-40B4-BE49-F238E27FC236}">
                <a16:creationId xmlns:a16="http://schemas.microsoft.com/office/drawing/2014/main" id="{EC2FF98E-8A76-4BCA-A51F-8F89925184A8}"/>
              </a:ext>
            </a:extLst>
          </p:cNvPr>
          <p:cNvSpPr txBox="1">
            <a:spLocks/>
          </p:cNvSpPr>
          <p:nvPr/>
        </p:nvSpPr>
        <p:spPr>
          <a:xfrm>
            <a:off x="7692986" y="1418749"/>
            <a:ext cx="1052257" cy="77646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70000"/>
              </a:lnSpc>
              <a:buNone/>
            </a:pPr>
            <a:r>
              <a:rPr lang="en-US" altLang="zh-CN" sz="2400" b="1" dirty="0">
                <a:latin typeface="+mj-lt"/>
                <a:cs typeface="Calibri" panose="020F0502020204030204" pitchFamily="34" charset="0"/>
              </a:rPr>
              <a:t>Thread</a:t>
            </a:r>
          </a:p>
        </p:txBody>
      </p:sp>
      <p:sp>
        <p:nvSpPr>
          <p:cNvPr id="65" name="Content Placeholder 2">
            <a:extLst>
              <a:ext uri="{FF2B5EF4-FFF2-40B4-BE49-F238E27FC236}">
                <a16:creationId xmlns:a16="http://schemas.microsoft.com/office/drawing/2014/main" id="{1DD29981-F49F-498F-9A03-C6625C4AB36C}"/>
              </a:ext>
            </a:extLst>
          </p:cNvPr>
          <p:cNvSpPr txBox="1">
            <a:spLocks/>
          </p:cNvSpPr>
          <p:nvPr/>
        </p:nvSpPr>
        <p:spPr>
          <a:xfrm>
            <a:off x="2756533" y="3062448"/>
            <a:ext cx="2863263" cy="77646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70000"/>
              </a:lnSpc>
              <a:buNone/>
            </a:pPr>
            <a:r>
              <a:rPr lang="en-US" altLang="zh-CN" sz="2400" b="1" dirty="0">
                <a:latin typeface="+mj-lt"/>
                <a:cs typeface="Calibri" panose="020F0502020204030204" pitchFamily="34" charset="0"/>
              </a:rPr>
              <a:t>Add two core</a:t>
            </a:r>
          </a:p>
        </p:txBody>
      </p:sp>
      <p:sp>
        <p:nvSpPr>
          <p:cNvPr id="66" name="Content Placeholder 2">
            <a:extLst>
              <a:ext uri="{FF2B5EF4-FFF2-40B4-BE49-F238E27FC236}">
                <a16:creationId xmlns:a16="http://schemas.microsoft.com/office/drawing/2014/main" id="{36DD8393-F61E-40EE-B77F-FBE90F4C3CF9}"/>
              </a:ext>
            </a:extLst>
          </p:cNvPr>
          <p:cNvSpPr txBox="1">
            <a:spLocks/>
          </p:cNvSpPr>
          <p:nvPr/>
        </p:nvSpPr>
        <p:spPr>
          <a:xfrm>
            <a:off x="4623397" y="3438261"/>
            <a:ext cx="1135642" cy="77646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70000"/>
              </a:lnSpc>
              <a:buNone/>
            </a:pPr>
            <a:r>
              <a:rPr lang="en-US" altLang="zh-CN" sz="2400" b="1" dirty="0">
                <a:solidFill>
                  <a:srgbClr val="C00000"/>
                </a:solidFill>
                <a:latin typeface="+mj-lt"/>
                <a:cs typeface="Calibri" panose="020F0502020204030204" pitchFamily="34" charset="0"/>
              </a:rPr>
              <a:t>Wasted</a:t>
            </a:r>
          </a:p>
        </p:txBody>
      </p:sp>
      <p:sp>
        <p:nvSpPr>
          <p:cNvPr id="67" name="Content Placeholder 2">
            <a:extLst>
              <a:ext uri="{FF2B5EF4-FFF2-40B4-BE49-F238E27FC236}">
                <a16:creationId xmlns:a16="http://schemas.microsoft.com/office/drawing/2014/main" id="{D12BB29E-A2D9-4380-A89E-7460F948CAF4}"/>
              </a:ext>
            </a:extLst>
          </p:cNvPr>
          <p:cNvSpPr txBox="1">
            <a:spLocks/>
          </p:cNvSpPr>
          <p:nvPr/>
        </p:nvSpPr>
        <p:spPr>
          <a:xfrm>
            <a:off x="2812662" y="4918260"/>
            <a:ext cx="2863263" cy="77646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70000"/>
              </a:lnSpc>
              <a:buNone/>
            </a:pPr>
            <a:r>
              <a:rPr lang="en-US" altLang="zh-CN" sz="2400" b="1" dirty="0">
                <a:latin typeface="+mj-lt"/>
                <a:cs typeface="Calibri" panose="020F0502020204030204" pitchFamily="34" charset="0"/>
              </a:rPr>
              <a:t>Remove two core</a:t>
            </a:r>
          </a:p>
        </p:txBody>
      </p:sp>
      <p:sp>
        <p:nvSpPr>
          <p:cNvPr id="68" name="任意多边形: 形状 67">
            <a:extLst>
              <a:ext uri="{FF2B5EF4-FFF2-40B4-BE49-F238E27FC236}">
                <a16:creationId xmlns:a16="http://schemas.microsoft.com/office/drawing/2014/main" id="{42B5670A-5B0D-4BAA-B848-75B07A8D5DE5}"/>
              </a:ext>
            </a:extLst>
          </p:cNvPr>
          <p:cNvSpPr/>
          <p:nvPr/>
        </p:nvSpPr>
        <p:spPr>
          <a:xfrm rot="362030">
            <a:off x="3495417" y="4153884"/>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形状 68">
            <a:extLst>
              <a:ext uri="{FF2B5EF4-FFF2-40B4-BE49-F238E27FC236}">
                <a16:creationId xmlns:a16="http://schemas.microsoft.com/office/drawing/2014/main" id="{92B2042C-40CB-4653-A682-756D809DBFFE}"/>
              </a:ext>
            </a:extLst>
          </p:cNvPr>
          <p:cNvSpPr/>
          <p:nvPr/>
        </p:nvSpPr>
        <p:spPr>
          <a:xfrm rot="362030">
            <a:off x="2317429" y="4170771"/>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形状 69">
            <a:extLst>
              <a:ext uri="{FF2B5EF4-FFF2-40B4-BE49-F238E27FC236}">
                <a16:creationId xmlns:a16="http://schemas.microsoft.com/office/drawing/2014/main" id="{49190459-85AA-48B6-B48F-9C5F422FD388}"/>
              </a:ext>
            </a:extLst>
          </p:cNvPr>
          <p:cNvSpPr/>
          <p:nvPr/>
        </p:nvSpPr>
        <p:spPr>
          <a:xfrm rot="362030">
            <a:off x="1128632" y="4140421"/>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Content Placeholder 2">
            <a:extLst>
              <a:ext uri="{FF2B5EF4-FFF2-40B4-BE49-F238E27FC236}">
                <a16:creationId xmlns:a16="http://schemas.microsoft.com/office/drawing/2014/main" id="{5D8FA494-8A68-485A-8791-7F2B0BE0579B}"/>
              </a:ext>
            </a:extLst>
          </p:cNvPr>
          <p:cNvSpPr txBox="1">
            <a:spLocks/>
          </p:cNvSpPr>
          <p:nvPr/>
        </p:nvSpPr>
        <p:spPr>
          <a:xfrm>
            <a:off x="3736649" y="5762447"/>
            <a:ext cx="1956374" cy="77646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70000"/>
              </a:lnSpc>
              <a:buNone/>
            </a:pPr>
            <a:r>
              <a:rPr lang="en-US" altLang="zh-CN" sz="2400" b="1" dirty="0">
                <a:solidFill>
                  <a:srgbClr val="C00000"/>
                </a:solidFill>
                <a:latin typeface="+mj-lt"/>
                <a:cs typeface="Calibri" panose="020F0502020204030204" pitchFamily="34" charset="0"/>
              </a:rPr>
              <a:t>Competition</a:t>
            </a:r>
          </a:p>
        </p:txBody>
      </p:sp>
      <p:sp>
        <p:nvSpPr>
          <p:cNvPr id="72" name="任意多边形: 形状 71">
            <a:extLst>
              <a:ext uri="{FF2B5EF4-FFF2-40B4-BE49-F238E27FC236}">
                <a16:creationId xmlns:a16="http://schemas.microsoft.com/office/drawing/2014/main" id="{04D46CB6-34C1-4FDD-B892-9931F1CBF02E}"/>
              </a:ext>
            </a:extLst>
          </p:cNvPr>
          <p:cNvSpPr/>
          <p:nvPr/>
        </p:nvSpPr>
        <p:spPr>
          <a:xfrm rot="362030">
            <a:off x="2627187" y="5921911"/>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任意多边形: 形状 72">
            <a:extLst>
              <a:ext uri="{FF2B5EF4-FFF2-40B4-BE49-F238E27FC236}">
                <a16:creationId xmlns:a16="http://schemas.microsoft.com/office/drawing/2014/main" id="{2D93EE7D-A4FB-4071-B452-6B9250DEFF4D}"/>
              </a:ext>
            </a:extLst>
          </p:cNvPr>
          <p:cNvSpPr/>
          <p:nvPr/>
        </p:nvSpPr>
        <p:spPr>
          <a:xfrm rot="362030">
            <a:off x="3098696" y="5921911"/>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形状 73">
            <a:extLst>
              <a:ext uri="{FF2B5EF4-FFF2-40B4-BE49-F238E27FC236}">
                <a16:creationId xmlns:a16="http://schemas.microsoft.com/office/drawing/2014/main" id="{C17DF5AF-0CA1-4AE7-8015-00E812AD54F0}"/>
              </a:ext>
            </a:extLst>
          </p:cNvPr>
          <p:cNvSpPr/>
          <p:nvPr/>
        </p:nvSpPr>
        <p:spPr>
          <a:xfrm rot="362030">
            <a:off x="2155679" y="5921911"/>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7453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9BA83FF7-BABA-423D-B67E-75FE32C17AD0}"/>
              </a:ext>
            </a:extLst>
          </p:cNvPr>
          <p:cNvSpPr>
            <a:spLocks noGrp="1"/>
          </p:cNvSpPr>
          <p:nvPr>
            <p:ph idx="1"/>
          </p:nvPr>
        </p:nvSpPr>
        <p:spPr>
          <a:xfrm>
            <a:off x="540045" y="1317450"/>
            <a:ext cx="8334876" cy="4351338"/>
          </a:xfrm>
        </p:spPr>
        <p:txBody>
          <a:bodyPr>
            <a:normAutofit/>
          </a:bodyPr>
          <a:lstStyle/>
          <a:p>
            <a:pPr>
              <a:lnSpc>
                <a:spcPct val="170000"/>
              </a:lnSpc>
            </a:pPr>
            <a:r>
              <a:rPr lang="en-US" altLang="zh-CN" dirty="0">
                <a:latin typeface="+mn-lt"/>
                <a:cs typeface="Calibri" panose="020F0502020204030204" pitchFamily="34" charset="0"/>
              </a:rPr>
              <a:t>Goal: # of threads =# of threads can scale</a:t>
            </a:r>
          </a:p>
        </p:txBody>
      </p:sp>
      <p:sp>
        <p:nvSpPr>
          <p:cNvPr id="2" name="Title 1">
            <a:extLst>
              <a:ext uri="{FF2B5EF4-FFF2-40B4-BE49-F238E27FC236}">
                <a16:creationId xmlns:a16="http://schemas.microsoft.com/office/drawing/2014/main" id="{8BC8E32D-4772-C240-9533-FFFC0B094DF3}"/>
              </a:ext>
            </a:extLst>
          </p:cNvPr>
          <p:cNvSpPr>
            <a:spLocks noGrp="1"/>
          </p:cNvSpPr>
          <p:nvPr>
            <p:ph type="title"/>
          </p:nvPr>
        </p:nvSpPr>
        <p:spPr>
          <a:xfrm>
            <a:off x="0" y="6854"/>
            <a:ext cx="9144000" cy="1325563"/>
          </a:xfrm>
        </p:spPr>
        <p:txBody>
          <a:bodyPr/>
          <a:lstStyle/>
          <a:p>
            <a:r>
              <a:rPr lang="en-US" altLang="zh-CN" b="1" dirty="0">
                <a:latin typeface="Calibri" panose="020F0502020204030204" pitchFamily="34" charset="0"/>
                <a:cs typeface="Calibri" panose="020F0502020204030204" pitchFamily="34" charset="0"/>
              </a:rPr>
              <a:t>Explore Thread Oversubscription</a:t>
            </a:r>
            <a:endParaRPr lang="en-US" b="1"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D68EBD1-FB23-1A42-B8FC-28AE4F7C5388}"/>
              </a:ext>
            </a:extLst>
          </p:cNvPr>
          <p:cNvSpPr>
            <a:spLocks noGrp="1"/>
          </p:cNvSpPr>
          <p:nvPr>
            <p:ph type="sldNum" sz="quarter" idx="12"/>
          </p:nvPr>
        </p:nvSpPr>
        <p:spPr/>
        <p:txBody>
          <a:bodyPr/>
          <a:lstStyle/>
          <a:p>
            <a:fld id="{72E3C5E5-1620-704A-B1BC-D84381C5FEE1}" type="slidenum">
              <a:rPr lang="en-US" smtClean="0"/>
              <a:t>6</a:t>
            </a:fld>
            <a:endParaRPr lang="en-US"/>
          </a:p>
        </p:txBody>
      </p:sp>
      <p:sp>
        <p:nvSpPr>
          <p:cNvPr id="3" name="矩形 2"/>
          <p:cNvSpPr/>
          <p:nvPr/>
        </p:nvSpPr>
        <p:spPr>
          <a:xfrm>
            <a:off x="1488920" y="2371932"/>
            <a:ext cx="3757593" cy="1020115"/>
          </a:xfrm>
          <a:prstGeom prst="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a:cxnSpLocks/>
            <a:endCxn id="67" idx="0"/>
          </p:cNvCxnSpPr>
          <p:nvPr/>
        </p:nvCxnSpPr>
        <p:spPr>
          <a:xfrm>
            <a:off x="2418859" y="3409564"/>
            <a:ext cx="6362" cy="560387"/>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cxnSpLocks/>
            <a:endCxn id="68" idx="0"/>
          </p:cNvCxnSpPr>
          <p:nvPr/>
        </p:nvCxnSpPr>
        <p:spPr>
          <a:xfrm>
            <a:off x="4219771" y="3392047"/>
            <a:ext cx="0" cy="614563"/>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9" name="矩形 78"/>
          <p:cNvSpPr/>
          <p:nvPr/>
        </p:nvSpPr>
        <p:spPr>
          <a:xfrm>
            <a:off x="5358446" y="4006610"/>
            <a:ext cx="720000" cy="720000"/>
          </a:xfrm>
          <a:prstGeom prst="rect">
            <a:avLst/>
          </a:prstGeom>
          <a:noFill/>
          <a:ln w="50800">
            <a:solidFill>
              <a:srgbClr val="9DC3E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7172144" y="4008533"/>
            <a:ext cx="720000" cy="720000"/>
          </a:xfrm>
          <a:prstGeom prst="rect">
            <a:avLst/>
          </a:prstGeom>
          <a:noFill/>
          <a:ln w="50800">
            <a:solidFill>
              <a:srgbClr val="9DC3E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形状 30">
            <a:extLst>
              <a:ext uri="{FF2B5EF4-FFF2-40B4-BE49-F238E27FC236}">
                <a16:creationId xmlns:a16="http://schemas.microsoft.com/office/drawing/2014/main" id="{51F21469-D002-48AF-B28C-B1B2BF3C2051}"/>
              </a:ext>
            </a:extLst>
          </p:cNvPr>
          <p:cNvSpPr/>
          <p:nvPr/>
        </p:nvSpPr>
        <p:spPr>
          <a:xfrm rot="362030">
            <a:off x="2046873" y="2561133"/>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a:extLst>
              <a:ext uri="{FF2B5EF4-FFF2-40B4-BE49-F238E27FC236}">
                <a16:creationId xmlns:a16="http://schemas.microsoft.com/office/drawing/2014/main" id="{E34DC154-DC3E-4FD2-B685-9577B1047B17}"/>
              </a:ext>
            </a:extLst>
          </p:cNvPr>
          <p:cNvSpPr/>
          <p:nvPr/>
        </p:nvSpPr>
        <p:spPr>
          <a:xfrm rot="362030">
            <a:off x="2518382" y="2561133"/>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a:extLst>
              <a:ext uri="{FF2B5EF4-FFF2-40B4-BE49-F238E27FC236}">
                <a16:creationId xmlns:a16="http://schemas.microsoft.com/office/drawing/2014/main" id="{CEF328E2-F1A3-4FC1-B79D-5E8378D954D7}"/>
              </a:ext>
            </a:extLst>
          </p:cNvPr>
          <p:cNvSpPr/>
          <p:nvPr/>
        </p:nvSpPr>
        <p:spPr>
          <a:xfrm rot="362030">
            <a:off x="1575365" y="2561133"/>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形状 34">
            <a:extLst>
              <a:ext uri="{FF2B5EF4-FFF2-40B4-BE49-F238E27FC236}">
                <a16:creationId xmlns:a16="http://schemas.microsoft.com/office/drawing/2014/main" id="{5185DFDA-C2EB-4068-AC15-71A87A58DAEB}"/>
              </a:ext>
            </a:extLst>
          </p:cNvPr>
          <p:cNvSpPr/>
          <p:nvPr/>
        </p:nvSpPr>
        <p:spPr>
          <a:xfrm rot="362030">
            <a:off x="3858185" y="4793380"/>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35">
            <a:extLst>
              <a:ext uri="{FF2B5EF4-FFF2-40B4-BE49-F238E27FC236}">
                <a16:creationId xmlns:a16="http://schemas.microsoft.com/office/drawing/2014/main" id="{06B5CB36-5CC6-499F-8503-028754C98855}"/>
              </a:ext>
            </a:extLst>
          </p:cNvPr>
          <p:cNvSpPr/>
          <p:nvPr/>
        </p:nvSpPr>
        <p:spPr>
          <a:xfrm rot="362030">
            <a:off x="3864598" y="2561133"/>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117D8386-548B-4015-BD7A-B4DEABD39E2F}"/>
              </a:ext>
            </a:extLst>
          </p:cNvPr>
          <p:cNvSpPr/>
          <p:nvPr/>
        </p:nvSpPr>
        <p:spPr>
          <a:xfrm rot="362030">
            <a:off x="2921581" y="2561133"/>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85D5C0FE-5A8C-4F1A-94DB-B10B2C229C9B}"/>
              </a:ext>
            </a:extLst>
          </p:cNvPr>
          <p:cNvSpPr/>
          <p:nvPr/>
        </p:nvSpPr>
        <p:spPr>
          <a:xfrm rot="362030">
            <a:off x="4250985" y="2561133"/>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a:extLst>
              <a:ext uri="{FF2B5EF4-FFF2-40B4-BE49-F238E27FC236}">
                <a16:creationId xmlns:a16="http://schemas.microsoft.com/office/drawing/2014/main" id="{99FF75F1-20AD-4179-AE70-EC4F66C6ACA3}"/>
              </a:ext>
            </a:extLst>
          </p:cNvPr>
          <p:cNvSpPr/>
          <p:nvPr/>
        </p:nvSpPr>
        <p:spPr>
          <a:xfrm rot="362030">
            <a:off x="4722494" y="2561133"/>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a:extLst>
              <a:ext uri="{FF2B5EF4-FFF2-40B4-BE49-F238E27FC236}">
                <a16:creationId xmlns:a16="http://schemas.microsoft.com/office/drawing/2014/main" id="{25C5ECB7-D887-4893-B985-9F8148FCD953}"/>
              </a:ext>
            </a:extLst>
          </p:cNvPr>
          <p:cNvSpPr/>
          <p:nvPr/>
        </p:nvSpPr>
        <p:spPr>
          <a:xfrm rot="362030">
            <a:off x="2059349" y="4811838"/>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4">
            <a:extLst>
              <a:ext uri="{FF2B5EF4-FFF2-40B4-BE49-F238E27FC236}">
                <a16:creationId xmlns:a16="http://schemas.microsoft.com/office/drawing/2014/main" id="{DAC63832-C6AD-4AFD-805A-5132169830B0}"/>
              </a:ext>
            </a:extLst>
          </p:cNvPr>
          <p:cNvSpPr/>
          <p:nvPr/>
        </p:nvSpPr>
        <p:spPr>
          <a:xfrm rot="362030">
            <a:off x="2431056" y="4800845"/>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形状 46">
            <a:extLst>
              <a:ext uri="{FF2B5EF4-FFF2-40B4-BE49-F238E27FC236}">
                <a16:creationId xmlns:a16="http://schemas.microsoft.com/office/drawing/2014/main" id="{BB97EC6C-7BDF-4D9E-960E-EB08279E6863}"/>
              </a:ext>
            </a:extLst>
          </p:cNvPr>
          <p:cNvSpPr/>
          <p:nvPr/>
        </p:nvSpPr>
        <p:spPr>
          <a:xfrm rot="362030">
            <a:off x="2055453" y="5568965"/>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任意多边形: 形状 47">
            <a:extLst>
              <a:ext uri="{FF2B5EF4-FFF2-40B4-BE49-F238E27FC236}">
                <a16:creationId xmlns:a16="http://schemas.microsoft.com/office/drawing/2014/main" id="{33F45199-E885-4123-B883-E2F2486B2646}"/>
              </a:ext>
            </a:extLst>
          </p:cNvPr>
          <p:cNvSpPr/>
          <p:nvPr/>
        </p:nvSpPr>
        <p:spPr>
          <a:xfrm rot="362030">
            <a:off x="2413235" y="5561787"/>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形状 49">
            <a:extLst>
              <a:ext uri="{FF2B5EF4-FFF2-40B4-BE49-F238E27FC236}">
                <a16:creationId xmlns:a16="http://schemas.microsoft.com/office/drawing/2014/main" id="{BE344646-8B2A-40DE-AB9D-32949672EB83}"/>
              </a:ext>
            </a:extLst>
          </p:cNvPr>
          <p:cNvSpPr/>
          <p:nvPr/>
        </p:nvSpPr>
        <p:spPr>
          <a:xfrm rot="362030">
            <a:off x="3393088" y="2561133"/>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任意多边形: 形状 50">
            <a:extLst>
              <a:ext uri="{FF2B5EF4-FFF2-40B4-BE49-F238E27FC236}">
                <a16:creationId xmlns:a16="http://schemas.microsoft.com/office/drawing/2014/main" id="{16B350BE-8E2B-4709-8F19-3032BBFA4521}"/>
              </a:ext>
            </a:extLst>
          </p:cNvPr>
          <p:cNvSpPr/>
          <p:nvPr/>
        </p:nvSpPr>
        <p:spPr>
          <a:xfrm rot="362030">
            <a:off x="4266277" y="4802651"/>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形状 57">
            <a:extLst>
              <a:ext uri="{FF2B5EF4-FFF2-40B4-BE49-F238E27FC236}">
                <a16:creationId xmlns:a16="http://schemas.microsoft.com/office/drawing/2014/main" id="{10AAFF38-0CC5-4F1D-92A9-9E443A35310A}"/>
              </a:ext>
            </a:extLst>
          </p:cNvPr>
          <p:cNvSpPr/>
          <p:nvPr/>
        </p:nvSpPr>
        <p:spPr>
          <a:xfrm rot="362030">
            <a:off x="3858185" y="5529496"/>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形状 64">
            <a:extLst>
              <a:ext uri="{FF2B5EF4-FFF2-40B4-BE49-F238E27FC236}">
                <a16:creationId xmlns:a16="http://schemas.microsoft.com/office/drawing/2014/main" id="{CB4F23CD-AF3D-485B-BEAC-4CF9D9B9707D}"/>
              </a:ext>
            </a:extLst>
          </p:cNvPr>
          <p:cNvSpPr/>
          <p:nvPr/>
        </p:nvSpPr>
        <p:spPr>
          <a:xfrm rot="362030">
            <a:off x="4266277" y="5538767"/>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Content Placeholder 2">
            <a:extLst>
              <a:ext uri="{FF2B5EF4-FFF2-40B4-BE49-F238E27FC236}">
                <a16:creationId xmlns:a16="http://schemas.microsoft.com/office/drawing/2014/main" id="{97714246-A89F-497F-9CC5-ECB08893CFA9}"/>
              </a:ext>
            </a:extLst>
          </p:cNvPr>
          <p:cNvSpPr txBox="1">
            <a:spLocks/>
          </p:cNvSpPr>
          <p:nvPr/>
        </p:nvSpPr>
        <p:spPr>
          <a:xfrm>
            <a:off x="5134238" y="3277206"/>
            <a:ext cx="3023288" cy="77646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70000"/>
              </a:lnSpc>
              <a:buNone/>
            </a:pPr>
            <a:r>
              <a:rPr lang="en-US" altLang="zh-CN" sz="2400" b="1" dirty="0">
                <a:solidFill>
                  <a:srgbClr val="0432FF"/>
                </a:solidFill>
                <a:latin typeface="+mj-lt"/>
                <a:cs typeface="Calibri" panose="020F0502020204030204" pitchFamily="34" charset="0"/>
              </a:rPr>
              <a:t>Utilize additional cores</a:t>
            </a:r>
          </a:p>
        </p:txBody>
      </p:sp>
      <p:sp>
        <p:nvSpPr>
          <p:cNvPr id="67" name="矩形 66">
            <a:extLst>
              <a:ext uri="{FF2B5EF4-FFF2-40B4-BE49-F238E27FC236}">
                <a16:creationId xmlns:a16="http://schemas.microsoft.com/office/drawing/2014/main" id="{EFD375B4-B09F-4183-90C8-28F705BBEA9B}"/>
              </a:ext>
            </a:extLst>
          </p:cNvPr>
          <p:cNvSpPr/>
          <p:nvPr/>
        </p:nvSpPr>
        <p:spPr>
          <a:xfrm>
            <a:off x="2065221" y="3969951"/>
            <a:ext cx="720000"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8A4C88F2-14DC-4D1D-AB3F-D55567D78B29}"/>
              </a:ext>
            </a:extLst>
          </p:cNvPr>
          <p:cNvSpPr/>
          <p:nvPr/>
        </p:nvSpPr>
        <p:spPr>
          <a:xfrm>
            <a:off x="3859771" y="4006610"/>
            <a:ext cx="720000" cy="720000"/>
          </a:xfrm>
          <a:prstGeom prst="rect">
            <a:avLst/>
          </a:prstGeom>
          <a:noFill/>
          <a:ln w="50800">
            <a:solidFill>
              <a:srgbClr val="9D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形状 68">
            <a:extLst>
              <a:ext uri="{FF2B5EF4-FFF2-40B4-BE49-F238E27FC236}">
                <a16:creationId xmlns:a16="http://schemas.microsoft.com/office/drawing/2014/main" id="{E845156E-645F-449E-B835-0AD8A3DB9824}"/>
              </a:ext>
            </a:extLst>
          </p:cNvPr>
          <p:cNvSpPr/>
          <p:nvPr/>
        </p:nvSpPr>
        <p:spPr>
          <a:xfrm rot="362030">
            <a:off x="5379905" y="4854906"/>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形状 69">
            <a:extLst>
              <a:ext uri="{FF2B5EF4-FFF2-40B4-BE49-F238E27FC236}">
                <a16:creationId xmlns:a16="http://schemas.microsoft.com/office/drawing/2014/main" id="{88AC304F-5D8E-4EE6-A58E-F407D5C5EBEB}"/>
              </a:ext>
            </a:extLst>
          </p:cNvPr>
          <p:cNvSpPr/>
          <p:nvPr/>
        </p:nvSpPr>
        <p:spPr>
          <a:xfrm rot="362030">
            <a:off x="5737687" y="4847728"/>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形状 80">
            <a:extLst>
              <a:ext uri="{FF2B5EF4-FFF2-40B4-BE49-F238E27FC236}">
                <a16:creationId xmlns:a16="http://schemas.microsoft.com/office/drawing/2014/main" id="{E316F211-28DB-4E6B-85B3-EE6452307D12}"/>
              </a:ext>
            </a:extLst>
          </p:cNvPr>
          <p:cNvSpPr/>
          <p:nvPr/>
        </p:nvSpPr>
        <p:spPr>
          <a:xfrm rot="362030">
            <a:off x="7182637" y="4815437"/>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任意多边形: 形状 81">
            <a:extLst>
              <a:ext uri="{FF2B5EF4-FFF2-40B4-BE49-F238E27FC236}">
                <a16:creationId xmlns:a16="http://schemas.microsoft.com/office/drawing/2014/main" id="{E2C34A8B-5C2B-41F8-9314-840F604A3E5F}"/>
              </a:ext>
            </a:extLst>
          </p:cNvPr>
          <p:cNvSpPr/>
          <p:nvPr/>
        </p:nvSpPr>
        <p:spPr>
          <a:xfrm rot="362030">
            <a:off x="7590729" y="4824708"/>
            <a:ext cx="340772" cy="611846"/>
          </a:xfrm>
          <a:custGeom>
            <a:avLst/>
            <a:gdLst>
              <a:gd name="connsiteX0" fmla="*/ 362857 w 522929"/>
              <a:gd name="connsiteY0" fmla="*/ 0 h 1596682"/>
              <a:gd name="connsiteX1" fmla="*/ 290286 w 522929"/>
              <a:gd name="connsiteY1" fmla="*/ 14514 h 1596682"/>
              <a:gd name="connsiteX2" fmla="*/ 174172 w 522929"/>
              <a:gd name="connsiteY2" fmla="*/ 72571 h 1596682"/>
              <a:gd name="connsiteX3" fmla="*/ 72572 w 522929"/>
              <a:gd name="connsiteY3" fmla="*/ 130629 h 1596682"/>
              <a:gd name="connsiteX4" fmla="*/ 14514 w 522929"/>
              <a:gd name="connsiteY4" fmla="*/ 232229 h 1596682"/>
              <a:gd name="connsiteX5" fmla="*/ 0 w 522929"/>
              <a:gd name="connsiteY5" fmla="*/ 275771 h 1596682"/>
              <a:gd name="connsiteX6" fmla="*/ 58057 w 522929"/>
              <a:gd name="connsiteY6" fmla="*/ 377371 h 1596682"/>
              <a:gd name="connsiteX7" fmla="*/ 174172 w 522929"/>
              <a:gd name="connsiteY7" fmla="*/ 406400 h 1596682"/>
              <a:gd name="connsiteX8" fmla="*/ 362857 w 522929"/>
              <a:gd name="connsiteY8" fmla="*/ 449943 h 1596682"/>
              <a:gd name="connsiteX9" fmla="*/ 435429 w 522929"/>
              <a:gd name="connsiteY9" fmla="*/ 551543 h 1596682"/>
              <a:gd name="connsiteX10" fmla="*/ 420914 w 522929"/>
              <a:gd name="connsiteY10" fmla="*/ 609600 h 1596682"/>
              <a:gd name="connsiteX11" fmla="*/ 304800 w 522929"/>
              <a:gd name="connsiteY11" fmla="*/ 667657 h 1596682"/>
              <a:gd name="connsiteX12" fmla="*/ 174172 w 522929"/>
              <a:gd name="connsiteY12" fmla="*/ 711200 h 1596682"/>
              <a:gd name="connsiteX13" fmla="*/ 116114 w 522929"/>
              <a:gd name="connsiteY13" fmla="*/ 740229 h 1596682"/>
              <a:gd name="connsiteX14" fmla="*/ 72572 w 522929"/>
              <a:gd name="connsiteY14" fmla="*/ 769257 h 1596682"/>
              <a:gd name="connsiteX15" fmla="*/ 87086 w 522929"/>
              <a:gd name="connsiteY15" fmla="*/ 914400 h 1596682"/>
              <a:gd name="connsiteX16" fmla="*/ 116114 w 522929"/>
              <a:gd name="connsiteY16" fmla="*/ 957943 h 1596682"/>
              <a:gd name="connsiteX17" fmla="*/ 203200 w 522929"/>
              <a:gd name="connsiteY17" fmla="*/ 972457 h 1596682"/>
              <a:gd name="connsiteX18" fmla="*/ 290286 w 522929"/>
              <a:gd name="connsiteY18" fmla="*/ 1001486 h 1596682"/>
              <a:gd name="connsiteX19" fmla="*/ 435429 w 522929"/>
              <a:gd name="connsiteY19" fmla="*/ 1030514 h 1596682"/>
              <a:gd name="connsiteX20" fmla="*/ 522514 w 522929"/>
              <a:gd name="connsiteY20" fmla="*/ 1132114 h 1596682"/>
              <a:gd name="connsiteX21" fmla="*/ 420914 w 522929"/>
              <a:gd name="connsiteY21" fmla="*/ 1204686 h 1596682"/>
              <a:gd name="connsiteX22" fmla="*/ 246743 w 522929"/>
              <a:gd name="connsiteY22" fmla="*/ 1248229 h 1596682"/>
              <a:gd name="connsiteX23" fmla="*/ 188686 w 522929"/>
              <a:gd name="connsiteY23" fmla="*/ 1262743 h 1596682"/>
              <a:gd name="connsiteX24" fmla="*/ 145143 w 522929"/>
              <a:gd name="connsiteY24" fmla="*/ 1291771 h 1596682"/>
              <a:gd name="connsiteX25" fmla="*/ 72572 w 522929"/>
              <a:gd name="connsiteY25" fmla="*/ 1320800 h 1596682"/>
              <a:gd name="connsiteX26" fmla="*/ 58057 w 522929"/>
              <a:gd name="connsiteY26" fmla="*/ 1393371 h 1596682"/>
              <a:gd name="connsiteX27" fmla="*/ 87086 w 522929"/>
              <a:gd name="connsiteY27" fmla="*/ 1451429 h 1596682"/>
              <a:gd name="connsiteX28" fmla="*/ 101600 w 522929"/>
              <a:gd name="connsiteY28" fmla="*/ 1494971 h 1596682"/>
              <a:gd name="connsiteX29" fmla="*/ 145143 w 522929"/>
              <a:gd name="connsiteY29" fmla="*/ 1509486 h 1596682"/>
              <a:gd name="connsiteX30" fmla="*/ 203200 w 522929"/>
              <a:gd name="connsiteY30" fmla="*/ 1538514 h 1596682"/>
              <a:gd name="connsiteX31" fmla="*/ 304800 w 522929"/>
              <a:gd name="connsiteY31" fmla="*/ 1567543 h 1596682"/>
              <a:gd name="connsiteX32" fmla="*/ 464457 w 522929"/>
              <a:gd name="connsiteY32" fmla="*/ 1596571 h 159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2929" h="1596682">
                <a:moveTo>
                  <a:pt x="362857" y="0"/>
                </a:moveTo>
                <a:cubicBezTo>
                  <a:pt x="338667" y="4838"/>
                  <a:pt x="313311" y="5658"/>
                  <a:pt x="290286" y="14514"/>
                </a:cubicBezTo>
                <a:cubicBezTo>
                  <a:pt x="249897" y="30048"/>
                  <a:pt x="212877" y="53219"/>
                  <a:pt x="174172" y="72571"/>
                </a:cubicBezTo>
                <a:cubicBezTo>
                  <a:pt x="100512" y="109401"/>
                  <a:pt x="134117" y="89598"/>
                  <a:pt x="72572" y="130629"/>
                </a:cubicBezTo>
                <a:cubicBezTo>
                  <a:pt x="39291" y="230466"/>
                  <a:pt x="84813" y="109205"/>
                  <a:pt x="14514" y="232229"/>
                </a:cubicBezTo>
                <a:cubicBezTo>
                  <a:pt x="6924" y="245512"/>
                  <a:pt x="4838" y="261257"/>
                  <a:pt x="0" y="275771"/>
                </a:cubicBezTo>
                <a:cubicBezTo>
                  <a:pt x="10873" y="319266"/>
                  <a:pt x="9277" y="355198"/>
                  <a:pt x="58057" y="377371"/>
                </a:cubicBezTo>
                <a:cubicBezTo>
                  <a:pt x="94377" y="393880"/>
                  <a:pt x="174172" y="406400"/>
                  <a:pt x="174172" y="406400"/>
                </a:cubicBezTo>
                <a:cubicBezTo>
                  <a:pt x="291898" y="484887"/>
                  <a:pt x="106345" y="371016"/>
                  <a:pt x="362857" y="449943"/>
                </a:cubicBezTo>
                <a:cubicBezTo>
                  <a:pt x="397627" y="460641"/>
                  <a:pt x="422595" y="525875"/>
                  <a:pt x="435429" y="551543"/>
                </a:cubicBezTo>
                <a:cubicBezTo>
                  <a:pt x="430591" y="570895"/>
                  <a:pt x="435823" y="596347"/>
                  <a:pt x="420914" y="609600"/>
                </a:cubicBezTo>
                <a:cubicBezTo>
                  <a:pt x="388571" y="638349"/>
                  <a:pt x="343505" y="648305"/>
                  <a:pt x="304800" y="667657"/>
                </a:cubicBezTo>
                <a:cubicBezTo>
                  <a:pt x="224677" y="707719"/>
                  <a:pt x="267961" y="692442"/>
                  <a:pt x="174172" y="711200"/>
                </a:cubicBezTo>
                <a:cubicBezTo>
                  <a:pt x="154819" y="720876"/>
                  <a:pt x="134900" y="729494"/>
                  <a:pt x="116114" y="740229"/>
                </a:cubicBezTo>
                <a:cubicBezTo>
                  <a:pt x="100969" y="748883"/>
                  <a:pt x="75440" y="752051"/>
                  <a:pt x="72572" y="769257"/>
                </a:cubicBezTo>
                <a:cubicBezTo>
                  <a:pt x="64579" y="817218"/>
                  <a:pt x="76153" y="867023"/>
                  <a:pt x="87086" y="914400"/>
                </a:cubicBezTo>
                <a:cubicBezTo>
                  <a:pt x="91008" y="931397"/>
                  <a:pt x="100512" y="950142"/>
                  <a:pt x="116114" y="957943"/>
                </a:cubicBezTo>
                <a:cubicBezTo>
                  <a:pt x="142436" y="971104"/>
                  <a:pt x="174171" y="967619"/>
                  <a:pt x="203200" y="972457"/>
                </a:cubicBezTo>
                <a:cubicBezTo>
                  <a:pt x="232229" y="982133"/>
                  <a:pt x="260601" y="994065"/>
                  <a:pt x="290286" y="1001486"/>
                </a:cubicBezTo>
                <a:cubicBezTo>
                  <a:pt x="338152" y="1013452"/>
                  <a:pt x="435429" y="1030514"/>
                  <a:pt x="435429" y="1030514"/>
                </a:cubicBezTo>
                <a:cubicBezTo>
                  <a:pt x="459060" y="1048237"/>
                  <a:pt x="528941" y="1087125"/>
                  <a:pt x="522514" y="1132114"/>
                </a:cubicBezTo>
                <a:cubicBezTo>
                  <a:pt x="518361" y="1161184"/>
                  <a:pt x="439683" y="1197861"/>
                  <a:pt x="420914" y="1204686"/>
                </a:cubicBezTo>
                <a:cubicBezTo>
                  <a:pt x="340629" y="1233880"/>
                  <a:pt x="322309" y="1231436"/>
                  <a:pt x="246743" y="1248229"/>
                </a:cubicBezTo>
                <a:cubicBezTo>
                  <a:pt x="227270" y="1252556"/>
                  <a:pt x="208038" y="1257905"/>
                  <a:pt x="188686" y="1262743"/>
                </a:cubicBezTo>
                <a:cubicBezTo>
                  <a:pt x="174172" y="1272419"/>
                  <a:pt x="160745" y="1283970"/>
                  <a:pt x="145143" y="1291771"/>
                </a:cubicBezTo>
                <a:cubicBezTo>
                  <a:pt x="121840" y="1303423"/>
                  <a:pt x="89528" y="1301018"/>
                  <a:pt x="72572" y="1320800"/>
                </a:cubicBezTo>
                <a:cubicBezTo>
                  <a:pt x="56517" y="1339530"/>
                  <a:pt x="62895" y="1369181"/>
                  <a:pt x="58057" y="1393371"/>
                </a:cubicBezTo>
                <a:cubicBezTo>
                  <a:pt x="67733" y="1412724"/>
                  <a:pt x="78563" y="1431542"/>
                  <a:pt x="87086" y="1451429"/>
                </a:cubicBezTo>
                <a:cubicBezTo>
                  <a:pt x="93113" y="1465491"/>
                  <a:pt x="90782" y="1484153"/>
                  <a:pt x="101600" y="1494971"/>
                </a:cubicBezTo>
                <a:cubicBezTo>
                  <a:pt x="112418" y="1505789"/>
                  <a:pt x="131081" y="1503459"/>
                  <a:pt x="145143" y="1509486"/>
                </a:cubicBezTo>
                <a:cubicBezTo>
                  <a:pt x="165030" y="1518009"/>
                  <a:pt x="182866" y="1531120"/>
                  <a:pt x="203200" y="1538514"/>
                </a:cubicBezTo>
                <a:cubicBezTo>
                  <a:pt x="236301" y="1550551"/>
                  <a:pt x="270767" y="1558468"/>
                  <a:pt x="304800" y="1567543"/>
                </a:cubicBezTo>
                <a:cubicBezTo>
                  <a:pt x="426856" y="1600091"/>
                  <a:pt x="383979" y="1596571"/>
                  <a:pt x="464457" y="1596571"/>
                </a:cubicBezTo>
              </a:path>
            </a:pathLst>
          </a:custGeom>
          <a:noFill/>
          <a:ln w="6350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5867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1" presetClass="exit" presetSubtype="0" fill="hold" grpId="0" nodeType="clickEffect">
                                  <p:stCondLst>
                                    <p:cond delay="0"/>
                                  </p:stCondLst>
                                  <p:childTnLst>
                                    <p:anim calcmode="lin" valueType="num">
                                      <p:cBhvr>
                                        <p:cTn id="12" dur="1000"/>
                                        <p:tgtEl>
                                          <p:spTgt spid="65"/>
                                        </p:tgtEl>
                                        <p:attrNameLst>
                                          <p:attrName>ppt_w</p:attrName>
                                        </p:attrNameLst>
                                      </p:cBhvr>
                                      <p:tavLst>
                                        <p:tav tm="0">
                                          <p:val>
                                            <p:strVal val="ppt_w"/>
                                          </p:val>
                                        </p:tav>
                                        <p:tav tm="100000">
                                          <p:val>
                                            <p:fltVal val="0"/>
                                          </p:val>
                                        </p:tav>
                                      </p:tavLst>
                                    </p:anim>
                                    <p:anim calcmode="lin" valueType="num">
                                      <p:cBhvr>
                                        <p:cTn id="13" dur="1000"/>
                                        <p:tgtEl>
                                          <p:spTgt spid="65"/>
                                        </p:tgtEl>
                                        <p:attrNameLst>
                                          <p:attrName>ppt_h</p:attrName>
                                        </p:attrNameLst>
                                      </p:cBhvr>
                                      <p:tavLst>
                                        <p:tav tm="0">
                                          <p:val>
                                            <p:strVal val="ppt_h"/>
                                          </p:val>
                                        </p:tav>
                                        <p:tav tm="100000">
                                          <p:val>
                                            <p:fltVal val="0"/>
                                          </p:val>
                                        </p:tav>
                                      </p:tavLst>
                                    </p:anim>
                                    <p:anim calcmode="lin" valueType="num">
                                      <p:cBhvr>
                                        <p:cTn id="14" dur="1000"/>
                                        <p:tgtEl>
                                          <p:spTgt spid="65"/>
                                        </p:tgtEl>
                                        <p:attrNameLst>
                                          <p:attrName>style.rotation</p:attrName>
                                        </p:attrNameLst>
                                      </p:cBhvr>
                                      <p:tavLst>
                                        <p:tav tm="0">
                                          <p:val>
                                            <p:fltVal val="0"/>
                                          </p:val>
                                        </p:tav>
                                        <p:tav tm="100000">
                                          <p:val>
                                            <p:fltVal val="90"/>
                                          </p:val>
                                        </p:tav>
                                      </p:tavLst>
                                    </p:anim>
                                    <p:animEffect transition="out" filter="fade">
                                      <p:cBhvr>
                                        <p:cTn id="15" dur="1000"/>
                                        <p:tgtEl>
                                          <p:spTgt spid="65"/>
                                        </p:tgtEl>
                                      </p:cBhvr>
                                    </p:animEffect>
                                    <p:set>
                                      <p:cBhvr>
                                        <p:cTn id="16" dur="1" fill="hold">
                                          <p:stCondLst>
                                            <p:cond delay="999"/>
                                          </p:stCondLst>
                                        </p:cTn>
                                        <p:tgtEl>
                                          <p:spTgt spid="65"/>
                                        </p:tgtEl>
                                        <p:attrNameLst>
                                          <p:attrName>style.visibility</p:attrName>
                                        </p:attrNameLst>
                                      </p:cBhvr>
                                      <p:to>
                                        <p:strVal val="hidden"/>
                                      </p:to>
                                    </p:set>
                                  </p:childTnLst>
                                </p:cTn>
                              </p:par>
                              <p:par>
                                <p:cTn id="17" presetID="31" presetClass="exit" presetSubtype="0" fill="hold" grpId="0" nodeType="withEffect">
                                  <p:stCondLst>
                                    <p:cond delay="0"/>
                                  </p:stCondLst>
                                  <p:childTnLst>
                                    <p:anim calcmode="lin" valueType="num">
                                      <p:cBhvr>
                                        <p:cTn id="18" dur="1000"/>
                                        <p:tgtEl>
                                          <p:spTgt spid="58"/>
                                        </p:tgtEl>
                                        <p:attrNameLst>
                                          <p:attrName>ppt_w</p:attrName>
                                        </p:attrNameLst>
                                      </p:cBhvr>
                                      <p:tavLst>
                                        <p:tav tm="0">
                                          <p:val>
                                            <p:strVal val="ppt_w"/>
                                          </p:val>
                                        </p:tav>
                                        <p:tav tm="100000">
                                          <p:val>
                                            <p:fltVal val="0"/>
                                          </p:val>
                                        </p:tav>
                                      </p:tavLst>
                                    </p:anim>
                                    <p:anim calcmode="lin" valueType="num">
                                      <p:cBhvr>
                                        <p:cTn id="19" dur="1000"/>
                                        <p:tgtEl>
                                          <p:spTgt spid="58"/>
                                        </p:tgtEl>
                                        <p:attrNameLst>
                                          <p:attrName>ppt_h</p:attrName>
                                        </p:attrNameLst>
                                      </p:cBhvr>
                                      <p:tavLst>
                                        <p:tav tm="0">
                                          <p:val>
                                            <p:strVal val="ppt_h"/>
                                          </p:val>
                                        </p:tav>
                                        <p:tav tm="100000">
                                          <p:val>
                                            <p:fltVal val="0"/>
                                          </p:val>
                                        </p:tav>
                                      </p:tavLst>
                                    </p:anim>
                                    <p:anim calcmode="lin" valueType="num">
                                      <p:cBhvr>
                                        <p:cTn id="20" dur="1000"/>
                                        <p:tgtEl>
                                          <p:spTgt spid="58"/>
                                        </p:tgtEl>
                                        <p:attrNameLst>
                                          <p:attrName>style.rotation</p:attrName>
                                        </p:attrNameLst>
                                      </p:cBhvr>
                                      <p:tavLst>
                                        <p:tav tm="0">
                                          <p:val>
                                            <p:fltVal val="0"/>
                                          </p:val>
                                        </p:tav>
                                        <p:tav tm="100000">
                                          <p:val>
                                            <p:fltVal val="90"/>
                                          </p:val>
                                        </p:tav>
                                      </p:tavLst>
                                    </p:anim>
                                    <p:animEffect transition="out" filter="fade">
                                      <p:cBhvr>
                                        <p:cTn id="21" dur="1000"/>
                                        <p:tgtEl>
                                          <p:spTgt spid="58"/>
                                        </p:tgtEl>
                                      </p:cBhvr>
                                    </p:animEffect>
                                    <p:set>
                                      <p:cBhvr>
                                        <p:cTn id="22" dur="1" fill="hold">
                                          <p:stCondLst>
                                            <p:cond delay="999"/>
                                          </p:stCondLst>
                                        </p:cTn>
                                        <p:tgtEl>
                                          <p:spTgt spid="58"/>
                                        </p:tgtEl>
                                        <p:attrNameLst>
                                          <p:attrName>style.visibility</p:attrName>
                                        </p:attrNameLst>
                                      </p:cBhvr>
                                      <p:to>
                                        <p:strVal val="hidden"/>
                                      </p:to>
                                    </p:set>
                                  </p:childTnLst>
                                </p:cTn>
                              </p:par>
                              <p:par>
                                <p:cTn id="23" presetID="31" presetClass="exit" presetSubtype="0" fill="hold" grpId="0" nodeType="withEffect">
                                  <p:stCondLst>
                                    <p:cond delay="0"/>
                                  </p:stCondLst>
                                  <p:childTnLst>
                                    <p:anim calcmode="lin" valueType="num">
                                      <p:cBhvr>
                                        <p:cTn id="24" dur="1000"/>
                                        <p:tgtEl>
                                          <p:spTgt spid="48"/>
                                        </p:tgtEl>
                                        <p:attrNameLst>
                                          <p:attrName>ppt_w</p:attrName>
                                        </p:attrNameLst>
                                      </p:cBhvr>
                                      <p:tavLst>
                                        <p:tav tm="0">
                                          <p:val>
                                            <p:strVal val="ppt_w"/>
                                          </p:val>
                                        </p:tav>
                                        <p:tav tm="100000">
                                          <p:val>
                                            <p:fltVal val="0"/>
                                          </p:val>
                                        </p:tav>
                                      </p:tavLst>
                                    </p:anim>
                                    <p:anim calcmode="lin" valueType="num">
                                      <p:cBhvr>
                                        <p:cTn id="25" dur="1000"/>
                                        <p:tgtEl>
                                          <p:spTgt spid="48"/>
                                        </p:tgtEl>
                                        <p:attrNameLst>
                                          <p:attrName>ppt_h</p:attrName>
                                        </p:attrNameLst>
                                      </p:cBhvr>
                                      <p:tavLst>
                                        <p:tav tm="0">
                                          <p:val>
                                            <p:strVal val="ppt_h"/>
                                          </p:val>
                                        </p:tav>
                                        <p:tav tm="100000">
                                          <p:val>
                                            <p:fltVal val="0"/>
                                          </p:val>
                                        </p:tav>
                                      </p:tavLst>
                                    </p:anim>
                                    <p:anim calcmode="lin" valueType="num">
                                      <p:cBhvr>
                                        <p:cTn id="26" dur="1000"/>
                                        <p:tgtEl>
                                          <p:spTgt spid="48"/>
                                        </p:tgtEl>
                                        <p:attrNameLst>
                                          <p:attrName>style.rotation</p:attrName>
                                        </p:attrNameLst>
                                      </p:cBhvr>
                                      <p:tavLst>
                                        <p:tav tm="0">
                                          <p:val>
                                            <p:fltVal val="0"/>
                                          </p:val>
                                        </p:tav>
                                        <p:tav tm="100000">
                                          <p:val>
                                            <p:fltVal val="90"/>
                                          </p:val>
                                        </p:tav>
                                      </p:tavLst>
                                    </p:anim>
                                    <p:animEffect transition="out" filter="fade">
                                      <p:cBhvr>
                                        <p:cTn id="27" dur="1000"/>
                                        <p:tgtEl>
                                          <p:spTgt spid="48"/>
                                        </p:tgtEl>
                                      </p:cBhvr>
                                    </p:animEffect>
                                    <p:set>
                                      <p:cBhvr>
                                        <p:cTn id="28" dur="1" fill="hold">
                                          <p:stCondLst>
                                            <p:cond delay="999"/>
                                          </p:stCondLst>
                                        </p:cTn>
                                        <p:tgtEl>
                                          <p:spTgt spid="48"/>
                                        </p:tgtEl>
                                        <p:attrNameLst>
                                          <p:attrName>style.visibility</p:attrName>
                                        </p:attrNameLst>
                                      </p:cBhvr>
                                      <p:to>
                                        <p:strVal val="hidden"/>
                                      </p:to>
                                    </p:set>
                                  </p:childTnLst>
                                </p:cTn>
                              </p:par>
                              <p:par>
                                <p:cTn id="29" presetID="31" presetClass="exit" presetSubtype="0" fill="hold" grpId="0" nodeType="withEffect">
                                  <p:stCondLst>
                                    <p:cond delay="0"/>
                                  </p:stCondLst>
                                  <p:childTnLst>
                                    <p:anim calcmode="lin" valueType="num">
                                      <p:cBhvr>
                                        <p:cTn id="30" dur="1000"/>
                                        <p:tgtEl>
                                          <p:spTgt spid="47"/>
                                        </p:tgtEl>
                                        <p:attrNameLst>
                                          <p:attrName>ppt_w</p:attrName>
                                        </p:attrNameLst>
                                      </p:cBhvr>
                                      <p:tavLst>
                                        <p:tav tm="0">
                                          <p:val>
                                            <p:strVal val="ppt_w"/>
                                          </p:val>
                                        </p:tav>
                                        <p:tav tm="100000">
                                          <p:val>
                                            <p:fltVal val="0"/>
                                          </p:val>
                                        </p:tav>
                                      </p:tavLst>
                                    </p:anim>
                                    <p:anim calcmode="lin" valueType="num">
                                      <p:cBhvr>
                                        <p:cTn id="31" dur="1000"/>
                                        <p:tgtEl>
                                          <p:spTgt spid="47"/>
                                        </p:tgtEl>
                                        <p:attrNameLst>
                                          <p:attrName>ppt_h</p:attrName>
                                        </p:attrNameLst>
                                      </p:cBhvr>
                                      <p:tavLst>
                                        <p:tav tm="0">
                                          <p:val>
                                            <p:strVal val="ppt_h"/>
                                          </p:val>
                                        </p:tav>
                                        <p:tav tm="100000">
                                          <p:val>
                                            <p:fltVal val="0"/>
                                          </p:val>
                                        </p:tav>
                                      </p:tavLst>
                                    </p:anim>
                                    <p:anim calcmode="lin" valueType="num">
                                      <p:cBhvr>
                                        <p:cTn id="32" dur="1000"/>
                                        <p:tgtEl>
                                          <p:spTgt spid="47"/>
                                        </p:tgtEl>
                                        <p:attrNameLst>
                                          <p:attrName>style.rotation</p:attrName>
                                        </p:attrNameLst>
                                      </p:cBhvr>
                                      <p:tavLst>
                                        <p:tav tm="0">
                                          <p:val>
                                            <p:fltVal val="0"/>
                                          </p:val>
                                        </p:tav>
                                        <p:tav tm="100000">
                                          <p:val>
                                            <p:fltVal val="90"/>
                                          </p:val>
                                        </p:tav>
                                      </p:tavLst>
                                    </p:anim>
                                    <p:animEffect transition="out" filter="fade">
                                      <p:cBhvr>
                                        <p:cTn id="33" dur="1000"/>
                                        <p:tgtEl>
                                          <p:spTgt spid="47"/>
                                        </p:tgtEl>
                                      </p:cBhvr>
                                    </p:animEffect>
                                    <p:set>
                                      <p:cBhvr>
                                        <p:cTn id="34" dur="1" fill="hold">
                                          <p:stCondLst>
                                            <p:cond delay="999"/>
                                          </p:stCondLst>
                                        </p:cTn>
                                        <p:tgtEl>
                                          <p:spTgt spid="4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82"/>
                                        </p:tgtEl>
                                        <p:attrNameLst>
                                          <p:attrName>style.visibility</p:attrName>
                                        </p:attrNameLst>
                                      </p:cBhvr>
                                      <p:to>
                                        <p:strVal val="visible"/>
                                      </p:to>
                                    </p:set>
                                    <p:anim calcmode="lin" valueType="num">
                                      <p:cBhvr>
                                        <p:cTn id="39" dur="1000" fill="hold"/>
                                        <p:tgtEl>
                                          <p:spTgt spid="82"/>
                                        </p:tgtEl>
                                        <p:attrNameLst>
                                          <p:attrName>ppt_w</p:attrName>
                                        </p:attrNameLst>
                                      </p:cBhvr>
                                      <p:tavLst>
                                        <p:tav tm="0">
                                          <p:val>
                                            <p:fltVal val="0"/>
                                          </p:val>
                                        </p:tav>
                                        <p:tav tm="100000">
                                          <p:val>
                                            <p:strVal val="#ppt_w"/>
                                          </p:val>
                                        </p:tav>
                                      </p:tavLst>
                                    </p:anim>
                                    <p:anim calcmode="lin" valueType="num">
                                      <p:cBhvr>
                                        <p:cTn id="40" dur="1000" fill="hold"/>
                                        <p:tgtEl>
                                          <p:spTgt spid="82"/>
                                        </p:tgtEl>
                                        <p:attrNameLst>
                                          <p:attrName>ppt_h</p:attrName>
                                        </p:attrNameLst>
                                      </p:cBhvr>
                                      <p:tavLst>
                                        <p:tav tm="0">
                                          <p:val>
                                            <p:fltVal val="0"/>
                                          </p:val>
                                        </p:tav>
                                        <p:tav tm="100000">
                                          <p:val>
                                            <p:strVal val="#ppt_h"/>
                                          </p:val>
                                        </p:tav>
                                      </p:tavLst>
                                    </p:anim>
                                    <p:anim calcmode="lin" valueType="num">
                                      <p:cBhvr>
                                        <p:cTn id="41" dur="1000" fill="hold"/>
                                        <p:tgtEl>
                                          <p:spTgt spid="82"/>
                                        </p:tgtEl>
                                        <p:attrNameLst>
                                          <p:attrName>style.rotation</p:attrName>
                                        </p:attrNameLst>
                                      </p:cBhvr>
                                      <p:tavLst>
                                        <p:tav tm="0">
                                          <p:val>
                                            <p:fltVal val="90"/>
                                          </p:val>
                                        </p:tav>
                                        <p:tav tm="100000">
                                          <p:val>
                                            <p:fltVal val="0"/>
                                          </p:val>
                                        </p:tav>
                                      </p:tavLst>
                                    </p:anim>
                                    <p:animEffect transition="in" filter="fade">
                                      <p:cBhvr>
                                        <p:cTn id="42" dur="1000"/>
                                        <p:tgtEl>
                                          <p:spTgt spid="82"/>
                                        </p:tgtEl>
                                      </p:cBhvr>
                                    </p:animEffect>
                                  </p:childTnLst>
                                </p:cTn>
                              </p:par>
                              <p:par>
                                <p:cTn id="43" presetID="31" presetClass="entr" presetSubtype="0"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anim calcmode="lin" valueType="num">
                                      <p:cBhvr>
                                        <p:cTn id="45" dur="1000" fill="hold"/>
                                        <p:tgtEl>
                                          <p:spTgt spid="81"/>
                                        </p:tgtEl>
                                        <p:attrNameLst>
                                          <p:attrName>ppt_w</p:attrName>
                                        </p:attrNameLst>
                                      </p:cBhvr>
                                      <p:tavLst>
                                        <p:tav tm="0">
                                          <p:val>
                                            <p:fltVal val="0"/>
                                          </p:val>
                                        </p:tav>
                                        <p:tav tm="100000">
                                          <p:val>
                                            <p:strVal val="#ppt_w"/>
                                          </p:val>
                                        </p:tav>
                                      </p:tavLst>
                                    </p:anim>
                                    <p:anim calcmode="lin" valueType="num">
                                      <p:cBhvr>
                                        <p:cTn id="46" dur="1000" fill="hold"/>
                                        <p:tgtEl>
                                          <p:spTgt spid="81"/>
                                        </p:tgtEl>
                                        <p:attrNameLst>
                                          <p:attrName>ppt_h</p:attrName>
                                        </p:attrNameLst>
                                      </p:cBhvr>
                                      <p:tavLst>
                                        <p:tav tm="0">
                                          <p:val>
                                            <p:fltVal val="0"/>
                                          </p:val>
                                        </p:tav>
                                        <p:tav tm="100000">
                                          <p:val>
                                            <p:strVal val="#ppt_h"/>
                                          </p:val>
                                        </p:tav>
                                      </p:tavLst>
                                    </p:anim>
                                    <p:anim calcmode="lin" valueType="num">
                                      <p:cBhvr>
                                        <p:cTn id="47" dur="1000" fill="hold"/>
                                        <p:tgtEl>
                                          <p:spTgt spid="81"/>
                                        </p:tgtEl>
                                        <p:attrNameLst>
                                          <p:attrName>style.rotation</p:attrName>
                                        </p:attrNameLst>
                                      </p:cBhvr>
                                      <p:tavLst>
                                        <p:tav tm="0">
                                          <p:val>
                                            <p:fltVal val="90"/>
                                          </p:val>
                                        </p:tav>
                                        <p:tav tm="100000">
                                          <p:val>
                                            <p:fltVal val="0"/>
                                          </p:val>
                                        </p:tav>
                                      </p:tavLst>
                                    </p:anim>
                                    <p:animEffect transition="in" filter="fade">
                                      <p:cBhvr>
                                        <p:cTn id="48" dur="1000"/>
                                        <p:tgtEl>
                                          <p:spTgt spid="81"/>
                                        </p:tgtEl>
                                      </p:cBhvr>
                                    </p:animEffect>
                                  </p:childTnLst>
                                </p:cTn>
                              </p:par>
                              <p:par>
                                <p:cTn id="49" presetID="31" presetClass="entr" presetSubtype="0" fill="hold" grpId="0" nodeType="withEffect">
                                  <p:stCondLst>
                                    <p:cond delay="0"/>
                                  </p:stCondLst>
                                  <p:childTnLst>
                                    <p:set>
                                      <p:cBhvr>
                                        <p:cTn id="50" dur="1" fill="hold">
                                          <p:stCondLst>
                                            <p:cond delay="0"/>
                                          </p:stCondLst>
                                        </p:cTn>
                                        <p:tgtEl>
                                          <p:spTgt spid="70"/>
                                        </p:tgtEl>
                                        <p:attrNameLst>
                                          <p:attrName>style.visibility</p:attrName>
                                        </p:attrNameLst>
                                      </p:cBhvr>
                                      <p:to>
                                        <p:strVal val="visible"/>
                                      </p:to>
                                    </p:set>
                                    <p:anim calcmode="lin" valueType="num">
                                      <p:cBhvr>
                                        <p:cTn id="51" dur="1000" fill="hold"/>
                                        <p:tgtEl>
                                          <p:spTgt spid="70"/>
                                        </p:tgtEl>
                                        <p:attrNameLst>
                                          <p:attrName>ppt_w</p:attrName>
                                        </p:attrNameLst>
                                      </p:cBhvr>
                                      <p:tavLst>
                                        <p:tav tm="0">
                                          <p:val>
                                            <p:fltVal val="0"/>
                                          </p:val>
                                        </p:tav>
                                        <p:tav tm="100000">
                                          <p:val>
                                            <p:strVal val="#ppt_w"/>
                                          </p:val>
                                        </p:tav>
                                      </p:tavLst>
                                    </p:anim>
                                    <p:anim calcmode="lin" valueType="num">
                                      <p:cBhvr>
                                        <p:cTn id="52" dur="1000" fill="hold"/>
                                        <p:tgtEl>
                                          <p:spTgt spid="70"/>
                                        </p:tgtEl>
                                        <p:attrNameLst>
                                          <p:attrName>ppt_h</p:attrName>
                                        </p:attrNameLst>
                                      </p:cBhvr>
                                      <p:tavLst>
                                        <p:tav tm="0">
                                          <p:val>
                                            <p:fltVal val="0"/>
                                          </p:val>
                                        </p:tav>
                                        <p:tav tm="100000">
                                          <p:val>
                                            <p:strVal val="#ppt_h"/>
                                          </p:val>
                                        </p:tav>
                                      </p:tavLst>
                                    </p:anim>
                                    <p:anim calcmode="lin" valueType="num">
                                      <p:cBhvr>
                                        <p:cTn id="53" dur="1000" fill="hold"/>
                                        <p:tgtEl>
                                          <p:spTgt spid="70"/>
                                        </p:tgtEl>
                                        <p:attrNameLst>
                                          <p:attrName>style.rotation</p:attrName>
                                        </p:attrNameLst>
                                      </p:cBhvr>
                                      <p:tavLst>
                                        <p:tav tm="0">
                                          <p:val>
                                            <p:fltVal val="90"/>
                                          </p:val>
                                        </p:tav>
                                        <p:tav tm="100000">
                                          <p:val>
                                            <p:fltVal val="0"/>
                                          </p:val>
                                        </p:tav>
                                      </p:tavLst>
                                    </p:anim>
                                    <p:animEffect transition="in" filter="fade">
                                      <p:cBhvr>
                                        <p:cTn id="54" dur="1000"/>
                                        <p:tgtEl>
                                          <p:spTgt spid="70"/>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69"/>
                                        </p:tgtEl>
                                        <p:attrNameLst>
                                          <p:attrName>style.visibility</p:attrName>
                                        </p:attrNameLst>
                                      </p:cBhvr>
                                      <p:to>
                                        <p:strVal val="visible"/>
                                      </p:to>
                                    </p:set>
                                    <p:anim calcmode="lin" valueType="num">
                                      <p:cBhvr>
                                        <p:cTn id="57" dur="1000" fill="hold"/>
                                        <p:tgtEl>
                                          <p:spTgt spid="69"/>
                                        </p:tgtEl>
                                        <p:attrNameLst>
                                          <p:attrName>ppt_w</p:attrName>
                                        </p:attrNameLst>
                                      </p:cBhvr>
                                      <p:tavLst>
                                        <p:tav tm="0">
                                          <p:val>
                                            <p:fltVal val="0"/>
                                          </p:val>
                                        </p:tav>
                                        <p:tav tm="100000">
                                          <p:val>
                                            <p:strVal val="#ppt_w"/>
                                          </p:val>
                                        </p:tav>
                                      </p:tavLst>
                                    </p:anim>
                                    <p:anim calcmode="lin" valueType="num">
                                      <p:cBhvr>
                                        <p:cTn id="58" dur="1000" fill="hold"/>
                                        <p:tgtEl>
                                          <p:spTgt spid="69"/>
                                        </p:tgtEl>
                                        <p:attrNameLst>
                                          <p:attrName>ppt_h</p:attrName>
                                        </p:attrNameLst>
                                      </p:cBhvr>
                                      <p:tavLst>
                                        <p:tav tm="0">
                                          <p:val>
                                            <p:fltVal val="0"/>
                                          </p:val>
                                        </p:tav>
                                        <p:tav tm="100000">
                                          <p:val>
                                            <p:strVal val="#ppt_h"/>
                                          </p:val>
                                        </p:tav>
                                      </p:tavLst>
                                    </p:anim>
                                    <p:anim calcmode="lin" valueType="num">
                                      <p:cBhvr>
                                        <p:cTn id="59" dur="1000" fill="hold"/>
                                        <p:tgtEl>
                                          <p:spTgt spid="69"/>
                                        </p:tgtEl>
                                        <p:attrNameLst>
                                          <p:attrName>style.rotation</p:attrName>
                                        </p:attrNameLst>
                                      </p:cBhvr>
                                      <p:tavLst>
                                        <p:tav tm="0">
                                          <p:val>
                                            <p:fltVal val="90"/>
                                          </p:val>
                                        </p:tav>
                                        <p:tav tm="100000">
                                          <p:val>
                                            <p:fltVal val="0"/>
                                          </p:val>
                                        </p:tav>
                                      </p:tavLst>
                                    </p:anim>
                                    <p:animEffect transition="in" filter="fade">
                                      <p:cBhvr>
                                        <p:cTn id="60" dur="1000"/>
                                        <p:tgtEl>
                                          <p:spTgt spid="69"/>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47" grpId="0" animBg="1"/>
      <p:bldP spid="48" grpId="0" animBg="1"/>
      <p:bldP spid="58" grpId="0" animBg="1"/>
      <p:bldP spid="65" grpId="0" animBg="1"/>
      <p:bldP spid="66" grpId="0"/>
      <p:bldP spid="69" grpId="0" animBg="1"/>
      <p:bldP spid="70" grpId="0" animBg="1"/>
      <p:bldP spid="81" grpId="0" animBg="1"/>
      <p:bldP spid="8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68EBD1-FB23-1A42-B8FC-28AE4F7C5388}"/>
              </a:ext>
            </a:extLst>
          </p:cNvPr>
          <p:cNvSpPr>
            <a:spLocks noGrp="1"/>
          </p:cNvSpPr>
          <p:nvPr>
            <p:ph type="sldNum" sz="quarter" idx="12"/>
          </p:nvPr>
        </p:nvSpPr>
        <p:spPr/>
        <p:txBody>
          <a:bodyPr/>
          <a:lstStyle/>
          <a:p>
            <a:fld id="{72E3C5E5-1620-704A-B1BC-D84381C5FEE1}" type="slidenum">
              <a:rPr lang="en-US" smtClean="0"/>
              <a:t>7</a:t>
            </a:fld>
            <a:endParaRPr lang="en-US"/>
          </a:p>
        </p:txBody>
      </p:sp>
      <p:sp>
        <p:nvSpPr>
          <p:cNvPr id="38" name="文本框 37"/>
          <p:cNvSpPr txBox="1"/>
          <p:nvPr/>
        </p:nvSpPr>
        <p:spPr>
          <a:xfrm>
            <a:off x="954467" y="2631602"/>
            <a:ext cx="7284861" cy="1569660"/>
          </a:xfrm>
          <a:prstGeom prst="rect">
            <a:avLst/>
          </a:prstGeom>
          <a:noFill/>
        </p:spPr>
        <p:txBody>
          <a:bodyPr wrap="square" rtlCol="0">
            <a:spAutoFit/>
          </a:bodyPr>
          <a:lstStyle/>
          <a:p>
            <a:r>
              <a:rPr lang="en-US" altLang="zh-CN" sz="3200" dirty="0">
                <a:latin typeface="Calibri" panose="020F0502020204030204" pitchFamily="34" charset="0"/>
                <a:cs typeface="Calibri" panose="020F0502020204030204" pitchFamily="34" charset="0"/>
              </a:rPr>
              <a:t>There are still prohibitive overheads due to </a:t>
            </a:r>
            <a:r>
              <a:rPr lang="en-US" altLang="zh-CN" sz="3200" b="1" dirty="0">
                <a:solidFill>
                  <a:srgbClr val="C00000"/>
                </a:solidFill>
                <a:latin typeface="Calibri" panose="020F0502020204030204" pitchFamily="34" charset="0"/>
                <a:cs typeface="Calibri" panose="020F0502020204030204" pitchFamily="34" charset="0"/>
              </a:rPr>
              <a:t>excessive context switches</a:t>
            </a:r>
            <a:r>
              <a:rPr lang="en-US" altLang="zh-CN" sz="3200" dirty="0">
                <a:latin typeface="Calibri" panose="020F0502020204030204" pitchFamily="34" charset="0"/>
                <a:cs typeface="Calibri" panose="020F0502020204030204" pitchFamily="34" charset="0"/>
              </a:rPr>
              <a:t>, </a:t>
            </a:r>
            <a:r>
              <a:rPr lang="en-US" altLang="zh-CN" sz="3200" b="1" dirty="0">
                <a:solidFill>
                  <a:srgbClr val="C00000"/>
                </a:solidFill>
                <a:latin typeface="Calibri" panose="020F0502020204030204" pitchFamily="34" charset="0"/>
                <a:cs typeface="Calibri" panose="020F0502020204030204" pitchFamily="34" charset="0"/>
              </a:rPr>
              <a:t>loss of locality</a:t>
            </a:r>
            <a:r>
              <a:rPr lang="en-US" altLang="zh-CN" sz="3200" dirty="0">
                <a:latin typeface="Calibri" panose="020F0502020204030204" pitchFamily="34" charset="0"/>
                <a:cs typeface="Calibri" panose="020F0502020204030204" pitchFamily="34" charset="0"/>
              </a:rPr>
              <a:t>, and </a:t>
            </a:r>
            <a:r>
              <a:rPr lang="en-US" altLang="zh-CN" sz="3200" b="1" dirty="0">
                <a:solidFill>
                  <a:srgbClr val="C00000"/>
                </a:solidFill>
                <a:latin typeface="Calibri" panose="020F0502020204030204" pitchFamily="34" charset="0"/>
                <a:cs typeface="Calibri" panose="020F0502020204030204" pitchFamily="34" charset="0"/>
              </a:rPr>
              <a:t>contentions for shared resources</a:t>
            </a:r>
            <a:r>
              <a:rPr lang="en-US" altLang="zh-CN" sz="32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374902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7B8D9C-ACA8-6340-A71A-26E45AAC17DA}"/>
              </a:ext>
            </a:extLst>
          </p:cNvPr>
          <p:cNvSpPr>
            <a:spLocks noGrp="1"/>
          </p:cNvSpPr>
          <p:nvPr>
            <p:ph type="sldNum" sz="quarter" idx="12"/>
          </p:nvPr>
        </p:nvSpPr>
        <p:spPr/>
        <p:txBody>
          <a:bodyPr/>
          <a:lstStyle/>
          <a:p>
            <a:fld id="{72E3C5E5-1620-704A-B1BC-D84381C5FEE1}" type="slidenum">
              <a:rPr lang="en-US" smtClean="0"/>
              <a:t>8</a:t>
            </a:fld>
            <a:endParaRPr lang="en-US"/>
          </a:p>
        </p:txBody>
      </p:sp>
      <p:graphicFrame>
        <p:nvGraphicFramePr>
          <p:cNvPr id="46" name="图表 45"/>
          <p:cNvGraphicFramePr>
            <a:graphicFrameLocks/>
          </p:cNvGraphicFramePr>
          <p:nvPr>
            <p:extLst>
              <p:ext uri="{D42A27DB-BD31-4B8C-83A1-F6EECF244321}">
                <p14:modId xmlns:p14="http://schemas.microsoft.com/office/powerpoint/2010/main" val="2160985450"/>
              </p:ext>
            </p:extLst>
          </p:nvPr>
        </p:nvGraphicFramePr>
        <p:xfrm>
          <a:off x="419100" y="1339215"/>
          <a:ext cx="8096250" cy="4560570"/>
        </p:xfrm>
        <a:graphic>
          <a:graphicData uri="http://schemas.openxmlformats.org/drawingml/2006/chart">
            <c:chart xmlns:c="http://schemas.openxmlformats.org/drawingml/2006/chart" xmlns:r="http://schemas.openxmlformats.org/officeDocument/2006/relationships" r:id="rId3"/>
          </a:graphicData>
        </a:graphic>
      </p:graphicFrame>
      <p:sp>
        <p:nvSpPr>
          <p:cNvPr id="42" name="矩形 41"/>
          <p:cNvSpPr/>
          <p:nvPr/>
        </p:nvSpPr>
        <p:spPr>
          <a:xfrm>
            <a:off x="4738958" y="1332417"/>
            <a:ext cx="3865292" cy="4226206"/>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886059" y="5565422"/>
            <a:ext cx="5318588" cy="1077218"/>
          </a:xfrm>
          <a:prstGeom prst="rect">
            <a:avLst/>
          </a:prstGeom>
        </p:spPr>
        <p:txBody>
          <a:bodyPr wrap="square">
            <a:spAutoFit/>
          </a:bodyPr>
          <a:lstStyle/>
          <a:p>
            <a:r>
              <a:rPr lang="en-US" altLang="zh-CN" sz="3200" b="1" dirty="0">
                <a:solidFill>
                  <a:srgbClr val="C00000"/>
                </a:solidFill>
                <a:latin typeface="Calibri" panose="020F0502020204030204" pitchFamily="34" charset="0"/>
                <a:cs typeface="Calibri" panose="020F0502020204030204" pitchFamily="34" charset="0"/>
              </a:rPr>
              <a:t>Applications suffer as much as 25x performance slowdown</a:t>
            </a:r>
            <a:endParaRPr lang="zh-CN" altLang="en-US" sz="3200" b="1" dirty="0">
              <a:solidFill>
                <a:srgbClr val="C00000"/>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C6DA20B1-A67D-40A3-A8FD-D4C1881E2E9C}"/>
              </a:ext>
            </a:extLst>
          </p:cNvPr>
          <p:cNvSpPr>
            <a:spLocks noGrp="1"/>
          </p:cNvSpPr>
          <p:nvPr>
            <p:ph type="title"/>
          </p:nvPr>
        </p:nvSpPr>
        <p:spPr>
          <a:xfrm>
            <a:off x="0" y="6854"/>
            <a:ext cx="9144000" cy="1325563"/>
          </a:xfrm>
        </p:spPr>
        <p:txBody>
          <a:bodyPr>
            <a:normAutofit/>
          </a:bodyPr>
          <a:lstStyle/>
          <a:p>
            <a:r>
              <a:rPr lang="en-US" altLang="zh-CN" b="1" dirty="0">
                <a:latin typeface="Calibri" panose="020F0502020204030204" pitchFamily="34" charset="0"/>
                <a:cs typeface="Calibri" panose="020F0502020204030204" pitchFamily="34" charset="0"/>
              </a:rPr>
              <a:t>Applications with Thread Oversubscription</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063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Content Placeholder 2">
            <a:extLst>
              <a:ext uri="{FF2B5EF4-FFF2-40B4-BE49-F238E27FC236}">
                <a16:creationId xmlns:a16="http://schemas.microsoft.com/office/drawing/2014/main" id="{72F75752-3FB7-4681-9222-E8BEE71F460B}"/>
              </a:ext>
            </a:extLst>
          </p:cNvPr>
          <p:cNvSpPr>
            <a:spLocks noGrp="1"/>
          </p:cNvSpPr>
          <p:nvPr>
            <p:ph idx="1"/>
          </p:nvPr>
        </p:nvSpPr>
        <p:spPr>
          <a:xfrm>
            <a:off x="537514" y="1344950"/>
            <a:ext cx="8334876" cy="4351338"/>
          </a:xfrm>
        </p:spPr>
        <p:txBody>
          <a:bodyPr>
            <a:normAutofit/>
          </a:bodyPr>
          <a:lstStyle/>
          <a:p>
            <a:pPr>
              <a:lnSpc>
                <a:spcPct val="170000"/>
              </a:lnSpc>
            </a:pPr>
            <a:r>
              <a:rPr lang="en-US" altLang="zh-CN" dirty="0">
                <a:latin typeface="+mn-lt"/>
                <a:cs typeface="Calibri" panose="020F0502020204030204" pitchFamily="34" charset="0"/>
              </a:rPr>
              <a:t>Context switches : load and save threads states</a:t>
            </a:r>
          </a:p>
          <a:p>
            <a:pPr lvl="1">
              <a:lnSpc>
                <a:spcPct val="170000"/>
              </a:lnSpc>
            </a:pPr>
            <a:r>
              <a:rPr lang="en-US" altLang="zh-CN" dirty="0">
                <a:latin typeface="+mj-lt"/>
                <a:cs typeface="Calibri" panose="020F0502020204030204" pitchFamily="34" charset="0"/>
              </a:rPr>
              <a:t>Involuntary -- time slice expires</a:t>
            </a:r>
          </a:p>
          <a:p>
            <a:pPr lvl="1">
              <a:lnSpc>
                <a:spcPct val="170000"/>
              </a:lnSpc>
            </a:pPr>
            <a:r>
              <a:rPr lang="en-US" altLang="zh-CN" dirty="0">
                <a:latin typeface="+mj-lt"/>
                <a:cs typeface="Calibri" panose="020F0502020204030204" pitchFamily="34" charset="0"/>
              </a:rPr>
              <a:t>Voluntary    -- yields CPU or blocks</a:t>
            </a:r>
          </a:p>
        </p:txBody>
      </p:sp>
      <p:sp>
        <p:nvSpPr>
          <p:cNvPr id="4" name="Slide Number Placeholder 3">
            <a:extLst>
              <a:ext uri="{FF2B5EF4-FFF2-40B4-BE49-F238E27FC236}">
                <a16:creationId xmlns:a16="http://schemas.microsoft.com/office/drawing/2014/main" id="{DC916CB4-DE54-F842-B6E0-51BDEFC01506}"/>
              </a:ext>
            </a:extLst>
          </p:cNvPr>
          <p:cNvSpPr>
            <a:spLocks noGrp="1"/>
          </p:cNvSpPr>
          <p:nvPr>
            <p:ph type="sldNum" sz="quarter" idx="12"/>
          </p:nvPr>
        </p:nvSpPr>
        <p:spPr/>
        <p:txBody>
          <a:bodyPr/>
          <a:lstStyle/>
          <a:p>
            <a:fld id="{72E3C5E5-1620-704A-B1BC-D84381C5FEE1}" type="slidenum">
              <a:rPr lang="en-US" smtClean="0"/>
              <a:t>9</a:t>
            </a:fld>
            <a:endParaRPr lang="en-US"/>
          </a:p>
        </p:txBody>
      </p:sp>
      <p:sp>
        <p:nvSpPr>
          <p:cNvPr id="7" name="圆角矩形 6"/>
          <p:cNvSpPr/>
          <p:nvPr/>
        </p:nvSpPr>
        <p:spPr>
          <a:xfrm>
            <a:off x="2342442" y="3560062"/>
            <a:ext cx="1828800" cy="733778"/>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alibri" panose="020F0502020204030204" pitchFamily="34" charset="0"/>
                <a:cs typeface="Calibri" panose="020F0502020204030204" pitchFamily="34" charset="0"/>
              </a:rPr>
              <a:t>Completely Fair Scheduler</a:t>
            </a:r>
            <a:endParaRPr lang="zh-CN" altLang="en-US" dirty="0">
              <a:solidFill>
                <a:schemeClr val="tx1"/>
              </a:solidFill>
              <a:latin typeface="Calibri" panose="020F0502020204030204" pitchFamily="34" charset="0"/>
              <a:cs typeface="Calibri" panose="020F0502020204030204" pitchFamily="34" charset="0"/>
            </a:endParaRPr>
          </a:p>
        </p:txBody>
      </p:sp>
      <p:sp>
        <p:nvSpPr>
          <p:cNvPr id="8" name="椭圆 7"/>
          <p:cNvSpPr/>
          <p:nvPr/>
        </p:nvSpPr>
        <p:spPr>
          <a:xfrm>
            <a:off x="5845941" y="3474816"/>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T0</a:t>
            </a:r>
            <a:endParaRPr lang="zh-CN" altLang="en-US" dirty="0">
              <a:solidFill>
                <a:schemeClr val="tx1"/>
              </a:solidFill>
              <a:latin typeface="Calibri" panose="020F0502020204030204" pitchFamily="34" charset="0"/>
              <a:cs typeface="Calibri" panose="020F0502020204030204" pitchFamily="34" charset="0"/>
            </a:endParaRPr>
          </a:p>
        </p:txBody>
      </p:sp>
      <p:sp>
        <p:nvSpPr>
          <p:cNvPr id="9" name="椭圆 8"/>
          <p:cNvSpPr/>
          <p:nvPr/>
        </p:nvSpPr>
        <p:spPr>
          <a:xfrm>
            <a:off x="5292786" y="4006220"/>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T1</a:t>
            </a:r>
            <a:endParaRPr lang="zh-CN" altLang="en-US" dirty="0">
              <a:solidFill>
                <a:schemeClr val="tx1"/>
              </a:solidFill>
              <a:latin typeface="Calibri" panose="020F0502020204030204" pitchFamily="34" charset="0"/>
              <a:cs typeface="Calibri" panose="020F0502020204030204" pitchFamily="34" charset="0"/>
            </a:endParaRPr>
          </a:p>
        </p:txBody>
      </p:sp>
      <p:sp>
        <p:nvSpPr>
          <p:cNvPr id="10" name="椭圆 9"/>
          <p:cNvSpPr/>
          <p:nvPr/>
        </p:nvSpPr>
        <p:spPr>
          <a:xfrm>
            <a:off x="6490822" y="3966817"/>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T2</a:t>
            </a:r>
            <a:endParaRPr lang="zh-CN" altLang="en-US" dirty="0">
              <a:solidFill>
                <a:schemeClr val="tx1"/>
              </a:solidFill>
              <a:latin typeface="Calibri" panose="020F0502020204030204" pitchFamily="34" charset="0"/>
              <a:cs typeface="Calibri" panose="020F0502020204030204" pitchFamily="34" charset="0"/>
            </a:endParaRPr>
          </a:p>
        </p:txBody>
      </p:sp>
      <p:sp>
        <p:nvSpPr>
          <p:cNvPr id="11" name="椭圆 10"/>
          <p:cNvSpPr/>
          <p:nvPr/>
        </p:nvSpPr>
        <p:spPr>
          <a:xfrm>
            <a:off x="4851106" y="4739052"/>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T3</a:t>
            </a:r>
            <a:endParaRPr lang="zh-CN" altLang="en-US" dirty="0">
              <a:solidFill>
                <a:schemeClr val="tx1"/>
              </a:solidFill>
              <a:latin typeface="Calibri" panose="020F0502020204030204" pitchFamily="34" charset="0"/>
              <a:cs typeface="Calibri" panose="020F0502020204030204" pitchFamily="34" charset="0"/>
            </a:endParaRPr>
          </a:p>
        </p:txBody>
      </p:sp>
      <p:sp>
        <p:nvSpPr>
          <p:cNvPr id="12" name="椭圆 11"/>
          <p:cNvSpPr/>
          <p:nvPr/>
        </p:nvSpPr>
        <p:spPr>
          <a:xfrm>
            <a:off x="4470807" y="5513050"/>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T6</a:t>
            </a:r>
            <a:endParaRPr lang="zh-CN" altLang="en-US" dirty="0">
              <a:solidFill>
                <a:schemeClr val="tx1"/>
              </a:solidFill>
              <a:latin typeface="Calibri" panose="020F0502020204030204" pitchFamily="34" charset="0"/>
              <a:cs typeface="Calibri" panose="020F0502020204030204" pitchFamily="34" charset="0"/>
            </a:endParaRPr>
          </a:p>
        </p:txBody>
      </p:sp>
      <p:sp>
        <p:nvSpPr>
          <p:cNvPr id="13" name="椭圆 12"/>
          <p:cNvSpPr/>
          <p:nvPr/>
        </p:nvSpPr>
        <p:spPr>
          <a:xfrm>
            <a:off x="5750691" y="4739052"/>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T4</a:t>
            </a:r>
            <a:endParaRPr lang="zh-CN" altLang="en-US" dirty="0">
              <a:solidFill>
                <a:schemeClr val="tx1"/>
              </a:solidFill>
              <a:latin typeface="Calibri" panose="020F0502020204030204" pitchFamily="34" charset="0"/>
              <a:cs typeface="Calibri" panose="020F0502020204030204" pitchFamily="34" charset="0"/>
            </a:endParaRPr>
          </a:p>
        </p:txBody>
      </p:sp>
      <p:sp>
        <p:nvSpPr>
          <p:cNvPr id="14" name="椭圆 13"/>
          <p:cNvSpPr/>
          <p:nvPr/>
        </p:nvSpPr>
        <p:spPr>
          <a:xfrm>
            <a:off x="6207893" y="5541904"/>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T7</a:t>
            </a:r>
            <a:endParaRPr lang="zh-CN" altLang="en-US" dirty="0">
              <a:solidFill>
                <a:schemeClr val="tx1"/>
              </a:solidFill>
              <a:latin typeface="Calibri" panose="020F0502020204030204" pitchFamily="34" charset="0"/>
              <a:cs typeface="Calibri" panose="020F0502020204030204" pitchFamily="34" charset="0"/>
            </a:endParaRPr>
          </a:p>
        </p:txBody>
      </p:sp>
      <p:sp>
        <p:nvSpPr>
          <p:cNvPr id="15" name="椭圆 14"/>
          <p:cNvSpPr/>
          <p:nvPr/>
        </p:nvSpPr>
        <p:spPr>
          <a:xfrm>
            <a:off x="7122424" y="4739052"/>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T5</a:t>
            </a:r>
            <a:endParaRPr lang="zh-CN" altLang="en-US" dirty="0">
              <a:solidFill>
                <a:schemeClr val="tx1"/>
              </a:solidFill>
              <a:latin typeface="Calibri" panose="020F0502020204030204" pitchFamily="34" charset="0"/>
              <a:cs typeface="Calibri" panose="020F0502020204030204" pitchFamily="34" charset="0"/>
            </a:endParaRPr>
          </a:p>
        </p:txBody>
      </p:sp>
      <p:sp>
        <p:nvSpPr>
          <p:cNvPr id="16" name="椭圆 15"/>
          <p:cNvSpPr/>
          <p:nvPr/>
        </p:nvSpPr>
        <p:spPr>
          <a:xfrm>
            <a:off x="6926854" y="5513050"/>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T8</a:t>
            </a:r>
            <a:endParaRPr lang="zh-CN" altLang="en-US" dirty="0">
              <a:solidFill>
                <a:schemeClr val="tx1"/>
              </a:solidFill>
              <a:latin typeface="Calibri" panose="020F0502020204030204" pitchFamily="34" charset="0"/>
              <a:cs typeface="Calibri" panose="020F0502020204030204" pitchFamily="34" charset="0"/>
            </a:endParaRPr>
          </a:p>
        </p:txBody>
      </p:sp>
      <p:cxnSp>
        <p:nvCxnSpPr>
          <p:cNvPr id="18" name="直接连接符 17"/>
          <p:cNvCxnSpPr>
            <a:stCxn id="8" idx="2"/>
            <a:endCxn id="9" idx="0"/>
          </p:cNvCxnSpPr>
          <p:nvPr/>
        </p:nvCxnSpPr>
        <p:spPr>
          <a:xfrm flipH="1">
            <a:off x="5569364" y="3740105"/>
            <a:ext cx="276577" cy="2661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8" idx="6"/>
            <a:endCxn id="10" idx="0"/>
          </p:cNvCxnSpPr>
          <p:nvPr/>
        </p:nvCxnSpPr>
        <p:spPr>
          <a:xfrm>
            <a:off x="6399097" y="3740105"/>
            <a:ext cx="368303" cy="2267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9" idx="3"/>
            <a:endCxn id="11" idx="0"/>
          </p:cNvCxnSpPr>
          <p:nvPr/>
        </p:nvCxnSpPr>
        <p:spPr>
          <a:xfrm flipH="1">
            <a:off x="5127684" y="4459097"/>
            <a:ext cx="246110" cy="2799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9" idx="5"/>
            <a:endCxn id="13" idx="0"/>
          </p:cNvCxnSpPr>
          <p:nvPr/>
        </p:nvCxnSpPr>
        <p:spPr>
          <a:xfrm>
            <a:off x="5764934" y="4459097"/>
            <a:ext cx="262335" cy="2799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1" idx="3"/>
            <a:endCxn id="12" idx="0"/>
          </p:cNvCxnSpPr>
          <p:nvPr/>
        </p:nvCxnSpPr>
        <p:spPr>
          <a:xfrm flipH="1">
            <a:off x="4747385" y="5191929"/>
            <a:ext cx="184729" cy="3211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5"/>
            <a:endCxn id="14" idx="0"/>
          </p:cNvCxnSpPr>
          <p:nvPr/>
        </p:nvCxnSpPr>
        <p:spPr>
          <a:xfrm>
            <a:off x="6222839" y="5191929"/>
            <a:ext cx="261632" cy="3499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0" idx="5"/>
            <a:endCxn id="15" idx="0"/>
          </p:cNvCxnSpPr>
          <p:nvPr/>
        </p:nvCxnSpPr>
        <p:spPr>
          <a:xfrm>
            <a:off x="6962970" y="4419694"/>
            <a:ext cx="436032" cy="3193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15" idx="3"/>
            <a:endCxn id="16" idx="1"/>
          </p:cNvCxnSpPr>
          <p:nvPr/>
        </p:nvCxnSpPr>
        <p:spPr>
          <a:xfrm flipH="1">
            <a:off x="7007862" y="5191929"/>
            <a:ext cx="195570" cy="3988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4470807" y="6207342"/>
            <a:ext cx="3676236" cy="33866"/>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5801050" y="6342420"/>
            <a:ext cx="1161920" cy="369332"/>
          </a:xfrm>
          <a:prstGeom prst="rect">
            <a:avLst/>
          </a:prstGeom>
          <a:noFill/>
        </p:spPr>
        <p:txBody>
          <a:bodyPr wrap="square" rtlCol="0">
            <a:spAutoFit/>
          </a:bodyPr>
          <a:lstStyle/>
          <a:p>
            <a:r>
              <a:rPr lang="en-US" altLang="zh-CN" dirty="0" err="1">
                <a:latin typeface="Calibri" panose="020F0502020204030204" pitchFamily="34" charset="0"/>
                <a:cs typeface="Calibri" panose="020F0502020204030204" pitchFamily="34" charset="0"/>
              </a:rPr>
              <a:t>vRuntime</a:t>
            </a:r>
            <a:endParaRPr lang="zh-CN" altLang="en-US" dirty="0">
              <a:latin typeface="Calibri" panose="020F0502020204030204" pitchFamily="34" charset="0"/>
              <a:cs typeface="Calibri" panose="020F0502020204030204" pitchFamily="34" charset="0"/>
            </a:endParaRPr>
          </a:p>
        </p:txBody>
      </p:sp>
      <p:sp>
        <p:nvSpPr>
          <p:cNvPr id="44" name="文本框 43"/>
          <p:cNvSpPr txBox="1"/>
          <p:nvPr/>
        </p:nvSpPr>
        <p:spPr>
          <a:xfrm>
            <a:off x="4338746" y="6217083"/>
            <a:ext cx="1035048" cy="369332"/>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smaller</a:t>
            </a:r>
            <a:endParaRPr lang="zh-CN" altLang="en-US" dirty="0">
              <a:latin typeface="Calibri" panose="020F0502020204030204" pitchFamily="34" charset="0"/>
              <a:cs typeface="Calibri" panose="020F0502020204030204" pitchFamily="34" charset="0"/>
            </a:endParaRPr>
          </a:p>
        </p:txBody>
      </p:sp>
      <p:sp>
        <p:nvSpPr>
          <p:cNvPr id="45" name="文本框 44"/>
          <p:cNvSpPr txBox="1"/>
          <p:nvPr/>
        </p:nvSpPr>
        <p:spPr>
          <a:xfrm>
            <a:off x="7675580" y="6169581"/>
            <a:ext cx="822969" cy="369332"/>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larger</a:t>
            </a:r>
            <a:endParaRPr lang="zh-CN" altLang="en-US" dirty="0">
              <a:latin typeface="Calibri" panose="020F0502020204030204" pitchFamily="34" charset="0"/>
              <a:cs typeface="Calibri" panose="020F0502020204030204" pitchFamily="34" charset="0"/>
            </a:endParaRPr>
          </a:p>
        </p:txBody>
      </p:sp>
      <p:sp>
        <p:nvSpPr>
          <p:cNvPr id="46" name="文本框 45"/>
          <p:cNvSpPr txBox="1"/>
          <p:nvPr/>
        </p:nvSpPr>
        <p:spPr>
          <a:xfrm>
            <a:off x="5594046" y="3075231"/>
            <a:ext cx="1406467" cy="369332"/>
          </a:xfrm>
          <a:prstGeom prst="rect">
            <a:avLst/>
          </a:prstGeom>
          <a:noFill/>
        </p:spPr>
        <p:txBody>
          <a:bodyPr wrap="square" rtlCol="0">
            <a:spAutoFit/>
          </a:bodyPr>
          <a:lstStyle/>
          <a:p>
            <a:r>
              <a:rPr lang="en-US" altLang="zh-CN" dirty="0" err="1">
                <a:latin typeface="Calibri" panose="020F0502020204030204" pitchFamily="34" charset="0"/>
                <a:cs typeface="Calibri" panose="020F0502020204030204" pitchFamily="34" charset="0"/>
              </a:rPr>
              <a:t>Runqueue</a:t>
            </a:r>
            <a:endParaRPr lang="zh-CN" altLang="en-US" dirty="0">
              <a:latin typeface="Calibri" panose="020F0502020204030204" pitchFamily="34" charset="0"/>
              <a:cs typeface="Calibri" panose="020F0502020204030204" pitchFamily="34" charset="0"/>
            </a:endParaRPr>
          </a:p>
        </p:txBody>
      </p:sp>
      <p:cxnSp>
        <p:nvCxnSpPr>
          <p:cNvPr id="48" name="直接箭头连接符 47"/>
          <p:cNvCxnSpPr>
            <a:stCxn id="7" idx="2"/>
            <a:endCxn id="12" idx="1"/>
          </p:cNvCxnSpPr>
          <p:nvPr/>
        </p:nvCxnSpPr>
        <p:spPr>
          <a:xfrm>
            <a:off x="3256842" y="4293840"/>
            <a:ext cx="1294973" cy="1296911"/>
          </a:xfrm>
          <a:prstGeom prst="straightConnector1">
            <a:avLst/>
          </a:prstGeom>
          <a:ln w="254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3728097" y="4536798"/>
            <a:ext cx="742876" cy="369332"/>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select</a:t>
            </a:r>
            <a:endParaRPr lang="zh-CN" altLang="en-US" dirty="0">
              <a:latin typeface="Calibri" panose="020F0502020204030204" pitchFamily="34" charset="0"/>
              <a:cs typeface="Calibri" panose="020F0502020204030204" pitchFamily="34" charset="0"/>
            </a:endParaRPr>
          </a:p>
        </p:txBody>
      </p:sp>
      <p:pic>
        <p:nvPicPr>
          <p:cNvPr id="53" name="图片 5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0185" y="5442284"/>
            <a:ext cx="733300" cy="729817"/>
          </a:xfrm>
          <a:prstGeom prst="rect">
            <a:avLst/>
          </a:prstGeom>
        </p:spPr>
      </p:pic>
      <p:cxnSp>
        <p:nvCxnSpPr>
          <p:cNvPr id="55" name="直接箭头连接符 54"/>
          <p:cNvCxnSpPr/>
          <p:nvPr/>
        </p:nvCxnSpPr>
        <p:spPr>
          <a:xfrm flipH="1">
            <a:off x="3172330" y="5778339"/>
            <a:ext cx="1213965" cy="0"/>
          </a:xfrm>
          <a:prstGeom prst="straightConnector1">
            <a:avLst/>
          </a:prstGeom>
          <a:ln w="254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3281054" y="5405586"/>
            <a:ext cx="958849" cy="369332"/>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running</a:t>
            </a:r>
            <a:endParaRPr lang="zh-CN" altLang="en-US" dirty="0">
              <a:latin typeface="Calibri" panose="020F0502020204030204" pitchFamily="34" charset="0"/>
              <a:cs typeface="Calibri" panose="020F0502020204030204" pitchFamily="34" charset="0"/>
            </a:endParaRPr>
          </a:p>
        </p:txBody>
      </p:sp>
      <p:sp>
        <p:nvSpPr>
          <p:cNvPr id="57" name="椭圆 56"/>
          <p:cNvSpPr/>
          <p:nvPr/>
        </p:nvSpPr>
        <p:spPr>
          <a:xfrm>
            <a:off x="1114745" y="4569908"/>
            <a:ext cx="553156" cy="530578"/>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chemeClr val="tx1"/>
                </a:solidFill>
                <a:latin typeface="Calibri" panose="020F0502020204030204" pitchFamily="34" charset="0"/>
                <a:cs typeface="Calibri" panose="020F0502020204030204" pitchFamily="34" charset="0"/>
              </a:rPr>
              <a:t>T</a:t>
            </a:r>
            <a:endParaRPr lang="zh-CN" altLang="en-US" dirty="0">
              <a:solidFill>
                <a:schemeClr val="tx1"/>
              </a:solidFill>
              <a:latin typeface="Calibri" panose="020F0502020204030204" pitchFamily="34" charset="0"/>
              <a:cs typeface="Calibri" panose="020F0502020204030204" pitchFamily="34" charset="0"/>
            </a:endParaRPr>
          </a:p>
        </p:txBody>
      </p:sp>
      <p:sp>
        <p:nvSpPr>
          <p:cNvPr id="58" name="文本框 57"/>
          <p:cNvSpPr txBox="1"/>
          <p:nvPr/>
        </p:nvSpPr>
        <p:spPr>
          <a:xfrm>
            <a:off x="548305" y="4144275"/>
            <a:ext cx="1817668" cy="369332"/>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Running Thread</a:t>
            </a:r>
            <a:endParaRPr lang="zh-CN" altLang="en-US" dirty="0">
              <a:latin typeface="Calibri" panose="020F0502020204030204" pitchFamily="34" charset="0"/>
              <a:cs typeface="Calibri" panose="020F0502020204030204" pitchFamily="34" charset="0"/>
            </a:endParaRPr>
          </a:p>
        </p:txBody>
      </p:sp>
      <p:cxnSp>
        <p:nvCxnSpPr>
          <p:cNvPr id="60" name="直接箭头连接符 59"/>
          <p:cNvCxnSpPr>
            <a:stCxn id="53" idx="1"/>
            <a:endCxn id="57" idx="5"/>
          </p:cNvCxnSpPr>
          <p:nvPr/>
        </p:nvCxnSpPr>
        <p:spPr>
          <a:xfrm flipH="1" flipV="1">
            <a:off x="1586893" y="5022785"/>
            <a:ext cx="803292" cy="784408"/>
          </a:xfrm>
          <a:prstGeom prst="straightConnector1">
            <a:avLst/>
          </a:prstGeom>
          <a:ln w="254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rot="2560677">
            <a:off x="1490949" y="5043751"/>
            <a:ext cx="958849" cy="646331"/>
          </a:xfrm>
          <a:prstGeom prst="rect">
            <a:avLst/>
          </a:prstGeom>
          <a:noFill/>
        </p:spPr>
        <p:txBody>
          <a:bodyPr wrap="square" rtlCol="0">
            <a:spAutoFit/>
          </a:bodyPr>
          <a:lstStyle/>
          <a:p>
            <a:r>
              <a:rPr lang="en-US" altLang="zh-CN" dirty="0">
                <a:latin typeface="Calibri" panose="020F0502020204030204" pitchFamily="34" charset="0"/>
                <a:cs typeface="Calibri" panose="020F0502020204030204" pitchFamily="34" charset="0"/>
              </a:rPr>
              <a:t>context</a:t>
            </a:r>
          </a:p>
          <a:p>
            <a:r>
              <a:rPr lang="en-US" altLang="zh-CN" dirty="0">
                <a:latin typeface="Calibri" panose="020F0502020204030204" pitchFamily="34" charset="0"/>
                <a:cs typeface="Calibri" panose="020F0502020204030204" pitchFamily="34" charset="0"/>
              </a:rPr>
              <a:t>switch</a:t>
            </a:r>
            <a:endParaRPr lang="zh-CN" altLang="en-US" dirty="0">
              <a:latin typeface="Calibri" panose="020F0502020204030204" pitchFamily="34" charset="0"/>
              <a:cs typeface="Calibri" panose="020F0502020204030204" pitchFamily="34" charset="0"/>
            </a:endParaRPr>
          </a:p>
        </p:txBody>
      </p:sp>
      <p:sp>
        <p:nvSpPr>
          <p:cNvPr id="37" name="Title 1">
            <a:extLst>
              <a:ext uri="{FF2B5EF4-FFF2-40B4-BE49-F238E27FC236}">
                <a16:creationId xmlns:a16="http://schemas.microsoft.com/office/drawing/2014/main" id="{A197E3A8-1AED-400C-86D0-F6127A3B288A}"/>
              </a:ext>
            </a:extLst>
          </p:cNvPr>
          <p:cNvSpPr txBox="1">
            <a:spLocks/>
          </p:cNvSpPr>
          <p:nvPr/>
        </p:nvSpPr>
        <p:spPr>
          <a:xfrm>
            <a:off x="10285" y="21040"/>
            <a:ext cx="9144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Scheduling Oversubscribed Threads </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3539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8133562E-9D3C-485F-A663-3B6D775C4888}"/>
              </a:ext>
            </a:extLst>
          </p:cNvPr>
          <p:cNvSpPr>
            <a:spLocks noGrp="1"/>
          </p:cNvSpPr>
          <p:nvPr>
            <p:ph idx="1"/>
          </p:nvPr>
        </p:nvSpPr>
        <p:spPr>
          <a:xfrm>
            <a:off x="525003" y="1264556"/>
            <a:ext cx="8114564" cy="851331"/>
          </a:xfrm>
        </p:spPr>
        <p:txBody>
          <a:bodyPr>
            <a:normAutofit/>
          </a:bodyPr>
          <a:lstStyle/>
          <a:p>
            <a:pPr>
              <a:lnSpc>
                <a:spcPct val="170000"/>
              </a:lnSpc>
            </a:pPr>
            <a:r>
              <a:rPr lang="en-US" altLang="zh-CN" sz="2800" dirty="0">
                <a:latin typeface="+mn-lt"/>
                <a:cs typeface="Calibri" panose="020F0502020204030204" pitchFamily="34" charset="0"/>
              </a:rPr>
              <a:t>D</a:t>
            </a:r>
            <a:r>
              <a:rPr lang="en-US" altLang="zh-CN" sz="2800" dirty="0">
                <a:latin typeface="Calibri" panose="020F0502020204030204" pitchFamily="34" charset="0"/>
                <a:cs typeface="Calibri" panose="020F0502020204030204" pitchFamily="34" charset="0"/>
              </a:rPr>
              <a:t>irect cost: relatively  stable at </a:t>
            </a:r>
            <a:r>
              <a:rPr lang="en-US" altLang="zh-CN" sz="2800" b="1" dirty="0">
                <a:latin typeface="Calibri" panose="020F0502020204030204" pitchFamily="34" charset="0"/>
                <a:cs typeface="Calibri" panose="020F0502020204030204" pitchFamily="34" charset="0"/>
              </a:rPr>
              <a:t>1.5 </a:t>
            </a:r>
            <a:r>
              <a:rPr lang="zh-CN" altLang="en-US" sz="2800" b="1" dirty="0">
                <a:latin typeface="Calibri" panose="020F0502020204030204" pitchFamily="34" charset="0"/>
                <a:cs typeface="Calibri" panose="020F0502020204030204" pitchFamily="34" charset="0"/>
              </a:rPr>
              <a:t>𝜇</a:t>
            </a:r>
            <a:r>
              <a:rPr lang="en-US" altLang="zh-CN" sz="2800" b="1" dirty="0">
                <a:latin typeface="Calibri" panose="020F0502020204030204" pitchFamily="34" charset="0"/>
                <a:cs typeface="Calibri" panose="020F0502020204030204" pitchFamily="34" charset="0"/>
              </a:rPr>
              <a:t>s</a:t>
            </a:r>
          </a:p>
          <a:p>
            <a:pPr>
              <a:lnSpc>
                <a:spcPct val="170000"/>
              </a:lnSpc>
            </a:pPr>
            <a:endParaRPr lang="en-US" altLang="zh-CN" dirty="0">
              <a:latin typeface="+mn-lt"/>
              <a:cs typeface="Calibri" panose="020F0502020204030204" pitchFamily="34" charset="0"/>
            </a:endParaRPr>
          </a:p>
        </p:txBody>
      </p:sp>
      <p:sp>
        <p:nvSpPr>
          <p:cNvPr id="4" name="Slide Number Placeholder 3">
            <a:extLst>
              <a:ext uri="{FF2B5EF4-FFF2-40B4-BE49-F238E27FC236}">
                <a16:creationId xmlns:a16="http://schemas.microsoft.com/office/drawing/2014/main" id="{710827F2-6BD4-8F4F-B46B-6B0A62FC3564}"/>
              </a:ext>
            </a:extLst>
          </p:cNvPr>
          <p:cNvSpPr>
            <a:spLocks noGrp="1"/>
          </p:cNvSpPr>
          <p:nvPr>
            <p:ph type="sldNum" sz="quarter" idx="12"/>
          </p:nvPr>
        </p:nvSpPr>
        <p:spPr/>
        <p:txBody>
          <a:bodyPr/>
          <a:lstStyle/>
          <a:p>
            <a:fld id="{72E3C5E5-1620-704A-B1BC-D84381C5FEE1}" type="slidenum">
              <a:rPr lang="en-US" smtClean="0"/>
              <a:t>10</a:t>
            </a:fld>
            <a:endParaRPr lang="en-US"/>
          </a:p>
        </p:txBody>
      </p:sp>
      <p:graphicFrame>
        <p:nvGraphicFramePr>
          <p:cNvPr id="11" name="图表 10"/>
          <p:cNvGraphicFramePr>
            <a:graphicFrameLocks/>
          </p:cNvGraphicFramePr>
          <p:nvPr>
            <p:extLst>
              <p:ext uri="{D42A27DB-BD31-4B8C-83A1-F6EECF244321}">
                <p14:modId xmlns:p14="http://schemas.microsoft.com/office/powerpoint/2010/main" val="4075501923"/>
              </p:ext>
            </p:extLst>
          </p:nvPr>
        </p:nvGraphicFramePr>
        <p:xfrm>
          <a:off x="792349" y="2178794"/>
          <a:ext cx="3733405" cy="3073894"/>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2" name="文本框 1"/>
              <p:cNvSpPr txBox="1"/>
              <p:nvPr/>
            </p:nvSpPr>
            <p:spPr>
              <a:xfrm>
                <a:off x="3806372" y="5510994"/>
                <a:ext cx="2467428" cy="910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zh-CN" altLang="en-US" sz="2800" b="1" i="1" dirty="0" smtClean="0">
                              <a:solidFill>
                                <a:schemeClr val="tx1"/>
                              </a:solidFill>
                              <a:latin typeface="Cambria Math" panose="02040503050406030204" pitchFamily="18" charset="0"/>
                            </a:rPr>
                          </m:ctrlPr>
                        </m:fPr>
                        <m:num>
                          <m:r>
                            <a:rPr lang="zh-CN" altLang="en-US" sz="2800" b="1" i="1" dirty="0">
                              <a:solidFill>
                                <a:schemeClr val="tx1"/>
                              </a:solidFill>
                              <a:latin typeface="Cambria Math" panose="02040503050406030204" pitchFamily="18" charset="0"/>
                            </a:rPr>
                            <m:t>𝟏</m:t>
                          </m:r>
                          <m:r>
                            <a:rPr lang="zh-CN" altLang="en-US" sz="2800" b="1" dirty="0">
                              <a:solidFill>
                                <a:schemeClr val="tx1"/>
                              </a:solidFill>
                              <a:latin typeface="Cambria Math" panose="02040503050406030204" pitchFamily="18" charset="0"/>
                            </a:rPr>
                            <m:t>.</m:t>
                          </m:r>
                          <m:r>
                            <a:rPr lang="zh-CN" altLang="en-US" sz="2800" b="1" i="1" dirty="0">
                              <a:solidFill>
                                <a:schemeClr val="tx1"/>
                              </a:solidFill>
                              <a:latin typeface="Cambria Math" panose="02040503050406030204" pitchFamily="18" charset="0"/>
                            </a:rPr>
                            <m:t>𝟓</m:t>
                          </m:r>
                        </m:num>
                        <m:den>
                          <m:r>
                            <a:rPr lang="zh-CN" altLang="en-US" sz="2800" b="1" i="0" dirty="0">
                              <a:solidFill>
                                <a:schemeClr val="tx1"/>
                              </a:solidFill>
                              <a:latin typeface="Cambria Math" panose="02040503050406030204" pitchFamily="18" charset="0"/>
                            </a:rPr>
                            <m:t>𝟕𝟓𝟎</m:t>
                          </m:r>
                        </m:den>
                      </m:f>
                      <m:r>
                        <a:rPr lang="en-US" altLang="zh-CN" sz="2800" b="1" i="1" dirty="0" smtClean="0">
                          <a:solidFill>
                            <a:schemeClr val="tx1"/>
                          </a:solidFill>
                          <a:latin typeface="Cambria Math" panose="02040503050406030204" pitchFamily="18" charset="0"/>
                        </a:rPr>
                        <m:t>=</m:t>
                      </m:r>
                      <m:r>
                        <a:rPr lang="en-US" altLang="zh-CN" sz="2800" b="1" i="1" dirty="0" smtClean="0">
                          <a:solidFill>
                            <a:schemeClr val="tx1"/>
                          </a:solidFill>
                          <a:latin typeface="Cambria Math" panose="02040503050406030204" pitchFamily="18" charset="0"/>
                        </a:rPr>
                        <m:t>𝟎</m:t>
                      </m:r>
                      <m:r>
                        <a:rPr lang="en-US" altLang="zh-CN" sz="2800" b="1" i="1" dirty="0" smtClean="0">
                          <a:solidFill>
                            <a:schemeClr val="tx1"/>
                          </a:solidFill>
                          <a:latin typeface="Cambria Math" panose="02040503050406030204" pitchFamily="18" charset="0"/>
                        </a:rPr>
                        <m:t>.</m:t>
                      </m:r>
                      <m:r>
                        <a:rPr lang="en-US" altLang="zh-CN" sz="2800" b="1" i="1" dirty="0" smtClean="0">
                          <a:solidFill>
                            <a:schemeClr val="tx1"/>
                          </a:solidFill>
                          <a:latin typeface="Cambria Math" panose="02040503050406030204" pitchFamily="18" charset="0"/>
                        </a:rPr>
                        <m:t>𝟐</m:t>
                      </m:r>
                      <m:r>
                        <a:rPr lang="en-US" altLang="zh-CN" sz="2800" b="1" i="1" dirty="0" smtClean="0">
                          <a:solidFill>
                            <a:schemeClr val="tx1"/>
                          </a:solidFill>
                          <a:latin typeface="Cambria Math" panose="02040503050406030204" pitchFamily="18" charset="0"/>
                        </a:rPr>
                        <m:t>%</m:t>
                      </m:r>
                    </m:oMath>
                  </m:oMathPara>
                </a14:m>
                <a:endParaRPr lang="zh-CN" altLang="en-US" sz="2800" b="1" dirty="0">
                  <a:solidFill>
                    <a:schemeClr val="tx1"/>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806372" y="5510994"/>
                <a:ext cx="2467428" cy="910570"/>
              </a:xfrm>
              <a:prstGeom prst="rect">
                <a:avLst/>
              </a:prstGeom>
              <a:blipFill>
                <a:blip r:embed="rId4"/>
                <a:stretch>
                  <a:fillRect/>
                </a:stretch>
              </a:blipFill>
            </p:spPr>
            <p:txBody>
              <a:bodyPr/>
              <a:lstStyle/>
              <a:p>
                <a:r>
                  <a:rPr lang="zh-CN" altLang="en-US">
                    <a:noFill/>
                  </a:rPr>
                  <a:t> </a:t>
                </a:r>
              </a:p>
            </p:txBody>
          </p:sp>
        </mc:Fallback>
      </mc:AlternateContent>
      <p:cxnSp>
        <p:nvCxnSpPr>
          <p:cNvPr id="5" name="直接箭头连接符 4"/>
          <p:cNvCxnSpPr>
            <a:cxnSpLocks/>
          </p:cNvCxnSpPr>
          <p:nvPr/>
        </p:nvCxnSpPr>
        <p:spPr>
          <a:xfrm flipH="1" flipV="1">
            <a:off x="3390900" y="3302000"/>
            <a:ext cx="1016000" cy="21282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A9F51115-5E32-44E0-914B-88B23ADD1439}"/>
              </a:ext>
            </a:extLst>
          </p:cNvPr>
          <p:cNvSpPr txBox="1">
            <a:spLocks/>
          </p:cNvSpPr>
          <p:nvPr/>
        </p:nvSpPr>
        <p:spPr>
          <a:xfrm>
            <a:off x="10285" y="21040"/>
            <a:ext cx="9144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The Direct Cost of Context Switching</a:t>
            </a:r>
            <a:endParaRPr lang="en-US" b="1" dirty="0">
              <a:latin typeface="Calibri" panose="020F0502020204030204" pitchFamily="34" charset="0"/>
              <a:cs typeface="Calibri" panose="020F0502020204030204" pitchFamily="34" charset="0"/>
            </a:endParaRPr>
          </a:p>
        </p:txBody>
      </p:sp>
      <p:graphicFrame>
        <p:nvGraphicFramePr>
          <p:cNvPr id="12" name="图表 11">
            <a:extLst>
              <a:ext uri="{FF2B5EF4-FFF2-40B4-BE49-F238E27FC236}">
                <a16:creationId xmlns:a16="http://schemas.microsoft.com/office/drawing/2014/main" id="{02D0453F-DD31-400C-895F-9000495D8511}"/>
              </a:ext>
            </a:extLst>
          </p:cNvPr>
          <p:cNvGraphicFramePr>
            <a:graphicFrameLocks/>
          </p:cNvGraphicFramePr>
          <p:nvPr>
            <p:extLst>
              <p:ext uri="{D42A27DB-BD31-4B8C-83A1-F6EECF244321}">
                <p14:modId xmlns:p14="http://schemas.microsoft.com/office/powerpoint/2010/main" val="200457025"/>
              </p:ext>
            </p:extLst>
          </p:nvPr>
        </p:nvGraphicFramePr>
        <p:xfrm>
          <a:off x="5090701" y="2178794"/>
          <a:ext cx="3577281" cy="3073894"/>
        </p:xfrm>
        <a:graphic>
          <a:graphicData uri="http://schemas.openxmlformats.org/drawingml/2006/chart">
            <c:chart xmlns:c="http://schemas.openxmlformats.org/drawingml/2006/chart" xmlns:r="http://schemas.openxmlformats.org/officeDocument/2006/relationships" r:id="rId5"/>
          </a:graphicData>
        </a:graphic>
      </p:graphicFrame>
      <p:cxnSp>
        <p:nvCxnSpPr>
          <p:cNvPr id="15" name="直接箭头连接符 14">
            <a:extLst>
              <a:ext uri="{FF2B5EF4-FFF2-40B4-BE49-F238E27FC236}">
                <a16:creationId xmlns:a16="http://schemas.microsoft.com/office/drawing/2014/main" id="{D90EB65D-FAD6-481B-92FA-1FEB27133E34}"/>
              </a:ext>
            </a:extLst>
          </p:cNvPr>
          <p:cNvCxnSpPr>
            <a:cxnSpLocks/>
          </p:cNvCxnSpPr>
          <p:nvPr/>
        </p:nvCxnSpPr>
        <p:spPr>
          <a:xfrm flipV="1">
            <a:off x="5410200" y="3213101"/>
            <a:ext cx="863600" cy="221711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C4E47B20-C38D-469C-88BE-BB9CEF992F0E}"/>
              </a:ext>
            </a:extLst>
          </p:cNvPr>
          <p:cNvSpPr txBox="1"/>
          <p:nvPr/>
        </p:nvSpPr>
        <p:spPr>
          <a:xfrm>
            <a:off x="1638502" y="5244966"/>
            <a:ext cx="2374901" cy="369332"/>
          </a:xfrm>
          <a:prstGeom prst="rect">
            <a:avLst/>
          </a:prstGeom>
          <a:noFill/>
        </p:spPr>
        <p:txBody>
          <a:bodyPr wrap="square" rtlCol="0">
            <a:spAutoFit/>
          </a:bodyPr>
          <a:lstStyle/>
          <a:p>
            <a:r>
              <a:rPr lang="en-US" altLang="zh-CN" dirty="0"/>
              <a:t>(a) Pure computation  </a:t>
            </a:r>
            <a:endParaRPr lang="zh-CN" altLang="en-US" dirty="0"/>
          </a:p>
        </p:txBody>
      </p:sp>
      <p:sp>
        <p:nvSpPr>
          <p:cNvPr id="21" name="文本框 20">
            <a:extLst>
              <a:ext uri="{FF2B5EF4-FFF2-40B4-BE49-F238E27FC236}">
                <a16:creationId xmlns:a16="http://schemas.microsoft.com/office/drawing/2014/main" id="{80E14709-38BE-49CA-9D10-B33926198178}"/>
              </a:ext>
            </a:extLst>
          </p:cNvPr>
          <p:cNvSpPr txBox="1"/>
          <p:nvPr/>
        </p:nvSpPr>
        <p:spPr>
          <a:xfrm>
            <a:off x="5859259" y="5262744"/>
            <a:ext cx="2597973" cy="369332"/>
          </a:xfrm>
          <a:prstGeom prst="rect">
            <a:avLst/>
          </a:prstGeom>
          <a:noFill/>
        </p:spPr>
        <p:txBody>
          <a:bodyPr wrap="square" rtlCol="0">
            <a:spAutoFit/>
          </a:bodyPr>
          <a:lstStyle/>
          <a:p>
            <a:r>
              <a:rPr lang="en-US" altLang="zh-CN" dirty="0"/>
              <a:t>(b) with synchronization</a:t>
            </a:r>
            <a:endParaRPr lang="zh-CN" altLang="en-US" dirty="0"/>
          </a:p>
        </p:txBody>
      </p:sp>
    </p:spTree>
    <p:extLst>
      <p:ext uri="{BB962C8B-B14F-4D97-AF65-F5344CB8AC3E}">
        <p14:creationId xmlns:p14="http://schemas.microsoft.com/office/powerpoint/2010/main" val="78285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FB5DB19-BBD7-4DBE-B9CC-D7C7EF1664E7}"/>
              </a:ext>
            </a:extLst>
          </p:cNvPr>
          <p:cNvSpPr>
            <a:spLocks noGrp="1"/>
          </p:cNvSpPr>
          <p:nvPr>
            <p:ph idx="1"/>
          </p:nvPr>
        </p:nvSpPr>
        <p:spPr>
          <a:xfrm>
            <a:off x="540045" y="1321995"/>
            <a:ext cx="8114564" cy="4351338"/>
          </a:xfrm>
        </p:spPr>
        <p:txBody>
          <a:bodyPr>
            <a:normAutofit/>
          </a:bodyPr>
          <a:lstStyle/>
          <a:p>
            <a:pPr>
              <a:lnSpc>
                <a:spcPct val="170000"/>
              </a:lnSpc>
            </a:pPr>
            <a:r>
              <a:rPr lang="en-US" altLang="zh-CN" sz="2800" dirty="0">
                <a:latin typeface="+mn-lt"/>
                <a:cs typeface="Calibri" panose="020F0502020204030204" pitchFamily="34" charset="0"/>
              </a:rPr>
              <a:t>Most applications perform context switches no more often than every </a:t>
            </a:r>
            <a:r>
              <a:rPr lang="en-US" altLang="zh-CN" sz="2800" b="1" dirty="0">
                <a:latin typeface="+mn-lt"/>
                <a:cs typeface="Calibri" panose="020F0502020204030204" pitchFamily="34" charset="0"/>
              </a:rPr>
              <a:t>1000 </a:t>
            </a:r>
            <a:r>
              <a:rPr lang="zh-CN" altLang="en-US" sz="2800" b="1" dirty="0">
                <a:latin typeface="+mn-lt"/>
                <a:cs typeface="Calibri" panose="020F0502020204030204" pitchFamily="34" charset="0"/>
              </a:rPr>
              <a:t>𝜇𝑠</a:t>
            </a:r>
          </a:p>
          <a:p>
            <a:pPr>
              <a:lnSpc>
                <a:spcPct val="170000"/>
              </a:lnSpc>
            </a:pPr>
            <a:endParaRPr lang="en-US" altLang="zh-CN" dirty="0">
              <a:latin typeface="+mn-lt"/>
              <a:cs typeface="Calibri" panose="020F0502020204030204" pitchFamily="34" charset="0"/>
            </a:endParaRPr>
          </a:p>
        </p:txBody>
      </p:sp>
      <p:sp>
        <p:nvSpPr>
          <p:cNvPr id="4" name="Slide Number Placeholder 3">
            <a:extLst>
              <a:ext uri="{FF2B5EF4-FFF2-40B4-BE49-F238E27FC236}">
                <a16:creationId xmlns:a16="http://schemas.microsoft.com/office/drawing/2014/main" id="{710827F2-6BD4-8F4F-B46B-6B0A62FC3564}"/>
              </a:ext>
            </a:extLst>
          </p:cNvPr>
          <p:cNvSpPr>
            <a:spLocks noGrp="1"/>
          </p:cNvSpPr>
          <p:nvPr>
            <p:ph type="sldNum" sz="quarter" idx="12"/>
          </p:nvPr>
        </p:nvSpPr>
        <p:spPr/>
        <p:txBody>
          <a:bodyPr/>
          <a:lstStyle/>
          <a:p>
            <a:fld id="{72E3C5E5-1620-704A-B1BC-D84381C5FEE1}" type="slidenum">
              <a:rPr lang="en-US" smtClean="0"/>
              <a:t>11</a:t>
            </a:fld>
            <a:endParaRPr lang="en-US"/>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588" y="2875479"/>
            <a:ext cx="5694977" cy="3614935"/>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6383565" y="3700277"/>
                <a:ext cx="2760435" cy="910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zh-CN" altLang="en-US" sz="2800" b="1" i="1" dirty="0" smtClean="0">
                              <a:solidFill>
                                <a:schemeClr val="tx1"/>
                              </a:solidFill>
                              <a:latin typeface="Cambria Math" panose="02040503050406030204" pitchFamily="18" charset="0"/>
                            </a:rPr>
                          </m:ctrlPr>
                        </m:fPr>
                        <m:num>
                          <m:r>
                            <a:rPr lang="zh-CN" altLang="en-US" sz="2800" b="1" i="1" dirty="0">
                              <a:solidFill>
                                <a:schemeClr val="tx1"/>
                              </a:solidFill>
                              <a:latin typeface="Cambria Math" panose="02040503050406030204" pitchFamily="18" charset="0"/>
                            </a:rPr>
                            <m:t>𝟏</m:t>
                          </m:r>
                          <m:r>
                            <a:rPr lang="zh-CN" altLang="en-US" sz="2800" b="1" dirty="0">
                              <a:solidFill>
                                <a:schemeClr val="tx1"/>
                              </a:solidFill>
                              <a:latin typeface="Cambria Math" panose="02040503050406030204" pitchFamily="18" charset="0"/>
                            </a:rPr>
                            <m:t>.</m:t>
                          </m:r>
                          <m:r>
                            <a:rPr lang="zh-CN" altLang="en-US" sz="2800" b="1" i="1" dirty="0">
                              <a:solidFill>
                                <a:schemeClr val="tx1"/>
                              </a:solidFill>
                              <a:latin typeface="Cambria Math" panose="02040503050406030204" pitchFamily="18" charset="0"/>
                            </a:rPr>
                            <m:t>𝟓</m:t>
                          </m:r>
                        </m:num>
                        <m:den>
                          <m:r>
                            <a:rPr lang="en-US" altLang="zh-CN" sz="2800" b="1" i="1" dirty="0" smtClean="0">
                              <a:solidFill>
                                <a:schemeClr val="tx1"/>
                              </a:solidFill>
                              <a:latin typeface="Cambria Math" panose="02040503050406030204" pitchFamily="18" charset="0"/>
                            </a:rPr>
                            <m:t>𝟏𝟎𝟎𝟎</m:t>
                          </m:r>
                        </m:den>
                      </m:f>
                      <m:r>
                        <a:rPr lang="en-US" altLang="zh-CN" sz="2800" b="1" i="1" dirty="0" smtClean="0">
                          <a:solidFill>
                            <a:schemeClr val="tx1"/>
                          </a:solidFill>
                          <a:latin typeface="Cambria Math" panose="02040503050406030204" pitchFamily="18" charset="0"/>
                        </a:rPr>
                        <m:t>=</m:t>
                      </m:r>
                      <m:r>
                        <a:rPr lang="en-US" altLang="zh-CN" sz="2800" b="1" i="1" dirty="0" smtClean="0">
                          <a:solidFill>
                            <a:schemeClr val="tx1"/>
                          </a:solidFill>
                          <a:latin typeface="Cambria Math" panose="02040503050406030204" pitchFamily="18" charset="0"/>
                        </a:rPr>
                        <m:t>𝟎</m:t>
                      </m:r>
                      <m:r>
                        <a:rPr lang="en-US" altLang="zh-CN" sz="2800" b="1" i="1" dirty="0" smtClean="0">
                          <a:solidFill>
                            <a:schemeClr val="tx1"/>
                          </a:solidFill>
                          <a:latin typeface="Cambria Math" panose="02040503050406030204" pitchFamily="18" charset="0"/>
                        </a:rPr>
                        <m:t>.</m:t>
                      </m:r>
                      <m:r>
                        <a:rPr lang="en-US" altLang="zh-CN" sz="2800" b="1" i="1" dirty="0" smtClean="0">
                          <a:solidFill>
                            <a:schemeClr val="tx1"/>
                          </a:solidFill>
                          <a:latin typeface="Cambria Math" panose="02040503050406030204" pitchFamily="18" charset="0"/>
                        </a:rPr>
                        <m:t>𝟏𝟓</m:t>
                      </m:r>
                      <m:r>
                        <a:rPr lang="en-US" altLang="zh-CN" sz="2800" b="1" i="1" dirty="0" smtClean="0">
                          <a:solidFill>
                            <a:schemeClr val="tx1"/>
                          </a:solidFill>
                          <a:latin typeface="Cambria Math" panose="02040503050406030204" pitchFamily="18" charset="0"/>
                        </a:rPr>
                        <m:t>%</m:t>
                      </m:r>
                    </m:oMath>
                  </m:oMathPara>
                </a14:m>
                <a:endParaRPr lang="zh-CN" altLang="en-US" sz="2800" b="1" dirty="0">
                  <a:solidFill>
                    <a:schemeClr val="tx1"/>
                  </a:solidFill>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6383565" y="3700277"/>
                <a:ext cx="2760435" cy="910570"/>
              </a:xfrm>
              <a:prstGeom prst="rect">
                <a:avLst/>
              </a:prstGeom>
              <a:blipFill>
                <a:blip r:embed="rId4"/>
                <a:stretch>
                  <a:fillRect/>
                </a:stretch>
              </a:blipFill>
            </p:spPr>
            <p:txBody>
              <a:bodyPr/>
              <a:lstStyle/>
              <a:p>
                <a:r>
                  <a:rPr lang="zh-CN" altLang="en-US">
                    <a:noFill/>
                  </a:rPr>
                  <a:t> </a:t>
                </a:r>
              </a:p>
            </p:txBody>
          </p:sp>
        </mc:Fallback>
      </mc:AlternateContent>
      <p:sp>
        <p:nvSpPr>
          <p:cNvPr id="2" name="矩形 1"/>
          <p:cNvSpPr/>
          <p:nvPr/>
        </p:nvSpPr>
        <p:spPr>
          <a:xfrm>
            <a:off x="5648683" y="3007958"/>
            <a:ext cx="871370" cy="3205778"/>
          </a:xfrm>
          <a:prstGeom prst="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1372294" y="4072634"/>
                <a:ext cx="2760435" cy="910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zh-CN" altLang="en-US" sz="2800" b="1" i="1" dirty="0" smtClean="0">
                              <a:solidFill>
                                <a:schemeClr val="tx1"/>
                              </a:solidFill>
                              <a:latin typeface="Cambria Math" panose="02040503050406030204" pitchFamily="18" charset="0"/>
                            </a:rPr>
                          </m:ctrlPr>
                        </m:fPr>
                        <m:num>
                          <m:r>
                            <a:rPr lang="zh-CN" altLang="en-US" sz="2800" b="1" i="1" dirty="0">
                              <a:solidFill>
                                <a:schemeClr val="tx1"/>
                              </a:solidFill>
                              <a:latin typeface="Cambria Math" panose="02040503050406030204" pitchFamily="18" charset="0"/>
                            </a:rPr>
                            <m:t>𝟏</m:t>
                          </m:r>
                          <m:r>
                            <a:rPr lang="zh-CN" altLang="en-US" sz="2800" b="1" dirty="0">
                              <a:solidFill>
                                <a:schemeClr val="tx1"/>
                              </a:solidFill>
                              <a:latin typeface="Cambria Math" panose="02040503050406030204" pitchFamily="18" charset="0"/>
                            </a:rPr>
                            <m:t>.</m:t>
                          </m:r>
                          <m:r>
                            <a:rPr lang="zh-CN" altLang="en-US" sz="2800" b="1" i="1" dirty="0">
                              <a:solidFill>
                                <a:schemeClr val="tx1"/>
                              </a:solidFill>
                              <a:latin typeface="Cambria Math" panose="02040503050406030204" pitchFamily="18" charset="0"/>
                            </a:rPr>
                            <m:t>𝟓</m:t>
                          </m:r>
                        </m:num>
                        <m:den>
                          <m:r>
                            <a:rPr lang="en-US" altLang="zh-CN" sz="2800" b="1" i="1" dirty="0" smtClean="0">
                              <a:solidFill>
                                <a:schemeClr val="tx1"/>
                              </a:solidFill>
                              <a:latin typeface="Cambria Math" panose="02040503050406030204" pitchFamily="18" charset="0"/>
                            </a:rPr>
                            <m:t>𝟏𝟔𝟎</m:t>
                          </m:r>
                        </m:den>
                      </m:f>
                      <m:r>
                        <a:rPr lang="en-US" altLang="zh-CN" sz="2800" b="1" i="1" dirty="0" smtClean="0">
                          <a:solidFill>
                            <a:schemeClr val="tx1"/>
                          </a:solidFill>
                          <a:latin typeface="Cambria Math" panose="02040503050406030204" pitchFamily="18" charset="0"/>
                        </a:rPr>
                        <m:t>&lt;</m:t>
                      </m:r>
                      <m:r>
                        <a:rPr lang="en-US" altLang="zh-CN" sz="2800" b="1" i="1" dirty="0" smtClean="0">
                          <a:solidFill>
                            <a:schemeClr val="tx1"/>
                          </a:solidFill>
                          <a:latin typeface="Cambria Math" panose="02040503050406030204" pitchFamily="18" charset="0"/>
                        </a:rPr>
                        <m:t>𝟏</m:t>
                      </m:r>
                      <m:r>
                        <a:rPr lang="en-US" altLang="zh-CN" sz="2800" b="1" i="1" dirty="0" smtClean="0">
                          <a:solidFill>
                            <a:schemeClr val="tx1"/>
                          </a:solidFill>
                          <a:latin typeface="Cambria Math" panose="02040503050406030204" pitchFamily="18" charset="0"/>
                        </a:rPr>
                        <m:t>%</m:t>
                      </m:r>
                    </m:oMath>
                  </m:oMathPara>
                </a14:m>
                <a:endParaRPr lang="zh-CN" altLang="en-US" sz="2800" b="1" dirty="0">
                  <a:solidFill>
                    <a:schemeClr val="tx1"/>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372294" y="4072634"/>
                <a:ext cx="2760435" cy="910570"/>
              </a:xfrm>
              <a:prstGeom prst="rect">
                <a:avLst/>
              </a:prstGeom>
              <a:blipFill>
                <a:blip r:embed="rId5"/>
                <a:stretch>
                  <a:fillRect/>
                </a:stretch>
              </a:blipFill>
            </p:spPr>
            <p:txBody>
              <a:bodyPr/>
              <a:lstStyle/>
              <a:p>
                <a:r>
                  <a:rPr lang="zh-CN" altLang="en-US">
                    <a:noFill/>
                  </a:rPr>
                  <a:t> </a:t>
                </a:r>
              </a:p>
            </p:txBody>
          </p:sp>
        </mc:Fallback>
      </mc:AlternateContent>
      <p:cxnSp>
        <p:nvCxnSpPr>
          <p:cNvPr id="10" name="直接箭头连接符 9"/>
          <p:cNvCxnSpPr/>
          <p:nvPr/>
        </p:nvCxnSpPr>
        <p:spPr>
          <a:xfrm flipH="1">
            <a:off x="1969569" y="4983204"/>
            <a:ext cx="505608" cy="55280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2159D3E2-E34C-4ADC-8E0D-E293A56E69FA}"/>
              </a:ext>
            </a:extLst>
          </p:cNvPr>
          <p:cNvSpPr txBox="1">
            <a:spLocks/>
          </p:cNvSpPr>
          <p:nvPr/>
        </p:nvSpPr>
        <p:spPr>
          <a:xfrm>
            <a:off x="10285" y="21040"/>
            <a:ext cx="9144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The Frequency of Context Switching</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3214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1984" y="3156983"/>
            <a:ext cx="5605966" cy="3643877"/>
          </a:xfrm>
          <a:prstGeom prst="rect">
            <a:avLst/>
          </a:prstGeom>
        </p:spPr>
      </p:pic>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96AB6AEB-F5B2-41AF-9FC8-4F48EBC587F5}"/>
                  </a:ext>
                </a:extLst>
              </p:cNvPr>
              <p:cNvSpPr>
                <a:spLocks noGrp="1"/>
              </p:cNvSpPr>
              <p:nvPr>
                <p:ph idx="1"/>
              </p:nvPr>
            </p:nvSpPr>
            <p:spPr>
              <a:xfrm>
                <a:off x="540045" y="920867"/>
                <a:ext cx="8114564" cy="3971284"/>
              </a:xfrm>
            </p:spPr>
            <p:txBody>
              <a:bodyPr>
                <a:normAutofit/>
              </a:bodyPr>
              <a:lstStyle/>
              <a:p>
                <a:pPr>
                  <a:lnSpc>
                    <a:spcPct val="170000"/>
                  </a:lnSpc>
                </a:pPr>
                <a:r>
                  <a:rPr lang="en-US" altLang="zh-CN" dirty="0">
                    <a:latin typeface="+mn-lt"/>
                    <a:cs typeface="Calibri" panose="020F0502020204030204" pitchFamily="34" charset="0"/>
                  </a:rPr>
                  <a:t>The indirect cost is calculated as </a:t>
                </a:r>
                <a14:m>
                  <m:oMath xmlns:m="http://schemas.openxmlformats.org/officeDocument/2006/math">
                    <m:f>
                      <m:fPr>
                        <m:ctrlPr>
                          <a:rPr lang="zh-CN" altLang="en-US" sz="2800" b="1" i="1" dirty="0" smtClean="0">
                            <a:solidFill>
                              <a:schemeClr val="tx1"/>
                            </a:solidFill>
                            <a:latin typeface="Cambria Math" panose="02040503050406030204" pitchFamily="18" charset="0"/>
                          </a:rPr>
                        </m:ctrlPr>
                      </m:fPr>
                      <m:num>
                        <m:r>
                          <m:rPr>
                            <m:nor/>
                          </m:rPr>
                          <a:rPr lang="zh-CN" altLang="en-US" sz="2800" dirty="0">
                            <a:latin typeface="Arial" panose="020B0604020202020204" pitchFamily="34" charset="0"/>
                          </a:rPr>
                          <m:t>𝑡</m:t>
                        </m:r>
                        <m:r>
                          <m:rPr>
                            <m:nor/>
                          </m:rPr>
                          <a:rPr lang="en-US" altLang="zh-CN" sz="2800" baseline="-25000" dirty="0">
                            <a:latin typeface="+mn-lt"/>
                          </a:rPr>
                          <m:t>o</m:t>
                        </m:r>
                        <m:r>
                          <m:rPr>
                            <m:nor/>
                          </m:rPr>
                          <a:rPr lang="zh-CN" altLang="en-US" sz="2800" baseline="-25000" dirty="0">
                            <a:latin typeface="+mn-lt"/>
                          </a:rPr>
                          <m:t>𝑣𝑒𝑟</m:t>
                        </m:r>
                        <m:r>
                          <m:rPr>
                            <m:nor/>
                          </m:rPr>
                          <a:rPr lang="en-US" altLang="zh-CN" sz="2800" b="0" i="0" dirty="0" smtClean="0">
                            <a:latin typeface="Arial" panose="020B0604020202020204" pitchFamily="34" charset="0"/>
                          </a:rPr>
                          <m:t>−</m:t>
                        </m:r>
                        <m:r>
                          <m:rPr>
                            <m:nor/>
                          </m:rPr>
                          <a:rPr lang="en-US" altLang="zh-CN" sz="2800" b="0" i="0" dirty="0" smtClean="0">
                            <a:latin typeface="Arial" panose="020B0604020202020204" pitchFamily="34" charset="0"/>
                          </a:rPr>
                          <m:t>t</m:t>
                        </m:r>
                        <m:r>
                          <m:rPr>
                            <m:nor/>
                          </m:rPr>
                          <a:rPr lang="en-US" altLang="zh-CN" sz="2800" b="0" i="0" baseline="-25000" dirty="0" smtClean="0">
                            <a:latin typeface="+mn-lt"/>
                          </a:rPr>
                          <m:t>seria</m:t>
                        </m:r>
                        <m:r>
                          <m:rPr>
                            <m:sty m:val="p"/>
                          </m:rPr>
                          <a:rPr lang="en-US" altLang="zh-CN" i="1" baseline="-25000" dirty="0">
                            <a:latin typeface="Cambria Math" panose="02040503050406030204" pitchFamily="18" charset="0"/>
                          </a:rPr>
                          <m:t>l</m:t>
                        </m:r>
                      </m:num>
                      <m:den>
                        <m:r>
                          <a:rPr lang="en-US" altLang="zh-CN" sz="2800" b="1" i="1" dirty="0" smtClean="0">
                            <a:solidFill>
                              <a:schemeClr val="tx1"/>
                            </a:solidFill>
                            <a:latin typeface="Cambria Math" panose="02040503050406030204" pitchFamily="18" charset="0"/>
                          </a:rPr>
                          <m:t># </m:t>
                        </m:r>
                        <m:r>
                          <a:rPr lang="en-US" altLang="zh-CN" sz="2800" b="1" i="1" dirty="0" smtClean="0">
                            <a:solidFill>
                              <a:schemeClr val="tx1"/>
                            </a:solidFill>
                            <a:latin typeface="Cambria Math" panose="02040503050406030204" pitchFamily="18" charset="0"/>
                          </a:rPr>
                          <m:t>𝒐𝒇</m:t>
                        </m:r>
                        <m:r>
                          <a:rPr lang="en-US" altLang="zh-CN" sz="2800" b="1" i="1" dirty="0" smtClean="0">
                            <a:solidFill>
                              <a:schemeClr val="tx1"/>
                            </a:solidFill>
                            <a:latin typeface="Cambria Math" panose="02040503050406030204" pitchFamily="18" charset="0"/>
                          </a:rPr>
                          <m:t> </m:t>
                        </m:r>
                        <m:r>
                          <a:rPr lang="en-US" altLang="zh-CN" sz="2800" b="1" i="1" dirty="0" smtClean="0">
                            <a:solidFill>
                              <a:schemeClr val="tx1"/>
                            </a:solidFill>
                            <a:latin typeface="Cambria Math" panose="02040503050406030204" pitchFamily="18" charset="0"/>
                          </a:rPr>
                          <m:t>𝑪𝑺</m:t>
                        </m:r>
                      </m:den>
                    </m:f>
                  </m:oMath>
                </a14:m>
                <a:endParaRPr lang="en-US" altLang="zh-CN" sz="2800" b="1" dirty="0">
                  <a:solidFill>
                    <a:schemeClr val="tx1"/>
                  </a:solidFill>
                  <a:latin typeface="+mn-lt"/>
                </a:endParaRPr>
              </a:p>
              <a:p>
                <a:pPr lvl="1">
                  <a:lnSpc>
                    <a:spcPct val="170000"/>
                  </a:lnSpc>
                </a:pPr>
                <a:r>
                  <a:rPr lang="en-US" altLang="zh-CN" dirty="0">
                    <a:latin typeface="+mj-lt"/>
                    <a:cs typeface="Calibri" panose="020F0502020204030204" pitchFamily="34" charset="0"/>
                  </a:rPr>
                  <a:t>The overhead is less than 6%</a:t>
                </a:r>
              </a:p>
              <a:p>
                <a:pPr lvl="1">
                  <a:lnSpc>
                    <a:spcPct val="170000"/>
                  </a:lnSpc>
                </a:pPr>
                <a:r>
                  <a:rPr lang="en-US" altLang="zh-CN" dirty="0">
                    <a:latin typeface="+mj-lt"/>
                    <a:cs typeface="Calibri" panose="020F0502020204030204" pitchFamily="34" charset="0"/>
                  </a:rPr>
                  <a:t>Improving the effectiveness of TLB for random access</a:t>
                </a:r>
              </a:p>
            </p:txBody>
          </p:sp>
        </mc:Choice>
        <mc:Fallback xmlns="">
          <p:sp>
            <p:nvSpPr>
              <p:cNvPr id="13" name="Content Placeholder 2">
                <a:extLst>
                  <a:ext uri="{FF2B5EF4-FFF2-40B4-BE49-F238E27FC236}">
                    <a16:creationId xmlns:a16="http://schemas.microsoft.com/office/drawing/2014/main" id="{96AB6AEB-F5B2-41AF-9FC8-4F48EBC587F5}"/>
                  </a:ext>
                </a:extLst>
              </p:cNvPr>
              <p:cNvSpPr>
                <a:spLocks noGrp="1" noRot="1" noChangeAspect="1" noMove="1" noResize="1" noEditPoints="1" noAdjustHandles="1" noChangeArrowheads="1" noChangeShapeType="1" noTextEdit="1"/>
              </p:cNvSpPr>
              <p:nvPr>
                <p:ph idx="1"/>
              </p:nvPr>
            </p:nvSpPr>
            <p:spPr>
              <a:xfrm>
                <a:off x="540045" y="920867"/>
                <a:ext cx="8114564" cy="3971284"/>
              </a:xfrm>
              <a:blipFill>
                <a:blip r:embed="rId4"/>
                <a:stretch>
                  <a:fillRect l="-1352"/>
                </a:stretch>
              </a:blipFill>
            </p:spPr>
            <p:txBody>
              <a:bodyPr/>
              <a:lstStyle/>
              <a:p>
                <a:r>
                  <a:rPr lang="zh-CN" altLang="en-US">
                    <a:noFill/>
                  </a:rPr>
                  <a:t> </a:t>
                </a:r>
              </a:p>
            </p:txBody>
          </p:sp>
        </mc:Fallback>
      </mc:AlternateContent>
      <p:sp>
        <p:nvSpPr>
          <p:cNvPr id="4" name="Slide Number Placeholder 3">
            <a:extLst>
              <a:ext uri="{FF2B5EF4-FFF2-40B4-BE49-F238E27FC236}">
                <a16:creationId xmlns:a16="http://schemas.microsoft.com/office/drawing/2014/main" id="{710827F2-6BD4-8F4F-B46B-6B0A62FC3564}"/>
              </a:ext>
            </a:extLst>
          </p:cNvPr>
          <p:cNvSpPr>
            <a:spLocks noGrp="1"/>
          </p:cNvSpPr>
          <p:nvPr>
            <p:ph type="sldNum" sz="quarter" idx="12"/>
          </p:nvPr>
        </p:nvSpPr>
        <p:spPr/>
        <p:txBody>
          <a:bodyPr/>
          <a:lstStyle/>
          <a:p>
            <a:fld id="{72E3C5E5-1620-704A-B1BC-D84381C5FEE1}" type="slidenum">
              <a:rPr lang="en-US" smtClean="0"/>
              <a:t>12</a:t>
            </a:fld>
            <a:endParaRPr lang="en-US" dirty="0"/>
          </a:p>
        </p:txBody>
      </p:sp>
      <mc:AlternateContent xmlns:mc="http://schemas.openxmlformats.org/markup-compatibility/2006" xmlns:a14="http://schemas.microsoft.com/office/drawing/2010/main">
        <mc:Choice Requires="a14">
          <p:sp>
            <p:nvSpPr>
              <p:cNvPr id="3" name="文本框 2"/>
              <p:cNvSpPr txBox="1"/>
              <p:nvPr/>
            </p:nvSpPr>
            <p:spPr>
              <a:xfrm>
                <a:off x="5977929" y="3379093"/>
                <a:ext cx="2589437"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zh-CN" altLang="en-US" sz="2400" b="1" i="1" dirty="0" smtClean="0">
                              <a:latin typeface="Cambria Math" panose="02040503050406030204" pitchFamily="18" charset="0"/>
                            </a:rPr>
                          </m:ctrlPr>
                        </m:fPr>
                        <m:num>
                          <m:r>
                            <a:rPr lang="zh-CN" altLang="en-US" sz="2400" b="1" i="1" dirty="0">
                              <a:latin typeface="Cambria Math" panose="02040503050406030204" pitchFamily="18" charset="0"/>
                            </a:rPr>
                            <m:t>𝟏</m:t>
                          </m:r>
                        </m:num>
                        <m:den>
                          <m:r>
                            <a:rPr lang="en-US" altLang="zh-CN" sz="2400" b="1" i="1" dirty="0">
                              <a:latin typeface="Cambria Math" panose="02040503050406030204" pitchFamily="18" charset="0"/>
                            </a:rPr>
                            <m:t>𝟏</m:t>
                          </m:r>
                          <m:r>
                            <a:rPr lang="en-US" altLang="zh-CN" sz="2400" b="1" i="1" dirty="0" smtClean="0">
                              <a:latin typeface="Cambria Math" panose="02040503050406030204" pitchFamily="18" charset="0"/>
                            </a:rPr>
                            <m:t>𝟕</m:t>
                          </m:r>
                          <m:r>
                            <a:rPr lang="en-US" altLang="zh-CN" sz="2400" b="1" i="1" dirty="0" smtClean="0">
                              <a:latin typeface="Cambria Math" panose="02040503050406030204" pitchFamily="18" charset="0"/>
                            </a:rPr>
                            <m:t>.</m:t>
                          </m:r>
                          <m:r>
                            <a:rPr lang="en-US" altLang="zh-CN" sz="2400" b="1" i="1" dirty="0" smtClean="0">
                              <a:latin typeface="Cambria Math" panose="02040503050406030204" pitchFamily="18" charset="0"/>
                            </a:rPr>
                            <m:t>𝟓</m:t>
                          </m:r>
                        </m:den>
                      </m:f>
                      <m:r>
                        <a:rPr lang="en-US" altLang="zh-CN" sz="2400" b="1" i="1" dirty="0">
                          <a:latin typeface="Cambria Math" panose="02040503050406030204" pitchFamily="18" charset="0"/>
                        </a:rPr>
                        <m:t>=</m:t>
                      </m:r>
                      <m:r>
                        <a:rPr lang="en-US" altLang="zh-CN" sz="2400" b="1" i="1" dirty="0" smtClean="0">
                          <a:latin typeface="Cambria Math" panose="02040503050406030204" pitchFamily="18" charset="0"/>
                        </a:rPr>
                        <m:t>𝟔</m:t>
                      </m:r>
                      <m:r>
                        <a:rPr lang="en-US" altLang="zh-CN" sz="2400" b="1" i="1" dirty="0">
                          <a:latin typeface="Cambria Math" panose="02040503050406030204" pitchFamily="18" charset="0"/>
                        </a:rPr>
                        <m:t>%</m:t>
                      </m:r>
                    </m:oMath>
                  </m:oMathPara>
                </a14:m>
                <a:endParaRPr lang="zh-CN" altLang="en-US" sz="2400" b="1" dirty="0"/>
              </a:p>
            </p:txBody>
          </p:sp>
        </mc:Choice>
        <mc:Fallback xmlns="">
          <p:sp>
            <p:nvSpPr>
              <p:cNvPr id="3" name="文本框 2"/>
              <p:cNvSpPr txBox="1">
                <a:spLocks noRot="1" noChangeAspect="1" noMove="1" noResize="1" noEditPoints="1" noAdjustHandles="1" noChangeArrowheads="1" noChangeShapeType="1" noTextEdit="1"/>
              </p:cNvSpPr>
              <p:nvPr/>
            </p:nvSpPr>
            <p:spPr>
              <a:xfrm>
                <a:off x="5977929" y="3379093"/>
                <a:ext cx="2589437" cy="786177"/>
              </a:xfrm>
              <a:prstGeom prst="rect">
                <a:avLst/>
              </a:prstGeom>
              <a:blipFill>
                <a:blip r:embed="rId5"/>
                <a:stretch>
                  <a:fillRect/>
                </a:stretch>
              </a:blipFill>
            </p:spPr>
            <p:txBody>
              <a:bodyPr/>
              <a:lstStyle/>
              <a:p>
                <a:r>
                  <a:rPr lang="zh-CN" altLang="en-US">
                    <a:noFill/>
                  </a:rPr>
                  <a:t> </a:t>
                </a:r>
              </a:p>
            </p:txBody>
          </p:sp>
        </mc:Fallback>
      </mc:AlternateContent>
      <p:cxnSp>
        <p:nvCxnSpPr>
          <p:cNvPr id="7" name="直接箭头连接符 6"/>
          <p:cNvCxnSpPr>
            <a:cxnSpLocks/>
          </p:cNvCxnSpPr>
          <p:nvPr/>
        </p:nvCxnSpPr>
        <p:spPr>
          <a:xfrm flipH="1">
            <a:off x="5801992" y="3835681"/>
            <a:ext cx="60515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6457950" y="5987691"/>
            <a:ext cx="1637442" cy="461665"/>
          </a:xfrm>
          <a:prstGeom prst="rect">
            <a:avLst/>
          </a:prstGeom>
          <a:noFill/>
        </p:spPr>
        <p:txBody>
          <a:bodyPr wrap="square" rtlCol="0">
            <a:spAutoFit/>
          </a:bodyPr>
          <a:lstStyle/>
          <a:p>
            <a:r>
              <a:rPr lang="en-US" altLang="zh-CN" sz="2400" b="1" dirty="0">
                <a:latin typeface="Calibri" panose="020F0502020204030204" pitchFamily="34" charset="0"/>
                <a:cs typeface="Calibri" panose="020F0502020204030204" pitchFamily="34" charset="0"/>
              </a:rPr>
              <a:t>beneficial</a:t>
            </a:r>
            <a:endParaRPr lang="zh-CN" altLang="en-US" sz="2400" b="1" dirty="0">
              <a:latin typeface="Calibri" panose="020F0502020204030204" pitchFamily="34" charset="0"/>
              <a:cs typeface="Calibri" panose="020F0502020204030204" pitchFamily="34" charset="0"/>
            </a:endParaRPr>
          </a:p>
        </p:txBody>
      </p:sp>
      <p:cxnSp>
        <p:nvCxnSpPr>
          <p:cNvPr id="10" name="直接箭头连接符 9"/>
          <p:cNvCxnSpPr>
            <a:cxnSpLocks/>
          </p:cNvCxnSpPr>
          <p:nvPr/>
        </p:nvCxnSpPr>
        <p:spPr>
          <a:xfrm flipH="1">
            <a:off x="5801992" y="6218523"/>
            <a:ext cx="66719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1CFBEF20-D3EB-4098-B25A-1DB1EC23F48E}"/>
              </a:ext>
            </a:extLst>
          </p:cNvPr>
          <p:cNvSpPr txBox="1">
            <a:spLocks/>
          </p:cNvSpPr>
          <p:nvPr/>
        </p:nvSpPr>
        <p:spPr>
          <a:xfrm>
            <a:off x="10285" y="21040"/>
            <a:ext cx="9144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The Indirect Cost of Context Switching</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8922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0827F2-6BD4-8F4F-B46B-6B0A62FC3564}"/>
              </a:ext>
            </a:extLst>
          </p:cNvPr>
          <p:cNvSpPr>
            <a:spLocks noGrp="1"/>
          </p:cNvSpPr>
          <p:nvPr>
            <p:ph type="sldNum" sz="quarter" idx="12"/>
          </p:nvPr>
        </p:nvSpPr>
        <p:spPr/>
        <p:txBody>
          <a:bodyPr/>
          <a:lstStyle/>
          <a:p>
            <a:fld id="{72E3C5E5-1620-704A-B1BC-D84381C5FEE1}" type="slidenum">
              <a:rPr lang="en-US" smtClean="0"/>
              <a:t>13</a:t>
            </a:fld>
            <a:endParaRPr lang="en-US"/>
          </a:p>
        </p:txBody>
      </p:sp>
      <p:sp>
        <p:nvSpPr>
          <p:cNvPr id="8" name="矩形 7"/>
          <p:cNvSpPr/>
          <p:nvPr/>
        </p:nvSpPr>
        <p:spPr>
          <a:xfrm>
            <a:off x="1214663" y="2341190"/>
            <a:ext cx="7300687" cy="2062103"/>
          </a:xfrm>
          <a:prstGeom prst="rect">
            <a:avLst/>
          </a:prstGeom>
        </p:spPr>
        <p:txBody>
          <a:bodyPr wrap="square">
            <a:spAutoFit/>
          </a:bodyPr>
          <a:lstStyle/>
          <a:p>
            <a:r>
              <a:rPr lang="en-US" altLang="zh-CN" sz="3200" dirty="0">
                <a:latin typeface="Calibri" panose="020F0502020204030204" pitchFamily="34" charset="0"/>
                <a:cs typeface="Calibri" panose="020F0502020204030204" pitchFamily="34" charset="0"/>
              </a:rPr>
              <a:t>The direct and indirect costs of context switching are </a:t>
            </a:r>
            <a:r>
              <a:rPr lang="en-US" altLang="zh-CN" sz="3200" b="1" dirty="0">
                <a:solidFill>
                  <a:srgbClr val="0432FF"/>
                </a:solidFill>
                <a:latin typeface="Calibri" panose="020F0502020204030204" pitchFamily="34" charset="0"/>
                <a:cs typeface="Calibri" panose="020F0502020204030204" pitchFamily="34" charset="0"/>
              </a:rPr>
              <a:t>negligible or even beneficial </a:t>
            </a:r>
            <a:r>
              <a:rPr lang="en-US" altLang="zh-CN" sz="3200" dirty="0">
                <a:latin typeface="Calibri" panose="020F0502020204030204" pitchFamily="34" charset="0"/>
                <a:cs typeface="Calibri" panose="020F0502020204030204" pitchFamily="34" charset="0"/>
              </a:rPr>
              <a:t>to most programs without inter-thread synchronization. </a:t>
            </a:r>
            <a:endParaRPr lang="zh-CN" altLang="en-US" sz="3200" b="1" dirty="0">
              <a:latin typeface="Calibri" panose="020F0502020204030204" pitchFamily="34" charset="0"/>
              <a:cs typeface="Calibri" panose="020F0502020204030204" pitchFamily="34" charset="0"/>
            </a:endParaRPr>
          </a:p>
        </p:txBody>
      </p:sp>
      <p:pic>
        <p:nvPicPr>
          <p:cNvPr id="1026" name="Picture 2" descr="Computer Icons Idea, creative work summary, hand, logo, silhouette png |  PNGWing"/>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6276975" y="0"/>
            <a:ext cx="2867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6924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7DEE88A-6156-4504-A40E-257AA4B8E423}"/>
              </a:ext>
            </a:extLst>
          </p:cNvPr>
          <p:cNvSpPr>
            <a:spLocks noGrp="1"/>
          </p:cNvSpPr>
          <p:nvPr>
            <p:ph idx="1"/>
          </p:nvPr>
        </p:nvSpPr>
        <p:spPr>
          <a:xfrm>
            <a:off x="540044" y="1361159"/>
            <a:ext cx="8271447" cy="4351338"/>
          </a:xfrm>
        </p:spPr>
        <p:txBody>
          <a:bodyPr>
            <a:normAutofit/>
          </a:bodyPr>
          <a:lstStyle/>
          <a:p>
            <a:pPr>
              <a:lnSpc>
                <a:spcPct val="170000"/>
              </a:lnSpc>
            </a:pPr>
            <a:r>
              <a:rPr lang="en-US" altLang="zh-CN" dirty="0">
                <a:latin typeface="+mn-lt"/>
                <a:cs typeface="Calibri" panose="020F0502020204030204" pitchFamily="34" charset="0"/>
              </a:rPr>
              <a:t>Blocking synchronization: fast </a:t>
            </a:r>
            <a:r>
              <a:rPr lang="en-US" altLang="zh-CN" dirty="0" err="1">
                <a:latin typeface="+mn-lt"/>
                <a:cs typeface="Calibri" panose="020F0502020204030204" pitchFamily="34" charset="0"/>
              </a:rPr>
              <a:t>userspace</a:t>
            </a:r>
            <a:r>
              <a:rPr lang="en-US" altLang="zh-CN" dirty="0">
                <a:latin typeface="+mn-lt"/>
                <a:cs typeface="Calibri" panose="020F0502020204030204" pitchFamily="34" charset="0"/>
              </a:rPr>
              <a:t> mutex (</a:t>
            </a:r>
            <a:r>
              <a:rPr lang="en-US" altLang="zh-CN" dirty="0" err="1">
                <a:latin typeface="+mn-lt"/>
                <a:cs typeface="Calibri" panose="020F0502020204030204" pitchFamily="34" charset="0"/>
              </a:rPr>
              <a:t>futex</a:t>
            </a:r>
            <a:r>
              <a:rPr lang="en-US" altLang="zh-CN" dirty="0">
                <a:latin typeface="+mn-lt"/>
                <a:cs typeface="Calibri" panose="020F0502020204030204" pitchFamily="34" charset="0"/>
              </a:rPr>
              <a:t>)</a:t>
            </a:r>
            <a:endParaRPr lang="en-US" altLang="zh-CN" sz="2800" b="1" dirty="0">
              <a:solidFill>
                <a:schemeClr val="tx1"/>
              </a:solidFill>
              <a:latin typeface="+mn-lt"/>
            </a:endParaRPr>
          </a:p>
          <a:p>
            <a:pPr lvl="1">
              <a:lnSpc>
                <a:spcPct val="170000"/>
              </a:lnSpc>
            </a:pPr>
            <a:r>
              <a:rPr lang="en-US" altLang="zh-CN" dirty="0">
                <a:latin typeface="+mj-lt"/>
                <a:cs typeface="Calibri" panose="020F0502020204030204" pitchFamily="34" charset="0"/>
              </a:rPr>
              <a:t>void </a:t>
            </a:r>
            <a:r>
              <a:rPr lang="en-US" altLang="zh-CN" dirty="0" err="1">
                <a:latin typeface="+mj-lt"/>
                <a:cs typeface="Calibri" panose="020F0502020204030204" pitchFamily="34" charset="0"/>
              </a:rPr>
              <a:t>futex</a:t>
            </a:r>
            <a:r>
              <a:rPr lang="en-US" altLang="zh-CN" dirty="0">
                <a:latin typeface="+mj-lt"/>
                <a:cs typeface="Calibri" panose="020F0502020204030204" pitchFamily="34" charset="0"/>
              </a:rPr>
              <a:t>(void* addr1, </a:t>
            </a:r>
            <a:r>
              <a:rPr lang="en-US" altLang="zh-CN" b="1" dirty="0">
                <a:latin typeface="+mj-lt"/>
                <a:cs typeface="Calibri" panose="020F0502020204030204" pitchFamily="34" charset="0"/>
              </a:rPr>
              <a:t>FUTEX WAIT</a:t>
            </a:r>
            <a:r>
              <a:rPr lang="en-US" altLang="zh-CN" dirty="0">
                <a:latin typeface="+mj-lt"/>
                <a:cs typeface="Calibri" panose="020F0502020204030204" pitchFamily="34" charset="0"/>
              </a:rPr>
              <a:t>, int </a:t>
            </a:r>
            <a:r>
              <a:rPr lang="en-US" altLang="zh-CN" dirty="0" err="1">
                <a:latin typeface="+mj-lt"/>
                <a:cs typeface="Calibri" panose="020F0502020204030204" pitchFamily="34" charset="0"/>
              </a:rPr>
              <a:t>val</a:t>
            </a:r>
            <a:r>
              <a:rPr lang="en-US" altLang="zh-CN" dirty="0">
                <a:latin typeface="+mj-lt"/>
                <a:cs typeface="Calibri" panose="020F0502020204030204" pitchFamily="34" charset="0"/>
              </a:rPr>
              <a:t> ...) </a:t>
            </a:r>
          </a:p>
          <a:p>
            <a:pPr marL="457200" lvl="1" indent="0">
              <a:lnSpc>
                <a:spcPct val="170000"/>
              </a:lnSpc>
              <a:buNone/>
            </a:pPr>
            <a:r>
              <a:rPr lang="en-US" altLang="zh-CN" dirty="0">
                <a:latin typeface="+mj-lt"/>
                <a:cs typeface="Calibri" panose="020F0502020204030204" pitchFamily="34" charset="0"/>
              </a:rPr>
              <a:t>    Calling thread is suspended (“goes to sleep”) </a:t>
            </a:r>
          </a:p>
          <a:p>
            <a:pPr lvl="1">
              <a:lnSpc>
                <a:spcPct val="170000"/>
              </a:lnSpc>
            </a:pPr>
            <a:r>
              <a:rPr lang="en-US" altLang="zh-CN" dirty="0">
                <a:latin typeface="+mj-lt"/>
                <a:cs typeface="Calibri" panose="020F0502020204030204" pitchFamily="34" charset="0"/>
              </a:rPr>
              <a:t>void </a:t>
            </a:r>
            <a:r>
              <a:rPr lang="en-US" altLang="zh-CN" dirty="0" err="1">
                <a:latin typeface="+mj-lt"/>
                <a:cs typeface="Calibri" panose="020F0502020204030204" pitchFamily="34" charset="0"/>
              </a:rPr>
              <a:t>futex</a:t>
            </a:r>
            <a:r>
              <a:rPr lang="en-US" altLang="zh-CN" dirty="0">
                <a:latin typeface="+mj-lt"/>
                <a:cs typeface="Calibri" panose="020F0502020204030204" pitchFamily="34" charset="0"/>
              </a:rPr>
              <a:t>(void* addr1, </a:t>
            </a:r>
            <a:r>
              <a:rPr lang="en-US" altLang="zh-CN" b="1" dirty="0">
                <a:latin typeface="+mj-lt"/>
                <a:cs typeface="Calibri" panose="020F0502020204030204" pitchFamily="34" charset="0"/>
              </a:rPr>
              <a:t>FUTEX WAKE</a:t>
            </a:r>
            <a:r>
              <a:rPr lang="en-US" altLang="zh-CN" dirty="0">
                <a:latin typeface="+mj-lt"/>
                <a:cs typeface="Calibri" panose="020F0502020204030204" pitchFamily="34" charset="0"/>
              </a:rPr>
              <a:t>, int </a:t>
            </a:r>
            <a:r>
              <a:rPr lang="en-US" altLang="zh-CN" dirty="0" err="1">
                <a:latin typeface="+mj-lt"/>
                <a:cs typeface="Calibri" panose="020F0502020204030204" pitchFamily="34" charset="0"/>
              </a:rPr>
              <a:t>val</a:t>
            </a:r>
            <a:r>
              <a:rPr lang="en-US" altLang="zh-CN" dirty="0">
                <a:latin typeface="+mj-lt"/>
                <a:cs typeface="Calibri" panose="020F0502020204030204" pitchFamily="34" charset="0"/>
              </a:rPr>
              <a:t>) </a:t>
            </a:r>
          </a:p>
          <a:p>
            <a:pPr marL="457200" lvl="1" indent="0">
              <a:lnSpc>
                <a:spcPct val="170000"/>
              </a:lnSpc>
              <a:buNone/>
            </a:pPr>
            <a:r>
              <a:rPr lang="en-US" altLang="zh-CN" dirty="0">
                <a:latin typeface="+mj-lt"/>
                <a:cs typeface="Calibri" panose="020F0502020204030204" pitchFamily="34" charset="0"/>
              </a:rPr>
              <a:t>    Waking up at most </a:t>
            </a:r>
            <a:r>
              <a:rPr lang="en-US" altLang="zh-CN" dirty="0" err="1">
                <a:latin typeface="+mj-lt"/>
                <a:cs typeface="Calibri" panose="020F0502020204030204" pitchFamily="34" charset="0"/>
              </a:rPr>
              <a:t>val</a:t>
            </a:r>
            <a:r>
              <a:rPr lang="en-US" altLang="zh-CN" dirty="0">
                <a:latin typeface="+mj-lt"/>
                <a:cs typeface="Calibri" panose="020F0502020204030204" pitchFamily="34" charset="0"/>
              </a:rPr>
              <a:t> threads waiting on addr1</a:t>
            </a:r>
          </a:p>
        </p:txBody>
      </p:sp>
      <p:sp>
        <p:nvSpPr>
          <p:cNvPr id="4" name="Slide Number Placeholder 3">
            <a:extLst>
              <a:ext uri="{FF2B5EF4-FFF2-40B4-BE49-F238E27FC236}">
                <a16:creationId xmlns:a16="http://schemas.microsoft.com/office/drawing/2014/main" id="{710827F2-6BD4-8F4F-B46B-6B0A62FC3564}"/>
              </a:ext>
            </a:extLst>
          </p:cNvPr>
          <p:cNvSpPr>
            <a:spLocks noGrp="1"/>
          </p:cNvSpPr>
          <p:nvPr>
            <p:ph type="sldNum" sz="quarter" idx="12"/>
          </p:nvPr>
        </p:nvSpPr>
        <p:spPr/>
        <p:txBody>
          <a:bodyPr/>
          <a:lstStyle/>
          <a:p>
            <a:fld id="{72E3C5E5-1620-704A-B1BC-D84381C5FEE1}" type="slidenum">
              <a:rPr lang="en-US" smtClean="0"/>
              <a:t>14</a:t>
            </a:fld>
            <a:endParaRPr lang="en-US"/>
          </a:p>
        </p:txBody>
      </p:sp>
      <p:sp>
        <p:nvSpPr>
          <p:cNvPr id="6" name="Title 1">
            <a:extLst>
              <a:ext uri="{FF2B5EF4-FFF2-40B4-BE49-F238E27FC236}">
                <a16:creationId xmlns:a16="http://schemas.microsoft.com/office/drawing/2014/main" id="{6F59DA1F-4BBB-9743-8D7E-1D5C8F5ECEE1}"/>
              </a:ext>
            </a:extLst>
          </p:cNvPr>
          <p:cNvSpPr>
            <a:spLocks noGrp="1"/>
          </p:cNvSpPr>
          <p:nvPr>
            <p:ph type="title"/>
          </p:nvPr>
        </p:nvSpPr>
        <p:spPr>
          <a:xfrm>
            <a:off x="0" y="-4945"/>
            <a:ext cx="9144000" cy="1325563"/>
          </a:xfrm>
        </p:spPr>
        <p:txBody>
          <a:bodyPr>
            <a:normAutofit/>
          </a:bodyPr>
          <a:lstStyle/>
          <a:p>
            <a:r>
              <a:rPr lang="en-US" altLang="zh-CN" b="1" dirty="0">
                <a:latin typeface="Calibri" panose="020F0502020204030204" pitchFamily="34" charset="0"/>
                <a:cs typeface="Calibri" panose="020F0502020204030204" pitchFamily="34" charset="0"/>
              </a:rPr>
              <a:t> Managing Oversubscribed Threads</a:t>
            </a:r>
          </a:p>
        </p:txBody>
      </p:sp>
    </p:spTree>
    <p:extLst>
      <p:ext uri="{BB962C8B-B14F-4D97-AF65-F5344CB8AC3E}">
        <p14:creationId xmlns:p14="http://schemas.microsoft.com/office/powerpoint/2010/main" val="2556239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0827F2-6BD4-8F4F-B46B-6B0A62FC3564}"/>
              </a:ext>
            </a:extLst>
          </p:cNvPr>
          <p:cNvSpPr>
            <a:spLocks noGrp="1"/>
          </p:cNvSpPr>
          <p:nvPr>
            <p:ph type="sldNum" sz="quarter" idx="12"/>
          </p:nvPr>
        </p:nvSpPr>
        <p:spPr/>
        <p:txBody>
          <a:bodyPr/>
          <a:lstStyle/>
          <a:p>
            <a:fld id="{72E3C5E5-1620-704A-B1BC-D84381C5FEE1}" type="slidenum">
              <a:rPr lang="en-US" smtClean="0"/>
              <a:t>15</a:t>
            </a:fld>
            <a:endParaRPr lang="en-US"/>
          </a:p>
        </p:txBody>
      </p:sp>
      <p:sp>
        <p:nvSpPr>
          <p:cNvPr id="6" name="Title 1">
            <a:extLst>
              <a:ext uri="{FF2B5EF4-FFF2-40B4-BE49-F238E27FC236}">
                <a16:creationId xmlns:a16="http://schemas.microsoft.com/office/drawing/2014/main" id="{6F59DA1F-4BBB-9743-8D7E-1D5C8F5ECEE1}"/>
              </a:ext>
            </a:extLst>
          </p:cNvPr>
          <p:cNvSpPr>
            <a:spLocks noGrp="1"/>
          </p:cNvSpPr>
          <p:nvPr>
            <p:ph type="title"/>
          </p:nvPr>
        </p:nvSpPr>
        <p:spPr>
          <a:xfrm>
            <a:off x="0" y="-4945"/>
            <a:ext cx="9144000" cy="1325563"/>
          </a:xfrm>
        </p:spPr>
        <p:txBody>
          <a:bodyPr>
            <a:normAutofit/>
          </a:bodyPr>
          <a:lstStyle/>
          <a:p>
            <a:r>
              <a:rPr lang="en-US" altLang="zh-CN" b="1" dirty="0">
                <a:latin typeface="Calibri" panose="020F0502020204030204" pitchFamily="34" charset="0"/>
                <a:cs typeface="Calibri" panose="020F0502020204030204" pitchFamily="34" charset="0"/>
              </a:rPr>
              <a:t>Thread Sleep/Wakeup with </a:t>
            </a:r>
            <a:r>
              <a:rPr lang="en-US" altLang="zh-CN" b="1" dirty="0" err="1">
                <a:latin typeface="Calibri" panose="020F0502020204030204" pitchFamily="34" charset="0"/>
                <a:cs typeface="Calibri" panose="020F0502020204030204" pitchFamily="34" charset="0"/>
              </a:rPr>
              <a:t>Futex</a:t>
            </a:r>
            <a:endParaRPr lang="en-US" altLang="zh-CN" b="1" dirty="0">
              <a:latin typeface="Calibri" panose="020F0502020204030204" pitchFamily="34" charset="0"/>
              <a:cs typeface="Calibri" panose="020F050202020403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1049" y="1320618"/>
            <a:ext cx="6778701" cy="5333872"/>
          </a:xfrm>
          <a:prstGeom prst="rect">
            <a:avLst/>
          </a:prstGeom>
        </p:spPr>
      </p:pic>
    </p:spTree>
    <p:extLst>
      <p:ext uri="{BB962C8B-B14F-4D97-AF65-F5344CB8AC3E}">
        <p14:creationId xmlns:p14="http://schemas.microsoft.com/office/powerpoint/2010/main" val="3772202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51999672-648F-4149-892F-4E80FF5F55BC}"/>
              </a:ext>
            </a:extLst>
          </p:cNvPr>
          <p:cNvSpPr>
            <a:spLocks noGrp="1"/>
          </p:cNvSpPr>
          <p:nvPr>
            <p:ph idx="1"/>
          </p:nvPr>
        </p:nvSpPr>
        <p:spPr>
          <a:xfrm>
            <a:off x="446506" y="1314288"/>
            <a:ext cx="5655046" cy="2820081"/>
          </a:xfrm>
        </p:spPr>
        <p:txBody>
          <a:bodyPr>
            <a:normAutofit/>
          </a:bodyPr>
          <a:lstStyle/>
          <a:p>
            <a:pPr>
              <a:lnSpc>
                <a:spcPct val="170000"/>
              </a:lnSpc>
            </a:pPr>
            <a:r>
              <a:rPr lang="en-US" altLang="zh-CN" dirty="0">
                <a:latin typeface="+mn-lt"/>
                <a:cs typeface="Calibri" panose="020F0502020204030204" pitchFamily="34" charset="0"/>
              </a:rPr>
              <a:t>Complex wakeup process</a:t>
            </a:r>
          </a:p>
          <a:p>
            <a:pPr lvl="1">
              <a:lnSpc>
                <a:spcPct val="170000"/>
              </a:lnSpc>
            </a:pPr>
            <a:r>
              <a:rPr lang="en-US" altLang="zh-CN" dirty="0" err="1">
                <a:latin typeface="+mj-lt"/>
                <a:cs typeface="Calibri" panose="020F0502020204030204" pitchFamily="34" charset="0"/>
              </a:rPr>
              <a:t>Runqueue</a:t>
            </a:r>
            <a:r>
              <a:rPr lang="en-US" altLang="zh-CN" dirty="0">
                <a:latin typeface="+mj-lt"/>
                <a:cs typeface="Calibri" panose="020F0502020204030204" pitchFamily="34" charset="0"/>
              </a:rPr>
              <a:t> locking</a:t>
            </a:r>
          </a:p>
          <a:p>
            <a:pPr lvl="1">
              <a:lnSpc>
                <a:spcPct val="170000"/>
              </a:lnSpc>
            </a:pPr>
            <a:r>
              <a:rPr lang="en-US" altLang="zh-CN" dirty="0">
                <a:latin typeface="+mj-lt"/>
                <a:cs typeface="Calibri" panose="020F0502020204030204" pitchFamily="34" charset="0"/>
              </a:rPr>
              <a:t>Preemption</a:t>
            </a:r>
          </a:p>
          <a:p>
            <a:pPr lvl="1">
              <a:lnSpc>
                <a:spcPct val="170000"/>
              </a:lnSpc>
            </a:pPr>
            <a:r>
              <a:rPr lang="en-US" altLang="zh-CN" dirty="0">
                <a:latin typeface="+mj-lt"/>
                <a:cs typeface="Calibri" panose="020F0502020204030204" pitchFamily="34" charset="0"/>
              </a:rPr>
              <a:t>Serialization</a:t>
            </a:r>
          </a:p>
        </p:txBody>
      </p:sp>
      <p:sp>
        <p:nvSpPr>
          <p:cNvPr id="4" name="灯片编号占位符 3"/>
          <p:cNvSpPr>
            <a:spLocks noGrp="1"/>
          </p:cNvSpPr>
          <p:nvPr>
            <p:ph type="sldNum" sz="quarter" idx="12"/>
          </p:nvPr>
        </p:nvSpPr>
        <p:spPr/>
        <p:txBody>
          <a:bodyPr/>
          <a:lstStyle/>
          <a:p>
            <a:fld id="{72E3C5E5-1620-704A-B1BC-D84381C5FEE1}" type="slidenum">
              <a:rPr lang="en-US" smtClean="0"/>
              <a:t>16</a:t>
            </a:fld>
            <a:endParaRPr lang="en-US"/>
          </a:p>
        </p:txBody>
      </p:sp>
      <p:sp>
        <p:nvSpPr>
          <p:cNvPr id="9" name="Title 1">
            <a:extLst>
              <a:ext uri="{FF2B5EF4-FFF2-40B4-BE49-F238E27FC236}">
                <a16:creationId xmlns:a16="http://schemas.microsoft.com/office/drawing/2014/main" id="{6F59DA1F-4BBB-9743-8D7E-1D5C8F5ECEE1}"/>
              </a:ext>
            </a:extLst>
          </p:cNvPr>
          <p:cNvSpPr>
            <a:spLocks noGrp="1"/>
          </p:cNvSpPr>
          <p:nvPr>
            <p:ph type="title"/>
          </p:nvPr>
        </p:nvSpPr>
        <p:spPr>
          <a:xfrm>
            <a:off x="0" y="-4945"/>
            <a:ext cx="9144000" cy="1325563"/>
          </a:xfrm>
        </p:spPr>
        <p:txBody>
          <a:bodyPr>
            <a:normAutofit/>
          </a:bodyPr>
          <a:lstStyle/>
          <a:p>
            <a:r>
              <a:rPr lang="en-US" altLang="zh-CN" b="1" dirty="0">
                <a:latin typeface="Calibri" panose="020F0502020204030204" pitchFamily="34" charset="0"/>
                <a:cs typeface="Calibri" panose="020F0502020204030204" pitchFamily="34" charset="0"/>
              </a:rPr>
              <a:t>The Inefficiency with </a:t>
            </a:r>
            <a:r>
              <a:rPr lang="en-US" altLang="zh-CN" b="1" dirty="0" err="1">
                <a:latin typeface="Calibri" panose="020F0502020204030204" pitchFamily="34" charset="0"/>
                <a:cs typeface="Calibri" panose="020F0502020204030204" pitchFamily="34" charset="0"/>
              </a:rPr>
              <a:t>Futex</a:t>
            </a:r>
            <a:endParaRPr lang="en-US" altLang="zh-CN" b="1" dirty="0">
              <a:latin typeface="Calibri" panose="020F0502020204030204" pitchFamily="34" charset="0"/>
              <a:cs typeface="Calibri" panose="020F0502020204030204" pitchFamily="34" charset="0"/>
            </a:endParaRPr>
          </a:p>
        </p:txBody>
      </p:sp>
      <p:sp>
        <p:nvSpPr>
          <p:cNvPr id="11" name="Content Placeholder 2">
            <a:extLst>
              <a:ext uri="{FF2B5EF4-FFF2-40B4-BE49-F238E27FC236}">
                <a16:creationId xmlns:a16="http://schemas.microsoft.com/office/drawing/2014/main" id="{7F6C2836-B39F-4A04-B5F6-E7CC0C20CEDE}"/>
              </a:ext>
            </a:extLst>
          </p:cNvPr>
          <p:cNvSpPr txBox="1">
            <a:spLocks/>
          </p:cNvSpPr>
          <p:nvPr/>
        </p:nvSpPr>
        <p:spPr>
          <a:xfrm>
            <a:off x="446506" y="4117362"/>
            <a:ext cx="4802413" cy="219514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70000"/>
              </a:lnSpc>
            </a:pPr>
            <a:r>
              <a:rPr lang="en-US" altLang="zh-CN" dirty="0">
                <a:latin typeface="+mn-lt"/>
                <a:cs typeface="Calibri" panose="020F0502020204030204" pitchFamily="34" charset="0"/>
              </a:rPr>
              <a:t>Unnecessary migrations</a:t>
            </a:r>
          </a:p>
          <a:p>
            <a:pPr lvl="1">
              <a:lnSpc>
                <a:spcPct val="170000"/>
              </a:lnSpc>
            </a:pPr>
            <a:r>
              <a:rPr lang="en-US" altLang="zh-CN" dirty="0">
                <a:latin typeface="+mj-lt"/>
                <a:cs typeface="Calibri" panose="020F0502020204030204" pitchFamily="34" charset="0"/>
              </a:rPr>
              <a:t>Frequent stat transitions</a:t>
            </a:r>
          </a:p>
          <a:p>
            <a:pPr lvl="1">
              <a:lnSpc>
                <a:spcPct val="170000"/>
              </a:lnSpc>
            </a:pPr>
            <a:r>
              <a:rPr lang="en-US" altLang="zh-CN" dirty="0">
                <a:latin typeface="+mj-lt"/>
                <a:cs typeface="Calibri" panose="020F0502020204030204" pitchFamily="34" charset="0"/>
              </a:rPr>
              <a:t>Fluctuating load</a:t>
            </a:r>
          </a:p>
        </p:txBody>
      </p:sp>
    </p:spTree>
    <p:extLst>
      <p:ext uri="{BB962C8B-B14F-4D97-AF65-F5344CB8AC3E}">
        <p14:creationId xmlns:p14="http://schemas.microsoft.com/office/powerpoint/2010/main" val="3344671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2E3C5E5-1620-704A-B1BC-D84381C5FEE1}" type="slidenum">
              <a:rPr lang="en-US" smtClean="0"/>
              <a:t>17</a:t>
            </a:fld>
            <a:endParaRPr lang="en-US"/>
          </a:p>
        </p:txBody>
      </p:sp>
      <p:sp>
        <p:nvSpPr>
          <p:cNvPr id="7" name="Title 1">
            <a:extLst>
              <a:ext uri="{FF2B5EF4-FFF2-40B4-BE49-F238E27FC236}">
                <a16:creationId xmlns:a16="http://schemas.microsoft.com/office/drawing/2014/main" id="{6F59DA1F-4BBB-9743-8D7E-1D5C8F5ECEE1}"/>
              </a:ext>
            </a:extLst>
          </p:cNvPr>
          <p:cNvSpPr>
            <a:spLocks noGrp="1"/>
          </p:cNvSpPr>
          <p:nvPr>
            <p:ph type="title"/>
          </p:nvPr>
        </p:nvSpPr>
        <p:spPr>
          <a:xfrm>
            <a:off x="0" y="-4945"/>
            <a:ext cx="9144000" cy="1325563"/>
          </a:xfrm>
        </p:spPr>
        <p:txBody>
          <a:bodyPr>
            <a:normAutofit/>
          </a:bodyPr>
          <a:lstStyle/>
          <a:p>
            <a:r>
              <a:rPr lang="en-US" altLang="zh-CN" b="1" dirty="0">
                <a:latin typeface="Calibri" panose="020F0502020204030204" pitchFamily="34" charset="0"/>
                <a:cs typeface="Calibri" panose="020F0502020204030204" pitchFamily="34" charset="0"/>
              </a:rPr>
              <a:t> Managing Oversubscribed Threads - cont'd</a:t>
            </a:r>
          </a:p>
        </p:txBody>
      </p:sp>
      <p:sp>
        <p:nvSpPr>
          <p:cNvPr id="8" name="文本框 7"/>
          <p:cNvSpPr txBox="1"/>
          <p:nvPr/>
        </p:nvSpPr>
        <p:spPr>
          <a:xfrm>
            <a:off x="5445656" y="2884671"/>
            <a:ext cx="3219191" cy="3600986"/>
          </a:xfrm>
          <a:prstGeom prst="rect">
            <a:avLst/>
          </a:prstGeom>
          <a:noFill/>
        </p:spPr>
        <p:txBody>
          <a:bodyPr wrap="square" rtlCol="0">
            <a:spAutoFit/>
          </a:bodyPr>
          <a:lstStyle/>
          <a:p>
            <a:r>
              <a:rPr lang="en-US" altLang="zh-CN" sz="2000" dirty="0" err="1">
                <a:latin typeface="Calibri" panose="020F0502020204030204" pitchFamily="34" charset="0"/>
                <a:cs typeface="Calibri" panose="020F0502020204030204" pitchFamily="34" charset="0"/>
              </a:rPr>
              <a:t>Sync_right</a:t>
            </a:r>
            <a:r>
              <a:rPr lang="en-US" altLang="zh-CN" sz="2000" dirty="0">
                <a:latin typeface="Calibri" panose="020F0502020204030204" pitchFamily="34" charset="0"/>
                <a:cs typeface="Calibri" panose="020F0502020204030204" pitchFamily="34" charset="0"/>
              </a:rPr>
              <a:t>--</a:t>
            </a:r>
            <a:r>
              <a:rPr lang="en-US" altLang="zh-CN" sz="2000" dirty="0" err="1">
                <a:latin typeface="Calibri" panose="020F0502020204030204" pitchFamily="34" charset="0"/>
                <a:cs typeface="Calibri" panose="020F0502020204030204" pitchFamily="34" charset="0"/>
              </a:rPr>
              <a:t>lu</a:t>
            </a:r>
            <a:endParaRPr lang="en-US" altLang="zh-CN" sz="2000" dirty="0">
              <a:latin typeface="Calibri" panose="020F0502020204030204" pitchFamily="34" charset="0"/>
              <a:cs typeface="Calibri" panose="020F0502020204030204" pitchFamily="34" charset="0"/>
            </a:endParaRPr>
          </a:p>
          <a:p>
            <a:r>
              <a:rPr lang="en-US" altLang="zh-CN" sz="2000" dirty="0">
                <a:solidFill>
                  <a:schemeClr val="accent1">
                    <a:lumMod val="75000"/>
                  </a:schemeClr>
                </a:solidFill>
                <a:latin typeface="Calibri" panose="020F0502020204030204" pitchFamily="34" charset="0"/>
                <a:cs typeface="Calibri" panose="020F0502020204030204" pitchFamily="34" charset="0"/>
              </a:rPr>
              <a:t>/</a:t>
            </a:r>
            <a:r>
              <a:rPr lang="zh-CN" altLang="en-US" sz="2000" dirty="0">
                <a:solidFill>
                  <a:schemeClr val="accent1">
                    <a:lumMod val="75000"/>
                  </a:schemeClr>
                </a:solidFill>
                <a:latin typeface="Calibri" panose="020F0502020204030204" pitchFamily="34" charset="0"/>
                <a:cs typeface="Calibri" panose="020F0502020204030204" pitchFamily="34" charset="0"/>
              </a:rPr>
              <a:t>*** </a:t>
            </a:r>
            <a:r>
              <a:rPr lang="en-US" altLang="zh-CN" sz="2000" dirty="0">
                <a:solidFill>
                  <a:schemeClr val="accent1">
                    <a:lumMod val="75000"/>
                  </a:schemeClr>
                </a:solidFill>
                <a:latin typeface="Calibri" panose="020F0502020204030204" pitchFamily="34" charset="0"/>
                <a:cs typeface="Calibri" panose="020F0502020204030204" pitchFamily="34" charset="0"/>
              </a:rPr>
              <a:t>Program Code </a:t>
            </a:r>
            <a:r>
              <a:rPr lang="zh-CN" altLang="en-US" sz="2000" dirty="0">
                <a:solidFill>
                  <a:schemeClr val="accent1">
                    <a:lumMod val="75000"/>
                  </a:schemeClr>
                </a:solidFill>
                <a:latin typeface="Calibri" panose="020F0502020204030204" pitchFamily="34" charset="0"/>
                <a:cs typeface="Calibri" panose="020F0502020204030204" pitchFamily="34" charset="0"/>
              </a:rPr>
              <a:t>***</a:t>
            </a:r>
            <a:r>
              <a:rPr lang="en-US" altLang="zh-CN" sz="2000" dirty="0">
                <a:solidFill>
                  <a:schemeClr val="accent1">
                    <a:lumMod val="75000"/>
                  </a:schemeClr>
                </a:solidFill>
                <a:latin typeface="Calibri" panose="020F0502020204030204" pitchFamily="34" charset="0"/>
                <a:cs typeface="Calibri" panose="020F0502020204030204" pitchFamily="34" charset="0"/>
              </a:rPr>
              <a:t>/</a:t>
            </a:r>
          </a:p>
          <a:p>
            <a:r>
              <a:rPr lang="en-US" altLang="zh-CN" sz="2000" dirty="0">
                <a:latin typeface="Calibri" panose="020F0502020204030204" pitchFamily="34" charset="0"/>
                <a:cs typeface="Calibri" panose="020F0502020204030204" pitchFamily="34" charset="0"/>
              </a:rPr>
              <a:t>do while (</a:t>
            </a:r>
            <a:r>
              <a:rPr lang="en-US" altLang="zh-CN" sz="2000" dirty="0" err="1">
                <a:latin typeface="Calibri" panose="020F0502020204030204" pitchFamily="34" charset="0"/>
                <a:cs typeface="Calibri" panose="020F0502020204030204" pitchFamily="34" charset="0"/>
              </a:rPr>
              <a:t>isync</a:t>
            </a:r>
            <a:r>
              <a:rPr lang="en-US" altLang="zh-CN" sz="2000" dirty="0">
                <a:latin typeface="Calibri" panose="020F0502020204030204" pitchFamily="34" charset="0"/>
                <a:cs typeface="Calibri" panose="020F0502020204030204" pitchFamily="34" charset="0"/>
              </a:rPr>
              <a:t>(</a:t>
            </a:r>
            <a:r>
              <a:rPr lang="en-US" altLang="zh-CN" sz="2000" dirty="0" err="1">
                <a:latin typeface="Calibri" panose="020F0502020204030204" pitchFamily="34" charset="0"/>
                <a:cs typeface="Calibri" panose="020F0502020204030204" pitchFamily="34" charset="0"/>
              </a:rPr>
              <a:t>iam</a:t>
            </a:r>
            <a:r>
              <a:rPr lang="en-US" altLang="zh-CN" sz="2000" dirty="0">
                <a:latin typeface="Calibri" panose="020F0502020204030204" pitchFamily="34" charset="0"/>
                <a:cs typeface="Calibri" panose="020F0502020204030204" pitchFamily="34" charset="0"/>
              </a:rPr>
              <a:t>) .eq. 1)</a:t>
            </a:r>
            <a:endParaRPr lang="zh-CN" altLang="zh-CN" sz="2000" dirty="0">
              <a:latin typeface="Calibri" panose="020F0502020204030204" pitchFamily="34" charset="0"/>
              <a:cs typeface="Calibri" panose="020F0502020204030204" pitchFamily="34" charset="0"/>
            </a:endParaRPr>
          </a:p>
          <a:p>
            <a:r>
              <a:rPr lang="en-US" altLang="zh-CN" sz="2000" dirty="0">
                <a:latin typeface="Calibri" panose="020F0502020204030204" pitchFamily="34" charset="0"/>
                <a:cs typeface="Calibri" panose="020F0502020204030204" pitchFamily="34" charset="0"/>
              </a:rPr>
              <a:t>    !$</a:t>
            </a:r>
            <a:r>
              <a:rPr lang="en-US" altLang="zh-CN" sz="2000" dirty="0" err="1">
                <a:latin typeface="Calibri" panose="020F0502020204030204" pitchFamily="34" charset="0"/>
                <a:cs typeface="Calibri" panose="020F0502020204030204" pitchFamily="34" charset="0"/>
              </a:rPr>
              <a:t>omp</a:t>
            </a:r>
            <a:r>
              <a:rPr lang="en-US" altLang="zh-CN" sz="2000" dirty="0">
                <a:latin typeface="Calibri" panose="020F0502020204030204" pitchFamily="34" charset="0"/>
                <a:cs typeface="Calibri" panose="020F0502020204030204" pitchFamily="34" charset="0"/>
              </a:rPr>
              <a:t> flush(</a:t>
            </a:r>
            <a:r>
              <a:rPr lang="en-US" altLang="zh-CN" sz="2000" dirty="0" err="1">
                <a:latin typeface="Calibri" panose="020F0502020204030204" pitchFamily="34" charset="0"/>
                <a:cs typeface="Calibri" panose="020F0502020204030204" pitchFamily="34" charset="0"/>
              </a:rPr>
              <a:t>isync</a:t>
            </a:r>
            <a:r>
              <a:rPr lang="en-US" altLang="zh-CN" sz="2000" dirty="0">
                <a:latin typeface="Calibri" panose="020F0502020204030204" pitchFamily="34" charset="0"/>
                <a:cs typeface="Calibri" panose="020F0502020204030204" pitchFamily="34" charset="0"/>
              </a:rPr>
              <a:t>)</a:t>
            </a:r>
          </a:p>
          <a:p>
            <a:r>
              <a:rPr lang="en-US" altLang="zh-CN" sz="2000" dirty="0">
                <a:latin typeface="Calibri" panose="020F0502020204030204" pitchFamily="34" charset="0"/>
                <a:cs typeface="Calibri" panose="020F0502020204030204" pitchFamily="34" charset="0"/>
              </a:rPr>
              <a:t>end do</a:t>
            </a:r>
          </a:p>
          <a:p>
            <a:endParaRPr lang="en-US" altLang="zh-CN" sz="2000" dirty="0">
              <a:latin typeface="Calibri" panose="020F0502020204030204" pitchFamily="34" charset="0"/>
              <a:cs typeface="Calibri" panose="020F0502020204030204" pitchFamily="34" charset="0"/>
            </a:endParaRPr>
          </a:p>
          <a:p>
            <a:r>
              <a:rPr lang="en-US" altLang="zh-CN" sz="2000" dirty="0">
                <a:solidFill>
                  <a:schemeClr val="accent1">
                    <a:lumMod val="75000"/>
                  </a:schemeClr>
                </a:solidFill>
                <a:latin typeface="Calibri" panose="020F0502020204030204" pitchFamily="34" charset="0"/>
                <a:cs typeface="Calibri" panose="020F0502020204030204" pitchFamily="34" charset="0"/>
              </a:rPr>
              <a:t>/*</a:t>
            </a:r>
            <a:r>
              <a:rPr lang="zh-CN" altLang="en-US" sz="2000" dirty="0">
                <a:solidFill>
                  <a:schemeClr val="accent1">
                    <a:lumMod val="75000"/>
                  </a:schemeClr>
                </a:solidFill>
                <a:latin typeface="Calibri" panose="020F0502020204030204" pitchFamily="34" charset="0"/>
                <a:cs typeface="Calibri" panose="020F0502020204030204" pitchFamily="34" charset="0"/>
              </a:rPr>
              <a:t>**</a:t>
            </a:r>
            <a:r>
              <a:rPr lang="en-US" altLang="zh-CN" sz="2000" dirty="0">
                <a:solidFill>
                  <a:schemeClr val="accent1">
                    <a:lumMod val="75000"/>
                  </a:schemeClr>
                </a:solidFill>
                <a:latin typeface="Calibri" panose="020F0502020204030204" pitchFamily="34" charset="0"/>
                <a:cs typeface="Calibri" panose="020F0502020204030204" pitchFamily="34" charset="0"/>
              </a:rPr>
              <a:t> Assembly code </a:t>
            </a:r>
            <a:r>
              <a:rPr lang="zh-CN" altLang="en-US" sz="2000" dirty="0">
                <a:solidFill>
                  <a:schemeClr val="accent1">
                    <a:lumMod val="75000"/>
                  </a:schemeClr>
                </a:solidFill>
                <a:latin typeface="Calibri" panose="020F0502020204030204" pitchFamily="34" charset="0"/>
                <a:cs typeface="Calibri" panose="020F0502020204030204" pitchFamily="34" charset="0"/>
              </a:rPr>
              <a:t>***</a:t>
            </a:r>
            <a:r>
              <a:rPr lang="en-US" altLang="zh-CN" sz="2000" dirty="0">
                <a:solidFill>
                  <a:schemeClr val="accent1">
                    <a:lumMod val="75000"/>
                  </a:schemeClr>
                </a:solidFill>
                <a:latin typeface="Calibri" panose="020F0502020204030204" pitchFamily="34" charset="0"/>
                <a:cs typeface="Calibri" panose="020F0502020204030204" pitchFamily="34" charset="0"/>
              </a:rPr>
              <a:t>/</a:t>
            </a:r>
          </a:p>
          <a:p>
            <a:r>
              <a:rPr lang="en-US" altLang="zh-CN" sz="2000" dirty="0">
                <a:latin typeface="Calibri" panose="020F0502020204030204" pitchFamily="34" charset="0"/>
                <a:cs typeface="Calibri" panose="020F0502020204030204" pitchFamily="34" charset="0"/>
              </a:rPr>
              <a:t>.L10:</a:t>
            </a:r>
          </a:p>
          <a:p>
            <a:r>
              <a:rPr lang="en-US" altLang="zh-CN" sz="2000" dirty="0">
                <a:latin typeface="Calibri" panose="020F0502020204030204" pitchFamily="34" charset="0"/>
                <a:cs typeface="Calibri" panose="020F0502020204030204" pitchFamily="34" charset="0"/>
              </a:rPr>
              <a:t>     </a:t>
            </a:r>
            <a:r>
              <a:rPr lang="en-US" altLang="zh-CN" sz="2000" dirty="0" err="1">
                <a:latin typeface="Calibri" panose="020F0502020204030204" pitchFamily="34" charset="0"/>
                <a:cs typeface="Calibri" panose="020F0502020204030204" pitchFamily="34" charset="0"/>
              </a:rPr>
              <a:t>cmpl</a:t>
            </a:r>
            <a:r>
              <a:rPr lang="en-US" altLang="zh-CN" sz="2000" dirty="0">
                <a:latin typeface="Calibri" panose="020F0502020204030204" pitchFamily="34" charset="0"/>
                <a:cs typeface="Calibri" panose="020F0502020204030204" pitchFamily="34" charset="0"/>
              </a:rPr>
              <a:t>   $1, %</a:t>
            </a:r>
            <a:r>
              <a:rPr lang="en-US" altLang="zh-CN" sz="2000" dirty="0" err="1">
                <a:latin typeface="Calibri" panose="020F0502020204030204" pitchFamily="34" charset="0"/>
                <a:cs typeface="Calibri" panose="020F0502020204030204" pitchFamily="34" charset="0"/>
              </a:rPr>
              <a:t>eax</a:t>
            </a:r>
            <a:endParaRPr lang="en-US" altLang="zh-CN" sz="2000" dirty="0">
              <a:latin typeface="Calibri" panose="020F0502020204030204" pitchFamily="34" charset="0"/>
              <a:cs typeface="Calibri" panose="020F0502020204030204" pitchFamily="34" charset="0"/>
            </a:endParaRPr>
          </a:p>
          <a:p>
            <a:r>
              <a:rPr lang="en-US" altLang="zh-CN" sz="2000" dirty="0">
                <a:solidFill>
                  <a:srgbClr val="C00000"/>
                </a:solidFill>
                <a:latin typeface="Calibri" panose="020F0502020204030204" pitchFamily="34" charset="0"/>
                <a:cs typeface="Calibri" panose="020F0502020204030204" pitchFamily="34" charset="0"/>
              </a:rPr>
              <a:t>     </a:t>
            </a:r>
            <a:r>
              <a:rPr lang="en-US" altLang="zh-CN" sz="2000" b="1" dirty="0" err="1">
                <a:solidFill>
                  <a:srgbClr val="C00000"/>
                </a:solidFill>
                <a:latin typeface="Calibri" panose="020F0502020204030204" pitchFamily="34" charset="0"/>
                <a:cs typeface="Calibri" panose="020F0502020204030204" pitchFamily="34" charset="0"/>
              </a:rPr>
              <a:t>jne</a:t>
            </a:r>
            <a:r>
              <a:rPr lang="en-US" altLang="zh-CN" sz="2000" b="1" dirty="0">
                <a:solidFill>
                  <a:srgbClr val="C00000"/>
                </a:solidFill>
                <a:latin typeface="Calibri" panose="020F0502020204030204" pitchFamily="34" charset="0"/>
                <a:cs typeface="Calibri" panose="020F0502020204030204" pitchFamily="34" charset="0"/>
              </a:rPr>
              <a:t>      .L9</a:t>
            </a:r>
          </a:p>
          <a:p>
            <a:r>
              <a:rPr lang="en-US" altLang="zh-CN" sz="2000" b="1" dirty="0">
                <a:solidFill>
                  <a:srgbClr val="C00000"/>
                </a:solidFill>
                <a:latin typeface="Calibri" panose="020F0502020204030204" pitchFamily="34" charset="0"/>
                <a:cs typeface="Calibri" panose="020F0502020204030204" pitchFamily="34" charset="0"/>
              </a:rPr>
              <a:t>     </a:t>
            </a:r>
            <a:r>
              <a:rPr lang="en-US" altLang="zh-CN" sz="2000" b="1" dirty="0" err="1">
                <a:solidFill>
                  <a:srgbClr val="C00000"/>
                </a:solidFill>
                <a:latin typeface="Calibri" panose="020F0502020204030204" pitchFamily="34" charset="0"/>
                <a:cs typeface="Calibri" panose="020F0502020204030204" pitchFamily="34" charset="0"/>
              </a:rPr>
              <a:t>jmp</a:t>
            </a:r>
            <a:r>
              <a:rPr lang="en-US" altLang="zh-CN" sz="2000" b="1" dirty="0">
                <a:solidFill>
                  <a:srgbClr val="C00000"/>
                </a:solidFill>
                <a:latin typeface="Calibri" panose="020F0502020204030204" pitchFamily="34" charset="0"/>
                <a:cs typeface="Calibri" panose="020F0502020204030204" pitchFamily="34" charset="0"/>
              </a:rPr>
              <a:t>    .L10</a:t>
            </a:r>
            <a:endParaRPr lang="zh-CN" altLang="zh-CN" sz="2000" b="1" dirty="0">
              <a:solidFill>
                <a:srgbClr val="C00000"/>
              </a:solidFill>
              <a:latin typeface="Calibri" panose="020F0502020204030204" pitchFamily="34" charset="0"/>
              <a:cs typeface="Calibri" panose="020F0502020204030204" pitchFamily="34" charset="0"/>
            </a:endParaRPr>
          </a:p>
        </p:txBody>
      </p:sp>
      <p:sp>
        <p:nvSpPr>
          <p:cNvPr id="9" name="文本框 8"/>
          <p:cNvSpPr txBox="1"/>
          <p:nvPr/>
        </p:nvSpPr>
        <p:spPr>
          <a:xfrm>
            <a:off x="628650" y="2764572"/>
            <a:ext cx="4121953" cy="4093428"/>
          </a:xfrm>
          <a:prstGeom prst="rect">
            <a:avLst/>
          </a:prstGeom>
          <a:noFill/>
        </p:spPr>
        <p:txBody>
          <a:bodyPr wrap="square" rtlCol="0">
            <a:spAutoFit/>
          </a:bodyPr>
          <a:lstStyle/>
          <a:p>
            <a:r>
              <a:rPr lang="en-US" altLang="zh-CN" sz="2000" dirty="0" err="1"/>
              <a:t>Pthread_spin_lock</a:t>
            </a:r>
            <a:r>
              <a:rPr lang="en-US" altLang="zh-CN" sz="2000" dirty="0"/>
              <a:t>--</a:t>
            </a:r>
            <a:r>
              <a:rPr lang="en-US" altLang="zh-CN" sz="2000" dirty="0" err="1"/>
              <a:t>glibc</a:t>
            </a:r>
            <a:endParaRPr lang="en-US" altLang="zh-CN" sz="2000" dirty="0"/>
          </a:p>
          <a:p>
            <a:r>
              <a:rPr lang="en-US" altLang="zh-CN" sz="2000" dirty="0">
                <a:solidFill>
                  <a:schemeClr val="accent1">
                    <a:lumMod val="75000"/>
                  </a:schemeClr>
                </a:solidFill>
              </a:rPr>
              <a:t>/</a:t>
            </a:r>
            <a:r>
              <a:rPr lang="zh-CN" altLang="en-US" sz="2000" dirty="0">
                <a:solidFill>
                  <a:schemeClr val="accent1">
                    <a:lumMod val="75000"/>
                  </a:schemeClr>
                </a:solidFill>
              </a:rPr>
              <a:t>*** </a:t>
            </a:r>
            <a:r>
              <a:rPr lang="en-US" altLang="zh-CN" sz="2000" dirty="0">
                <a:solidFill>
                  <a:schemeClr val="accent1">
                    <a:lumMod val="75000"/>
                  </a:schemeClr>
                </a:solidFill>
              </a:rPr>
              <a:t>Program Code </a:t>
            </a:r>
            <a:r>
              <a:rPr lang="zh-CN" altLang="en-US" sz="2000" dirty="0">
                <a:solidFill>
                  <a:schemeClr val="accent1">
                    <a:lumMod val="75000"/>
                  </a:schemeClr>
                </a:solidFill>
              </a:rPr>
              <a:t>***</a:t>
            </a:r>
            <a:r>
              <a:rPr lang="en-US" altLang="zh-CN" sz="2000" dirty="0">
                <a:solidFill>
                  <a:schemeClr val="accent1">
                    <a:lumMod val="75000"/>
                  </a:schemeClr>
                </a:solidFill>
              </a:rPr>
              <a:t>/</a:t>
            </a:r>
          </a:p>
          <a:p>
            <a:r>
              <a:rPr lang="en-US" altLang="zh-CN" sz="2000" dirty="0"/>
              <a:t>do{</a:t>
            </a:r>
          </a:p>
          <a:p>
            <a:r>
              <a:rPr lang="en-US" altLang="zh-CN" sz="2000" dirty="0"/>
              <a:t>     </a:t>
            </a:r>
            <a:r>
              <a:rPr lang="en-US" altLang="zh-CN" sz="2000" dirty="0" err="1"/>
              <a:t>atomic_spin_nop</a:t>
            </a:r>
            <a:r>
              <a:rPr lang="en-US" altLang="zh-CN" sz="2000" dirty="0"/>
              <a:t> ();</a:t>
            </a:r>
          </a:p>
          <a:p>
            <a:r>
              <a:rPr lang="en-US" altLang="zh-CN" sz="2000" dirty="0"/>
              <a:t>     </a:t>
            </a:r>
            <a:r>
              <a:rPr lang="en-US" altLang="zh-CN" sz="2000" dirty="0" err="1"/>
              <a:t>val</a:t>
            </a:r>
            <a:r>
              <a:rPr lang="en-US" altLang="zh-CN" sz="2000" dirty="0"/>
              <a:t> = </a:t>
            </a:r>
            <a:r>
              <a:rPr lang="en-US" altLang="zh-CN" sz="2000" dirty="0" err="1"/>
              <a:t>atomic_load_relaxed</a:t>
            </a:r>
            <a:r>
              <a:rPr lang="en-US" altLang="zh-CN" sz="2000" dirty="0"/>
              <a:t> (lock); </a:t>
            </a:r>
          </a:p>
          <a:p>
            <a:r>
              <a:rPr lang="en-US" altLang="zh-CN" sz="2000" dirty="0"/>
              <a:t>}while (</a:t>
            </a:r>
            <a:r>
              <a:rPr lang="en-US" altLang="zh-CN" sz="2000" dirty="0" err="1"/>
              <a:t>val</a:t>
            </a:r>
            <a:r>
              <a:rPr lang="en-US" altLang="zh-CN" sz="2000" dirty="0"/>
              <a:t> != 0);</a:t>
            </a:r>
          </a:p>
          <a:p>
            <a:r>
              <a:rPr lang="en-US" altLang="zh-CN" sz="2000" dirty="0">
                <a:solidFill>
                  <a:schemeClr val="accent1">
                    <a:lumMod val="75000"/>
                  </a:schemeClr>
                </a:solidFill>
              </a:rPr>
              <a:t>/*</a:t>
            </a:r>
            <a:r>
              <a:rPr lang="zh-CN" altLang="en-US" sz="2000" dirty="0">
                <a:solidFill>
                  <a:schemeClr val="accent1">
                    <a:lumMod val="75000"/>
                  </a:schemeClr>
                </a:solidFill>
              </a:rPr>
              <a:t>**</a:t>
            </a:r>
            <a:r>
              <a:rPr lang="en-US" altLang="zh-CN" sz="2000" dirty="0">
                <a:solidFill>
                  <a:schemeClr val="accent1">
                    <a:lumMod val="75000"/>
                  </a:schemeClr>
                </a:solidFill>
              </a:rPr>
              <a:t> Assembly code </a:t>
            </a:r>
            <a:r>
              <a:rPr lang="zh-CN" altLang="en-US" sz="2000" dirty="0">
                <a:solidFill>
                  <a:schemeClr val="accent1">
                    <a:lumMod val="75000"/>
                  </a:schemeClr>
                </a:solidFill>
              </a:rPr>
              <a:t>***</a:t>
            </a:r>
            <a:r>
              <a:rPr lang="en-US" altLang="zh-CN" sz="2000" dirty="0">
                <a:solidFill>
                  <a:schemeClr val="accent1">
                    <a:lumMod val="75000"/>
                  </a:schemeClr>
                </a:solidFill>
              </a:rPr>
              <a:t>/</a:t>
            </a:r>
          </a:p>
          <a:p>
            <a:r>
              <a:rPr lang="en-US" altLang="zh-CN" sz="2000" dirty="0"/>
              <a:t>.L2:</a:t>
            </a:r>
            <a:endParaRPr lang="zh-CN" altLang="zh-CN" sz="2000" dirty="0"/>
          </a:p>
          <a:p>
            <a:r>
              <a:rPr lang="en-US" altLang="zh-CN" sz="2000" dirty="0"/>
              <a:t>     </a:t>
            </a:r>
            <a:r>
              <a:rPr lang="en-US" altLang="zh-CN" sz="2000" dirty="0" err="1"/>
              <a:t>movl</a:t>
            </a:r>
            <a:r>
              <a:rPr lang="en-US" altLang="zh-CN" sz="2000" dirty="0"/>
              <a:t>  $0, %</a:t>
            </a:r>
            <a:r>
              <a:rPr lang="en-US" altLang="zh-CN" sz="2000" dirty="0" err="1"/>
              <a:t>eax</a:t>
            </a:r>
            <a:endParaRPr lang="zh-CN" altLang="zh-CN" sz="2000" dirty="0"/>
          </a:p>
          <a:p>
            <a:r>
              <a:rPr lang="en-US" altLang="zh-CN" sz="2000" dirty="0"/>
              <a:t>     call    </a:t>
            </a:r>
            <a:r>
              <a:rPr lang="en-US" altLang="zh-CN" sz="2000" dirty="0" err="1"/>
              <a:t>atomic_spin_nop@PLT</a:t>
            </a:r>
            <a:r>
              <a:rPr lang="en-US" altLang="zh-CN" sz="2000" dirty="0"/>
              <a:t> </a:t>
            </a:r>
            <a:endParaRPr lang="zh-CN" altLang="zh-CN" sz="2000" dirty="0"/>
          </a:p>
          <a:p>
            <a:r>
              <a:rPr lang="en-US" altLang="zh-CN" sz="2000" dirty="0"/>
              <a:t>     call    </a:t>
            </a:r>
            <a:r>
              <a:rPr lang="en-US" altLang="zh-CN" sz="2000" dirty="0" err="1"/>
              <a:t>atomic_load_relaxed@PLT</a:t>
            </a:r>
            <a:r>
              <a:rPr lang="en-US" altLang="zh-CN" sz="2000" dirty="0"/>
              <a:t> </a:t>
            </a:r>
            <a:endParaRPr lang="zh-CN" altLang="zh-CN" sz="2000" dirty="0"/>
          </a:p>
          <a:p>
            <a:r>
              <a:rPr lang="en-US" altLang="zh-CN" sz="2000" dirty="0"/>
              <a:t>     </a:t>
            </a:r>
            <a:r>
              <a:rPr lang="en-US" altLang="zh-CN" sz="2000" b="1" dirty="0" err="1">
                <a:solidFill>
                  <a:srgbClr val="C00000"/>
                </a:solidFill>
              </a:rPr>
              <a:t>cmpl</a:t>
            </a:r>
            <a:r>
              <a:rPr lang="en-US" altLang="zh-CN" sz="2000" b="1" dirty="0">
                <a:solidFill>
                  <a:srgbClr val="C00000"/>
                </a:solidFill>
              </a:rPr>
              <a:t>  $0, -20(%</a:t>
            </a:r>
            <a:r>
              <a:rPr lang="en-US" altLang="zh-CN" sz="2000" b="1" dirty="0" err="1">
                <a:solidFill>
                  <a:srgbClr val="C00000"/>
                </a:solidFill>
              </a:rPr>
              <a:t>rbp</a:t>
            </a:r>
            <a:r>
              <a:rPr lang="en-US" altLang="zh-CN" sz="2000" b="1" dirty="0">
                <a:solidFill>
                  <a:srgbClr val="C00000"/>
                </a:solidFill>
              </a:rPr>
              <a:t>)</a:t>
            </a:r>
            <a:endParaRPr lang="zh-CN" altLang="zh-CN" sz="2000" b="1" dirty="0">
              <a:solidFill>
                <a:srgbClr val="C00000"/>
              </a:solidFill>
            </a:endParaRPr>
          </a:p>
          <a:p>
            <a:r>
              <a:rPr lang="en-US" altLang="zh-CN" sz="2000" b="1" dirty="0">
                <a:solidFill>
                  <a:srgbClr val="C00000"/>
                </a:solidFill>
              </a:rPr>
              <a:t>     </a:t>
            </a:r>
            <a:r>
              <a:rPr lang="en-US" altLang="zh-CN" sz="2000" b="1" dirty="0" err="1">
                <a:solidFill>
                  <a:srgbClr val="C00000"/>
                </a:solidFill>
              </a:rPr>
              <a:t>jne</a:t>
            </a:r>
            <a:r>
              <a:rPr lang="en-US" altLang="zh-CN" sz="2000" b="1" dirty="0">
                <a:solidFill>
                  <a:srgbClr val="C00000"/>
                </a:solidFill>
              </a:rPr>
              <a:t>    .L2  </a:t>
            </a:r>
            <a:endParaRPr lang="zh-CN" altLang="zh-CN" sz="2000" b="1" dirty="0">
              <a:solidFill>
                <a:srgbClr val="C00000"/>
              </a:solidFill>
            </a:endParaRPr>
          </a:p>
        </p:txBody>
      </p:sp>
      <p:cxnSp>
        <p:nvCxnSpPr>
          <p:cNvPr id="10" name="直接连接符 9"/>
          <p:cNvCxnSpPr/>
          <p:nvPr/>
        </p:nvCxnSpPr>
        <p:spPr>
          <a:xfrm>
            <a:off x="4750603" y="2764572"/>
            <a:ext cx="29028" cy="4093428"/>
          </a:xfrm>
          <a:prstGeom prst="line">
            <a:avLst/>
          </a:prstGeom>
          <a:ln w="508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4DE01D4-72A7-4A8D-975C-429CFF8AA210}"/>
              </a:ext>
            </a:extLst>
          </p:cNvPr>
          <p:cNvSpPr>
            <a:spLocks noGrp="1"/>
          </p:cNvSpPr>
          <p:nvPr>
            <p:ph idx="1"/>
          </p:nvPr>
        </p:nvSpPr>
        <p:spPr>
          <a:xfrm>
            <a:off x="540045" y="1283036"/>
            <a:ext cx="8235042" cy="4351338"/>
          </a:xfrm>
        </p:spPr>
        <p:txBody>
          <a:bodyPr>
            <a:normAutofit/>
          </a:bodyPr>
          <a:lstStyle/>
          <a:p>
            <a:pPr>
              <a:lnSpc>
                <a:spcPct val="170000"/>
              </a:lnSpc>
            </a:pPr>
            <a:r>
              <a:rPr lang="en-US" altLang="zh-CN" dirty="0">
                <a:latin typeface="+mn-lt"/>
                <a:cs typeface="Calibri" panose="020F0502020204030204" pitchFamily="34" charset="0"/>
              </a:rPr>
              <a:t>Busy-waiting synchronization : fast lock acquisition at the cost of wasting CPU cycles on spinning</a:t>
            </a:r>
          </a:p>
        </p:txBody>
      </p:sp>
    </p:spTree>
    <p:extLst>
      <p:ext uri="{BB962C8B-B14F-4D97-AF65-F5344CB8AC3E}">
        <p14:creationId xmlns:p14="http://schemas.microsoft.com/office/powerpoint/2010/main" val="3759117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 name="图片 14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9738" y="5063868"/>
            <a:ext cx="802480" cy="601085"/>
          </a:xfrm>
          <a:prstGeom prst="rect">
            <a:avLst/>
          </a:prstGeom>
        </p:spPr>
      </p:pic>
      <p:sp>
        <p:nvSpPr>
          <p:cNvPr id="4" name="灯片编号占位符 3"/>
          <p:cNvSpPr>
            <a:spLocks noGrp="1"/>
          </p:cNvSpPr>
          <p:nvPr>
            <p:ph type="sldNum" sz="quarter" idx="12"/>
          </p:nvPr>
        </p:nvSpPr>
        <p:spPr/>
        <p:txBody>
          <a:bodyPr/>
          <a:lstStyle/>
          <a:p>
            <a:fld id="{72E3C5E5-1620-704A-B1BC-D84381C5FEE1}" type="slidenum">
              <a:rPr lang="en-US" smtClean="0"/>
              <a:t>18</a:t>
            </a:fld>
            <a:endParaRPr lang="en-US"/>
          </a:p>
        </p:txBody>
      </p:sp>
      <p:sp>
        <p:nvSpPr>
          <p:cNvPr id="9" name="Title 1">
            <a:extLst>
              <a:ext uri="{FF2B5EF4-FFF2-40B4-BE49-F238E27FC236}">
                <a16:creationId xmlns:a16="http://schemas.microsoft.com/office/drawing/2014/main" id="{6F59DA1F-4BBB-9743-8D7E-1D5C8F5ECEE1}"/>
              </a:ext>
            </a:extLst>
          </p:cNvPr>
          <p:cNvSpPr>
            <a:spLocks noGrp="1"/>
          </p:cNvSpPr>
          <p:nvPr>
            <p:ph type="title"/>
          </p:nvPr>
        </p:nvSpPr>
        <p:spPr>
          <a:xfrm>
            <a:off x="0" y="-4945"/>
            <a:ext cx="9144000" cy="1325563"/>
          </a:xfrm>
        </p:spPr>
        <p:txBody>
          <a:bodyPr>
            <a:normAutofit/>
          </a:bodyPr>
          <a:lstStyle/>
          <a:p>
            <a:r>
              <a:rPr lang="en-US" altLang="zh-CN" b="1" dirty="0">
                <a:latin typeface="Calibri" panose="020F0502020204030204" pitchFamily="34" charset="0"/>
                <a:cs typeface="Calibri" panose="020F0502020204030204" pitchFamily="34" charset="0"/>
              </a:rPr>
              <a:t>The Inefficiency with Spinning</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1300" y="3555253"/>
            <a:ext cx="802480" cy="601085"/>
          </a:xfrm>
          <a:prstGeom prst="rect">
            <a:avLst/>
          </a:prstGeom>
        </p:spPr>
      </p:pic>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67184" y="2783146"/>
            <a:ext cx="802480" cy="601085"/>
          </a:xfrm>
          <a:prstGeom prst="rect">
            <a:avLst/>
          </a:prstGeom>
        </p:spPr>
      </p:pic>
      <p:grpSp>
        <p:nvGrpSpPr>
          <p:cNvPr id="12" name="组合 11"/>
          <p:cNvGrpSpPr/>
          <p:nvPr/>
        </p:nvGrpSpPr>
        <p:grpSpPr>
          <a:xfrm>
            <a:off x="1325005" y="3047202"/>
            <a:ext cx="432000" cy="360000"/>
            <a:chOff x="7200862" y="3206251"/>
            <a:chExt cx="462805" cy="438657"/>
          </a:xfrm>
        </p:grpSpPr>
        <p:sp>
          <p:nvSpPr>
            <p:cNvPr id="13" name="矩形 12"/>
            <p:cNvSpPr/>
            <p:nvPr/>
          </p:nvSpPr>
          <p:spPr>
            <a:xfrm>
              <a:off x="7254864" y="3243713"/>
              <a:ext cx="360000" cy="360000"/>
            </a:xfrm>
            <a:prstGeom prst="rect">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 name="剪去单角的矩形 13"/>
            <p:cNvSpPr/>
            <p:nvPr/>
          </p:nvSpPr>
          <p:spPr>
            <a:xfrm rot="16200000">
              <a:off x="7303829" y="3282216"/>
              <a:ext cx="252000" cy="252000"/>
            </a:xfrm>
            <a:prstGeom prst="snip1Rect">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algn="ctr"/>
              <a:r>
                <a:rPr lang="en-US" altLang="zh-CN" sz="900" dirty="0">
                  <a:solidFill>
                    <a:schemeClr val="tx1"/>
                  </a:solidFill>
                </a:rPr>
                <a:t>CPU</a:t>
              </a:r>
              <a:endParaRPr lang="zh-CN" altLang="en-US" sz="900" dirty="0">
                <a:solidFill>
                  <a:schemeClr val="tx1"/>
                </a:solidFill>
              </a:endParaRPr>
            </a:p>
          </p:txBody>
        </p:sp>
        <p:grpSp>
          <p:nvGrpSpPr>
            <p:cNvPr id="15" name="组合 14"/>
            <p:cNvGrpSpPr/>
            <p:nvPr/>
          </p:nvGrpSpPr>
          <p:grpSpPr>
            <a:xfrm>
              <a:off x="7293364" y="3206251"/>
              <a:ext cx="285550" cy="36000"/>
              <a:chOff x="7293364" y="3187001"/>
              <a:chExt cx="285550" cy="54000"/>
            </a:xfrm>
          </p:grpSpPr>
          <p:cxnSp>
            <p:nvCxnSpPr>
              <p:cNvPr id="31" name="直接连接符 30"/>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rot="5400000">
              <a:off x="7502892" y="3406151"/>
              <a:ext cx="285550" cy="36000"/>
              <a:chOff x="7293364" y="3187001"/>
              <a:chExt cx="285550" cy="54000"/>
            </a:xfrm>
          </p:grpSpPr>
          <p:cxnSp>
            <p:nvCxnSpPr>
              <p:cNvPr id="27" name="直接连接符 26"/>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7291761" y="3608908"/>
              <a:ext cx="285550" cy="36000"/>
              <a:chOff x="7293364" y="3187001"/>
              <a:chExt cx="285550" cy="54000"/>
            </a:xfrm>
          </p:grpSpPr>
          <p:cxnSp>
            <p:nvCxnSpPr>
              <p:cNvPr id="23" name="直接连接符 22"/>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rot="16200000">
              <a:off x="7076087" y="3406151"/>
              <a:ext cx="285550" cy="36000"/>
              <a:chOff x="7293364" y="3187001"/>
              <a:chExt cx="285550" cy="54000"/>
            </a:xfrm>
          </p:grpSpPr>
          <p:cxnSp>
            <p:nvCxnSpPr>
              <p:cNvPr id="19" name="直接连接符 18"/>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5" name="组合 34"/>
          <p:cNvGrpSpPr/>
          <p:nvPr/>
        </p:nvGrpSpPr>
        <p:grpSpPr>
          <a:xfrm>
            <a:off x="1324083" y="3545674"/>
            <a:ext cx="432000" cy="360000"/>
            <a:chOff x="7200862" y="3206251"/>
            <a:chExt cx="462805" cy="438657"/>
          </a:xfrm>
        </p:grpSpPr>
        <p:sp>
          <p:nvSpPr>
            <p:cNvPr id="36" name="矩形 35"/>
            <p:cNvSpPr/>
            <p:nvPr/>
          </p:nvSpPr>
          <p:spPr>
            <a:xfrm>
              <a:off x="7254864" y="3243713"/>
              <a:ext cx="360000" cy="360000"/>
            </a:xfrm>
            <a:prstGeom prst="rect">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7" name="剪去单角的矩形 36"/>
            <p:cNvSpPr/>
            <p:nvPr/>
          </p:nvSpPr>
          <p:spPr>
            <a:xfrm rot="16200000">
              <a:off x="7303829" y="3282216"/>
              <a:ext cx="252000" cy="252000"/>
            </a:xfrm>
            <a:prstGeom prst="snip1Rect">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algn="ctr"/>
              <a:r>
                <a:rPr lang="en-US" altLang="zh-CN" sz="900" dirty="0">
                  <a:solidFill>
                    <a:schemeClr val="tx1"/>
                  </a:solidFill>
                </a:rPr>
                <a:t>CPU</a:t>
              </a:r>
              <a:endParaRPr lang="zh-CN" altLang="en-US" sz="900" dirty="0">
                <a:solidFill>
                  <a:schemeClr val="tx1"/>
                </a:solidFill>
              </a:endParaRPr>
            </a:p>
          </p:txBody>
        </p:sp>
        <p:grpSp>
          <p:nvGrpSpPr>
            <p:cNvPr id="38" name="组合 37"/>
            <p:cNvGrpSpPr/>
            <p:nvPr/>
          </p:nvGrpSpPr>
          <p:grpSpPr>
            <a:xfrm>
              <a:off x="7293364" y="3206251"/>
              <a:ext cx="285550" cy="36000"/>
              <a:chOff x="7293364" y="3187001"/>
              <a:chExt cx="285550" cy="54000"/>
            </a:xfrm>
          </p:grpSpPr>
          <p:cxnSp>
            <p:nvCxnSpPr>
              <p:cNvPr id="54" name="直接连接符 53"/>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rot="5400000">
              <a:off x="7502892" y="3406151"/>
              <a:ext cx="285550" cy="36000"/>
              <a:chOff x="7293364" y="3187001"/>
              <a:chExt cx="285550" cy="54000"/>
            </a:xfrm>
          </p:grpSpPr>
          <p:cxnSp>
            <p:nvCxnSpPr>
              <p:cNvPr id="50" name="直接连接符 49"/>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7291761" y="3608908"/>
              <a:ext cx="285550" cy="36000"/>
              <a:chOff x="7293364" y="3187001"/>
              <a:chExt cx="285550" cy="54000"/>
            </a:xfrm>
          </p:grpSpPr>
          <p:cxnSp>
            <p:nvCxnSpPr>
              <p:cNvPr id="46" name="直接连接符 45"/>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rot="16200000">
              <a:off x="7076087" y="3406151"/>
              <a:ext cx="285550" cy="36000"/>
              <a:chOff x="7293364" y="3187001"/>
              <a:chExt cx="285550" cy="54000"/>
            </a:xfrm>
          </p:grpSpPr>
          <p:cxnSp>
            <p:nvCxnSpPr>
              <p:cNvPr id="42" name="直接连接符 41"/>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59" name="下弧形箭头 58"/>
          <p:cNvSpPr/>
          <p:nvPr/>
        </p:nvSpPr>
        <p:spPr>
          <a:xfrm>
            <a:off x="2854177" y="3810375"/>
            <a:ext cx="177672" cy="90843"/>
          </a:xfrm>
          <a:prstGeom prst="curvedUpArrow">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60" name="文本框 59"/>
          <p:cNvSpPr txBox="1"/>
          <p:nvPr/>
        </p:nvSpPr>
        <p:spPr>
          <a:xfrm>
            <a:off x="1707638" y="2962489"/>
            <a:ext cx="492952" cy="307777"/>
          </a:xfrm>
          <a:prstGeom prst="rect">
            <a:avLst/>
          </a:prstGeom>
          <a:noFill/>
        </p:spPr>
        <p:txBody>
          <a:bodyPr wrap="square" rtlCol="0">
            <a:spAutoFit/>
          </a:bodyPr>
          <a:lstStyle/>
          <a:p>
            <a:r>
              <a:rPr lang="en-US" altLang="zh-CN" sz="1400" b="1" dirty="0"/>
              <a:t>T1</a:t>
            </a:r>
            <a:endParaRPr lang="zh-CN" altLang="en-US" sz="1400" b="1" dirty="0"/>
          </a:p>
        </p:txBody>
      </p:sp>
      <p:sp>
        <p:nvSpPr>
          <p:cNvPr id="61" name="文本框 60"/>
          <p:cNvSpPr txBox="1"/>
          <p:nvPr/>
        </p:nvSpPr>
        <p:spPr>
          <a:xfrm>
            <a:off x="1701064" y="3464838"/>
            <a:ext cx="492952" cy="307777"/>
          </a:xfrm>
          <a:prstGeom prst="rect">
            <a:avLst/>
          </a:prstGeom>
          <a:noFill/>
        </p:spPr>
        <p:txBody>
          <a:bodyPr wrap="square" rtlCol="0">
            <a:spAutoFit/>
          </a:bodyPr>
          <a:lstStyle/>
          <a:p>
            <a:r>
              <a:rPr lang="en-US" altLang="zh-CN" sz="1400" b="1" dirty="0"/>
              <a:t>T3</a:t>
            </a:r>
            <a:endParaRPr lang="zh-CN" altLang="en-US" sz="1400" b="1" dirty="0"/>
          </a:p>
        </p:txBody>
      </p:sp>
      <p:sp>
        <p:nvSpPr>
          <p:cNvPr id="62" name="文本框 61"/>
          <p:cNvSpPr txBox="1"/>
          <p:nvPr/>
        </p:nvSpPr>
        <p:spPr>
          <a:xfrm>
            <a:off x="2461894" y="2962489"/>
            <a:ext cx="492952" cy="307777"/>
          </a:xfrm>
          <a:prstGeom prst="rect">
            <a:avLst/>
          </a:prstGeom>
          <a:noFill/>
        </p:spPr>
        <p:txBody>
          <a:bodyPr wrap="square" rtlCol="0">
            <a:spAutoFit/>
          </a:bodyPr>
          <a:lstStyle/>
          <a:p>
            <a:r>
              <a:rPr lang="en-US" altLang="zh-CN" sz="1400" b="1" dirty="0"/>
              <a:t>T2</a:t>
            </a:r>
            <a:endParaRPr lang="zh-CN" altLang="en-US" sz="1400" b="1" dirty="0"/>
          </a:p>
        </p:txBody>
      </p:sp>
      <p:sp>
        <p:nvSpPr>
          <p:cNvPr id="63" name="文本框 62"/>
          <p:cNvSpPr txBox="1"/>
          <p:nvPr/>
        </p:nvSpPr>
        <p:spPr>
          <a:xfrm>
            <a:off x="3206527" y="2962489"/>
            <a:ext cx="492952" cy="307777"/>
          </a:xfrm>
          <a:prstGeom prst="rect">
            <a:avLst/>
          </a:prstGeom>
          <a:noFill/>
        </p:spPr>
        <p:txBody>
          <a:bodyPr wrap="square" rtlCol="0">
            <a:spAutoFit/>
          </a:bodyPr>
          <a:lstStyle/>
          <a:p>
            <a:r>
              <a:rPr lang="en-US" altLang="zh-CN" sz="1400" b="1" dirty="0"/>
              <a:t>T1</a:t>
            </a:r>
            <a:endParaRPr lang="zh-CN" altLang="en-US" sz="1400" b="1" dirty="0"/>
          </a:p>
        </p:txBody>
      </p:sp>
      <p:sp>
        <p:nvSpPr>
          <p:cNvPr id="64" name="文本框 63"/>
          <p:cNvSpPr txBox="1"/>
          <p:nvPr/>
        </p:nvSpPr>
        <p:spPr>
          <a:xfrm>
            <a:off x="3973797" y="2962489"/>
            <a:ext cx="492952" cy="307777"/>
          </a:xfrm>
          <a:prstGeom prst="rect">
            <a:avLst/>
          </a:prstGeom>
          <a:noFill/>
        </p:spPr>
        <p:txBody>
          <a:bodyPr wrap="square" rtlCol="0">
            <a:spAutoFit/>
          </a:bodyPr>
          <a:lstStyle/>
          <a:p>
            <a:r>
              <a:rPr lang="en-US" altLang="zh-CN" sz="1400" b="1" dirty="0"/>
              <a:t>T2</a:t>
            </a:r>
            <a:endParaRPr lang="zh-CN" altLang="en-US" sz="1400" b="1" dirty="0"/>
          </a:p>
        </p:txBody>
      </p:sp>
      <p:sp>
        <p:nvSpPr>
          <p:cNvPr id="65" name="文本框 64"/>
          <p:cNvSpPr txBox="1"/>
          <p:nvPr/>
        </p:nvSpPr>
        <p:spPr>
          <a:xfrm>
            <a:off x="2451496" y="3464838"/>
            <a:ext cx="492952" cy="307777"/>
          </a:xfrm>
          <a:prstGeom prst="rect">
            <a:avLst/>
          </a:prstGeom>
          <a:noFill/>
        </p:spPr>
        <p:txBody>
          <a:bodyPr wrap="square" rtlCol="0">
            <a:spAutoFit/>
          </a:bodyPr>
          <a:lstStyle/>
          <a:p>
            <a:r>
              <a:rPr lang="en-US" altLang="zh-CN" sz="1400" b="1" dirty="0"/>
              <a:t>T4</a:t>
            </a:r>
            <a:endParaRPr lang="zh-CN" altLang="en-US" sz="1400" b="1" dirty="0"/>
          </a:p>
        </p:txBody>
      </p:sp>
      <p:sp>
        <p:nvSpPr>
          <p:cNvPr id="66" name="文本框 65"/>
          <p:cNvSpPr txBox="1"/>
          <p:nvPr/>
        </p:nvSpPr>
        <p:spPr>
          <a:xfrm>
            <a:off x="3201928" y="3464838"/>
            <a:ext cx="492952" cy="307777"/>
          </a:xfrm>
          <a:prstGeom prst="rect">
            <a:avLst/>
          </a:prstGeom>
          <a:noFill/>
        </p:spPr>
        <p:txBody>
          <a:bodyPr wrap="square" rtlCol="0">
            <a:spAutoFit/>
          </a:bodyPr>
          <a:lstStyle/>
          <a:p>
            <a:r>
              <a:rPr lang="en-US" altLang="zh-CN" sz="1400" b="1" dirty="0"/>
              <a:t>T3</a:t>
            </a:r>
            <a:endParaRPr lang="zh-CN" altLang="en-US" sz="1400" b="1" dirty="0"/>
          </a:p>
        </p:txBody>
      </p:sp>
      <p:sp>
        <p:nvSpPr>
          <p:cNvPr id="67" name="文本框 66"/>
          <p:cNvSpPr txBox="1"/>
          <p:nvPr/>
        </p:nvSpPr>
        <p:spPr>
          <a:xfrm>
            <a:off x="3951713" y="3464838"/>
            <a:ext cx="492952" cy="307777"/>
          </a:xfrm>
          <a:prstGeom prst="rect">
            <a:avLst/>
          </a:prstGeom>
          <a:noFill/>
        </p:spPr>
        <p:txBody>
          <a:bodyPr wrap="square" rtlCol="0">
            <a:spAutoFit/>
          </a:bodyPr>
          <a:lstStyle/>
          <a:p>
            <a:r>
              <a:rPr lang="en-US" altLang="zh-CN" sz="1400" b="1" dirty="0"/>
              <a:t>T4</a:t>
            </a:r>
            <a:endParaRPr lang="zh-CN" altLang="en-US" sz="1400" b="1" dirty="0"/>
          </a:p>
        </p:txBody>
      </p:sp>
      <p:sp>
        <p:nvSpPr>
          <p:cNvPr id="68" name="下弧形箭头 67"/>
          <p:cNvSpPr/>
          <p:nvPr/>
        </p:nvSpPr>
        <p:spPr>
          <a:xfrm>
            <a:off x="4145317" y="3818392"/>
            <a:ext cx="177672" cy="90843"/>
          </a:xfrm>
          <a:prstGeom prst="curvedUpArrow">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cxnSp>
        <p:nvCxnSpPr>
          <p:cNvPr id="69" name="直接箭头连接符 68"/>
          <p:cNvCxnSpPr/>
          <p:nvPr/>
        </p:nvCxnSpPr>
        <p:spPr>
          <a:xfrm>
            <a:off x="1838147" y="3221430"/>
            <a:ext cx="72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a:off x="2593260" y="3221430"/>
            <a:ext cx="720000" cy="0"/>
          </a:xfrm>
          <a:prstGeom prst="straightConnector1">
            <a:avLst/>
          </a:prstGeom>
          <a:ln w="25400">
            <a:solidFill>
              <a:srgbClr val="FF0000"/>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a:off x="3348373" y="3221430"/>
            <a:ext cx="72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4103486" y="3221430"/>
            <a:ext cx="360000" cy="0"/>
          </a:xfrm>
          <a:prstGeom prst="straightConnector1">
            <a:avLst/>
          </a:prstGeom>
          <a:ln w="25400">
            <a:solidFill>
              <a:srgbClr val="FF0000"/>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4498599" y="3221430"/>
            <a:ext cx="36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1837762" y="3732106"/>
            <a:ext cx="72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2588272" y="3732106"/>
            <a:ext cx="720000" cy="0"/>
          </a:xfrm>
          <a:prstGeom prst="straightConnector1">
            <a:avLst/>
          </a:prstGeom>
          <a:ln w="25400">
            <a:solidFill>
              <a:srgbClr val="BDD7EE"/>
            </a:solidFill>
            <a:prstDash val="sysDash"/>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3338782" y="3732106"/>
            <a:ext cx="72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4089292" y="3732106"/>
            <a:ext cx="360000" cy="0"/>
          </a:xfrm>
          <a:prstGeom prst="straightConnector1">
            <a:avLst/>
          </a:prstGeom>
          <a:ln w="25400">
            <a:solidFill>
              <a:srgbClr val="BDD7EE"/>
            </a:solidFill>
            <a:prstDash val="sysDash"/>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a:off x="4479803" y="3732106"/>
            <a:ext cx="360000" cy="0"/>
          </a:xfrm>
          <a:prstGeom prst="straightConnector1">
            <a:avLst/>
          </a:prstGeom>
          <a:ln w="25400">
            <a:solidFill>
              <a:srgbClr val="FF0000"/>
            </a:solidFill>
            <a:headEnd type="diamond"/>
            <a:tailEnd type="triangl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5068131" y="3269537"/>
            <a:ext cx="2670321" cy="369332"/>
          </a:xfrm>
          <a:prstGeom prst="rect">
            <a:avLst/>
          </a:prstGeom>
          <a:noFill/>
        </p:spPr>
        <p:txBody>
          <a:bodyPr wrap="square" rtlCol="0">
            <a:spAutoFit/>
          </a:bodyPr>
          <a:lstStyle/>
          <a:p>
            <a:r>
              <a:rPr lang="en-US" altLang="zh-CN" b="1" dirty="0">
                <a:solidFill>
                  <a:srgbClr val="C00000"/>
                </a:solidFill>
              </a:rPr>
              <a:t>T4 waste CPU resources</a:t>
            </a:r>
            <a:endParaRPr lang="zh-CN" altLang="en-US" b="1" dirty="0">
              <a:solidFill>
                <a:srgbClr val="C00000"/>
              </a:solidFill>
            </a:endParaRPr>
          </a:p>
        </p:txBody>
      </p:sp>
      <p:grpSp>
        <p:nvGrpSpPr>
          <p:cNvPr id="81" name="组合 80"/>
          <p:cNvGrpSpPr/>
          <p:nvPr/>
        </p:nvGrpSpPr>
        <p:grpSpPr>
          <a:xfrm>
            <a:off x="1366429" y="5295236"/>
            <a:ext cx="432000" cy="360000"/>
            <a:chOff x="7200862" y="3206251"/>
            <a:chExt cx="462805" cy="438657"/>
          </a:xfrm>
        </p:grpSpPr>
        <p:sp>
          <p:nvSpPr>
            <p:cNvPr id="82" name="矩形 81"/>
            <p:cNvSpPr/>
            <p:nvPr/>
          </p:nvSpPr>
          <p:spPr>
            <a:xfrm>
              <a:off x="7254864" y="3243713"/>
              <a:ext cx="360000" cy="360000"/>
            </a:xfrm>
            <a:prstGeom prst="rect">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3" name="剪去单角的矩形 82"/>
            <p:cNvSpPr/>
            <p:nvPr/>
          </p:nvSpPr>
          <p:spPr>
            <a:xfrm rot="16200000">
              <a:off x="7303829" y="3282216"/>
              <a:ext cx="252000" cy="252000"/>
            </a:xfrm>
            <a:prstGeom prst="snip1Rect">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algn="ctr"/>
              <a:r>
                <a:rPr lang="en-US" altLang="zh-CN" sz="900" dirty="0">
                  <a:solidFill>
                    <a:schemeClr val="tx1"/>
                  </a:solidFill>
                </a:rPr>
                <a:t>CPU</a:t>
              </a:r>
              <a:endParaRPr lang="zh-CN" altLang="en-US" sz="900" dirty="0">
                <a:solidFill>
                  <a:schemeClr val="tx1"/>
                </a:solidFill>
              </a:endParaRPr>
            </a:p>
          </p:txBody>
        </p:sp>
        <p:grpSp>
          <p:nvGrpSpPr>
            <p:cNvPr id="84" name="组合 83"/>
            <p:cNvGrpSpPr/>
            <p:nvPr/>
          </p:nvGrpSpPr>
          <p:grpSpPr>
            <a:xfrm>
              <a:off x="7293364" y="3206251"/>
              <a:ext cx="285550" cy="36000"/>
              <a:chOff x="7293364" y="3187001"/>
              <a:chExt cx="285550" cy="54000"/>
            </a:xfrm>
          </p:grpSpPr>
          <p:cxnSp>
            <p:nvCxnSpPr>
              <p:cNvPr id="100" name="直接连接符 99"/>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rot="5400000">
              <a:off x="7502892" y="3406151"/>
              <a:ext cx="285550" cy="36000"/>
              <a:chOff x="7293364" y="3187001"/>
              <a:chExt cx="285550" cy="54000"/>
            </a:xfrm>
          </p:grpSpPr>
          <p:cxnSp>
            <p:nvCxnSpPr>
              <p:cNvPr id="96" name="直接连接符 95"/>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7291761" y="3608908"/>
              <a:ext cx="285550" cy="36000"/>
              <a:chOff x="7293364" y="3187001"/>
              <a:chExt cx="285550" cy="54000"/>
            </a:xfrm>
          </p:grpSpPr>
          <p:cxnSp>
            <p:nvCxnSpPr>
              <p:cNvPr id="92" name="直接连接符 91"/>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nvGrpSpPr>
          <p:grpSpPr>
            <a:xfrm rot="16200000">
              <a:off x="7076087" y="3406151"/>
              <a:ext cx="285550" cy="36000"/>
              <a:chOff x="7293364" y="3187001"/>
              <a:chExt cx="285550" cy="54000"/>
            </a:xfrm>
          </p:grpSpPr>
          <p:cxnSp>
            <p:nvCxnSpPr>
              <p:cNvPr id="88" name="直接连接符 87"/>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4" name="组合 103"/>
          <p:cNvGrpSpPr/>
          <p:nvPr/>
        </p:nvGrpSpPr>
        <p:grpSpPr>
          <a:xfrm>
            <a:off x="1365507" y="5793708"/>
            <a:ext cx="432000" cy="360000"/>
            <a:chOff x="7200862" y="3206251"/>
            <a:chExt cx="462805" cy="438657"/>
          </a:xfrm>
        </p:grpSpPr>
        <p:sp>
          <p:nvSpPr>
            <p:cNvPr id="105" name="矩形 104"/>
            <p:cNvSpPr/>
            <p:nvPr/>
          </p:nvSpPr>
          <p:spPr>
            <a:xfrm>
              <a:off x="7254864" y="3243713"/>
              <a:ext cx="360000" cy="360000"/>
            </a:xfrm>
            <a:prstGeom prst="rect">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6" name="剪去单角的矩形 105"/>
            <p:cNvSpPr/>
            <p:nvPr/>
          </p:nvSpPr>
          <p:spPr>
            <a:xfrm rot="16200000">
              <a:off x="7303829" y="3282216"/>
              <a:ext cx="252000" cy="252000"/>
            </a:xfrm>
            <a:prstGeom prst="snip1Rect">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algn="ctr"/>
              <a:r>
                <a:rPr lang="en-US" altLang="zh-CN" sz="900" dirty="0">
                  <a:solidFill>
                    <a:schemeClr val="tx1"/>
                  </a:solidFill>
                </a:rPr>
                <a:t>CPU</a:t>
              </a:r>
              <a:endParaRPr lang="zh-CN" altLang="en-US" sz="900" dirty="0">
                <a:solidFill>
                  <a:schemeClr val="tx1"/>
                </a:solidFill>
              </a:endParaRPr>
            </a:p>
          </p:txBody>
        </p:sp>
        <p:grpSp>
          <p:nvGrpSpPr>
            <p:cNvPr id="107" name="组合 106"/>
            <p:cNvGrpSpPr/>
            <p:nvPr/>
          </p:nvGrpSpPr>
          <p:grpSpPr>
            <a:xfrm>
              <a:off x="7293364" y="3206251"/>
              <a:ext cx="285550" cy="36000"/>
              <a:chOff x="7293364" y="3187001"/>
              <a:chExt cx="285550" cy="54000"/>
            </a:xfrm>
          </p:grpSpPr>
          <p:cxnSp>
            <p:nvCxnSpPr>
              <p:cNvPr id="123" name="直接连接符 122"/>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组合 107"/>
            <p:cNvGrpSpPr/>
            <p:nvPr/>
          </p:nvGrpSpPr>
          <p:grpSpPr>
            <a:xfrm rot="5400000">
              <a:off x="7502892" y="3406151"/>
              <a:ext cx="285550" cy="36000"/>
              <a:chOff x="7293364" y="3187001"/>
              <a:chExt cx="285550" cy="54000"/>
            </a:xfrm>
          </p:grpSpPr>
          <p:cxnSp>
            <p:nvCxnSpPr>
              <p:cNvPr id="119" name="直接连接符 118"/>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9" name="组合 108"/>
            <p:cNvGrpSpPr/>
            <p:nvPr/>
          </p:nvGrpSpPr>
          <p:grpSpPr>
            <a:xfrm>
              <a:off x="7291761" y="3608908"/>
              <a:ext cx="285550" cy="36000"/>
              <a:chOff x="7293364" y="3187001"/>
              <a:chExt cx="285550" cy="54000"/>
            </a:xfrm>
          </p:grpSpPr>
          <p:cxnSp>
            <p:nvCxnSpPr>
              <p:cNvPr id="115" name="直接连接符 114"/>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组合 109"/>
            <p:cNvGrpSpPr/>
            <p:nvPr/>
          </p:nvGrpSpPr>
          <p:grpSpPr>
            <a:xfrm rot="16200000">
              <a:off x="7076087" y="3406151"/>
              <a:ext cx="285550" cy="36000"/>
              <a:chOff x="7293364" y="3187001"/>
              <a:chExt cx="285550" cy="54000"/>
            </a:xfrm>
          </p:grpSpPr>
          <p:cxnSp>
            <p:nvCxnSpPr>
              <p:cNvPr id="111" name="直接连接符 110"/>
              <p:cNvCxnSpPr/>
              <p:nvPr/>
            </p:nvCxnSpPr>
            <p:spPr>
              <a:xfrm>
                <a:off x="729336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7388547"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7578914"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7483730" y="3187001"/>
                <a:ext cx="0" cy="5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8" name="下弧形箭头 127"/>
          <p:cNvSpPr/>
          <p:nvPr/>
        </p:nvSpPr>
        <p:spPr>
          <a:xfrm>
            <a:off x="2895601" y="6058409"/>
            <a:ext cx="177672" cy="90843"/>
          </a:xfrm>
          <a:prstGeom prst="curvedUpArrow">
            <a:avLst/>
          </a:prstGeom>
          <a:solidFill>
            <a:schemeClr val="bg1"/>
          </a:solidFill>
          <a:ln>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129" name="文本框 128"/>
          <p:cNvSpPr txBox="1"/>
          <p:nvPr/>
        </p:nvSpPr>
        <p:spPr>
          <a:xfrm>
            <a:off x="1749062" y="5210523"/>
            <a:ext cx="492952" cy="307777"/>
          </a:xfrm>
          <a:prstGeom prst="rect">
            <a:avLst/>
          </a:prstGeom>
          <a:noFill/>
        </p:spPr>
        <p:txBody>
          <a:bodyPr wrap="square" rtlCol="0">
            <a:spAutoFit/>
          </a:bodyPr>
          <a:lstStyle/>
          <a:p>
            <a:r>
              <a:rPr lang="en-US" altLang="zh-CN" sz="1400" b="1" dirty="0"/>
              <a:t>T1</a:t>
            </a:r>
            <a:endParaRPr lang="zh-CN" altLang="en-US" sz="1400" b="1" dirty="0"/>
          </a:p>
        </p:txBody>
      </p:sp>
      <p:sp>
        <p:nvSpPr>
          <p:cNvPr id="130" name="文本框 129"/>
          <p:cNvSpPr txBox="1"/>
          <p:nvPr/>
        </p:nvSpPr>
        <p:spPr>
          <a:xfrm>
            <a:off x="1742488" y="5712872"/>
            <a:ext cx="492952" cy="307777"/>
          </a:xfrm>
          <a:prstGeom prst="rect">
            <a:avLst/>
          </a:prstGeom>
          <a:noFill/>
        </p:spPr>
        <p:txBody>
          <a:bodyPr wrap="square" rtlCol="0">
            <a:spAutoFit/>
          </a:bodyPr>
          <a:lstStyle/>
          <a:p>
            <a:r>
              <a:rPr lang="en-US" altLang="zh-CN" sz="1400" b="1" dirty="0"/>
              <a:t>T3</a:t>
            </a:r>
            <a:endParaRPr lang="zh-CN" altLang="en-US" sz="1400" b="1" dirty="0"/>
          </a:p>
        </p:txBody>
      </p:sp>
      <p:sp>
        <p:nvSpPr>
          <p:cNvPr id="131" name="文本框 130"/>
          <p:cNvSpPr txBox="1"/>
          <p:nvPr/>
        </p:nvSpPr>
        <p:spPr>
          <a:xfrm>
            <a:off x="2503318" y="5210523"/>
            <a:ext cx="492952" cy="307777"/>
          </a:xfrm>
          <a:prstGeom prst="rect">
            <a:avLst/>
          </a:prstGeom>
          <a:noFill/>
        </p:spPr>
        <p:txBody>
          <a:bodyPr wrap="square" rtlCol="0">
            <a:spAutoFit/>
          </a:bodyPr>
          <a:lstStyle/>
          <a:p>
            <a:r>
              <a:rPr lang="en-US" altLang="zh-CN" sz="1400" b="1" dirty="0"/>
              <a:t>T2</a:t>
            </a:r>
            <a:endParaRPr lang="zh-CN" altLang="en-US" sz="1400" b="1" dirty="0"/>
          </a:p>
        </p:txBody>
      </p:sp>
      <p:sp>
        <p:nvSpPr>
          <p:cNvPr id="132" name="文本框 131"/>
          <p:cNvSpPr txBox="1"/>
          <p:nvPr/>
        </p:nvSpPr>
        <p:spPr>
          <a:xfrm>
            <a:off x="3146482" y="5210523"/>
            <a:ext cx="492952" cy="307777"/>
          </a:xfrm>
          <a:prstGeom prst="rect">
            <a:avLst/>
          </a:prstGeom>
          <a:noFill/>
        </p:spPr>
        <p:txBody>
          <a:bodyPr wrap="square" rtlCol="0">
            <a:spAutoFit/>
          </a:bodyPr>
          <a:lstStyle/>
          <a:p>
            <a:r>
              <a:rPr lang="en-US" altLang="zh-CN" sz="1400" b="1" dirty="0"/>
              <a:t>T5</a:t>
            </a:r>
            <a:endParaRPr lang="zh-CN" altLang="en-US" sz="1400" b="1" dirty="0"/>
          </a:p>
        </p:txBody>
      </p:sp>
      <p:sp>
        <p:nvSpPr>
          <p:cNvPr id="133" name="文本框 132"/>
          <p:cNvSpPr txBox="1"/>
          <p:nvPr/>
        </p:nvSpPr>
        <p:spPr>
          <a:xfrm>
            <a:off x="3652365" y="5210523"/>
            <a:ext cx="492952" cy="307777"/>
          </a:xfrm>
          <a:prstGeom prst="rect">
            <a:avLst/>
          </a:prstGeom>
          <a:noFill/>
        </p:spPr>
        <p:txBody>
          <a:bodyPr wrap="square" rtlCol="0">
            <a:spAutoFit/>
          </a:bodyPr>
          <a:lstStyle/>
          <a:p>
            <a:r>
              <a:rPr lang="en-US" altLang="zh-CN" sz="1400" b="1" dirty="0"/>
              <a:t>T2</a:t>
            </a:r>
            <a:endParaRPr lang="zh-CN" altLang="en-US" sz="1400" b="1" dirty="0"/>
          </a:p>
        </p:txBody>
      </p:sp>
      <p:sp>
        <p:nvSpPr>
          <p:cNvPr id="134" name="文本框 133"/>
          <p:cNvSpPr txBox="1"/>
          <p:nvPr/>
        </p:nvSpPr>
        <p:spPr>
          <a:xfrm>
            <a:off x="2492920" y="5712872"/>
            <a:ext cx="492952" cy="307777"/>
          </a:xfrm>
          <a:prstGeom prst="rect">
            <a:avLst/>
          </a:prstGeom>
          <a:noFill/>
        </p:spPr>
        <p:txBody>
          <a:bodyPr wrap="square" rtlCol="0">
            <a:spAutoFit/>
          </a:bodyPr>
          <a:lstStyle/>
          <a:p>
            <a:r>
              <a:rPr lang="en-US" altLang="zh-CN" sz="1400" b="1" dirty="0"/>
              <a:t>T4</a:t>
            </a:r>
            <a:endParaRPr lang="zh-CN" altLang="en-US" sz="1400" b="1" dirty="0"/>
          </a:p>
        </p:txBody>
      </p:sp>
      <p:sp>
        <p:nvSpPr>
          <p:cNvPr id="135" name="文本框 134"/>
          <p:cNvSpPr txBox="1"/>
          <p:nvPr/>
        </p:nvSpPr>
        <p:spPr>
          <a:xfrm>
            <a:off x="3243352" y="5712872"/>
            <a:ext cx="492952" cy="307777"/>
          </a:xfrm>
          <a:prstGeom prst="rect">
            <a:avLst/>
          </a:prstGeom>
          <a:noFill/>
        </p:spPr>
        <p:txBody>
          <a:bodyPr wrap="square" rtlCol="0">
            <a:spAutoFit/>
          </a:bodyPr>
          <a:lstStyle/>
          <a:p>
            <a:r>
              <a:rPr lang="en-US" altLang="zh-CN" sz="1400" b="1" dirty="0"/>
              <a:t>T3</a:t>
            </a:r>
            <a:endParaRPr lang="zh-CN" altLang="en-US" sz="1400" b="1" dirty="0"/>
          </a:p>
        </p:txBody>
      </p:sp>
      <p:cxnSp>
        <p:nvCxnSpPr>
          <p:cNvPr id="138" name="直接箭头连接符 137"/>
          <p:cNvCxnSpPr/>
          <p:nvPr/>
        </p:nvCxnSpPr>
        <p:spPr>
          <a:xfrm>
            <a:off x="1879571" y="5469464"/>
            <a:ext cx="72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139" name="直接箭头连接符 138"/>
          <p:cNvCxnSpPr/>
          <p:nvPr/>
        </p:nvCxnSpPr>
        <p:spPr>
          <a:xfrm>
            <a:off x="2634684" y="5469464"/>
            <a:ext cx="312100" cy="0"/>
          </a:xfrm>
          <a:prstGeom prst="straightConnector1">
            <a:avLst/>
          </a:prstGeom>
          <a:ln w="25400">
            <a:solidFill>
              <a:srgbClr val="FF0000"/>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p:nvPr/>
        </p:nvCxnSpPr>
        <p:spPr>
          <a:xfrm>
            <a:off x="3016304" y="5469464"/>
            <a:ext cx="72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a:off x="3782054" y="5469464"/>
            <a:ext cx="360000" cy="0"/>
          </a:xfrm>
          <a:prstGeom prst="straightConnector1">
            <a:avLst/>
          </a:prstGeom>
          <a:ln w="25400">
            <a:solidFill>
              <a:srgbClr val="FF0000"/>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4177167" y="5469464"/>
            <a:ext cx="36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a:off x="1879186" y="5980140"/>
            <a:ext cx="72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p:cNvCxnSpPr/>
          <p:nvPr/>
        </p:nvCxnSpPr>
        <p:spPr>
          <a:xfrm>
            <a:off x="2629696" y="5980140"/>
            <a:ext cx="720000" cy="0"/>
          </a:xfrm>
          <a:prstGeom prst="straightConnector1">
            <a:avLst/>
          </a:prstGeom>
          <a:ln w="25400">
            <a:solidFill>
              <a:srgbClr val="BDD7EE"/>
            </a:solidFill>
            <a:prstDash val="sysDash"/>
            <a:headEnd type="diamond"/>
            <a:tailEnd type="triangle"/>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a:off x="3380206" y="5980140"/>
            <a:ext cx="720000" cy="0"/>
          </a:xfrm>
          <a:prstGeom prst="straightConnector1">
            <a:avLst/>
          </a:prstGeom>
          <a:ln w="25400">
            <a:solidFill>
              <a:schemeClr val="tx1"/>
            </a:solidFill>
            <a:headEnd type="diamond"/>
            <a:tailEnd type="triangle"/>
          </a:ln>
        </p:spPr>
        <p:style>
          <a:lnRef idx="1">
            <a:schemeClr val="accent1"/>
          </a:lnRef>
          <a:fillRef idx="0">
            <a:schemeClr val="accent1"/>
          </a:fillRef>
          <a:effectRef idx="0">
            <a:schemeClr val="accent1"/>
          </a:effectRef>
          <a:fontRef idx="minor">
            <a:schemeClr val="tx1"/>
          </a:fontRef>
        </p:style>
      </p:cxnSp>
      <p:sp>
        <p:nvSpPr>
          <p:cNvPr id="150" name="文本框 149"/>
          <p:cNvSpPr txBox="1"/>
          <p:nvPr/>
        </p:nvSpPr>
        <p:spPr>
          <a:xfrm>
            <a:off x="5127989" y="5513269"/>
            <a:ext cx="2290536" cy="369332"/>
          </a:xfrm>
          <a:prstGeom prst="rect">
            <a:avLst/>
          </a:prstGeom>
          <a:noFill/>
        </p:spPr>
        <p:txBody>
          <a:bodyPr wrap="square" rtlCol="0">
            <a:spAutoFit/>
          </a:bodyPr>
          <a:lstStyle/>
          <a:p>
            <a:r>
              <a:rPr lang="en-US" altLang="zh-CN" b="1" dirty="0">
                <a:solidFill>
                  <a:srgbClr val="C00000"/>
                </a:solidFill>
                <a:latin typeface="Calibri" panose="020F0502020204030204" pitchFamily="34" charset="0"/>
                <a:cs typeface="Calibri" panose="020F0502020204030204" pitchFamily="34" charset="0"/>
              </a:rPr>
              <a:t>T2 is preempted by T5</a:t>
            </a:r>
            <a:endParaRPr lang="zh-CN" altLang="en-US" b="1" dirty="0">
              <a:solidFill>
                <a:srgbClr val="C00000"/>
              </a:solidFill>
              <a:latin typeface="Calibri" panose="020F0502020204030204" pitchFamily="34" charset="0"/>
              <a:cs typeface="Calibri" panose="020F0502020204030204" pitchFamily="34" charset="0"/>
            </a:endParaRPr>
          </a:p>
        </p:txBody>
      </p:sp>
      <p:sp>
        <p:nvSpPr>
          <p:cNvPr id="146" name="Content Placeholder 2">
            <a:extLst>
              <a:ext uri="{FF2B5EF4-FFF2-40B4-BE49-F238E27FC236}">
                <a16:creationId xmlns:a16="http://schemas.microsoft.com/office/drawing/2014/main" id="{F4E957AF-53B7-4EBD-99B9-D02837DA12F4}"/>
              </a:ext>
            </a:extLst>
          </p:cNvPr>
          <p:cNvSpPr>
            <a:spLocks noGrp="1"/>
          </p:cNvSpPr>
          <p:nvPr>
            <p:ph idx="1"/>
          </p:nvPr>
        </p:nvSpPr>
        <p:spPr>
          <a:xfrm>
            <a:off x="542532" y="1380533"/>
            <a:ext cx="7841907" cy="4351338"/>
          </a:xfrm>
        </p:spPr>
        <p:txBody>
          <a:bodyPr>
            <a:normAutofit/>
          </a:bodyPr>
          <a:lstStyle/>
          <a:p>
            <a:pPr>
              <a:lnSpc>
                <a:spcPct val="170000"/>
              </a:lnSpc>
            </a:pPr>
            <a:r>
              <a:rPr lang="en-US" altLang="zh-CN" dirty="0">
                <a:latin typeface="+mn-lt"/>
                <a:cs typeface="Calibri" panose="020F0502020204030204" pitchFamily="34" charset="0"/>
              </a:rPr>
              <a:t>Spinning cause cascading performance collapse</a:t>
            </a:r>
          </a:p>
          <a:p>
            <a:pPr lvl="1">
              <a:lnSpc>
                <a:spcPct val="170000"/>
              </a:lnSpc>
            </a:pPr>
            <a:r>
              <a:rPr lang="en-US" altLang="zh-CN" dirty="0">
                <a:latin typeface="+mj-lt"/>
                <a:cs typeface="Calibri" panose="020F0502020204030204" pitchFamily="34" charset="0"/>
              </a:rPr>
              <a:t>Waste CPU resource</a:t>
            </a:r>
          </a:p>
          <a:p>
            <a:pPr marL="457200" lvl="1" indent="0">
              <a:lnSpc>
                <a:spcPct val="170000"/>
              </a:lnSpc>
              <a:buNone/>
            </a:pPr>
            <a:endParaRPr lang="en-US" altLang="zh-CN" dirty="0">
              <a:latin typeface="+mj-lt"/>
              <a:cs typeface="Calibri" panose="020F0502020204030204" pitchFamily="34" charset="0"/>
            </a:endParaRPr>
          </a:p>
          <a:p>
            <a:pPr marL="457200" lvl="1" indent="0">
              <a:lnSpc>
                <a:spcPct val="170000"/>
              </a:lnSpc>
              <a:buNone/>
            </a:pPr>
            <a:endParaRPr lang="en-US" altLang="zh-CN" dirty="0">
              <a:latin typeface="+mj-lt"/>
              <a:cs typeface="Calibri" panose="020F0502020204030204" pitchFamily="34" charset="0"/>
            </a:endParaRPr>
          </a:p>
          <a:p>
            <a:pPr lvl="1">
              <a:lnSpc>
                <a:spcPct val="170000"/>
              </a:lnSpc>
            </a:pPr>
            <a:r>
              <a:rPr lang="en-US" altLang="zh-CN" dirty="0">
                <a:latin typeface="+mj-lt"/>
                <a:cs typeface="Calibri" panose="020F0502020204030204" pitchFamily="34" charset="0"/>
              </a:rPr>
              <a:t>lock-holder preemption (LHP)</a:t>
            </a:r>
          </a:p>
        </p:txBody>
      </p:sp>
    </p:spTree>
    <p:extLst>
      <p:ext uri="{BB962C8B-B14F-4D97-AF65-F5344CB8AC3E}">
        <p14:creationId xmlns:p14="http://schemas.microsoft.com/office/powerpoint/2010/main" val="849056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2E3C5E5-1620-704A-B1BC-D84381C5FEE1}" type="slidenum">
              <a:rPr lang="en-US" smtClean="0"/>
              <a:t>19</a:t>
            </a:fld>
            <a:endParaRPr lang="en-US"/>
          </a:p>
        </p:txBody>
      </p:sp>
      <p:pic>
        <p:nvPicPr>
          <p:cNvPr id="6" name="Picture 2" descr="Computer Icons Idea, creative work summary, hand, logo, silhouette png |  PNGWing"/>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6276975" y="0"/>
            <a:ext cx="2867025" cy="159067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812799" y="2220685"/>
            <a:ext cx="7702551" cy="2062103"/>
          </a:xfrm>
          <a:prstGeom prst="rect">
            <a:avLst/>
          </a:prstGeom>
          <a:noFill/>
        </p:spPr>
        <p:txBody>
          <a:bodyPr wrap="square" rtlCol="0">
            <a:spAutoFit/>
          </a:bodyPr>
          <a:lstStyle/>
          <a:p>
            <a:r>
              <a:rPr lang="en-US" altLang="zh-CN" sz="3200" dirty="0">
                <a:latin typeface="Calibri" panose="020F0502020204030204" pitchFamily="34" charset="0"/>
                <a:cs typeface="Calibri" panose="020F0502020204030204" pitchFamily="34" charset="0"/>
              </a:rPr>
              <a:t>The large slowdowns we observe are due to the </a:t>
            </a:r>
            <a:r>
              <a:rPr lang="en-US" altLang="zh-CN" sz="3200" b="1" dirty="0">
                <a:solidFill>
                  <a:srgbClr val="C00000"/>
                </a:solidFill>
                <a:latin typeface="Calibri" panose="020F0502020204030204" pitchFamily="34" charset="0"/>
                <a:cs typeface="Calibri" panose="020F0502020204030204" pitchFamily="34" charset="0"/>
              </a:rPr>
              <a:t>inefficiencies that arise in the OS kernel </a:t>
            </a:r>
            <a:r>
              <a:rPr lang="en-US" altLang="zh-CN" sz="3200" dirty="0">
                <a:latin typeface="Calibri" panose="020F0502020204030204" pitchFamily="34" charset="0"/>
                <a:cs typeface="Calibri" panose="020F0502020204030204" pitchFamily="34" charset="0"/>
              </a:rPr>
              <a:t>when managing a large number of threads on a single core.</a:t>
            </a:r>
            <a:endParaRPr lang="zh-CN" alt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2972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2E3C5E5-1620-704A-B1BC-D84381C5FEE1}" type="slidenum">
              <a:rPr lang="en-US" smtClean="0"/>
              <a:t>20</a:t>
            </a:fld>
            <a:endParaRPr lang="en-US"/>
          </a:p>
        </p:txBody>
      </p:sp>
      <p:sp>
        <p:nvSpPr>
          <p:cNvPr id="6" name="Title 1">
            <a:extLst>
              <a:ext uri="{FF2B5EF4-FFF2-40B4-BE49-F238E27FC236}">
                <a16:creationId xmlns:a16="http://schemas.microsoft.com/office/drawing/2014/main" id="{6F59DA1F-4BBB-9743-8D7E-1D5C8F5ECEE1}"/>
              </a:ext>
            </a:extLst>
          </p:cNvPr>
          <p:cNvSpPr>
            <a:spLocks noGrp="1"/>
          </p:cNvSpPr>
          <p:nvPr>
            <p:ph type="title"/>
          </p:nvPr>
        </p:nvSpPr>
        <p:spPr>
          <a:xfrm>
            <a:off x="96928" y="-4945"/>
            <a:ext cx="9055100" cy="1325563"/>
          </a:xfrm>
        </p:spPr>
        <p:txBody>
          <a:bodyPr>
            <a:normAutofit/>
          </a:bodyPr>
          <a:lstStyle/>
          <a:p>
            <a:r>
              <a:rPr lang="en-US" altLang="zh-CN" b="1" dirty="0">
                <a:latin typeface="Calibri" panose="020F0502020204030204" pitchFamily="34" charset="0"/>
                <a:cs typeface="Calibri" panose="020F0502020204030204" pitchFamily="34" charset="0"/>
              </a:rPr>
              <a:t>Virtual Blocking (VB)</a:t>
            </a:r>
          </a:p>
        </p:txBody>
      </p:sp>
      <p:sp>
        <p:nvSpPr>
          <p:cNvPr id="7" name="矩形 6"/>
          <p:cNvSpPr/>
          <p:nvPr/>
        </p:nvSpPr>
        <p:spPr>
          <a:xfrm>
            <a:off x="4772198" y="3977984"/>
            <a:ext cx="1318053" cy="307777"/>
          </a:xfrm>
          <a:prstGeom prst="rect">
            <a:avLst/>
          </a:prstGeom>
        </p:spPr>
        <p:txBody>
          <a:bodyPr wrap="none">
            <a:spAutoFit/>
          </a:bodyPr>
          <a:lstStyle/>
          <a:p>
            <a:r>
              <a:rPr lang="en-US" altLang="zh-CN" sz="1400" b="1" dirty="0" err="1"/>
              <a:t>thread_state</a:t>
            </a:r>
            <a:r>
              <a:rPr lang="en-US" altLang="zh-CN" sz="1400" b="1" dirty="0"/>
              <a:t>=1</a:t>
            </a:r>
            <a:endParaRPr lang="zh-CN" altLang="en-US" sz="1400" dirty="0"/>
          </a:p>
        </p:txBody>
      </p:sp>
      <p:sp>
        <p:nvSpPr>
          <p:cNvPr id="8" name="椭圆 7"/>
          <p:cNvSpPr/>
          <p:nvPr/>
        </p:nvSpPr>
        <p:spPr>
          <a:xfrm>
            <a:off x="894047" y="4110831"/>
            <a:ext cx="288000" cy="288000"/>
          </a:xfrm>
          <a:prstGeom prst="ellipse">
            <a:avLst/>
          </a:prstGeom>
          <a:solidFill>
            <a:srgbClr val="FF0000"/>
          </a:solidFill>
          <a:ln>
            <a:solidFill>
              <a:srgbClr val="FF0000"/>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a</a:t>
            </a:r>
            <a:endParaRPr lang="zh-CN" altLang="en-US" b="1" dirty="0">
              <a:solidFill>
                <a:schemeClr val="tx1"/>
              </a:solidFill>
            </a:endParaRPr>
          </a:p>
        </p:txBody>
      </p:sp>
      <p:sp>
        <p:nvSpPr>
          <p:cNvPr id="9" name="椭圆 8"/>
          <p:cNvSpPr/>
          <p:nvPr/>
        </p:nvSpPr>
        <p:spPr>
          <a:xfrm>
            <a:off x="1591434" y="3473299"/>
            <a:ext cx="288000" cy="288000"/>
          </a:xfrm>
          <a:prstGeom prst="ellipse">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 name="椭圆 9"/>
          <p:cNvSpPr/>
          <p:nvPr/>
        </p:nvSpPr>
        <p:spPr>
          <a:xfrm>
            <a:off x="1324523" y="4110831"/>
            <a:ext cx="288000" cy="288000"/>
          </a:xfrm>
          <a:prstGeom prst="ellipse">
            <a:avLst/>
          </a:prstGeom>
          <a:solidFill>
            <a:schemeClr val="accent1">
              <a:lumMod val="60000"/>
              <a:lumOff val="40000"/>
            </a:schemeClr>
          </a:solidFill>
          <a:ln>
            <a:solidFill>
              <a:srgbClr val="9DC3E6"/>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b</a:t>
            </a:r>
            <a:endParaRPr lang="zh-CN" altLang="en-US" b="1" dirty="0">
              <a:solidFill>
                <a:schemeClr val="tx1"/>
              </a:solidFill>
            </a:endParaRPr>
          </a:p>
        </p:txBody>
      </p:sp>
      <p:cxnSp>
        <p:nvCxnSpPr>
          <p:cNvPr id="11" name="直接连接符 10"/>
          <p:cNvCxnSpPr>
            <a:stCxn id="9" idx="4"/>
            <a:endCxn id="10" idx="0"/>
          </p:cNvCxnSpPr>
          <p:nvPr/>
        </p:nvCxnSpPr>
        <p:spPr>
          <a:xfrm flipH="1">
            <a:off x="1468523" y="3761299"/>
            <a:ext cx="266911" cy="3495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884903" y="4124083"/>
            <a:ext cx="288000" cy="288000"/>
          </a:xfrm>
          <a:prstGeom prst="ellipse">
            <a:avLst/>
          </a:prstGeom>
          <a:solidFill>
            <a:srgbClr val="9DC3E6"/>
          </a:solidFill>
          <a:ln>
            <a:solidFill>
              <a:srgbClr val="9DC3E6"/>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c</a:t>
            </a:r>
            <a:endParaRPr lang="zh-CN" altLang="en-US" b="1" dirty="0">
              <a:solidFill>
                <a:schemeClr val="tx1"/>
              </a:solidFill>
            </a:endParaRPr>
          </a:p>
        </p:txBody>
      </p:sp>
      <p:sp>
        <p:nvSpPr>
          <p:cNvPr id="13" name="椭圆 12"/>
          <p:cNvSpPr/>
          <p:nvPr/>
        </p:nvSpPr>
        <p:spPr>
          <a:xfrm>
            <a:off x="2250753" y="4670838"/>
            <a:ext cx="288000" cy="288000"/>
          </a:xfrm>
          <a:prstGeom prst="ellipse">
            <a:avLst/>
          </a:prstGeom>
          <a:solidFill>
            <a:schemeClr val="bg2">
              <a:lumMod val="75000"/>
            </a:schemeClr>
          </a:solidFill>
          <a:ln>
            <a:solidFill>
              <a:srgbClr val="AFABAB"/>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a</a:t>
            </a:r>
            <a:endParaRPr lang="zh-CN" altLang="en-US" b="1" dirty="0">
              <a:solidFill>
                <a:schemeClr val="tx1"/>
              </a:solidFill>
            </a:endParaRPr>
          </a:p>
        </p:txBody>
      </p:sp>
      <p:cxnSp>
        <p:nvCxnSpPr>
          <p:cNvPr id="14" name="直接连接符 13"/>
          <p:cNvCxnSpPr>
            <a:stCxn id="9" idx="4"/>
            <a:endCxn id="12" idx="0"/>
          </p:cNvCxnSpPr>
          <p:nvPr/>
        </p:nvCxnSpPr>
        <p:spPr>
          <a:xfrm>
            <a:off x="1735434" y="3761299"/>
            <a:ext cx="293469" cy="3627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2" idx="4"/>
            <a:endCxn id="13" idx="1"/>
          </p:cNvCxnSpPr>
          <p:nvPr/>
        </p:nvCxnSpPr>
        <p:spPr>
          <a:xfrm>
            <a:off x="2028903" y="4412083"/>
            <a:ext cx="264027" cy="30093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肘形连接符 15"/>
          <p:cNvCxnSpPr>
            <a:stCxn id="8" idx="4"/>
          </p:cNvCxnSpPr>
          <p:nvPr/>
        </p:nvCxnSpPr>
        <p:spPr>
          <a:xfrm rot="5400000" flipH="1" flipV="1">
            <a:off x="1714907" y="3043703"/>
            <a:ext cx="678268" cy="2031988"/>
          </a:xfrm>
          <a:prstGeom prst="bentConnector4">
            <a:avLst>
              <a:gd name="adj1" fmla="val -22584"/>
              <a:gd name="adj2" fmla="val 60038"/>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915165" y="3415779"/>
            <a:ext cx="1137146" cy="338554"/>
          </a:xfrm>
          <a:prstGeom prst="rect">
            <a:avLst/>
          </a:prstGeom>
          <a:noFill/>
        </p:spPr>
        <p:txBody>
          <a:bodyPr wrap="square" rtlCol="0">
            <a:spAutoFit/>
          </a:bodyPr>
          <a:lstStyle/>
          <a:p>
            <a:r>
              <a:rPr lang="en-US" altLang="zh-CN" sz="1600" b="1" dirty="0" err="1">
                <a:solidFill>
                  <a:srgbClr val="FF0000"/>
                </a:solidFill>
              </a:rPr>
              <a:t>futex_wait</a:t>
            </a:r>
            <a:endParaRPr lang="zh-CN" altLang="en-US" sz="1600" b="1" dirty="0">
              <a:solidFill>
                <a:srgbClr val="FF0000"/>
              </a:solidFill>
            </a:endParaRPr>
          </a:p>
        </p:txBody>
      </p:sp>
      <p:sp>
        <p:nvSpPr>
          <p:cNvPr id="18" name="文本框 17"/>
          <p:cNvSpPr txBox="1"/>
          <p:nvPr/>
        </p:nvSpPr>
        <p:spPr>
          <a:xfrm>
            <a:off x="2949837" y="3551027"/>
            <a:ext cx="1716843" cy="369332"/>
          </a:xfrm>
          <a:prstGeom prst="rect">
            <a:avLst/>
          </a:prstGeom>
          <a:noFill/>
        </p:spPr>
        <p:txBody>
          <a:bodyPr wrap="square" rtlCol="0">
            <a:spAutoFit/>
          </a:bodyPr>
          <a:lstStyle/>
          <a:p>
            <a:r>
              <a:rPr lang="en-US" altLang="zh-CN" dirty="0">
                <a:sym typeface="Wingdings" panose="05000000000000000000" pitchFamily="2" charset="2"/>
              </a:rPr>
              <a:t></a:t>
            </a:r>
            <a:r>
              <a:rPr lang="en-US" altLang="zh-CN" sz="1600" dirty="0">
                <a:sym typeface="Wingdings" panose="05000000000000000000" pitchFamily="2" charset="2"/>
              </a:rPr>
              <a:t> </a:t>
            </a:r>
            <a:r>
              <a:rPr lang="en-US" altLang="zh-CN" b="1" dirty="0"/>
              <a:t>check </a:t>
            </a:r>
            <a:r>
              <a:rPr lang="en-US" altLang="zh-CN" b="1" dirty="0" err="1"/>
              <a:t>futex</a:t>
            </a:r>
            <a:endParaRPr lang="zh-CN" altLang="en-US" b="1" dirty="0"/>
          </a:p>
        </p:txBody>
      </p:sp>
      <p:cxnSp>
        <p:nvCxnSpPr>
          <p:cNvPr id="19" name="肘形连接符 18"/>
          <p:cNvCxnSpPr>
            <a:stCxn id="58" idx="2"/>
          </p:cNvCxnSpPr>
          <p:nvPr/>
        </p:nvCxnSpPr>
        <p:spPr>
          <a:xfrm rot="5400000" flipH="1">
            <a:off x="3090673" y="4349219"/>
            <a:ext cx="240809" cy="1207325"/>
          </a:xfrm>
          <a:prstGeom prst="bentConnector4">
            <a:avLst>
              <a:gd name="adj1" fmla="val -94930"/>
              <a:gd name="adj2" fmla="val 8486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下箭头 19"/>
          <p:cNvSpPr/>
          <p:nvPr/>
        </p:nvSpPr>
        <p:spPr>
          <a:xfrm>
            <a:off x="1607084" y="4820254"/>
            <a:ext cx="312538" cy="467832"/>
          </a:xfrm>
          <a:prstGeom prst="downArrow">
            <a:avLst/>
          </a:prstGeom>
          <a:solidFill>
            <a:srgbClr val="FF0000"/>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926950" y="6042139"/>
            <a:ext cx="288000" cy="288000"/>
          </a:xfrm>
          <a:prstGeom prst="ellipse">
            <a:avLst/>
          </a:prstGeom>
          <a:solidFill>
            <a:srgbClr val="FF0000"/>
          </a:solidFill>
          <a:ln>
            <a:solidFill>
              <a:srgbClr val="FF0000"/>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a</a:t>
            </a:r>
            <a:endParaRPr lang="zh-CN" altLang="en-US" b="1" dirty="0">
              <a:solidFill>
                <a:schemeClr val="tx1"/>
              </a:solidFill>
            </a:endParaRPr>
          </a:p>
        </p:txBody>
      </p:sp>
      <p:sp>
        <p:nvSpPr>
          <p:cNvPr id="22" name="椭圆 21"/>
          <p:cNvSpPr/>
          <p:nvPr/>
        </p:nvSpPr>
        <p:spPr>
          <a:xfrm>
            <a:off x="1639276" y="5459966"/>
            <a:ext cx="288000" cy="288000"/>
          </a:xfrm>
          <a:prstGeom prst="ellipse">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3" name="椭圆 22"/>
          <p:cNvSpPr/>
          <p:nvPr/>
        </p:nvSpPr>
        <p:spPr>
          <a:xfrm>
            <a:off x="1377989" y="6049524"/>
            <a:ext cx="288000" cy="288000"/>
          </a:xfrm>
          <a:prstGeom prst="ellipse">
            <a:avLst/>
          </a:prstGeom>
          <a:solidFill>
            <a:srgbClr val="9DC3E6"/>
          </a:solidFill>
          <a:ln>
            <a:solidFill>
              <a:srgbClr val="AFABAB"/>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b</a:t>
            </a:r>
            <a:endParaRPr lang="zh-CN" altLang="en-US" b="1" dirty="0">
              <a:solidFill>
                <a:schemeClr val="tx1"/>
              </a:solidFill>
            </a:endParaRPr>
          </a:p>
        </p:txBody>
      </p:sp>
      <p:cxnSp>
        <p:nvCxnSpPr>
          <p:cNvPr id="24" name="直接连接符 23"/>
          <p:cNvCxnSpPr>
            <a:stCxn id="22" idx="4"/>
            <a:endCxn id="23" idx="0"/>
          </p:cNvCxnSpPr>
          <p:nvPr/>
        </p:nvCxnSpPr>
        <p:spPr>
          <a:xfrm flipH="1">
            <a:off x="1521989" y="5747966"/>
            <a:ext cx="261287" cy="3015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1941152" y="6077748"/>
            <a:ext cx="288000" cy="288000"/>
          </a:xfrm>
          <a:prstGeom prst="ellipse">
            <a:avLst/>
          </a:prstGeom>
          <a:solidFill>
            <a:srgbClr val="9DC3E6"/>
          </a:solidFill>
          <a:ln>
            <a:solidFill>
              <a:srgbClr val="AFABAB"/>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c</a:t>
            </a:r>
            <a:endParaRPr lang="zh-CN" altLang="en-US" b="1" dirty="0">
              <a:solidFill>
                <a:schemeClr val="tx1"/>
              </a:solidFill>
            </a:endParaRPr>
          </a:p>
        </p:txBody>
      </p:sp>
      <p:cxnSp>
        <p:nvCxnSpPr>
          <p:cNvPr id="26" name="直接连接符 25"/>
          <p:cNvCxnSpPr>
            <a:stCxn id="22" idx="4"/>
            <a:endCxn id="25" idx="0"/>
          </p:cNvCxnSpPr>
          <p:nvPr/>
        </p:nvCxnSpPr>
        <p:spPr>
          <a:xfrm>
            <a:off x="1783276" y="5747966"/>
            <a:ext cx="301876" cy="329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肘形连接符 26"/>
          <p:cNvCxnSpPr>
            <a:stCxn id="21" idx="4"/>
          </p:cNvCxnSpPr>
          <p:nvPr/>
        </p:nvCxnSpPr>
        <p:spPr>
          <a:xfrm rot="5400000" flipH="1" flipV="1">
            <a:off x="1820847" y="5070394"/>
            <a:ext cx="509848" cy="2009642"/>
          </a:xfrm>
          <a:prstGeom prst="bentConnector4">
            <a:avLst>
              <a:gd name="adj1" fmla="val -44837"/>
              <a:gd name="adj2" fmla="val 62496"/>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979633" y="5653052"/>
            <a:ext cx="2453247" cy="369332"/>
          </a:xfrm>
          <a:prstGeom prst="rect">
            <a:avLst/>
          </a:prstGeom>
          <a:noFill/>
        </p:spPr>
        <p:txBody>
          <a:bodyPr wrap="square" rtlCol="0">
            <a:spAutoFit/>
          </a:bodyPr>
          <a:lstStyle/>
          <a:p>
            <a:r>
              <a:rPr lang="en-US" altLang="zh-CN" b="1" dirty="0">
                <a:sym typeface="Wingdings" panose="05000000000000000000" pitchFamily="2" charset="2"/>
              </a:rPr>
              <a:t> </a:t>
            </a:r>
            <a:r>
              <a:rPr lang="en-US" altLang="zh-CN" b="1" dirty="0"/>
              <a:t>Check </a:t>
            </a:r>
            <a:r>
              <a:rPr lang="en-US" altLang="zh-CN" b="1" dirty="0" err="1"/>
              <a:t>thread_state</a:t>
            </a:r>
            <a:endParaRPr lang="zh-CN" altLang="en-US" b="1" dirty="0"/>
          </a:p>
        </p:txBody>
      </p:sp>
      <p:sp>
        <p:nvSpPr>
          <p:cNvPr id="29" name="文本框 28"/>
          <p:cNvSpPr txBox="1"/>
          <p:nvPr/>
        </p:nvSpPr>
        <p:spPr>
          <a:xfrm>
            <a:off x="2952137" y="6383995"/>
            <a:ext cx="1205262" cy="307777"/>
          </a:xfrm>
          <a:prstGeom prst="rect">
            <a:avLst/>
          </a:prstGeom>
          <a:noFill/>
        </p:spPr>
        <p:txBody>
          <a:bodyPr wrap="square" rtlCol="0">
            <a:spAutoFit/>
          </a:bodyPr>
          <a:lstStyle/>
          <a:p>
            <a:r>
              <a:rPr lang="en-US" altLang="zh-CN" sz="1400" b="1" dirty="0">
                <a:solidFill>
                  <a:srgbClr val="FF0000"/>
                </a:solidFill>
              </a:rPr>
              <a:t>leave </a:t>
            </a:r>
            <a:r>
              <a:rPr lang="en-US" altLang="zh-CN" sz="1400" b="1" dirty="0" err="1">
                <a:solidFill>
                  <a:srgbClr val="FF0000"/>
                </a:solidFill>
              </a:rPr>
              <a:t>futex</a:t>
            </a:r>
            <a:endParaRPr lang="zh-CN" altLang="en-US" sz="1400" b="1" dirty="0">
              <a:solidFill>
                <a:srgbClr val="FF0000"/>
              </a:solidFill>
            </a:endParaRPr>
          </a:p>
        </p:txBody>
      </p:sp>
      <p:sp>
        <p:nvSpPr>
          <p:cNvPr id="30" name="矩形 29"/>
          <p:cNvSpPr/>
          <p:nvPr/>
        </p:nvSpPr>
        <p:spPr>
          <a:xfrm>
            <a:off x="4690715" y="4533227"/>
            <a:ext cx="281299" cy="362767"/>
          </a:xfrm>
          <a:prstGeom prst="rect">
            <a:avLst/>
          </a:prstGeom>
          <a:solidFill>
            <a:schemeClr val="bg2"/>
          </a:solidFill>
          <a:ln>
            <a:solidFill>
              <a:schemeClr val="bg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4987782" y="4533227"/>
            <a:ext cx="281299" cy="362767"/>
          </a:xfrm>
          <a:prstGeom prst="rect">
            <a:avLst/>
          </a:prstGeom>
          <a:solidFill>
            <a:schemeClr val="bg2"/>
          </a:solidFill>
          <a:ln>
            <a:solidFill>
              <a:schemeClr val="bg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5284849" y="4533227"/>
            <a:ext cx="281299" cy="362767"/>
          </a:xfrm>
          <a:prstGeom prst="rect">
            <a:avLst/>
          </a:prstGeom>
          <a:solidFill>
            <a:schemeClr val="bg2"/>
          </a:solidFill>
          <a:ln>
            <a:solidFill>
              <a:schemeClr val="bg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581916" y="4533227"/>
            <a:ext cx="281299" cy="362767"/>
          </a:xfrm>
          <a:prstGeom prst="rect">
            <a:avLst/>
          </a:prstGeom>
          <a:solidFill>
            <a:schemeClr val="bg2"/>
          </a:solidFill>
          <a:ln>
            <a:solidFill>
              <a:schemeClr val="bg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cxnSp>
        <p:nvCxnSpPr>
          <p:cNvPr id="34" name="肘形连接符 33"/>
          <p:cNvCxnSpPr/>
          <p:nvPr/>
        </p:nvCxnSpPr>
        <p:spPr>
          <a:xfrm>
            <a:off x="5006241" y="4342814"/>
            <a:ext cx="782314" cy="190413"/>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椭圆 34"/>
          <p:cNvSpPr/>
          <p:nvPr/>
        </p:nvSpPr>
        <p:spPr>
          <a:xfrm>
            <a:off x="6502019" y="3459571"/>
            <a:ext cx="288000" cy="288000"/>
          </a:xfrm>
          <a:prstGeom prst="ellipse">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6" name="椭圆 35"/>
          <p:cNvSpPr/>
          <p:nvPr/>
        </p:nvSpPr>
        <p:spPr>
          <a:xfrm>
            <a:off x="6235108" y="4097103"/>
            <a:ext cx="288000" cy="288000"/>
          </a:xfrm>
          <a:prstGeom prst="ellipse">
            <a:avLst/>
          </a:prstGeom>
          <a:solidFill>
            <a:srgbClr val="FF0000"/>
          </a:solidFill>
          <a:ln>
            <a:solidFill>
              <a:srgbClr val="FF0000"/>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d</a:t>
            </a:r>
            <a:endParaRPr lang="zh-CN" altLang="en-US" b="1" dirty="0">
              <a:solidFill>
                <a:schemeClr val="tx1"/>
              </a:solidFill>
            </a:endParaRPr>
          </a:p>
        </p:txBody>
      </p:sp>
      <p:sp>
        <p:nvSpPr>
          <p:cNvPr id="37" name="椭圆 36"/>
          <p:cNvSpPr/>
          <p:nvPr/>
        </p:nvSpPr>
        <p:spPr>
          <a:xfrm>
            <a:off x="6795488" y="4110355"/>
            <a:ext cx="288000" cy="288000"/>
          </a:xfrm>
          <a:prstGeom prst="ellipse">
            <a:avLst/>
          </a:prstGeom>
          <a:solidFill>
            <a:srgbClr val="9DC3E6"/>
          </a:solidFill>
          <a:ln>
            <a:solidFill>
              <a:srgbClr val="9DC3E6"/>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rPr>
              <a:t>e</a:t>
            </a:r>
            <a:endParaRPr lang="zh-CN" altLang="en-US" b="1" dirty="0">
              <a:solidFill>
                <a:schemeClr val="tx1"/>
              </a:solidFill>
            </a:endParaRPr>
          </a:p>
        </p:txBody>
      </p:sp>
      <p:cxnSp>
        <p:nvCxnSpPr>
          <p:cNvPr id="38" name="直接连接符 37"/>
          <p:cNvCxnSpPr>
            <a:stCxn id="35" idx="4"/>
            <a:endCxn id="37" idx="0"/>
          </p:cNvCxnSpPr>
          <p:nvPr/>
        </p:nvCxnSpPr>
        <p:spPr>
          <a:xfrm>
            <a:off x="6646019" y="3747571"/>
            <a:ext cx="293469" cy="3627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6333090" y="4654640"/>
            <a:ext cx="1272039" cy="338554"/>
          </a:xfrm>
          <a:prstGeom prst="rect">
            <a:avLst/>
          </a:prstGeom>
          <a:noFill/>
        </p:spPr>
        <p:txBody>
          <a:bodyPr wrap="square" rtlCol="0">
            <a:spAutoFit/>
          </a:bodyPr>
          <a:lstStyle/>
          <a:p>
            <a:r>
              <a:rPr lang="en-US" altLang="zh-CN" sz="1600" b="1" dirty="0" err="1">
                <a:solidFill>
                  <a:srgbClr val="FF0000"/>
                </a:solidFill>
              </a:rPr>
              <a:t>futex_wake</a:t>
            </a:r>
            <a:endParaRPr lang="en-US" altLang="zh-CN" sz="1600" b="1" dirty="0">
              <a:solidFill>
                <a:srgbClr val="FF0000"/>
              </a:solidFill>
            </a:endParaRPr>
          </a:p>
        </p:txBody>
      </p:sp>
      <p:cxnSp>
        <p:nvCxnSpPr>
          <p:cNvPr id="40" name="肘形连接符 39"/>
          <p:cNvCxnSpPr/>
          <p:nvPr/>
        </p:nvCxnSpPr>
        <p:spPr>
          <a:xfrm rot="16200000" flipV="1">
            <a:off x="5195929" y="4540857"/>
            <a:ext cx="589888" cy="1319016"/>
          </a:xfrm>
          <a:prstGeom prst="bentConnector3">
            <a:avLst>
              <a:gd name="adj1" fmla="val 59588"/>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31" idx="2"/>
          </p:cNvCxnSpPr>
          <p:nvPr/>
        </p:nvCxnSpPr>
        <p:spPr>
          <a:xfrm flipH="1" flipV="1">
            <a:off x="5128432" y="4895994"/>
            <a:ext cx="7382" cy="2317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H="1" flipV="1">
            <a:off x="5432880" y="4895994"/>
            <a:ext cx="7382" cy="2317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flipV="1">
            <a:off x="5706797" y="4895994"/>
            <a:ext cx="7382" cy="2317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5581916" y="5373346"/>
            <a:ext cx="2248773" cy="369332"/>
          </a:xfrm>
          <a:prstGeom prst="rect">
            <a:avLst/>
          </a:prstGeom>
          <a:noFill/>
        </p:spPr>
        <p:txBody>
          <a:bodyPr wrap="square" rtlCol="0">
            <a:spAutoFit/>
          </a:bodyPr>
          <a:lstStyle/>
          <a:p>
            <a:r>
              <a:rPr lang="en-US" altLang="zh-CN" b="1" dirty="0">
                <a:sym typeface="Wingdings" panose="05000000000000000000" pitchFamily="2" charset="2"/>
              </a:rPr>
              <a:t> </a:t>
            </a:r>
            <a:r>
              <a:rPr lang="en-US" altLang="zh-CN" b="1" dirty="0" err="1">
                <a:sym typeface="Wingdings" panose="05000000000000000000" pitchFamily="2" charset="2"/>
              </a:rPr>
              <a:t>d</a:t>
            </a:r>
            <a:r>
              <a:rPr lang="en-US" altLang="zh-CN" b="1" dirty="0" err="1"/>
              <a:t>equeue</a:t>
            </a:r>
            <a:r>
              <a:rPr lang="en-US" altLang="zh-CN" b="1" dirty="0"/>
              <a:t> bucket</a:t>
            </a:r>
          </a:p>
        </p:txBody>
      </p:sp>
      <p:sp>
        <p:nvSpPr>
          <p:cNvPr id="45" name="文本框 44"/>
          <p:cNvSpPr txBox="1"/>
          <p:nvPr/>
        </p:nvSpPr>
        <p:spPr>
          <a:xfrm>
            <a:off x="1281980" y="2995549"/>
            <a:ext cx="975493" cy="369332"/>
          </a:xfrm>
          <a:prstGeom prst="rect">
            <a:avLst/>
          </a:prstGeom>
          <a:noFill/>
        </p:spPr>
        <p:txBody>
          <a:bodyPr wrap="square" rtlCol="0">
            <a:spAutoFit/>
          </a:bodyPr>
          <a:lstStyle/>
          <a:p>
            <a:r>
              <a:rPr lang="en-US" altLang="zh-CN" b="1" dirty="0"/>
              <a:t>CPU#1</a:t>
            </a:r>
            <a:endParaRPr lang="zh-CN" altLang="en-US" b="1" dirty="0"/>
          </a:p>
        </p:txBody>
      </p:sp>
      <p:sp>
        <p:nvSpPr>
          <p:cNvPr id="46" name="文本框 45"/>
          <p:cNvSpPr txBox="1"/>
          <p:nvPr/>
        </p:nvSpPr>
        <p:spPr>
          <a:xfrm>
            <a:off x="6226444" y="3003565"/>
            <a:ext cx="975493" cy="369332"/>
          </a:xfrm>
          <a:prstGeom prst="rect">
            <a:avLst/>
          </a:prstGeom>
          <a:noFill/>
        </p:spPr>
        <p:txBody>
          <a:bodyPr wrap="square" rtlCol="0">
            <a:spAutoFit/>
          </a:bodyPr>
          <a:lstStyle/>
          <a:p>
            <a:r>
              <a:rPr lang="en-US" altLang="zh-CN" b="1" dirty="0"/>
              <a:t>CPU#2</a:t>
            </a:r>
            <a:endParaRPr lang="zh-CN" altLang="en-US" b="1" dirty="0"/>
          </a:p>
        </p:txBody>
      </p:sp>
      <p:sp>
        <p:nvSpPr>
          <p:cNvPr id="47" name="文本框 46"/>
          <p:cNvSpPr txBox="1"/>
          <p:nvPr/>
        </p:nvSpPr>
        <p:spPr>
          <a:xfrm>
            <a:off x="2976955" y="4158148"/>
            <a:ext cx="2286174" cy="369332"/>
          </a:xfrm>
          <a:prstGeom prst="rect">
            <a:avLst/>
          </a:prstGeom>
          <a:noFill/>
        </p:spPr>
        <p:txBody>
          <a:bodyPr wrap="square" rtlCol="0" anchor="ctr" anchorCtr="0">
            <a:spAutoFit/>
          </a:bodyPr>
          <a:lstStyle/>
          <a:p>
            <a:r>
              <a:rPr lang="en-US" altLang="zh-CN" b="1" dirty="0">
                <a:sym typeface="Wingdings" panose="05000000000000000000" pitchFamily="2" charset="2"/>
              </a:rPr>
              <a:t> </a:t>
            </a:r>
            <a:r>
              <a:rPr lang="en-US" altLang="zh-CN" b="1" dirty="0" err="1"/>
              <a:t>enqueue</a:t>
            </a:r>
            <a:r>
              <a:rPr lang="en-US" altLang="zh-CN" b="1" dirty="0"/>
              <a:t> bucket</a:t>
            </a:r>
            <a:endParaRPr lang="en-US" altLang="zh-CN" sz="1600" b="1" dirty="0"/>
          </a:p>
        </p:txBody>
      </p:sp>
      <p:cxnSp>
        <p:nvCxnSpPr>
          <p:cNvPr id="48" name="肘形连接符 47"/>
          <p:cNvCxnSpPr>
            <a:endCxn id="21" idx="3"/>
          </p:cNvCxnSpPr>
          <p:nvPr/>
        </p:nvCxnSpPr>
        <p:spPr>
          <a:xfrm rot="10800000" flipV="1">
            <a:off x="969128" y="6017748"/>
            <a:ext cx="3208669" cy="270214"/>
          </a:xfrm>
          <a:prstGeom prst="bentConnector4">
            <a:avLst>
              <a:gd name="adj1" fmla="val 337"/>
              <a:gd name="adj2" fmla="val 23858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椭圆 48"/>
          <p:cNvSpPr/>
          <p:nvPr/>
        </p:nvSpPr>
        <p:spPr>
          <a:xfrm>
            <a:off x="5773688" y="5847089"/>
            <a:ext cx="216000" cy="216000"/>
          </a:xfrm>
          <a:prstGeom prst="ellipse">
            <a:avLst/>
          </a:prstGeom>
          <a:solidFill>
            <a:srgbClr val="FF0000"/>
          </a:solidFill>
          <a:ln>
            <a:solidFill>
              <a:srgbClr val="FF0000"/>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600" dirty="0">
              <a:solidFill>
                <a:schemeClr val="tx1"/>
              </a:solidFill>
            </a:endParaRPr>
          </a:p>
        </p:txBody>
      </p:sp>
      <p:sp>
        <p:nvSpPr>
          <p:cNvPr id="50" name="文本框 49"/>
          <p:cNvSpPr txBox="1"/>
          <p:nvPr/>
        </p:nvSpPr>
        <p:spPr>
          <a:xfrm>
            <a:off x="5999313" y="5782344"/>
            <a:ext cx="1402849" cy="307777"/>
          </a:xfrm>
          <a:prstGeom prst="rect">
            <a:avLst/>
          </a:prstGeom>
          <a:noFill/>
        </p:spPr>
        <p:txBody>
          <a:bodyPr wrap="square" rtlCol="0">
            <a:spAutoFit/>
          </a:bodyPr>
          <a:lstStyle/>
          <a:p>
            <a:r>
              <a:rPr lang="en-US" altLang="zh-CN" sz="1400" b="1" dirty="0"/>
              <a:t>running thread</a:t>
            </a:r>
            <a:endParaRPr lang="zh-CN" altLang="en-US" sz="1400" b="1" dirty="0"/>
          </a:p>
        </p:txBody>
      </p:sp>
      <p:sp>
        <p:nvSpPr>
          <p:cNvPr id="51" name="椭圆 50"/>
          <p:cNvSpPr/>
          <p:nvPr/>
        </p:nvSpPr>
        <p:spPr>
          <a:xfrm>
            <a:off x="5773688" y="6395014"/>
            <a:ext cx="216000" cy="216000"/>
          </a:xfrm>
          <a:prstGeom prst="ellipse">
            <a:avLst/>
          </a:prstGeom>
          <a:solidFill>
            <a:srgbClr val="AFABAB"/>
          </a:solidFill>
          <a:ln>
            <a:solidFill>
              <a:srgbClr val="AFABAB"/>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600" dirty="0">
              <a:solidFill>
                <a:schemeClr val="tx1"/>
              </a:solidFill>
            </a:endParaRPr>
          </a:p>
        </p:txBody>
      </p:sp>
      <p:sp>
        <p:nvSpPr>
          <p:cNvPr id="52" name="椭圆 51"/>
          <p:cNvSpPr/>
          <p:nvPr/>
        </p:nvSpPr>
        <p:spPr>
          <a:xfrm>
            <a:off x="5773688" y="6121052"/>
            <a:ext cx="216000" cy="216000"/>
          </a:xfrm>
          <a:prstGeom prst="ellipse">
            <a:avLst/>
          </a:prstGeom>
          <a:solidFill>
            <a:schemeClr val="accent1">
              <a:lumMod val="60000"/>
              <a:lumOff val="40000"/>
            </a:schemeClr>
          </a:solidFill>
          <a:ln>
            <a:solidFill>
              <a:srgbClr val="9DC3E6"/>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600" dirty="0">
              <a:solidFill>
                <a:schemeClr val="tx1"/>
              </a:solidFill>
            </a:endParaRPr>
          </a:p>
        </p:txBody>
      </p:sp>
      <p:sp>
        <p:nvSpPr>
          <p:cNvPr id="53" name="文本框 52"/>
          <p:cNvSpPr txBox="1"/>
          <p:nvPr/>
        </p:nvSpPr>
        <p:spPr>
          <a:xfrm>
            <a:off x="5999313" y="6058562"/>
            <a:ext cx="1501072" cy="307777"/>
          </a:xfrm>
          <a:prstGeom prst="rect">
            <a:avLst/>
          </a:prstGeom>
          <a:noFill/>
        </p:spPr>
        <p:txBody>
          <a:bodyPr wrap="square" rtlCol="0">
            <a:spAutoFit/>
          </a:bodyPr>
          <a:lstStyle/>
          <a:p>
            <a:r>
              <a:rPr lang="en-US" altLang="zh-CN" sz="1400" b="1" dirty="0"/>
              <a:t>runnable thread</a:t>
            </a:r>
            <a:endParaRPr lang="zh-CN" altLang="en-US" sz="1400" b="1" dirty="0"/>
          </a:p>
        </p:txBody>
      </p:sp>
      <p:sp>
        <p:nvSpPr>
          <p:cNvPr id="54" name="文本框 53"/>
          <p:cNvSpPr txBox="1"/>
          <p:nvPr/>
        </p:nvSpPr>
        <p:spPr>
          <a:xfrm>
            <a:off x="5999313" y="6334780"/>
            <a:ext cx="1689330" cy="523220"/>
          </a:xfrm>
          <a:prstGeom prst="rect">
            <a:avLst/>
          </a:prstGeom>
          <a:noFill/>
        </p:spPr>
        <p:txBody>
          <a:bodyPr wrap="square" rtlCol="0">
            <a:spAutoFit/>
          </a:bodyPr>
          <a:lstStyle/>
          <a:p>
            <a:r>
              <a:rPr lang="en-US" altLang="zh-CN" sz="1400" b="1" dirty="0"/>
              <a:t>sleeping thread</a:t>
            </a:r>
          </a:p>
          <a:p>
            <a:r>
              <a:rPr lang="en-US" altLang="zh-CN" sz="1400" b="1" dirty="0"/>
              <a:t>(</a:t>
            </a:r>
            <a:r>
              <a:rPr lang="en-US" altLang="zh-CN" sz="1400" b="1" dirty="0" err="1"/>
              <a:t>thread_state</a:t>
            </a:r>
            <a:r>
              <a:rPr lang="en-US" altLang="zh-CN" sz="1400" b="1" dirty="0"/>
              <a:t>==1)</a:t>
            </a:r>
            <a:endParaRPr lang="zh-CN" altLang="en-US" sz="1400" b="1" dirty="0"/>
          </a:p>
        </p:txBody>
      </p:sp>
      <p:sp>
        <p:nvSpPr>
          <p:cNvPr id="55" name="矩形 54"/>
          <p:cNvSpPr/>
          <p:nvPr/>
        </p:nvSpPr>
        <p:spPr>
          <a:xfrm>
            <a:off x="5706797" y="5802277"/>
            <a:ext cx="1878063" cy="1055723"/>
          </a:xfrm>
          <a:prstGeom prst="rect">
            <a:avLst/>
          </a:prstGeom>
          <a:noFill/>
          <a:ln w="25400">
            <a:solidFill>
              <a:srgbClr val="3B648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文本框 55"/>
          <p:cNvSpPr txBox="1"/>
          <p:nvPr/>
        </p:nvSpPr>
        <p:spPr>
          <a:xfrm>
            <a:off x="3581512" y="3885501"/>
            <a:ext cx="402037" cy="461665"/>
          </a:xfrm>
          <a:prstGeom prst="rect">
            <a:avLst/>
          </a:prstGeom>
          <a:noFill/>
        </p:spPr>
        <p:txBody>
          <a:bodyPr wrap="square" rtlCol="0">
            <a:spAutoFit/>
          </a:bodyPr>
          <a:lstStyle/>
          <a:p>
            <a:r>
              <a:rPr lang="en-US" altLang="zh-CN" sz="2400" b="1" dirty="0">
                <a:sym typeface="Wingdings" panose="05000000000000000000" pitchFamily="2" charset="2"/>
              </a:rPr>
              <a:t></a:t>
            </a:r>
            <a:endParaRPr lang="zh-CN" altLang="en-US" sz="1400" b="1" dirty="0"/>
          </a:p>
        </p:txBody>
      </p:sp>
      <p:sp>
        <p:nvSpPr>
          <p:cNvPr id="57" name="文本框 56"/>
          <p:cNvSpPr txBox="1"/>
          <p:nvPr/>
        </p:nvSpPr>
        <p:spPr>
          <a:xfrm>
            <a:off x="3716325" y="6015621"/>
            <a:ext cx="649062" cy="523220"/>
          </a:xfrm>
          <a:prstGeom prst="rect">
            <a:avLst/>
          </a:prstGeom>
          <a:noFill/>
        </p:spPr>
        <p:txBody>
          <a:bodyPr wrap="square" rtlCol="0">
            <a:spAutoFit/>
          </a:bodyPr>
          <a:lstStyle/>
          <a:p>
            <a:r>
              <a:rPr lang="en-US" altLang="zh-CN" sz="2800" b="1" dirty="0">
                <a:sym typeface="Wingdings" panose="05000000000000000000" pitchFamily="2" charset="2"/>
              </a:rPr>
              <a:t></a:t>
            </a:r>
            <a:endParaRPr lang="zh-CN" altLang="en-US" sz="2800" b="1" dirty="0"/>
          </a:p>
        </p:txBody>
      </p:sp>
      <p:sp>
        <p:nvSpPr>
          <p:cNvPr id="58" name="文本框 57"/>
          <p:cNvSpPr txBox="1"/>
          <p:nvPr/>
        </p:nvSpPr>
        <p:spPr>
          <a:xfrm>
            <a:off x="2973000" y="4703953"/>
            <a:ext cx="1683480" cy="369332"/>
          </a:xfrm>
          <a:prstGeom prst="rect">
            <a:avLst/>
          </a:prstGeom>
          <a:noFill/>
        </p:spPr>
        <p:txBody>
          <a:bodyPr wrap="square" rtlCol="0">
            <a:spAutoFit/>
          </a:bodyPr>
          <a:lstStyle/>
          <a:p>
            <a:r>
              <a:rPr lang="en-US" altLang="zh-CN" b="1" dirty="0">
                <a:sym typeface="Wingdings" panose="05000000000000000000" pitchFamily="2" charset="2"/>
              </a:rPr>
              <a:t> </a:t>
            </a:r>
            <a:r>
              <a:rPr lang="en-US" altLang="zh-CN" b="1" dirty="0" err="1"/>
              <a:t>enqueue</a:t>
            </a:r>
            <a:r>
              <a:rPr lang="en-US" altLang="zh-CN" b="1" dirty="0"/>
              <a:t> </a:t>
            </a:r>
            <a:r>
              <a:rPr lang="en-US" altLang="zh-CN" b="1" dirty="0" err="1"/>
              <a:t>rq</a:t>
            </a:r>
            <a:endParaRPr lang="zh-CN" altLang="en-US" b="1" dirty="0"/>
          </a:p>
        </p:txBody>
      </p:sp>
      <p:cxnSp>
        <p:nvCxnSpPr>
          <p:cNvPr id="59" name="直接箭头连接符 58"/>
          <p:cNvCxnSpPr>
            <a:stCxn id="36" idx="4"/>
          </p:cNvCxnSpPr>
          <p:nvPr/>
        </p:nvCxnSpPr>
        <p:spPr>
          <a:xfrm>
            <a:off x="6379108" y="4385103"/>
            <a:ext cx="9024" cy="108690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3581512" y="4471649"/>
            <a:ext cx="402037" cy="461665"/>
          </a:xfrm>
          <a:prstGeom prst="rect">
            <a:avLst/>
          </a:prstGeom>
          <a:noFill/>
        </p:spPr>
        <p:txBody>
          <a:bodyPr wrap="square" rtlCol="0">
            <a:spAutoFit/>
          </a:bodyPr>
          <a:lstStyle/>
          <a:p>
            <a:r>
              <a:rPr lang="en-US" altLang="zh-CN" sz="2400" b="1" dirty="0">
                <a:sym typeface="Wingdings" panose="05000000000000000000" pitchFamily="2" charset="2"/>
              </a:rPr>
              <a:t></a:t>
            </a:r>
            <a:endParaRPr lang="zh-CN" altLang="en-US" sz="1400" b="1" dirty="0"/>
          </a:p>
        </p:txBody>
      </p:sp>
      <p:sp>
        <p:nvSpPr>
          <p:cNvPr id="61" name="矩形 60"/>
          <p:cNvSpPr/>
          <p:nvPr/>
        </p:nvSpPr>
        <p:spPr>
          <a:xfrm>
            <a:off x="4782355" y="5093779"/>
            <a:ext cx="1318053" cy="307777"/>
          </a:xfrm>
          <a:prstGeom prst="rect">
            <a:avLst/>
          </a:prstGeom>
        </p:spPr>
        <p:txBody>
          <a:bodyPr wrap="none">
            <a:spAutoFit/>
          </a:bodyPr>
          <a:lstStyle/>
          <a:p>
            <a:r>
              <a:rPr lang="en-US" altLang="zh-CN" sz="1400" b="1" dirty="0" err="1"/>
              <a:t>thread_state</a:t>
            </a:r>
            <a:r>
              <a:rPr lang="en-US" altLang="zh-CN" sz="1400" b="1" dirty="0"/>
              <a:t>=0</a:t>
            </a:r>
            <a:endParaRPr lang="zh-CN" altLang="en-US" sz="1400" dirty="0"/>
          </a:p>
        </p:txBody>
      </p:sp>
      <p:cxnSp>
        <p:nvCxnSpPr>
          <p:cNvPr id="62" name="肘形连接符 61"/>
          <p:cNvCxnSpPr>
            <a:cxnSpLocks/>
          </p:cNvCxnSpPr>
          <p:nvPr/>
        </p:nvCxnSpPr>
        <p:spPr>
          <a:xfrm rot="16200000" flipH="1">
            <a:off x="6077359" y="3188666"/>
            <a:ext cx="1773422" cy="1756898"/>
          </a:xfrm>
          <a:prstGeom prst="bentConnector3">
            <a:avLst>
              <a:gd name="adj1" fmla="val 100892"/>
            </a:avLst>
          </a:prstGeom>
          <a:ln w="25400">
            <a:solidFill>
              <a:srgbClr val="3B648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3" name="Content Placeholder 2">
            <a:extLst>
              <a:ext uri="{FF2B5EF4-FFF2-40B4-BE49-F238E27FC236}">
                <a16:creationId xmlns:a16="http://schemas.microsoft.com/office/drawing/2014/main" id="{11D57A65-3E9C-48C8-BD1E-826A2BBA0F64}"/>
              </a:ext>
            </a:extLst>
          </p:cNvPr>
          <p:cNvSpPr>
            <a:spLocks noGrp="1"/>
          </p:cNvSpPr>
          <p:nvPr>
            <p:ph idx="1"/>
          </p:nvPr>
        </p:nvSpPr>
        <p:spPr>
          <a:xfrm>
            <a:off x="591525" y="1369168"/>
            <a:ext cx="8012430" cy="1450194"/>
          </a:xfrm>
        </p:spPr>
        <p:txBody>
          <a:bodyPr>
            <a:noAutofit/>
          </a:bodyPr>
          <a:lstStyle/>
          <a:p>
            <a:pPr marL="0" indent="0">
              <a:lnSpc>
                <a:spcPct val="170000"/>
              </a:lnSpc>
              <a:buNone/>
            </a:pPr>
            <a:r>
              <a:rPr lang="en-US" altLang="zh-CN" dirty="0">
                <a:latin typeface="+mn-lt"/>
                <a:cs typeface="Calibri" panose="020F0502020204030204" pitchFamily="34" charset="0"/>
              </a:rPr>
              <a:t>VB adds a flag </a:t>
            </a:r>
            <a:r>
              <a:rPr lang="en-US" altLang="zh-CN" b="1" dirty="0" err="1">
                <a:solidFill>
                  <a:srgbClr val="405888"/>
                </a:solidFill>
                <a:latin typeface="+mn-lt"/>
                <a:cs typeface="Calibri" panose="020F0502020204030204" pitchFamily="34" charset="0"/>
              </a:rPr>
              <a:t>thread_state</a:t>
            </a:r>
            <a:r>
              <a:rPr lang="en-US" altLang="zh-CN" b="1" dirty="0">
                <a:solidFill>
                  <a:srgbClr val="405888"/>
                </a:solidFill>
                <a:latin typeface="+mn-lt"/>
                <a:cs typeface="Calibri" panose="020F0502020204030204" pitchFamily="34" charset="0"/>
              </a:rPr>
              <a:t> </a:t>
            </a:r>
            <a:r>
              <a:rPr lang="en-US" altLang="zh-CN" dirty="0">
                <a:latin typeface="+mn-lt"/>
                <a:cs typeface="Calibri" panose="020F0502020204030204" pitchFamily="34" charset="0"/>
              </a:rPr>
              <a:t>to each thread to indicate whether the thread is </a:t>
            </a:r>
            <a:r>
              <a:rPr lang="en-US" altLang="zh-CN" b="1" dirty="0">
                <a:solidFill>
                  <a:srgbClr val="405888"/>
                </a:solidFill>
                <a:latin typeface="+mn-lt"/>
                <a:cs typeface="Calibri" panose="020F0502020204030204" pitchFamily="34" charset="0"/>
              </a:rPr>
              <a:t>blocked (1) or not (0)</a:t>
            </a:r>
          </a:p>
        </p:txBody>
      </p:sp>
    </p:spTree>
    <p:extLst>
      <p:ext uri="{BB962C8B-B14F-4D97-AF65-F5344CB8AC3E}">
        <p14:creationId xmlns:p14="http://schemas.microsoft.com/office/powerpoint/2010/main" val="1624425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1C04614-1DF2-4A17-A680-AD266D9352C5}"/>
              </a:ext>
            </a:extLst>
          </p:cNvPr>
          <p:cNvSpPr>
            <a:spLocks noGrp="1"/>
          </p:cNvSpPr>
          <p:nvPr>
            <p:ph idx="1"/>
          </p:nvPr>
        </p:nvSpPr>
        <p:spPr>
          <a:xfrm>
            <a:off x="451916" y="1320618"/>
            <a:ext cx="8289748" cy="4351338"/>
          </a:xfrm>
        </p:spPr>
        <p:txBody>
          <a:bodyPr>
            <a:normAutofit/>
          </a:bodyPr>
          <a:lstStyle/>
          <a:p>
            <a:pPr>
              <a:lnSpc>
                <a:spcPct val="170000"/>
              </a:lnSpc>
            </a:pPr>
            <a:r>
              <a:rPr lang="en-US" altLang="zh-CN" b="1" dirty="0">
                <a:solidFill>
                  <a:srgbClr val="00B050"/>
                </a:solidFill>
                <a:latin typeface="+mn-lt"/>
                <a:cs typeface="Calibri" panose="020F0502020204030204" pitchFamily="34" charset="0"/>
              </a:rPr>
              <a:t>No changes </a:t>
            </a:r>
            <a:r>
              <a:rPr lang="en-US" altLang="zh-CN" dirty="0">
                <a:latin typeface="+mn-lt"/>
                <a:cs typeface="Calibri" panose="020F0502020204030204" pitchFamily="34" charset="0"/>
              </a:rPr>
              <a:t>to user applications</a:t>
            </a:r>
          </a:p>
          <a:p>
            <a:pPr>
              <a:lnSpc>
                <a:spcPct val="170000"/>
              </a:lnSpc>
            </a:pPr>
            <a:r>
              <a:rPr lang="en-US" altLang="zh-CN" sz="2800" dirty="0">
                <a:latin typeface="Calibri" panose="020F0502020204030204" pitchFamily="34" charset="0"/>
                <a:cs typeface="Calibri" panose="020F0502020204030204" pitchFamily="34" charset="0"/>
              </a:rPr>
              <a:t>Blocking synchronization and</a:t>
            </a:r>
            <a:r>
              <a:rPr lang="zh-CN" altLang="en-US" sz="2800"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sleep</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queue</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management</a:t>
            </a:r>
            <a:r>
              <a:rPr lang="zh-CN" altLang="en-US" dirty="0">
                <a:latin typeface="Calibri" panose="020F0502020204030204" pitchFamily="34" charset="0"/>
                <a:cs typeface="Calibri" panose="020F0502020204030204" pitchFamily="34" charset="0"/>
              </a:rPr>
              <a:t> </a:t>
            </a:r>
            <a:r>
              <a:rPr lang="en-US" altLang="zh-CN" sz="2800" dirty="0">
                <a:latin typeface="Calibri" panose="020F0502020204030204" pitchFamily="34" charset="0"/>
                <a:cs typeface="Calibri" panose="020F0502020204030204" pitchFamily="34" charset="0"/>
              </a:rPr>
              <a:t>is made</a:t>
            </a:r>
            <a:r>
              <a:rPr lang="zh-CN" altLang="en-US" sz="2800" dirty="0">
                <a:latin typeface="Calibri" panose="020F0502020204030204" pitchFamily="34" charset="0"/>
                <a:cs typeface="Calibri" panose="020F0502020204030204" pitchFamily="34" charset="0"/>
              </a:rPr>
              <a:t> </a:t>
            </a:r>
            <a:r>
              <a:rPr lang="en-US" altLang="zh-CN" sz="2800" b="1" dirty="0">
                <a:solidFill>
                  <a:srgbClr val="00B050"/>
                </a:solidFill>
                <a:latin typeface="Calibri" panose="020F0502020204030204" pitchFamily="34" charset="0"/>
                <a:cs typeface="Calibri" panose="020F0502020204030204" pitchFamily="34" charset="0"/>
              </a:rPr>
              <a:t>simple</a:t>
            </a:r>
          </a:p>
          <a:p>
            <a:pPr>
              <a:lnSpc>
                <a:spcPct val="170000"/>
              </a:lnSpc>
            </a:pPr>
            <a:r>
              <a:rPr lang="en-US" altLang="zh-CN" sz="2800" b="1" dirty="0">
                <a:solidFill>
                  <a:srgbClr val="00B050"/>
                </a:solidFill>
                <a:latin typeface="Calibri" panose="020F0502020204030204" pitchFamily="34" charset="0"/>
                <a:cs typeface="Calibri" panose="020F0502020204030204" pitchFamily="34" charset="0"/>
              </a:rPr>
              <a:t>Avoid</a:t>
            </a:r>
            <a:r>
              <a:rPr lang="zh-CN" altLang="en-US" sz="2800"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s</a:t>
            </a:r>
            <a:r>
              <a:rPr lang="en-US" altLang="zh-CN" sz="2800" dirty="0">
                <a:latin typeface="Calibri" panose="020F0502020204030204" pitchFamily="34" charset="0"/>
                <a:cs typeface="Calibri" panose="020F0502020204030204" pitchFamily="34" charset="0"/>
              </a:rPr>
              <a:t>ystem load </a:t>
            </a:r>
            <a:r>
              <a:rPr lang="en-US" altLang="zh-CN" dirty="0">
                <a:latin typeface="Calibri" panose="020F0502020204030204" pitchFamily="34" charset="0"/>
                <a:cs typeface="Calibri" panose="020F0502020204030204" pitchFamily="34" charset="0"/>
              </a:rPr>
              <a:t>fluctuation</a:t>
            </a:r>
            <a:endParaRPr lang="zh-CN" altLang="en-US" sz="2800" b="1" dirty="0">
              <a:solidFill>
                <a:srgbClr val="405888"/>
              </a:solidFill>
              <a:latin typeface="Calibri" panose="020F0502020204030204" pitchFamily="34" charset="0"/>
              <a:cs typeface="Calibri" panose="020F0502020204030204" pitchFamily="34" charset="0"/>
            </a:endParaRPr>
          </a:p>
        </p:txBody>
      </p:sp>
      <p:sp>
        <p:nvSpPr>
          <p:cNvPr id="4" name="灯片编号占位符 3"/>
          <p:cNvSpPr>
            <a:spLocks noGrp="1"/>
          </p:cNvSpPr>
          <p:nvPr>
            <p:ph type="sldNum" sz="quarter" idx="12"/>
          </p:nvPr>
        </p:nvSpPr>
        <p:spPr/>
        <p:txBody>
          <a:bodyPr/>
          <a:lstStyle/>
          <a:p>
            <a:fld id="{72E3C5E5-1620-704A-B1BC-D84381C5FEE1}" type="slidenum">
              <a:rPr lang="en-US" smtClean="0"/>
              <a:t>21</a:t>
            </a:fld>
            <a:endParaRPr lang="en-US"/>
          </a:p>
        </p:txBody>
      </p:sp>
      <p:sp>
        <p:nvSpPr>
          <p:cNvPr id="6" name="Title 1">
            <a:extLst>
              <a:ext uri="{FF2B5EF4-FFF2-40B4-BE49-F238E27FC236}">
                <a16:creationId xmlns:a16="http://schemas.microsoft.com/office/drawing/2014/main" id="{6F59DA1F-4BBB-9743-8D7E-1D5C8F5ECEE1}"/>
              </a:ext>
            </a:extLst>
          </p:cNvPr>
          <p:cNvSpPr>
            <a:spLocks noGrp="1"/>
          </p:cNvSpPr>
          <p:nvPr>
            <p:ph type="title"/>
          </p:nvPr>
        </p:nvSpPr>
        <p:spPr>
          <a:xfrm>
            <a:off x="96928" y="-4945"/>
            <a:ext cx="9055100" cy="1325563"/>
          </a:xfrm>
        </p:spPr>
        <p:txBody>
          <a:bodyPr>
            <a:normAutofit/>
          </a:bodyPr>
          <a:lstStyle/>
          <a:p>
            <a:r>
              <a:rPr lang="en-US" altLang="zh-CN" b="1" dirty="0">
                <a:latin typeface="Calibri" panose="020F0502020204030204" pitchFamily="34" charset="0"/>
                <a:cs typeface="Calibri" panose="020F0502020204030204" pitchFamily="34" charset="0"/>
              </a:rPr>
              <a:t> The Benefits of VB</a:t>
            </a:r>
          </a:p>
        </p:txBody>
      </p:sp>
    </p:spTree>
    <p:extLst>
      <p:ext uri="{BB962C8B-B14F-4D97-AF65-F5344CB8AC3E}">
        <p14:creationId xmlns:p14="http://schemas.microsoft.com/office/powerpoint/2010/main" val="2779960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2E3C5E5-1620-704A-B1BC-D84381C5FEE1}" type="slidenum">
              <a:rPr lang="en-US" smtClean="0"/>
              <a:t>22</a:t>
            </a:fld>
            <a:endParaRPr lang="en-US"/>
          </a:p>
        </p:txBody>
      </p:sp>
      <p:sp>
        <p:nvSpPr>
          <p:cNvPr id="6" name="Title 1">
            <a:extLst>
              <a:ext uri="{FF2B5EF4-FFF2-40B4-BE49-F238E27FC236}">
                <a16:creationId xmlns:a16="http://schemas.microsoft.com/office/drawing/2014/main" id="{6F59DA1F-4BBB-9743-8D7E-1D5C8F5ECEE1}"/>
              </a:ext>
            </a:extLst>
          </p:cNvPr>
          <p:cNvSpPr>
            <a:spLocks noGrp="1"/>
          </p:cNvSpPr>
          <p:nvPr>
            <p:ph type="title"/>
          </p:nvPr>
        </p:nvSpPr>
        <p:spPr>
          <a:xfrm>
            <a:off x="96928" y="-4945"/>
            <a:ext cx="9055100" cy="1325563"/>
          </a:xfrm>
        </p:spPr>
        <p:txBody>
          <a:bodyPr>
            <a:normAutofit/>
          </a:bodyPr>
          <a:lstStyle/>
          <a:p>
            <a:r>
              <a:rPr lang="en-US" altLang="zh-CN" b="1" dirty="0">
                <a:latin typeface="Calibri" panose="020F0502020204030204" pitchFamily="34" charset="0"/>
                <a:cs typeface="Calibri" panose="020F0502020204030204" pitchFamily="34" charset="0"/>
              </a:rPr>
              <a:t>Busy-waiting Detection</a:t>
            </a:r>
          </a:p>
        </p:txBody>
      </p:sp>
      <p:sp>
        <p:nvSpPr>
          <p:cNvPr id="8" name="Content Placeholder 2">
            <a:extLst>
              <a:ext uri="{FF2B5EF4-FFF2-40B4-BE49-F238E27FC236}">
                <a16:creationId xmlns:a16="http://schemas.microsoft.com/office/drawing/2014/main" id="{C123D111-182A-4BDB-93BE-593E0AE11C12}"/>
              </a:ext>
            </a:extLst>
          </p:cNvPr>
          <p:cNvSpPr>
            <a:spLocks noGrp="1"/>
          </p:cNvSpPr>
          <p:nvPr>
            <p:ph idx="1"/>
          </p:nvPr>
        </p:nvSpPr>
        <p:spPr>
          <a:xfrm>
            <a:off x="540045" y="1380533"/>
            <a:ext cx="8363687" cy="4351338"/>
          </a:xfrm>
        </p:spPr>
        <p:txBody>
          <a:bodyPr>
            <a:normAutofit/>
          </a:bodyPr>
          <a:lstStyle/>
          <a:p>
            <a:pPr>
              <a:lnSpc>
                <a:spcPct val="170000"/>
              </a:lnSpc>
            </a:pPr>
            <a:r>
              <a:rPr lang="en-US" altLang="zh-CN" dirty="0">
                <a:latin typeface="+mn-lt"/>
                <a:cs typeface="Calibri" panose="020F0502020204030204" pitchFamily="34" charset="0"/>
              </a:rPr>
              <a:t>Common</a:t>
            </a:r>
            <a:r>
              <a:rPr lang="zh-CN" altLang="en-US" dirty="0">
                <a:latin typeface="+mn-lt"/>
                <a:cs typeface="Calibri" panose="020F0502020204030204" pitchFamily="34" charset="0"/>
              </a:rPr>
              <a:t> </a:t>
            </a:r>
            <a:r>
              <a:rPr lang="en-US" altLang="zh-CN" dirty="0">
                <a:latin typeface="+mn-lt"/>
                <a:cs typeface="Calibri" panose="020F0502020204030204" pitchFamily="34" charset="0"/>
              </a:rPr>
              <a:t>features</a:t>
            </a:r>
            <a:r>
              <a:rPr lang="zh-CN" altLang="en-US" dirty="0">
                <a:latin typeface="+mn-lt"/>
                <a:cs typeface="Calibri" panose="020F0502020204030204" pitchFamily="34" charset="0"/>
              </a:rPr>
              <a:t> </a:t>
            </a:r>
            <a:r>
              <a:rPr lang="en-US" altLang="zh-CN" dirty="0">
                <a:latin typeface="+mn-lt"/>
                <a:cs typeface="Calibri" panose="020F0502020204030204" pitchFamily="34" charset="0"/>
              </a:rPr>
              <a:t>of</a:t>
            </a:r>
            <a:r>
              <a:rPr lang="zh-CN" altLang="en-US" dirty="0">
                <a:latin typeface="+mn-lt"/>
                <a:cs typeface="Calibri" panose="020F0502020204030204" pitchFamily="34" charset="0"/>
              </a:rPr>
              <a:t> </a:t>
            </a:r>
            <a:r>
              <a:rPr lang="en-US" altLang="zh-CN" dirty="0">
                <a:latin typeface="+mn-lt"/>
                <a:cs typeface="Calibri" panose="020F0502020204030204" pitchFamily="34" charset="0"/>
              </a:rPr>
              <a:t>a spin</a:t>
            </a:r>
            <a:r>
              <a:rPr lang="zh-CN" altLang="en-US" dirty="0">
                <a:latin typeface="+mn-lt"/>
                <a:cs typeface="Calibri" panose="020F0502020204030204" pitchFamily="34" charset="0"/>
              </a:rPr>
              <a:t> </a:t>
            </a:r>
            <a:r>
              <a:rPr lang="en-US" altLang="zh-CN" dirty="0">
                <a:latin typeface="+mn-lt"/>
                <a:cs typeface="Calibri" panose="020F0502020204030204" pitchFamily="34" charset="0"/>
              </a:rPr>
              <a:t>loop</a:t>
            </a:r>
            <a:endParaRPr lang="en-US" altLang="zh-CN" dirty="0">
              <a:latin typeface="+mj-lt"/>
              <a:cs typeface="Calibri" panose="020F0502020204030204" pitchFamily="34" charset="0"/>
            </a:endParaRPr>
          </a:p>
          <a:p>
            <a:pPr lvl="1">
              <a:lnSpc>
                <a:spcPct val="170000"/>
              </a:lnSpc>
            </a:pPr>
            <a:r>
              <a:rPr lang="en-US" altLang="zh-CN" dirty="0">
                <a:latin typeface="+mj-lt"/>
                <a:cs typeface="Calibri" panose="020F0502020204030204" pitchFamily="34" charset="0"/>
              </a:rPr>
              <a:t>Includes</a:t>
            </a:r>
            <a:r>
              <a:rPr lang="zh-CN" altLang="en-US" dirty="0">
                <a:latin typeface="+mj-lt"/>
                <a:cs typeface="Calibri" panose="020F0502020204030204" pitchFamily="34" charset="0"/>
              </a:rPr>
              <a:t> </a:t>
            </a:r>
            <a:r>
              <a:rPr lang="en-US" altLang="zh-CN" dirty="0">
                <a:latin typeface="+mj-lt"/>
                <a:cs typeface="Calibri" panose="020F0502020204030204" pitchFamily="34" charset="0"/>
              </a:rPr>
              <a:t>backward conditional branches; </a:t>
            </a:r>
          </a:p>
          <a:p>
            <a:pPr lvl="1">
              <a:lnSpc>
                <a:spcPct val="170000"/>
              </a:lnSpc>
            </a:pPr>
            <a:r>
              <a:rPr lang="en-US" altLang="zh-CN" dirty="0">
                <a:latin typeface="+mj-lt"/>
                <a:cs typeface="Calibri" panose="020F0502020204030204" pitchFamily="34" charset="0"/>
              </a:rPr>
              <a:t>Each iteration is quite short.</a:t>
            </a:r>
          </a:p>
          <a:p>
            <a:pPr lvl="1">
              <a:lnSpc>
                <a:spcPct val="170000"/>
              </a:lnSpc>
            </a:pPr>
            <a:r>
              <a:rPr lang="en-US" altLang="zh-CN" dirty="0">
                <a:latin typeface="+mj-lt"/>
                <a:cs typeface="Calibri" panose="020F0502020204030204" pitchFamily="34" charset="0"/>
              </a:rPr>
              <a:t>During spinning, branching is predictable with many backward branching until moving onto the next code segment. </a:t>
            </a:r>
          </a:p>
          <a:p>
            <a:pPr lvl="1">
              <a:lnSpc>
                <a:spcPct val="170000"/>
              </a:lnSpc>
            </a:pPr>
            <a:endParaRPr lang="en-US" altLang="zh-CN" dirty="0">
              <a:latin typeface="+mj-lt"/>
              <a:cs typeface="Calibri" panose="020F0502020204030204" pitchFamily="34" charset="0"/>
            </a:endParaRPr>
          </a:p>
        </p:txBody>
      </p:sp>
    </p:spTree>
    <p:extLst>
      <p:ext uri="{BB962C8B-B14F-4D97-AF65-F5344CB8AC3E}">
        <p14:creationId xmlns:p14="http://schemas.microsoft.com/office/powerpoint/2010/main" val="3725941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2E3C5E5-1620-704A-B1BC-D84381C5FEE1}" type="slidenum">
              <a:rPr lang="en-US" smtClean="0"/>
              <a:t>23</a:t>
            </a:fld>
            <a:endParaRPr lang="en-US"/>
          </a:p>
        </p:txBody>
      </p:sp>
      <p:sp>
        <p:nvSpPr>
          <p:cNvPr id="6" name="Title 1">
            <a:extLst>
              <a:ext uri="{FF2B5EF4-FFF2-40B4-BE49-F238E27FC236}">
                <a16:creationId xmlns:a16="http://schemas.microsoft.com/office/drawing/2014/main" id="{6F59DA1F-4BBB-9743-8D7E-1D5C8F5ECEE1}"/>
              </a:ext>
            </a:extLst>
          </p:cNvPr>
          <p:cNvSpPr>
            <a:spLocks noGrp="1"/>
          </p:cNvSpPr>
          <p:nvPr>
            <p:ph type="title"/>
          </p:nvPr>
        </p:nvSpPr>
        <p:spPr>
          <a:xfrm>
            <a:off x="96928" y="-4945"/>
            <a:ext cx="9055100" cy="1325563"/>
          </a:xfrm>
        </p:spPr>
        <p:txBody>
          <a:bodyPr>
            <a:normAutofit/>
          </a:bodyPr>
          <a:lstStyle/>
          <a:p>
            <a:r>
              <a:rPr lang="en-US" altLang="zh-CN" b="1" dirty="0">
                <a:latin typeface="Calibri" panose="020F0502020204030204" pitchFamily="34" charset="0"/>
                <a:cs typeface="Calibri" panose="020F0502020204030204" pitchFamily="34" charset="0"/>
              </a:rPr>
              <a:t>Busy-waiting Detection</a:t>
            </a:r>
          </a:p>
        </p:txBody>
      </p:sp>
      <p:pic>
        <p:nvPicPr>
          <p:cNvPr id="9" name="图片 8">
            <a:extLst>
              <a:ext uri="{FF2B5EF4-FFF2-40B4-BE49-F238E27FC236}">
                <a16:creationId xmlns:a16="http://schemas.microsoft.com/office/drawing/2014/main" id="{C318DA74-0BEA-469F-9EA4-F406E951BE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14828" y="3125611"/>
            <a:ext cx="856693" cy="888152"/>
          </a:xfrm>
          <a:prstGeom prst="rect">
            <a:avLst/>
          </a:prstGeom>
        </p:spPr>
      </p:pic>
      <p:sp>
        <p:nvSpPr>
          <p:cNvPr id="10" name="矩形 9">
            <a:extLst>
              <a:ext uri="{FF2B5EF4-FFF2-40B4-BE49-F238E27FC236}">
                <a16:creationId xmlns:a16="http://schemas.microsoft.com/office/drawing/2014/main" id="{5E29E468-387C-4785-BACE-8E54CEBF67A5}"/>
              </a:ext>
            </a:extLst>
          </p:cNvPr>
          <p:cNvSpPr/>
          <p:nvPr/>
        </p:nvSpPr>
        <p:spPr>
          <a:xfrm>
            <a:off x="2209668" y="3683794"/>
            <a:ext cx="720000" cy="1440000"/>
          </a:xfrm>
          <a:prstGeom prst="rect">
            <a:avLst/>
          </a:prstGeom>
          <a:solidFill>
            <a:schemeClr val="bg2">
              <a:lumMod val="7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DBA23886-AF6B-4AC4-A70B-BD4E9DEBEF7D}"/>
              </a:ext>
            </a:extLst>
          </p:cNvPr>
          <p:cNvCxnSpPr>
            <a:cxnSpLocks/>
          </p:cNvCxnSpPr>
          <p:nvPr/>
        </p:nvCxnSpPr>
        <p:spPr>
          <a:xfrm>
            <a:off x="2209668" y="3935443"/>
            <a:ext cx="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955B6905-5113-43C8-BF3A-3C15067AA2CC}"/>
              </a:ext>
            </a:extLst>
          </p:cNvPr>
          <p:cNvSpPr txBox="1"/>
          <p:nvPr/>
        </p:nvSpPr>
        <p:spPr>
          <a:xfrm>
            <a:off x="2082060" y="2941470"/>
            <a:ext cx="1803015" cy="461665"/>
          </a:xfrm>
          <a:prstGeom prst="rect">
            <a:avLst/>
          </a:prstGeom>
          <a:noFill/>
        </p:spPr>
        <p:txBody>
          <a:bodyPr wrap="square" rtlCol="0">
            <a:spAutoFit/>
          </a:bodyPr>
          <a:lstStyle/>
          <a:p>
            <a:r>
              <a:rPr lang="en-US" altLang="zh-CN" sz="2400" b="1" dirty="0"/>
              <a:t>CPU   	</a:t>
            </a:r>
            <a:endParaRPr lang="zh-CN" altLang="en-US" sz="2400" b="1" dirty="0"/>
          </a:p>
        </p:txBody>
      </p:sp>
      <p:sp>
        <p:nvSpPr>
          <p:cNvPr id="13" name="矩形 12">
            <a:extLst>
              <a:ext uri="{FF2B5EF4-FFF2-40B4-BE49-F238E27FC236}">
                <a16:creationId xmlns:a16="http://schemas.microsoft.com/office/drawing/2014/main" id="{BC6E891A-426B-4419-8D43-87B68B46E5BA}"/>
              </a:ext>
            </a:extLst>
          </p:cNvPr>
          <p:cNvSpPr/>
          <p:nvPr/>
        </p:nvSpPr>
        <p:spPr>
          <a:xfrm>
            <a:off x="3023938" y="4619418"/>
            <a:ext cx="685800" cy="304800"/>
          </a:xfrm>
          <a:prstGeom prst="rect">
            <a:avLst/>
          </a:prstGeom>
          <a:solidFill>
            <a:schemeClr val="bg2">
              <a:lumMod val="50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4BBF6773-4AD2-46A4-9F43-A77A516C6E7C}"/>
              </a:ext>
            </a:extLst>
          </p:cNvPr>
          <p:cNvSpPr txBox="1"/>
          <p:nvPr/>
        </p:nvSpPr>
        <p:spPr>
          <a:xfrm>
            <a:off x="2209668" y="3318927"/>
            <a:ext cx="919655" cy="369332"/>
          </a:xfrm>
          <a:prstGeom prst="rect">
            <a:avLst/>
          </a:prstGeom>
          <a:noFill/>
        </p:spPr>
        <p:txBody>
          <a:bodyPr wrap="square" rtlCol="0">
            <a:spAutoFit/>
          </a:bodyPr>
          <a:lstStyle/>
          <a:p>
            <a:r>
              <a:rPr lang="en-US" altLang="zh-CN" b="1" dirty="0"/>
              <a:t>LBRs</a:t>
            </a:r>
            <a:endParaRPr lang="zh-CN" altLang="en-US" b="1" dirty="0"/>
          </a:p>
        </p:txBody>
      </p:sp>
      <p:sp>
        <p:nvSpPr>
          <p:cNvPr id="15" name="文本框 14">
            <a:extLst>
              <a:ext uri="{FF2B5EF4-FFF2-40B4-BE49-F238E27FC236}">
                <a16:creationId xmlns:a16="http://schemas.microsoft.com/office/drawing/2014/main" id="{F0D2B9F5-687E-4D7B-B235-18B507EE68AB}"/>
              </a:ext>
            </a:extLst>
          </p:cNvPr>
          <p:cNvSpPr txBox="1"/>
          <p:nvPr/>
        </p:nvSpPr>
        <p:spPr>
          <a:xfrm>
            <a:off x="3031781" y="4282709"/>
            <a:ext cx="841526" cy="369332"/>
          </a:xfrm>
          <a:prstGeom prst="rect">
            <a:avLst/>
          </a:prstGeom>
          <a:noFill/>
        </p:spPr>
        <p:txBody>
          <a:bodyPr wrap="square" rtlCol="0">
            <a:spAutoFit/>
          </a:bodyPr>
          <a:lstStyle/>
          <a:p>
            <a:r>
              <a:rPr lang="en-US" altLang="zh-CN" b="1" dirty="0"/>
              <a:t>PMCs</a:t>
            </a:r>
            <a:endParaRPr lang="zh-CN" altLang="en-US" b="1" dirty="0"/>
          </a:p>
        </p:txBody>
      </p:sp>
      <p:sp>
        <p:nvSpPr>
          <p:cNvPr id="16" name="椭圆 15">
            <a:extLst>
              <a:ext uri="{FF2B5EF4-FFF2-40B4-BE49-F238E27FC236}">
                <a16:creationId xmlns:a16="http://schemas.microsoft.com/office/drawing/2014/main" id="{94148187-609C-405D-A3BC-6053D60E1C46}"/>
              </a:ext>
            </a:extLst>
          </p:cNvPr>
          <p:cNvSpPr/>
          <p:nvPr/>
        </p:nvSpPr>
        <p:spPr>
          <a:xfrm>
            <a:off x="3037182" y="3667174"/>
            <a:ext cx="732775" cy="396930"/>
          </a:xfrm>
          <a:prstGeom prst="ellipse">
            <a:avLst/>
          </a:prstGeom>
          <a:solidFill>
            <a:srgbClr val="FF0000"/>
          </a:solidFill>
          <a:ln w="25400">
            <a:solidFill>
              <a:schemeClr val="tx1"/>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CN" sz="2000" b="1" dirty="0">
                <a:solidFill>
                  <a:schemeClr val="tx1"/>
                </a:solidFill>
              </a:rPr>
              <a:t>cur</a:t>
            </a:r>
            <a:endParaRPr lang="zh-CN" altLang="en-US" sz="2000" b="1" dirty="0">
              <a:solidFill>
                <a:schemeClr val="tx1"/>
              </a:solidFill>
            </a:endParaRPr>
          </a:p>
        </p:txBody>
      </p:sp>
      <p:sp>
        <p:nvSpPr>
          <p:cNvPr id="17" name="矩形 16">
            <a:extLst>
              <a:ext uri="{FF2B5EF4-FFF2-40B4-BE49-F238E27FC236}">
                <a16:creationId xmlns:a16="http://schemas.microsoft.com/office/drawing/2014/main" id="{CE71E275-5791-42AE-9454-0572AC068296}"/>
              </a:ext>
            </a:extLst>
          </p:cNvPr>
          <p:cNvSpPr/>
          <p:nvPr/>
        </p:nvSpPr>
        <p:spPr>
          <a:xfrm>
            <a:off x="2105038" y="2941470"/>
            <a:ext cx="1780037" cy="228703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A42F1A0D-FD24-4AD4-9A6D-235AE1C77A09}"/>
              </a:ext>
            </a:extLst>
          </p:cNvPr>
          <p:cNvCxnSpPr>
            <a:cxnSpLocks/>
          </p:cNvCxnSpPr>
          <p:nvPr/>
        </p:nvCxnSpPr>
        <p:spPr>
          <a:xfrm>
            <a:off x="2209668" y="4167178"/>
            <a:ext cx="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97759371-80F2-435B-9B54-05FDE7B6002E}"/>
              </a:ext>
            </a:extLst>
          </p:cNvPr>
          <p:cNvCxnSpPr>
            <a:cxnSpLocks/>
          </p:cNvCxnSpPr>
          <p:nvPr/>
        </p:nvCxnSpPr>
        <p:spPr>
          <a:xfrm>
            <a:off x="2209668" y="4398913"/>
            <a:ext cx="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B84FEB0-3183-42E5-9372-9F404EF43C63}"/>
              </a:ext>
            </a:extLst>
          </p:cNvPr>
          <p:cNvCxnSpPr>
            <a:cxnSpLocks/>
          </p:cNvCxnSpPr>
          <p:nvPr/>
        </p:nvCxnSpPr>
        <p:spPr>
          <a:xfrm>
            <a:off x="2209668" y="4630648"/>
            <a:ext cx="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98063EF-32EB-4876-8858-977290FD1A7C}"/>
              </a:ext>
            </a:extLst>
          </p:cNvPr>
          <p:cNvCxnSpPr>
            <a:cxnSpLocks/>
          </p:cNvCxnSpPr>
          <p:nvPr/>
        </p:nvCxnSpPr>
        <p:spPr>
          <a:xfrm>
            <a:off x="2209668" y="4862384"/>
            <a:ext cx="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A2459CE-55B7-448D-AF29-83A30E7D56F7}"/>
              </a:ext>
            </a:extLst>
          </p:cNvPr>
          <p:cNvSpPr txBox="1"/>
          <p:nvPr/>
        </p:nvSpPr>
        <p:spPr>
          <a:xfrm>
            <a:off x="3886038" y="3349088"/>
            <a:ext cx="1872912" cy="646331"/>
          </a:xfrm>
          <a:prstGeom prst="rect">
            <a:avLst/>
          </a:prstGeom>
          <a:noFill/>
        </p:spPr>
        <p:txBody>
          <a:bodyPr wrap="square" rtlCol="0">
            <a:spAutoFit/>
          </a:bodyPr>
          <a:lstStyle/>
          <a:p>
            <a:pPr algn="ctr"/>
            <a:r>
              <a:rPr lang="en-US" altLang="zh-CN" b="1" dirty="0"/>
              <a:t>read</a:t>
            </a:r>
          </a:p>
          <a:p>
            <a:pPr algn="ctr"/>
            <a:r>
              <a:rPr lang="en-US" altLang="zh-CN" b="1" dirty="0"/>
              <a:t>(</a:t>
            </a:r>
            <a:r>
              <a:rPr lang="en-US" altLang="zh-CN" b="1" dirty="0" err="1"/>
              <a:t>LBRs&amp;PMCs</a:t>
            </a:r>
            <a:r>
              <a:rPr lang="en-US" altLang="zh-CN" b="1" dirty="0"/>
              <a:t>)</a:t>
            </a:r>
            <a:endParaRPr lang="zh-CN" altLang="en-US" b="1" dirty="0"/>
          </a:p>
        </p:txBody>
      </p:sp>
      <p:cxnSp>
        <p:nvCxnSpPr>
          <p:cNvPr id="23" name="连接符: 肘形 100">
            <a:extLst>
              <a:ext uri="{FF2B5EF4-FFF2-40B4-BE49-F238E27FC236}">
                <a16:creationId xmlns:a16="http://schemas.microsoft.com/office/drawing/2014/main" id="{741EAD27-A1E3-4401-AC1B-64360B39A8B1}"/>
              </a:ext>
            </a:extLst>
          </p:cNvPr>
          <p:cNvCxnSpPr>
            <a:cxnSpLocks/>
            <a:stCxn id="9" idx="2"/>
          </p:cNvCxnSpPr>
          <p:nvPr/>
        </p:nvCxnSpPr>
        <p:spPr>
          <a:xfrm rot="5400000">
            <a:off x="4594491" y="3281371"/>
            <a:ext cx="716292" cy="2181077"/>
          </a:xfrm>
          <a:prstGeom prst="bentConnector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19795AF6-D0F5-4539-B2B3-391F41EDE996}"/>
              </a:ext>
            </a:extLst>
          </p:cNvPr>
          <p:cNvSpPr txBox="1"/>
          <p:nvPr/>
        </p:nvSpPr>
        <p:spPr>
          <a:xfrm>
            <a:off x="5675866" y="3980793"/>
            <a:ext cx="969003" cy="323165"/>
          </a:xfrm>
          <a:prstGeom prst="rect">
            <a:avLst/>
          </a:prstGeom>
          <a:noFill/>
        </p:spPr>
        <p:txBody>
          <a:bodyPr wrap="square" bIns="0" rtlCol="0">
            <a:spAutoFit/>
          </a:bodyPr>
          <a:lstStyle/>
          <a:p>
            <a:r>
              <a:rPr lang="en-US" altLang="zh-CN" dirty="0">
                <a:sym typeface="Wingdings 2" panose="05020102010507070707" pitchFamily="18" charset="2"/>
              </a:rPr>
              <a:t>  </a:t>
            </a:r>
            <a:r>
              <a:rPr lang="en-US" altLang="zh-CN" b="1" dirty="0">
                <a:sym typeface="Wingdings 2" panose="05020102010507070707" pitchFamily="18" charset="2"/>
              </a:rPr>
              <a:t>BW</a:t>
            </a:r>
            <a:endParaRPr lang="zh-CN" altLang="en-US" b="1" dirty="0"/>
          </a:p>
        </p:txBody>
      </p:sp>
      <p:sp>
        <p:nvSpPr>
          <p:cNvPr id="25" name="文本框 24">
            <a:extLst>
              <a:ext uri="{FF2B5EF4-FFF2-40B4-BE49-F238E27FC236}">
                <a16:creationId xmlns:a16="http://schemas.microsoft.com/office/drawing/2014/main" id="{7DF06F5C-2C9B-487F-81CD-8DE758534DDA}"/>
              </a:ext>
            </a:extLst>
          </p:cNvPr>
          <p:cNvSpPr txBox="1"/>
          <p:nvPr/>
        </p:nvSpPr>
        <p:spPr>
          <a:xfrm>
            <a:off x="5675866" y="2841219"/>
            <a:ext cx="734616" cy="369332"/>
          </a:xfrm>
          <a:prstGeom prst="rect">
            <a:avLst/>
          </a:prstGeom>
          <a:noFill/>
        </p:spPr>
        <p:txBody>
          <a:bodyPr wrap="square" rtlCol="0">
            <a:spAutoFit/>
          </a:bodyPr>
          <a:lstStyle/>
          <a:p>
            <a:r>
              <a:rPr lang="en-US" altLang="zh-CN" b="1" dirty="0">
                <a:solidFill>
                  <a:srgbClr val="FF0000"/>
                </a:solidFill>
              </a:rPr>
              <a:t>BWD</a:t>
            </a:r>
            <a:endParaRPr lang="zh-CN" altLang="en-US" b="1" dirty="0">
              <a:solidFill>
                <a:srgbClr val="FF0000"/>
              </a:solidFill>
            </a:endParaRPr>
          </a:p>
        </p:txBody>
      </p:sp>
      <p:sp>
        <p:nvSpPr>
          <p:cNvPr id="26" name="文本框 25">
            <a:extLst>
              <a:ext uri="{FF2B5EF4-FFF2-40B4-BE49-F238E27FC236}">
                <a16:creationId xmlns:a16="http://schemas.microsoft.com/office/drawing/2014/main" id="{9D001094-705D-47A6-8822-F7D4635518B5}"/>
              </a:ext>
            </a:extLst>
          </p:cNvPr>
          <p:cNvSpPr txBox="1"/>
          <p:nvPr/>
        </p:nvSpPr>
        <p:spPr>
          <a:xfrm>
            <a:off x="3999286" y="4684279"/>
            <a:ext cx="3150011" cy="369332"/>
          </a:xfrm>
          <a:prstGeom prst="rect">
            <a:avLst/>
          </a:prstGeom>
          <a:noFill/>
        </p:spPr>
        <p:txBody>
          <a:bodyPr wrap="square" rtlCol="0">
            <a:spAutoFit/>
          </a:bodyPr>
          <a:lstStyle/>
          <a:p>
            <a:r>
              <a:rPr lang="en-US" altLang="zh-CN" b="1" dirty="0"/>
              <a:t>skip cur &amp; </a:t>
            </a:r>
            <a:r>
              <a:rPr lang="en-US" altLang="zh-CN" b="1" dirty="0" err="1"/>
              <a:t>resched_cpu</a:t>
            </a:r>
            <a:endParaRPr lang="zh-CN" altLang="en-US" b="1" dirty="0"/>
          </a:p>
        </p:txBody>
      </p:sp>
      <p:cxnSp>
        <p:nvCxnSpPr>
          <p:cNvPr id="27" name="直接箭头连接符 26">
            <a:extLst>
              <a:ext uri="{FF2B5EF4-FFF2-40B4-BE49-F238E27FC236}">
                <a16:creationId xmlns:a16="http://schemas.microsoft.com/office/drawing/2014/main" id="{0D792EAC-D4EB-4DE7-9BD6-D4CD251435DB}"/>
              </a:ext>
            </a:extLst>
          </p:cNvPr>
          <p:cNvCxnSpPr>
            <a:cxnSpLocks/>
          </p:cNvCxnSpPr>
          <p:nvPr/>
        </p:nvCxnSpPr>
        <p:spPr>
          <a:xfrm flipH="1">
            <a:off x="3862098" y="3683794"/>
            <a:ext cx="175273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C86C9E01-6629-4918-A587-EF5CC4C416D9}"/>
              </a:ext>
            </a:extLst>
          </p:cNvPr>
          <p:cNvSpPr/>
          <p:nvPr/>
        </p:nvSpPr>
        <p:spPr>
          <a:xfrm>
            <a:off x="3090853" y="4709379"/>
            <a:ext cx="685800" cy="304800"/>
          </a:xfrm>
          <a:prstGeom prst="rect">
            <a:avLst/>
          </a:prstGeom>
          <a:solidFill>
            <a:schemeClr val="bg2">
              <a:lumMod val="50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E218B552-907B-4454-8E9F-53E929F84AA9}"/>
              </a:ext>
            </a:extLst>
          </p:cNvPr>
          <p:cNvSpPr/>
          <p:nvPr/>
        </p:nvSpPr>
        <p:spPr>
          <a:xfrm>
            <a:off x="3152301" y="4799340"/>
            <a:ext cx="685800" cy="304800"/>
          </a:xfrm>
          <a:prstGeom prst="rect">
            <a:avLst/>
          </a:prstGeom>
          <a:solidFill>
            <a:schemeClr val="bg2">
              <a:lumMod val="50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a:extLst>
              <a:ext uri="{FF2B5EF4-FFF2-40B4-BE49-F238E27FC236}">
                <a16:creationId xmlns:a16="http://schemas.microsoft.com/office/drawing/2014/main" id="{D5FFF73F-A8F4-40C3-9E0E-B52DD446BBFD}"/>
              </a:ext>
            </a:extLst>
          </p:cNvPr>
          <p:cNvCxnSpPr/>
          <p:nvPr/>
        </p:nvCxnSpPr>
        <p:spPr>
          <a:xfrm flipV="1">
            <a:off x="1251259" y="5060891"/>
            <a:ext cx="958409" cy="829589"/>
          </a:xfrm>
          <a:prstGeom prst="straightConnector1">
            <a:avLst/>
          </a:prstGeom>
          <a:ln w="25400">
            <a:solidFill>
              <a:srgbClr val="405888"/>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C02BA548-5526-41E3-A4E7-6F402C83FF63}"/>
              </a:ext>
            </a:extLst>
          </p:cNvPr>
          <p:cNvSpPr txBox="1"/>
          <p:nvPr/>
        </p:nvSpPr>
        <p:spPr>
          <a:xfrm>
            <a:off x="264753" y="5890479"/>
            <a:ext cx="3889829" cy="830997"/>
          </a:xfrm>
          <a:prstGeom prst="rect">
            <a:avLst/>
          </a:prstGeom>
          <a:noFill/>
        </p:spPr>
        <p:txBody>
          <a:bodyPr wrap="square" rtlCol="0">
            <a:spAutoFit/>
          </a:bodyPr>
          <a:lstStyle/>
          <a:p>
            <a:r>
              <a:rPr lang="en-US" altLang="zh-CN" sz="2400" dirty="0">
                <a:solidFill>
                  <a:srgbClr val="405888"/>
                </a:solidFill>
                <a:latin typeface="Calibri" panose="020F0502020204030204" pitchFamily="34" charset="0"/>
                <a:cs typeface="Calibri" panose="020F0502020204030204" pitchFamily="34" charset="0"/>
              </a:rPr>
              <a:t>record the from and to virtual addresses of branches.</a:t>
            </a:r>
            <a:endParaRPr lang="zh-CN" altLang="en-US" sz="2400" dirty="0">
              <a:solidFill>
                <a:srgbClr val="405888"/>
              </a:solidFill>
              <a:latin typeface="Calibri" panose="020F0502020204030204" pitchFamily="34" charset="0"/>
              <a:cs typeface="Calibri" panose="020F0502020204030204" pitchFamily="34" charset="0"/>
            </a:endParaRPr>
          </a:p>
        </p:txBody>
      </p:sp>
      <p:sp>
        <p:nvSpPr>
          <p:cNvPr id="8" name="文本框 7">
            <a:extLst>
              <a:ext uri="{FF2B5EF4-FFF2-40B4-BE49-F238E27FC236}">
                <a16:creationId xmlns:a16="http://schemas.microsoft.com/office/drawing/2014/main" id="{7D170D7C-4015-4E5E-BBB2-FA29E205B4CD}"/>
              </a:ext>
            </a:extLst>
          </p:cNvPr>
          <p:cNvSpPr txBox="1"/>
          <p:nvPr/>
        </p:nvSpPr>
        <p:spPr>
          <a:xfrm>
            <a:off x="4301459" y="5592655"/>
            <a:ext cx="3483429" cy="830997"/>
          </a:xfrm>
          <a:prstGeom prst="rect">
            <a:avLst/>
          </a:prstGeom>
          <a:noFill/>
        </p:spPr>
        <p:txBody>
          <a:bodyPr wrap="square" rtlCol="0">
            <a:spAutoFit/>
          </a:bodyPr>
          <a:lstStyle/>
          <a:p>
            <a:r>
              <a:rPr lang="en-US" altLang="zh-CN" sz="2400" dirty="0">
                <a:solidFill>
                  <a:srgbClr val="405888"/>
                </a:solidFill>
                <a:latin typeface="Calibri" panose="020F0502020204030204" pitchFamily="34" charset="0"/>
                <a:cs typeface="Calibri" panose="020F0502020204030204" pitchFamily="34" charset="0"/>
              </a:rPr>
              <a:t>record the number of TLB misses and cache misses</a:t>
            </a:r>
            <a:endParaRPr lang="zh-CN" altLang="en-US" sz="2400" dirty="0">
              <a:solidFill>
                <a:srgbClr val="405888"/>
              </a:solidFill>
              <a:latin typeface="Calibri" panose="020F0502020204030204" pitchFamily="34" charset="0"/>
              <a:cs typeface="Calibri" panose="020F0502020204030204" pitchFamily="34" charset="0"/>
            </a:endParaRPr>
          </a:p>
        </p:txBody>
      </p:sp>
      <p:cxnSp>
        <p:nvCxnSpPr>
          <p:cNvPr id="30" name="直接箭头连接符 29">
            <a:extLst>
              <a:ext uri="{FF2B5EF4-FFF2-40B4-BE49-F238E27FC236}">
                <a16:creationId xmlns:a16="http://schemas.microsoft.com/office/drawing/2014/main" id="{33912784-D9C1-4231-AB52-9CE69C98D5E7}"/>
              </a:ext>
            </a:extLst>
          </p:cNvPr>
          <p:cNvCxnSpPr>
            <a:cxnSpLocks/>
          </p:cNvCxnSpPr>
          <p:nvPr/>
        </p:nvCxnSpPr>
        <p:spPr>
          <a:xfrm flipH="1" flipV="1">
            <a:off x="3439016" y="5104140"/>
            <a:ext cx="1180516" cy="572016"/>
          </a:xfrm>
          <a:prstGeom prst="straightConnector1">
            <a:avLst/>
          </a:prstGeom>
          <a:ln w="25400">
            <a:solidFill>
              <a:srgbClr val="405888"/>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CDD6A2F1-33F4-40A9-890F-50D46051766D}"/>
              </a:ext>
            </a:extLst>
          </p:cNvPr>
          <p:cNvCxnSpPr>
            <a:cxnSpLocks/>
          </p:cNvCxnSpPr>
          <p:nvPr/>
        </p:nvCxnSpPr>
        <p:spPr>
          <a:xfrm flipH="1" flipV="1">
            <a:off x="6457950" y="3490808"/>
            <a:ext cx="677775" cy="256851"/>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9AA70122-A718-407D-BCEB-0EE31D0BEC60}"/>
              </a:ext>
            </a:extLst>
          </p:cNvPr>
          <p:cNvSpPr txBox="1"/>
          <p:nvPr/>
        </p:nvSpPr>
        <p:spPr>
          <a:xfrm>
            <a:off x="6498417" y="3712481"/>
            <a:ext cx="2645583" cy="830997"/>
          </a:xfrm>
          <a:prstGeom prst="rect">
            <a:avLst/>
          </a:prstGeom>
          <a:noFill/>
        </p:spPr>
        <p:txBody>
          <a:bodyPr wrap="square" rtlCol="0">
            <a:spAutoFit/>
          </a:bodyPr>
          <a:lstStyle/>
          <a:p>
            <a:r>
              <a:rPr lang="en-US" altLang="zh-CN" sz="2400" dirty="0">
                <a:solidFill>
                  <a:srgbClr val="405888"/>
                </a:solidFill>
                <a:latin typeface="Calibri" panose="020F0502020204030204" pitchFamily="34" charset="0"/>
                <a:cs typeface="Calibri" panose="020F0502020204030204" pitchFamily="34" charset="0"/>
              </a:rPr>
              <a:t>periodically check the LBRs and PMCs</a:t>
            </a:r>
            <a:endParaRPr lang="zh-CN" altLang="en-US" sz="2400" dirty="0">
              <a:solidFill>
                <a:srgbClr val="405888"/>
              </a:solidFill>
              <a:latin typeface="Calibri" panose="020F0502020204030204" pitchFamily="34" charset="0"/>
              <a:cs typeface="Calibri" panose="020F0502020204030204" pitchFamily="34" charset="0"/>
            </a:endParaRPr>
          </a:p>
        </p:txBody>
      </p:sp>
      <p:sp>
        <p:nvSpPr>
          <p:cNvPr id="32" name="Content Placeholder 2">
            <a:extLst>
              <a:ext uri="{FF2B5EF4-FFF2-40B4-BE49-F238E27FC236}">
                <a16:creationId xmlns:a16="http://schemas.microsoft.com/office/drawing/2014/main" id="{25861484-A733-416B-A773-D1B6FE714497}"/>
              </a:ext>
            </a:extLst>
          </p:cNvPr>
          <p:cNvSpPr>
            <a:spLocks noGrp="1"/>
          </p:cNvSpPr>
          <p:nvPr>
            <p:ph idx="1"/>
          </p:nvPr>
        </p:nvSpPr>
        <p:spPr>
          <a:xfrm>
            <a:off x="548675" y="1280402"/>
            <a:ext cx="6497463" cy="1510197"/>
          </a:xfrm>
        </p:spPr>
        <p:txBody>
          <a:bodyPr>
            <a:normAutofit lnSpcReduction="10000"/>
          </a:bodyPr>
          <a:lstStyle/>
          <a:p>
            <a:pPr>
              <a:lnSpc>
                <a:spcPct val="170000"/>
              </a:lnSpc>
            </a:pPr>
            <a:r>
              <a:rPr lang="en-US" altLang="zh-CN" dirty="0">
                <a:latin typeface="+mn-lt"/>
                <a:cs typeface="Calibri" panose="020F0502020204030204" pitchFamily="34" charset="0"/>
              </a:rPr>
              <a:t>Detect futile spinning in an application</a:t>
            </a:r>
          </a:p>
          <a:p>
            <a:pPr>
              <a:lnSpc>
                <a:spcPct val="170000"/>
              </a:lnSpc>
            </a:pPr>
            <a:r>
              <a:rPr lang="en-US" altLang="zh-CN" dirty="0" err="1">
                <a:latin typeface="+mn-lt"/>
                <a:cs typeface="Calibri" panose="020F0502020204030204" pitchFamily="34" charset="0"/>
              </a:rPr>
              <a:t>Deschedule</a:t>
            </a:r>
            <a:r>
              <a:rPr lang="en-US" altLang="zh-CN" dirty="0">
                <a:latin typeface="+mn-lt"/>
                <a:cs typeface="Calibri" panose="020F0502020204030204" pitchFamily="34" charset="0"/>
              </a:rPr>
              <a:t> the spinning thread</a:t>
            </a:r>
          </a:p>
        </p:txBody>
      </p:sp>
    </p:spTree>
    <p:extLst>
      <p:ext uri="{BB962C8B-B14F-4D97-AF65-F5344CB8AC3E}">
        <p14:creationId xmlns:p14="http://schemas.microsoft.com/office/powerpoint/2010/main" val="3085600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14400" y="1222020"/>
            <a:ext cx="4953034" cy="523220"/>
          </a:xfrm>
          <a:prstGeom prst="rect">
            <a:avLst/>
          </a:prstGeom>
          <a:noFill/>
        </p:spPr>
        <p:txBody>
          <a:bodyPr wrap="square" rtlCol="0">
            <a:spAutoFit/>
          </a:bodyPr>
          <a:lstStyle/>
          <a:p>
            <a:r>
              <a:rPr lang="en-US" altLang="zh-CN" sz="2800" dirty="0">
                <a:latin typeface="Calibri" panose="020F0502020204030204" pitchFamily="34" charset="0"/>
                <a:ea typeface="Helvetica Neue" panose="02000503000000020004" pitchFamily="2" charset="0"/>
                <a:cs typeface="Calibri" panose="020F0502020204030204" pitchFamily="34" charset="0"/>
              </a:rPr>
              <a:t>Experimental Settings:</a:t>
            </a:r>
            <a:endParaRPr lang="zh-CN" altLang="en-US" sz="2800" dirty="0">
              <a:latin typeface="Calibri" panose="020F0502020204030204" pitchFamily="34" charset="0"/>
              <a:cs typeface="Calibri" panose="020F050202020403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431634723"/>
              </p:ext>
            </p:extLst>
          </p:nvPr>
        </p:nvGraphicFramePr>
        <p:xfrm>
          <a:off x="914400" y="1868351"/>
          <a:ext cx="7264156" cy="4572000"/>
        </p:xfrm>
        <a:graphic>
          <a:graphicData uri="http://schemas.openxmlformats.org/drawingml/2006/table">
            <a:tbl>
              <a:tblPr firstRow="1" bandRow="1">
                <a:tableStyleId>{5C22544A-7EE6-4342-B048-85BDC9FD1C3A}</a:tableStyleId>
              </a:tblPr>
              <a:tblGrid>
                <a:gridCol w="1816039">
                  <a:extLst>
                    <a:ext uri="{9D8B030D-6E8A-4147-A177-3AD203B41FA5}">
                      <a16:colId xmlns:a16="http://schemas.microsoft.com/office/drawing/2014/main" val="3940108172"/>
                    </a:ext>
                  </a:extLst>
                </a:gridCol>
                <a:gridCol w="5448117">
                  <a:extLst>
                    <a:ext uri="{9D8B030D-6E8A-4147-A177-3AD203B41FA5}">
                      <a16:colId xmlns:a16="http://schemas.microsoft.com/office/drawing/2014/main" val="646252936"/>
                    </a:ext>
                  </a:extLst>
                </a:gridCol>
              </a:tblGrid>
              <a:tr h="370840">
                <a:tc gridSpan="2">
                  <a:txBody>
                    <a:bodyPr/>
                    <a:lstStyle/>
                    <a:p>
                      <a:pPr algn="ctr"/>
                      <a:r>
                        <a:rPr lang="en-US" altLang="zh-CN" sz="2000" b="1"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Hardware</a:t>
                      </a:r>
                      <a:endParaRPr lang="zh-CN" altLang="en-US" sz="2000" b="1" i="0" dirty="0">
                        <a:solidFill>
                          <a:schemeClr val="tx1"/>
                        </a:solidFill>
                        <a:latin typeface="Calibri" panose="020F0502020204030204" pitchFamily="34" charset="0"/>
                        <a:cs typeface="Calibri" panose="020F0502020204030204" pitchFamily="34" charset="0"/>
                      </a:endParaRPr>
                    </a:p>
                  </a:txBody>
                  <a:tcPr>
                    <a:solidFill>
                      <a:schemeClr val="bg1">
                        <a:lumMod val="85000"/>
                      </a:schemeClr>
                    </a:solidFill>
                  </a:tcPr>
                </a:tc>
                <a:tc hMerge="1">
                  <a:txBody>
                    <a:bodyPr/>
                    <a:lstStyle/>
                    <a:p>
                      <a:pPr algn="ctr"/>
                      <a:endParaRPr lang="zh-CN" altLang="en-US" dirty="0">
                        <a:solidFill>
                          <a:schemeClr val="tx1"/>
                        </a:solidFill>
                      </a:endParaRPr>
                    </a:p>
                  </a:txBody>
                  <a:tcPr>
                    <a:solidFill>
                      <a:schemeClr val="bg1">
                        <a:lumMod val="85000"/>
                      </a:schemeClr>
                    </a:solidFill>
                  </a:tcPr>
                </a:tc>
                <a:extLst>
                  <a:ext uri="{0D108BD9-81ED-4DB2-BD59-A6C34878D82A}">
                    <a16:rowId xmlns:a16="http://schemas.microsoft.com/office/drawing/2014/main" val="2759849694"/>
                  </a:ext>
                </a:extLst>
              </a:tr>
              <a:tr h="370840">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Server</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tc>
                  <a:txBody>
                    <a:bodyPr/>
                    <a:lstStyle/>
                    <a:p>
                      <a:pPr algn="ctr"/>
                      <a:r>
                        <a:rPr lang="en-US" altLang="zh-CN" sz="2000" b="0" i="0" u="none" strike="noStrike" kern="1200" baseline="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 Dell T630 server</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extLst>
                  <a:ext uri="{0D108BD9-81ED-4DB2-BD59-A6C34878D82A}">
                    <a16:rowId xmlns:a16="http://schemas.microsoft.com/office/drawing/2014/main" val="1796698471"/>
                  </a:ext>
                </a:extLst>
              </a:tr>
              <a:tr h="370840">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CPU</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Dual 18-core Intel Xeon 2.10 GHz processors with hyper-threading enabled</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extLst>
                  <a:ext uri="{0D108BD9-81ED-4DB2-BD59-A6C34878D82A}">
                    <a16:rowId xmlns:a16="http://schemas.microsoft.com/office/drawing/2014/main" val="341360332"/>
                  </a:ext>
                </a:extLst>
              </a:tr>
              <a:tr h="370840">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RAM</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tc>
                  <a:txBody>
                    <a:bodyPr/>
                    <a:lstStyle/>
                    <a:p>
                      <a:pPr algn="ctr"/>
                      <a:r>
                        <a:rPr lang="en-US" altLang="zh-CN" sz="2000" b="0" i="0" u="none" strike="noStrike" kern="1200" baseline="0" dirty="0">
                          <a:solidFill>
                            <a:schemeClr val="dk1"/>
                          </a:solidFill>
                          <a:latin typeface="Calibri" panose="020F0502020204030204" pitchFamily="34" charset="0"/>
                          <a:ea typeface="Helvetica Neue Light" panose="02000403000000020004" pitchFamily="2" charset="0"/>
                          <a:cs typeface="Calibri" panose="020F0502020204030204" pitchFamily="34" charset="0"/>
                        </a:rPr>
                        <a:t>128GB</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extLst>
                  <a:ext uri="{0D108BD9-81ED-4DB2-BD59-A6C34878D82A}">
                    <a16:rowId xmlns:a16="http://schemas.microsoft.com/office/drawing/2014/main" val="2067706143"/>
                  </a:ext>
                </a:extLst>
              </a:tr>
              <a:tr h="370840">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Storage</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tc>
                  <a:txBody>
                    <a:bodyPr/>
                    <a:lstStyle/>
                    <a:p>
                      <a:pPr algn="ctr"/>
                      <a:r>
                        <a:rPr lang="en-US" altLang="zh-CN" sz="2000" b="0" i="0" u="none" strike="noStrike" kern="1200" baseline="0" dirty="0">
                          <a:solidFill>
                            <a:schemeClr val="dk1"/>
                          </a:solidFill>
                          <a:latin typeface="Calibri" panose="020F0502020204030204" pitchFamily="34" charset="0"/>
                          <a:ea typeface="Helvetica Neue Light" panose="02000403000000020004" pitchFamily="2" charset="0"/>
                          <a:cs typeface="Calibri" panose="020F0502020204030204" pitchFamily="34" charset="0"/>
                        </a:rPr>
                        <a:t>1TB SATA hard drive</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extLst>
                  <a:ext uri="{0D108BD9-81ED-4DB2-BD59-A6C34878D82A}">
                    <a16:rowId xmlns:a16="http://schemas.microsoft.com/office/drawing/2014/main" val="1453990034"/>
                  </a:ext>
                </a:extLst>
              </a:tr>
              <a:tr h="370840">
                <a:tc gridSpan="2">
                  <a:txBody>
                    <a:bodyPr/>
                    <a:lstStyle/>
                    <a:p>
                      <a:pPr algn="ctr"/>
                      <a:r>
                        <a:rPr lang="en-US" altLang="zh-CN" sz="2000" b="1" i="0" u="none" strike="noStrike" kern="1200" baseline="0" dirty="0">
                          <a:solidFill>
                            <a:schemeClr val="dk1"/>
                          </a:solidFill>
                          <a:latin typeface="Calibri" panose="020F0502020204030204" pitchFamily="34" charset="0"/>
                          <a:ea typeface="Helvetica Neue Light" panose="02000403000000020004" pitchFamily="2" charset="0"/>
                          <a:cs typeface="Calibri" panose="020F0502020204030204" pitchFamily="34" charset="0"/>
                        </a:rPr>
                        <a:t>Software</a:t>
                      </a:r>
                      <a:endParaRPr lang="zh-CN" altLang="en-US" sz="2000" b="1" i="0" dirty="0">
                        <a:solidFill>
                          <a:schemeClr val="tx1"/>
                        </a:solidFill>
                        <a:latin typeface="Calibri" panose="020F0502020204030204" pitchFamily="34" charset="0"/>
                        <a:cs typeface="Calibri" panose="020F0502020204030204" pitchFamily="34" charset="0"/>
                      </a:endParaRPr>
                    </a:p>
                  </a:txBody>
                  <a:tcPr>
                    <a:solidFill>
                      <a:srgbClr val="D9D9D9"/>
                    </a:solidFill>
                  </a:tcPr>
                </a:tc>
                <a:tc hMerge="1">
                  <a:txBody>
                    <a:bodyPr/>
                    <a:lstStyle/>
                    <a:p>
                      <a:pPr algn="ctr"/>
                      <a:endParaRPr lang="zh-CN" altLang="en-US" dirty="0">
                        <a:solidFill>
                          <a:schemeClr val="tx1"/>
                        </a:solidFill>
                      </a:endParaRPr>
                    </a:p>
                  </a:txBody>
                  <a:tcPr>
                    <a:solidFill>
                      <a:srgbClr val="D9D9D9"/>
                    </a:solidFill>
                  </a:tcPr>
                </a:tc>
                <a:extLst>
                  <a:ext uri="{0D108BD9-81ED-4DB2-BD59-A6C34878D82A}">
                    <a16:rowId xmlns:a16="http://schemas.microsoft.com/office/drawing/2014/main" val="1354692281"/>
                  </a:ext>
                </a:extLst>
              </a:tr>
              <a:tr h="370840">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System</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tc>
                  <a:txBody>
                    <a:bodyPr/>
                    <a:lstStyle/>
                    <a:p>
                      <a:pPr algn="ctr"/>
                      <a:r>
                        <a:rPr lang="en-US" altLang="zh-CN" sz="2000" b="0" i="0" u="none" strike="noStrike" kern="1200" baseline="0" dirty="0">
                          <a:solidFill>
                            <a:schemeClr val="dk1"/>
                          </a:solidFill>
                          <a:latin typeface="Calibri" panose="020F0502020204030204" pitchFamily="34" charset="0"/>
                          <a:ea typeface="Helvetica Neue Light" panose="02000403000000020004" pitchFamily="2" charset="0"/>
                          <a:cs typeface="Calibri" panose="020F0502020204030204" pitchFamily="34" charset="0"/>
                        </a:rPr>
                        <a:t>Ubuntu 16.04 64bit</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extLst>
                  <a:ext uri="{0D108BD9-81ED-4DB2-BD59-A6C34878D82A}">
                    <a16:rowId xmlns:a16="http://schemas.microsoft.com/office/drawing/2014/main" val="923982655"/>
                  </a:ext>
                </a:extLst>
              </a:tr>
              <a:tr h="370840">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Kernel</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5.1.12</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extLst>
                  <a:ext uri="{0D108BD9-81ED-4DB2-BD59-A6C34878D82A}">
                    <a16:rowId xmlns:a16="http://schemas.microsoft.com/office/drawing/2014/main" val="3868552205"/>
                  </a:ext>
                </a:extLst>
              </a:tr>
              <a:tr h="370840">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Docker</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tc>
                  <a:txBody>
                    <a:bodyPr/>
                    <a:lstStyle/>
                    <a:p>
                      <a:pPr algn="ctr"/>
                      <a:r>
                        <a:rPr lang="en-US" altLang="zh-CN" sz="2000" b="0" i="0" u="none" strike="noStrike" kern="1200" baseline="0" dirty="0">
                          <a:solidFill>
                            <a:schemeClr val="dk1"/>
                          </a:solidFill>
                          <a:latin typeface="Calibri" panose="020F0502020204030204" pitchFamily="34" charset="0"/>
                          <a:ea typeface="Helvetica Neue Light" panose="02000403000000020004" pitchFamily="2" charset="0"/>
                          <a:cs typeface="Calibri" panose="020F0502020204030204" pitchFamily="34" charset="0"/>
                        </a:rPr>
                        <a:t>Version 18.06.1</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extLst>
                  <a:ext uri="{0D108BD9-81ED-4DB2-BD59-A6C34878D82A}">
                    <a16:rowId xmlns:a16="http://schemas.microsoft.com/office/drawing/2014/main" val="4096286646"/>
                  </a:ext>
                </a:extLst>
              </a:tr>
              <a:tr h="370840">
                <a:tc>
                  <a:txBody>
                    <a:bodyPr/>
                    <a:lstStyle/>
                    <a:p>
                      <a:pPr algn="ctr"/>
                      <a:r>
                        <a:rPr lang="en-US" altLang="zh-CN" sz="2000" b="0" i="0" dirty="0">
                          <a:solidFill>
                            <a:schemeClr val="tx1"/>
                          </a:solidFill>
                          <a:latin typeface="Calibri" panose="020F0502020204030204" pitchFamily="34" charset="0"/>
                          <a:ea typeface="Helvetica Neue Light" panose="02000403000000020004" pitchFamily="2" charset="0"/>
                          <a:cs typeface="Calibri" panose="020F0502020204030204" pitchFamily="34" charset="0"/>
                        </a:rPr>
                        <a:t>Benchmarks</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tc>
                  <a:txBody>
                    <a:bodyPr/>
                    <a:lstStyle/>
                    <a:p>
                      <a:pPr algn="ctr"/>
                      <a:r>
                        <a:rPr lang="en-US" altLang="zh-CN" sz="2000" b="0" i="0" u="none" strike="noStrike" kern="1200" baseline="0" dirty="0">
                          <a:solidFill>
                            <a:schemeClr val="dk1"/>
                          </a:solidFill>
                          <a:latin typeface="Calibri" panose="020F0502020204030204" pitchFamily="34" charset="0"/>
                          <a:ea typeface="Helvetica Neue Light" panose="02000403000000020004" pitchFamily="2" charset="0"/>
                          <a:cs typeface="Calibri" panose="020F0502020204030204" pitchFamily="34" charset="0"/>
                        </a:rPr>
                        <a:t>PARSEC, SPLASH-2, NAS parallel benchmarks, Memcached</a:t>
                      </a:r>
                      <a:endParaRPr lang="zh-CN" altLang="en-US" sz="2000" b="0" i="0" dirty="0">
                        <a:solidFill>
                          <a:schemeClr val="tx1"/>
                        </a:solidFill>
                        <a:latin typeface="Calibri" panose="020F0502020204030204" pitchFamily="34" charset="0"/>
                        <a:cs typeface="Calibri" panose="020F0502020204030204" pitchFamily="34" charset="0"/>
                      </a:endParaRPr>
                    </a:p>
                  </a:txBody>
                  <a:tcPr>
                    <a:solidFill>
                      <a:schemeClr val="bg1">
                        <a:lumMod val="95000"/>
                      </a:schemeClr>
                    </a:solidFill>
                  </a:tcPr>
                </a:tc>
                <a:extLst>
                  <a:ext uri="{0D108BD9-81ED-4DB2-BD59-A6C34878D82A}">
                    <a16:rowId xmlns:a16="http://schemas.microsoft.com/office/drawing/2014/main" val="501052496"/>
                  </a:ext>
                </a:extLst>
              </a:tr>
            </a:tbl>
          </a:graphicData>
        </a:graphic>
      </p:graphicFrame>
      <p:pic>
        <p:nvPicPr>
          <p:cNvPr id="9" name="图片 8">
            <a:extLst>
              <a:ext uri="{FF2B5EF4-FFF2-40B4-BE49-F238E27FC236}">
                <a16:creationId xmlns:a16="http://schemas.microsoft.com/office/drawing/2014/main" id="{A8FF220F-27E2-4037-8C0F-41CF685D6FBD}"/>
              </a:ext>
            </a:extLst>
          </p:cNvPr>
          <p:cNvPicPr>
            <a:picLocks noChangeAspect="1"/>
          </p:cNvPicPr>
          <p:nvPr/>
        </p:nvPicPr>
        <p:blipFill>
          <a:blip r:embed="rId3"/>
          <a:stretch>
            <a:fillRect/>
          </a:stretch>
        </p:blipFill>
        <p:spPr>
          <a:xfrm>
            <a:off x="19805" y="0"/>
            <a:ext cx="9124195" cy="1329043"/>
          </a:xfrm>
          <a:prstGeom prst="rect">
            <a:avLst/>
          </a:prstGeom>
        </p:spPr>
      </p:pic>
    </p:spTree>
    <p:extLst>
      <p:ext uri="{BB962C8B-B14F-4D97-AF65-F5344CB8AC3E}">
        <p14:creationId xmlns:p14="http://schemas.microsoft.com/office/powerpoint/2010/main" val="2141265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F795E1-1D68-6B4E-8BE1-A8ECBC140AD0}"/>
              </a:ext>
            </a:extLst>
          </p:cNvPr>
          <p:cNvSpPr>
            <a:spLocks noGrp="1"/>
          </p:cNvSpPr>
          <p:nvPr>
            <p:ph type="sldNum" sz="quarter" idx="12"/>
          </p:nvPr>
        </p:nvSpPr>
        <p:spPr/>
        <p:txBody>
          <a:bodyPr/>
          <a:lstStyle/>
          <a:p>
            <a:fld id="{72E3C5E5-1620-704A-B1BC-D84381C5FEE1}" type="slidenum">
              <a:rPr lang="en-US" smtClean="0"/>
              <a:t>25</a:t>
            </a:fld>
            <a:endParaRPr lang="en-US"/>
          </a:p>
        </p:txBody>
      </p:sp>
      <p:sp>
        <p:nvSpPr>
          <p:cNvPr id="9" name="Content Placeholder 2">
            <a:extLst>
              <a:ext uri="{FF2B5EF4-FFF2-40B4-BE49-F238E27FC236}">
                <a16:creationId xmlns:a16="http://schemas.microsoft.com/office/drawing/2014/main" id="{400C9035-BDC6-B444-81C9-EF957251BB30}"/>
              </a:ext>
            </a:extLst>
          </p:cNvPr>
          <p:cNvSpPr>
            <a:spLocks noGrp="1"/>
          </p:cNvSpPr>
          <p:nvPr/>
        </p:nvSpPr>
        <p:spPr>
          <a:xfrm>
            <a:off x="540045" y="1505653"/>
            <a:ext cx="8167007" cy="466566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685800" indent="-228600" algn="l" defTabSz="914400" rtl="0" eaLnBrk="1" latinLnBrk="0" hangingPunct="1">
              <a:lnSpc>
                <a:spcPct val="120000"/>
              </a:lnSpc>
              <a:spcBef>
                <a:spcPts val="500"/>
              </a:spcBef>
              <a:buSzPct val="80000"/>
              <a:buFont typeface="Helvetica" charset="0"/>
              <a:buChar char="-"/>
              <a:defRPr sz="24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1143000" indent="-228600" algn="l" defTabSz="914400" rtl="0" eaLnBrk="1" latinLnBrk="0" hangingPunct="1">
              <a:lnSpc>
                <a:spcPct val="90000"/>
              </a:lnSpc>
              <a:spcBef>
                <a:spcPts val="500"/>
              </a:spcBef>
              <a:buFont typeface="Helvetica" charset="0"/>
              <a:buChar char="-"/>
              <a:defRPr sz="20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6002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2057400" indent="-228600" algn="l" defTabSz="914400" rtl="0" eaLnBrk="1" latinLnBrk="0" hangingPunct="1">
              <a:lnSpc>
                <a:spcPct val="90000"/>
              </a:lnSpc>
              <a:spcBef>
                <a:spcPts val="500"/>
              </a:spcBef>
              <a:buFont typeface="Helvetica"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70000"/>
              </a:lnSpc>
            </a:pPr>
            <a:r>
              <a:rPr lang="en-US" sz="2400" dirty="0">
                <a:latin typeface="Calibri" panose="020F0502020204030204" pitchFamily="34" charset="0"/>
                <a:cs typeface="Calibri" panose="020F0502020204030204" pitchFamily="34" charset="0"/>
              </a:rPr>
              <a:t>Study</a:t>
            </a:r>
            <a:r>
              <a:rPr lang="zh-CN" altLang="en-US" sz="2400" dirty="0">
                <a:latin typeface="Calibri" panose="020F0502020204030204" pitchFamily="34" charset="0"/>
                <a:cs typeface="Calibri" panose="020F0502020204030204" pitchFamily="34" charset="0"/>
              </a:rPr>
              <a:t> </a:t>
            </a:r>
            <a:r>
              <a:rPr lang="en-US" altLang="zh-CN" sz="2400" dirty="0">
                <a:latin typeface="Calibri" panose="020F0502020204030204" pitchFamily="34" charset="0"/>
                <a:cs typeface="Calibri" panose="020F0502020204030204" pitchFamily="34" charset="0"/>
              </a:rPr>
              <a:t>various</a:t>
            </a:r>
            <a:r>
              <a:rPr lang="zh-CN" altLang="en-US" sz="2400" dirty="0">
                <a:latin typeface="Calibri" panose="020F0502020204030204" pitchFamily="34" charset="0"/>
                <a:cs typeface="Calibri" panose="020F0502020204030204" pitchFamily="34" charset="0"/>
              </a:rPr>
              <a:t> </a:t>
            </a:r>
            <a:r>
              <a:rPr lang="en-US" altLang="zh-CN" sz="2400" dirty="0">
                <a:latin typeface="Calibri" panose="020F0502020204030204" pitchFamily="34" charset="0"/>
                <a:cs typeface="Calibri" panose="020F0502020204030204" pitchFamily="34" charset="0"/>
              </a:rPr>
              <a:t>workload</a:t>
            </a:r>
            <a:r>
              <a:rPr lang="zh-CN" altLang="en-US" sz="2400" dirty="0">
                <a:latin typeface="Calibri" panose="020F0502020204030204" pitchFamily="34" charset="0"/>
                <a:cs typeface="Calibri" panose="020F0502020204030204" pitchFamily="34" charset="0"/>
              </a:rPr>
              <a:t> </a:t>
            </a:r>
            <a:r>
              <a:rPr lang="en-US" altLang="zh-CN" sz="2400" dirty="0">
                <a:latin typeface="Calibri" panose="020F0502020204030204" pitchFamily="34" charset="0"/>
                <a:cs typeface="Calibri" panose="020F0502020204030204" pitchFamily="34" charset="0"/>
              </a:rPr>
              <a:t>consolidation</a:t>
            </a:r>
            <a:r>
              <a:rPr lang="zh-CN" altLang="en-US" sz="2400" dirty="0">
                <a:latin typeface="Calibri" panose="020F0502020204030204" pitchFamily="34" charset="0"/>
                <a:cs typeface="Calibri" panose="020F0502020204030204" pitchFamily="34" charset="0"/>
              </a:rPr>
              <a:t> </a:t>
            </a:r>
            <a:r>
              <a:rPr lang="en-US" altLang="zh-CN" sz="2400" dirty="0">
                <a:latin typeface="Calibri" panose="020F0502020204030204" pitchFamily="34" charset="0"/>
                <a:cs typeface="Calibri" panose="020F0502020204030204" pitchFamily="34" charset="0"/>
              </a:rPr>
              <a:t>scenarios</a:t>
            </a:r>
            <a:r>
              <a:rPr lang="zh-CN" altLang="en-US" sz="2400" dirty="0">
                <a:latin typeface="Calibri" panose="020F0502020204030204" pitchFamily="34" charset="0"/>
                <a:cs typeface="Calibri" panose="020F0502020204030204" pitchFamily="34" charset="0"/>
              </a:rPr>
              <a:t> </a:t>
            </a:r>
            <a:r>
              <a:rPr lang="en-US" altLang="zh-CN" sz="2400" dirty="0">
                <a:latin typeface="Calibri" panose="020F0502020204030204" pitchFamily="34" charset="0"/>
                <a:cs typeface="Calibri" panose="020F0502020204030204" pitchFamily="34" charset="0"/>
              </a:rPr>
              <a:t>to</a:t>
            </a:r>
            <a:r>
              <a:rPr lang="zh-CN" altLang="en-US" sz="2400" dirty="0">
                <a:latin typeface="Calibri" panose="020F0502020204030204" pitchFamily="34" charset="0"/>
                <a:cs typeface="Calibri" panose="020F0502020204030204" pitchFamily="34" charset="0"/>
              </a:rPr>
              <a:t> </a:t>
            </a:r>
            <a:r>
              <a:rPr lang="en-US" altLang="zh-CN" sz="2400" dirty="0">
                <a:latin typeface="Calibri" panose="020F0502020204030204" pitchFamily="34" charset="0"/>
                <a:cs typeface="Calibri" panose="020F0502020204030204" pitchFamily="34" charset="0"/>
              </a:rPr>
              <a:t>evaluate</a:t>
            </a:r>
          </a:p>
          <a:p>
            <a:pPr lvl="1">
              <a:lnSpc>
                <a:spcPct val="170000"/>
              </a:lnSpc>
            </a:pPr>
            <a:r>
              <a:rPr lang="en-US" altLang="zh-CN" sz="1900" dirty="0">
                <a:latin typeface="Calibri" panose="020F0502020204030204" pitchFamily="34" charset="0"/>
                <a:cs typeface="Calibri" panose="020F0502020204030204" pitchFamily="34" charset="0"/>
              </a:rPr>
              <a:t>The</a:t>
            </a:r>
            <a:r>
              <a:rPr lang="zh-CN" altLang="en-US" sz="1900" dirty="0">
                <a:latin typeface="Calibri" panose="020F0502020204030204" pitchFamily="34" charset="0"/>
                <a:cs typeface="Calibri" panose="020F0502020204030204" pitchFamily="34" charset="0"/>
              </a:rPr>
              <a:t> </a:t>
            </a:r>
            <a:r>
              <a:rPr lang="en-US" altLang="zh-CN" sz="1900" dirty="0">
                <a:latin typeface="Calibri" panose="020F0502020204030204" pitchFamily="34" charset="0"/>
                <a:cs typeface="Calibri" panose="020F0502020204030204" pitchFamily="34" charset="0"/>
              </a:rPr>
              <a:t>(performance)</a:t>
            </a:r>
            <a:r>
              <a:rPr lang="zh-CN" altLang="en-US" sz="1900" dirty="0">
                <a:latin typeface="Calibri" panose="020F0502020204030204" pitchFamily="34" charset="0"/>
                <a:cs typeface="Calibri" panose="020F0502020204030204" pitchFamily="34" charset="0"/>
              </a:rPr>
              <a:t> </a:t>
            </a:r>
            <a:r>
              <a:rPr lang="en-US" altLang="zh-CN" sz="1900" dirty="0">
                <a:latin typeface="Calibri" panose="020F0502020204030204" pitchFamily="34" charset="0"/>
                <a:cs typeface="Calibri" panose="020F0502020204030204" pitchFamily="34" charset="0"/>
              </a:rPr>
              <a:t>benefits</a:t>
            </a:r>
            <a:r>
              <a:rPr lang="zh-CN" altLang="en-US" sz="1900" dirty="0">
                <a:latin typeface="Calibri" panose="020F0502020204030204" pitchFamily="34" charset="0"/>
                <a:cs typeface="Calibri" panose="020F0502020204030204" pitchFamily="34" charset="0"/>
              </a:rPr>
              <a:t> </a:t>
            </a:r>
            <a:r>
              <a:rPr lang="en-US" altLang="zh-CN" sz="1900" dirty="0">
                <a:latin typeface="Calibri" panose="020F0502020204030204" pitchFamily="34" charset="0"/>
                <a:cs typeface="Calibri" panose="020F0502020204030204" pitchFamily="34" charset="0"/>
              </a:rPr>
              <a:t>of</a:t>
            </a:r>
            <a:r>
              <a:rPr lang="zh-CN" altLang="en-US" sz="1900" dirty="0">
                <a:latin typeface="Calibri" panose="020F0502020204030204" pitchFamily="34" charset="0"/>
                <a:cs typeface="Calibri" panose="020F0502020204030204" pitchFamily="34" charset="0"/>
              </a:rPr>
              <a:t> </a:t>
            </a:r>
            <a:r>
              <a:rPr lang="en-US" altLang="zh-CN" sz="1900" dirty="0">
                <a:latin typeface="Calibri" panose="020F0502020204030204" pitchFamily="34" charset="0"/>
                <a:cs typeface="Calibri" panose="020F0502020204030204" pitchFamily="34" charset="0"/>
              </a:rPr>
              <a:t>virtual blocking (VB)</a:t>
            </a:r>
          </a:p>
          <a:p>
            <a:pPr lvl="1">
              <a:lnSpc>
                <a:spcPct val="170000"/>
              </a:lnSpc>
            </a:pPr>
            <a:r>
              <a:rPr lang="en-US" altLang="zh-CN" sz="1900" dirty="0">
                <a:latin typeface="Calibri" panose="020F0502020204030204" pitchFamily="34" charset="0"/>
                <a:cs typeface="Calibri" panose="020F0502020204030204" pitchFamily="34" charset="0"/>
              </a:rPr>
              <a:t>The</a:t>
            </a:r>
            <a:r>
              <a:rPr lang="zh-CN" altLang="en-US" sz="1900" dirty="0">
                <a:latin typeface="Calibri" panose="020F0502020204030204" pitchFamily="34" charset="0"/>
                <a:cs typeface="Calibri" panose="020F0502020204030204" pitchFamily="34" charset="0"/>
              </a:rPr>
              <a:t> </a:t>
            </a:r>
            <a:r>
              <a:rPr lang="en-US" altLang="zh-CN" sz="1900" dirty="0">
                <a:latin typeface="Calibri" panose="020F0502020204030204" pitchFamily="34" charset="0"/>
                <a:cs typeface="Calibri" panose="020F0502020204030204" pitchFamily="34" charset="0"/>
              </a:rPr>
              <a:t>(performance)</a:t>
            </a:r>
            <a:r>
              <a:rPr lang="zh-CN" altLang="en-US" sz="1900" dirty="0">
                <a:latin typeface="Calibri" panose="020F0502020204030204" pitchFamily="34" charset="0"/>
                <a:cs typeface="Calibri" panose="020F0502020204030204" pitchFamily="34" charset="0"/>
              </a:rPr>
              <a:t> </a:t>
            </a:r>
            <a:r>
              <a:rPr lang="en-US" altLang="zh-CN" sz="1900" dirty="0">
                <a:latin typeface="Calibri" panose="020F0502020204030204" pitchFamily="34" charset="0"/>
                <a:cs typeface="Calibri" panose="020F0502020204030204" pitchFamily="34" charset="0"/>
              </a:rPr>
              <a:t>benefits</a:t>
            </a:r>
            <a:r>
              <a:rPr lang="zh-CN" altLang="en-US" sz="1900" dirty="0">
                <a:latin typeface="Calibri" panose="020F0502020204030204" pitchFamily="34" charset="0"/>
                <a:cs typeface="Calibri" panose="020F0502020204030204" pitchFamily="34" charset="0"/>
              </a:rPr>
              <a:t> </a:t>
            </a:r>
            <a:r>
              <a:rPr lang="en-US" altLang="zh-CN" sz="1900" dirty="0">
                <a:latin typeface="Calibri" panose="020F0502020204030204" pitchFamily="34" charset="0"/>
                <a:cs typeface="Calibri" panose="020F0502020204030204" pitchFamily="34" charset="0"/>
              </a:rPr>
              <a:t>of</a:t>
            </a:r>
            <a:r>
              <a:rPr lang="zh-CN" altLang="en-US" sz="1900" dirty="0">
                <a:latin typeface="Calibri" panose="020F0502020204030204" pitchFamily="34" charset="0"/>
                <a:cs typeface="Calibri" panose="020F0502020204030204" pitchFamily="34" charset="0"/>
              </a:rPr>
              <a:t> </a:t>
            </a:r>
            <a:r>
              <a:rPr lang="en-US" altLang="zh-CN" sz="1900" dirty="0">
                <a:latin typeface="Calibri" panose="020F0502020204030204" pitchFamily="34" charset="0"/>
                <a:cs typeface="Calibri" panose="020F0502020204030204" pitchFamily="34" charset="0"/>
              </a:rPr>
              <a:t>virtual blocking (BWD)</a:t>
            </a:r>
          </a:p>
          <a:p>
            <a:pPr>
              <a:lnSpc>
                <a:spcPct val="170000"/>
              </a:lnSpc>
            </a:pPr>
            <a:r>
              <a:rPr lang="en-US" altLang="zh-CN" sz="2400" dirty="0">
                <a:latin typeface="Calibri" panose="020F0502020204030204" pitchFamily="34" charset="0"/>
                <a:cs typeface="Calibri" panose="020F0502020204030204" pitchFamily="34" charset="0"/>
              </a:rPr>
              <a:t>Evaluated</a:t>
            </a:r>
            <a:r>
              <a:rPr lang="zh-CN" altLang="en-US" sz="2400" dirty="0">
                <a:latin typeface="Calibri" panose="020F0502020204030204" pitchFamily="34" charset="0"/>
                <a:cs typeface="Calibri" panose="020F0502020204030204" pitchFamily="34" charset="0"/>
              </a:rPr>
              <a:t> </a:t>
            </a:r>
            <a:r>
              <a:rPr lang="en-US" altLang="zh-CN" sz="2400" dirty="0">
                <a:latin typeface="Calibri" panose="020F0502020204030204" pitchFamily="34" charset="0"/>
                <a:cs typeface="Calibri" panose="020F0502020204030204" pitchFamily="34" charset="0"/>
              </a:rPr>
              <a:t>approaches</a:t>
            </a:r>
          </a:p>
          <a:p>
            <a:pPr lvl="1">
              <a:lnSpc>
                <a:spcPct val="170000"/>
              </a:lnSpc>
            </a:pPr>
            <a:r>
              <a:rPr lang="en-US" altLang="zh-CN" sz="2200" b="1" i="1" dirty="0">
                <a:solidFill>
                  <a:srgbClr val="405888"/>
                </a:solidFill>
                <a:latin typeface="Calibri" panose="020F0502020204030204" pitchFamily="34" charset="0"/>
                <a:cs typeface="Calibri" panose="020F0502020204030204" pitchFamily="34" charset="0"/>
              </a:rPr>
              <a:t>8T (vanilla):</a:t>
            </a:r>
            <a:r>
              <a:rPr lang="zh-CN" altLang="en-US" sz="2200" b="1" i="1" dirty="0">
                <a:solidFill>
                  <a:srgbClr val="405888"/>
                </a:solidFill>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8 threads running on 8 cores in vanilla Linux</a:t>
            </a:r>
          </a:p>
          <a:p>
            <a:pPr lvl="1">
              <a:lnSpc>
                <a:spcPct val="170000"/>
              </a:lnSpc>
            </a:pPr>
            <a:r>
              <a:rPr lang="en-US" altLang="zh-CN" sz="2200" b="1" i="1" dirty="0">
                <a:solidFill>
                  <a:srgbClr val="405888"/>
                </a:solidFill>
                <a:latin typeface="Calibri" panose="020F0502020204030204" pitchFamily="34" charset="0"/>
                <a:cs typeface="Calibri" panose="020F0502020204030204" pitchFamily="34" charset="0"/>
              </a:rPr>
              <a:t>32T (vanilla)</a:t>
            </a:r>
            <a:r>
              <a:rPr lang="en-US" altLang="zh-CN" sz="2200" dirty="0">
                <a:solidFill>
                  <a:srgbClr val="405888"/>
                </a:solidFill>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32 threads running on 8 cores in vanilla Linux, an oversubscription ratio of 4</a:t>
            </a:r>
          </a:p>
          <a:p>
            <a:pPr lvl="1">
              <a:lnSpc>
                <a:spcPct val="170000"/>
              </a:lnSpc>
            </a:pPr>
            <a:r>
              <a:rPr lang="en-US" altLang="zh-CN" sz="2200" b="1" i="1" dirty="0">
                <a:solidFill>
                  <a:srgbClr val="405888"/>
                </a:solidFill>
                <a:latin typeface="Calibri" panose="020F0502020204030204" pitchFamily="34" charset="0"/>
                <a:cs typeface="Calibri" panose="020F0502020204030204" pitchFamily="34" charset="0"/>
              </a:rPr>
              <a:t>32T (optimized)</a:t>
            </a:r>
            <a:r>
              <a:rPr lang="en-US" altLang="zh-CN" sz="2200" dirty="0">
                <a:solidFill>
                  <a:srgbClr val="405888"/>
                </a:solidFill>
                <a:latin typeface="Calibri" panose="020F0502020204030204" pitchFamily="34" charset="0"/>
                <a:cs typeface="Calibri" panose="020F0502020204030204" pitchFamily="34" charset="0"/>
              </a:rPr>
              <a:t>:</a:t>
            </a:r>
            <a:r>
              <a:rPr lang="zh-CN" altLang="en-US" sz="2200" dirty="0">
                <a:solidFill>
                  <a:srgbClr val="405888"/>
                </a:solidFill>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32 threads running on 8 cores  with our proposed optimizations</a:t>
            </a:r>
          </a:p>
        </p:txBody>
      </p:sp>
      <p:sp>
        <p:nvSpPr>
          <p:cNvPr id="5" name="Title 1">
            <a:extLst>
              <a:ext uri="{FF2B5EF4-FFF2-40B4-BE49-F238E27FC236}">
                <a16:creationId xmlns:a16="http://schemas.microsoft.com/office/drawing/2014/main" id="{7F27C236-7C4A-4819-93FD-68F60AF8496E}"/>
              </a:ext>
            </a:extLst>
          </p:cNvPr>
          <p:cNvSpPr txBox="1">
            <a:spLocks/>
          </p:cNvSpPr>
          <p:nvPr/>
        </p:nvSpPr>
        <p:spPr>
          <a:xfrm>
            <a:off x="0" y="-4945"/>
            <a:ext cx="9152028"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Methodology</a:t>
            </a:r>
          </a:p>
        </p:txBody>
      </p:sp>
    </p:spTree>
    <p:extLst>
      <p:ext uri="{BB962C8B-B14F-4D97-AF65-F5344CB8AC3E}">
        <p14:creationId xmlns:p14="http://schemas.microsoft.com/office/powerpoint/2010/main" val="2237829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图表 10"/>
          <p:cNvGraphicFramePr>
            <a:graphicFrameLocks/>
          </p:cNvGraphicFramePr>
          <p:nvPr>
            <p:extLst>
              <p:ext uri="{D42A27DB-BD31-4B8C-83A1-F6EECF244321}">
                <p14:modId xmlns:p14="http://schemas.microsoft.com/office/powerpoint/2010/main" val="1579157348"/>
              </p:ext>
            </p:extLst>
          </p:nvPr>
        </p:nvGraphicFramePr>
        <p:xfrm>
          <a:off x="97756" y="1530060"/>
          <a:ext cx="8654358" cy="469773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6">
            <a:extLst>
              <a:ext uri="{FF2B5EF4-FFF2-40B4-BE49-F238E27FC236}">
                <a16:creationId xmlns:a16="http://schemas.microsoft.com/office/drawing/2014/main" id="{37F5A7C4-7885-42BD-AC60-2A865A6CA57A}"/>
              </a:ext>
            </a:extLst>
          </p:cNvPr>
          <p:cNvSpPr txBox="1"/>
          <p:nvPr/>
        </p:nvSpPr>
        <p:spPr>
          <a:xfrm>
            <a:off x="3426103" y="1129950"/>
            <a:ext cx="2054922" cy="461665"/>
          </a:xfrm>
          <a:prstGeom prst="rect">
            <a:avLst/>
          </a:prstGeom>
          <a:noFill/>
        </p:spPr>
        <p:txBody>
          <a:bodyPr wrap="none" rtlCol="0">
            <a:spAutoFit/>
          </a:bodyPr>
          <a:lstStyle/>
          <a:p>
            <a:r>
              <a:rPr lang="en-US" altLang="zh-CN" sz="2400" dirty="0">
                <a:solidFill>
                  <a:srgbClr val="C00000"/>
                </a:solidFill>
                <a:latin typeface="Calibri" panose="020F0502020204030204" pitchFamily="34" charset="0"/>
                <a:cs typeface="Calibri" panose="020F0502020204030204" pitchFamily="34" charset="0"/>
              </a:rPr>
              <a:t>Lower</a:t>
            </a:r>
            <a:r>
              <a:rPr lang="zh-CN" altLang="en-US" sz="2400" dirty="0">
                <a:solidFill>
                  <a:srgbClr val="C00000"/>
                </a:solidFill>
                <a:latin typeface="Calibri" panose="020F0502020204030204" pitchFamily="34" charset="0"/>
                <a:cs typeface="Calibri" panose="020F0502020204030204" pitchFamily="34" charset="0"/>
              </a:rPr>
              <a:t> </a:t>
            </a:r>
            <a:r>
              <a:rPr lang="en-US" altLang="zh-CN" sz="2400" dirty="0">
                <a:solidFill>
                  <a:srgbClr val="C00000"/>
                </a:solidFill>
                <a:latin typeface="Calibri" panose="020F0502020204030204" pitchFamily="34" charset="0"/>
                <a:cs typeface="Calibri" panose="020F0502020204030204" pitchFamily="34" charset="0"/>
              </a:rPr>
              <a:t>is</a:t>
            </a:r>
            <a:r>
              <a:rPr lang="zh-CN" altLang="en-US" sz="2400" dirty="0">
                <a:solidFill>
                  <a:srgbClr val="C00000"/>
                </a:solidFill>
                <a:latin typeface="Calibri" panose="020F0502020204030204" pitchFamily="34" charset="0"/>
                <a:cs typeface="Calibri" panose="020F0502020204030204" pitchFamily="34" charset="0"/>
              </a:rPr>
              <a:t> </a:t>
            </a:r>
            <a:r>
              <a:rPr lang="en-US" altLang="zh-CN" sz="2400" dirty="0">
                <a:solidFill>
                  <a:srgbClr val="C00000"/>
                </a:solidFill>
                <a:latin typeface="Calibri" panose="020F0502020204030204" pitchFamily="34" charset="0"/>
                <a:cs typeface="Calibri" panose="020F0502020204030204" pitchFamily="34" charset="0"/>
              </a:rPr>
              <a:t>better</a:t>
            </a:r>
            <a:endParaRPr lang="en-US" sz="2400" dirty="0">
              <a:solidFill>
                <a:srgbClr val="C00000"/>
              </a:solidFill>
              <a:latin typeface="Calibri" panose="020F0502020204030204" pitchFamily="34" charset="0"/>
              <a:cs typeface="Calibri" panose="020F0502020204030204" pitchFamily="34" charset="0"/>
            </a:endParaRPr>
          </a:p>
        </p:txBody>
      </p:sp>
      <p:cxnSp>
        <p:nvCxnSpPr>
          <p:cNvPr id="3" name="直接箭头连接符 2">
            <a:extLst>
              <a:ext uri="{FF2B5EF4-FFF2-40B4-BE49-F238E27FC236}">
                <a16:creationId xmlns:a16="http://schemas.microsoft.com/office/drawing/2014/main" id="{0B850C86-F5AB-44C0-BC88-4C4683183FC0}"/>
              </a:ext>
            </a:extLst>
          </p:cNvPr>
          <p:cNvCxnSpPr>
            <a:cxnSpLocks/>
          </p:cNvCxnSpPr>
          <p:nvPr/>
        </p:nvCxnSpPr>
        <p:spPr>
          <a:xfrm>
            <a:off x="2195339" y="2743200"/>
            <a:ext cx="0" cy="685800"/>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5F9C4AF2-73A0-425B-ACF6-76FB8C4FF47F}"/>
              </a:ext>
            </a:extLst>
          </p:cNvPr>
          <p:cNvSpPr txBox="1"/>
          <p:nvPr/>
        </p:nvSpPr>
        <p:spPr>
          <a:xfrm>
            <a:off x="1704975" y="2514600"/>
            <a:ext cx="838200" cy="369332"/>
          </a:xfrm>
          <a:prstGeom prst="rect">
            <a:avLst/>
          </a:prstGeom>
          <a:noFill/>
        </p:spPr>
        <p:txBody>
          <a:bodyPr wrap="square" rtlCol="0">
            <a:spAutoFit/>
          </a:bodyPr>
          <a:lstStyle/>
          <a:p>
            <a:r>
              <a:rPr lang="en-US" altLang="zh-CN" b="1" dirty="0">
                <a:solidFill>
                  <a:srgbClr val="C00000"/>
                </a:solidFill>
                <a:latin typeface="Calibri" panose="020F0502020204030204" pitchFamily="34" charset="0"/>
                <a:cs typeface="Calibri" panose="020F0502020204030204" pitchFamily="34" charset="0"/>
              </a:rPr>
              <a:t>56.7%</a:t>
            </a:r>
            <a:endParaRPr lang="zh-CN" altLang="en-US" b="1" dirty="0">
              <a:solidFill>
                <a:srgbClr val="C00000"/>
              </a:solidFill>
              <a:latin typeface="Calibri" panose="020F0502020204030204" pitchFamily="34" charset="0"/>
              <a:cs typeface="Calibri" panose="020F0502020204030204" pitchFamily="34" charset="0"/>
            </a:endParaRPr>
          </a:p>
        </p:txBody>
      </p:sp>
      <p:cxnSp>
        <p:nvCxnSpPr>
          <p:cNvPr id="9" name="直接箭头连接符 8">
            <a:extLst>
              <a:ext uri="{FF2B5EF4-FFF2-40B4-BE49-F238E27FC236}">
                <a16:creationId xmlns:a16="http://schemas.microsoft.com/office/drawing/2014/main" id="{917BE48F-2658-4101-980B-0F9E65C2FBB0}"/>
              </a:ext>
            </a:extLst>
          </p:cNvPr>
          <p:cNvCxnSpPr>
            <a:cxnSpLocks/>
          </p:cNvCxnSpPr>
          <p:nvPr/>
        </p:nvCxnSpPr>
        <p:spPr>
          <a:xfrm>
            <a:off x="1070310" y="2883932"/>
            <a:ext cx="85725" cy="36409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F967EFAD-20F9-4B7E-945A-C92B7ECF79EB}"/>
              </a:ext>
            </a:extLst>
          </p:cNvPr>
          <p:cNvSpPr txBox="1"/>
          <p:nvPr/>
        </p:nvSpPr>
        <p:spPr>
          <a:xfrm>
            <a:off x="733426" y="2625209"/>
            <a:ext cx="676275" cy="369332"/>
          </a:xfrm>
          <a:prstGeom prst="rect">
            <a:avLst/>
          </a:prstGeom>
          <a:noFill/>
        </p:spPr>
        <p:txBody>
          <a:bodyPr wrap="square" rtlCol="0">
            <a:spAutoFit/>
          </a:bodyPr>
          <a:lstStyle/>
          <a:p>
            <a:r>
              <a:rPr lang="en-US" altLang="zh-CN" b="1" dirty="0">
                <a:solidFill>
                  <a:srgbClr val="C00000"/>
                </a:solidFill>
                <a:latin typeface="Calibri" panose="020F0502020204030204" pitchFamily="34" charset="0"/>
                <a:cs typeface="Calibri" panose="020F0502020204030204" pitchFamily="34" charset="0"/>
              </a:rPr>
              <a:t>17%</a:t>
            </a:r>
            <a:endParaRPr lang="zh-CN" altLang="en-US" b="1" dirty="0">
              <a:solidFill>
                <a:srgbClr val="C00000"/>
              </a:solidFill>
              <a:latin typeface="Calibri" panose="020F0502020204030204" pitchFamily="34" charset="0"/>
              <a:cs typeface="Calibri" panose="020F0502020204030204" pitchFamily="34" charset="0"/>
            </a:endParaRPr>
          </a:p>
        </p:txBody>
      </p:sp>
      <p:sp>
        <p:nvSpPr>
          <p:cNvPr id="13" name="矩形 12">
            <a:extLst>
              <a:ext uri="{FF2B5EF4-FFF2-40B4-BE49-F238E27FC236}">
                <a16:creationId xmlns:a16="http://schemas.microsoft.com/office/drawing/2014/main" id="{D8C74378-4060-42D3-828A-A61ECB52D9D7}"/>
              </a:ext>
            </a:extLst>
          </p:cNvPr>
          <p:cNvSpPr/>
          <p:nvPr/>
        </p:nvSpPr>
        <p:spPr>
          <a:xfrm>
            <a:off x="3292109" y="2419350"/>
            <a:ext cx="523866" cy="2400300"/>
          </a:xfrm>
          <a:prstGeom prst="rect">
            <a:avLst/>
          </a:prstGeom>
          <a:noFill/>
          <a:ln w="25400">
            <a:solidFill>
              <a:srgbClr val="1F3B7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6F31A5BC-1BD8-4C43-8EEB-A09131DBA3C3}"/>
              </a:ext>
            </a:extLst>
          </p:cNvPr>
          <p:cNvSpPr/>
          <p:nvPr/>
        </p:nvSpPr>
        <p:spPr>
          <a:xfrm>
            <a:off x="1554992" y="2994541"/>
            <a:ext cx="472550" cy="1825109"/>
          </a:xfrm>
          <a:prstGeom prst="rect">
            <a:avLst/>
          </a:prstGeom>
          <a:noFill/>
          <a:ln w="25400">
            <a:solidFill>
              <a:srgbClr val="1F3B7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37F20D2-8CF8-4AA3-8FA3-07C4541B25B7}"/>
              </a:ext>
            </a:extLst>
          </p:cNvPr>
          <p:cNvSpPr/>
          <p:nvPr/>
        </p:nvSpPr>
        <p:spPr>
          <a:xfrm>
            <a:off x="4987635" y="2625209"/>
            <a:ext cx="574947" cy="2108716"/>
          </a:xfrm>
          <a:prstGeom prst="rect">
            <a:avLst/>
          </a:prstGeom>
          <a:noFill/>
          <a:ln w="25400">
            <a:solidFill>
              <a:srgbClr val="1F3B7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A20F0C74-FE89-447E-B116-133D7BD017A5}"/>
              </a:ext>
            </a:extLst>
          </p:cNvPr>
          <p:cNvSpPr/>
          <p:nvPr/>
        </p:nvSpPr>
        <p:spPr>
          <a:xfrm>
            <a:off x="5632775" y="2098417"/>
            <a:ext cx="491800" cy="2635508"/>
          </a:xfrm>
          <a:prstGeom prst="rect">
            <a:avLst/>
          </a:prstGeom>
          <a:noFill/>
          <a:ln w="25400">
            <a:solidFill>
              <a:srgbClr val="1F3B7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itle 1">
            <a:extLst>
              <a:ext uri="{FF2B5EF4-FFF2-40B4-BE49-F238E27FC236}">
                <a16:creationId xmlns:a16="http://schemas.microsoft.com/office/drawing/2014/main" id="{868F304F-DFE3-437B-8114-0B512CEC348A}"/>
              </a:ext>
            </a:extLst>
          </p:cNvPr>
          <p:cNvSpPr txBox="1">
            <a:spLocks/>
          </p:cNvSpPr>
          <p:nvPr/>
        </p:nvSpPr>
        <p:spPr>
          <a:xfrm>
            <a:off x="0" y="-4945"/>
            <a:ext cx="9152028"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The improvement due to VB</a:t>
            </a:r>
          </a:p>
        </p:txBody>
      </p:sp>
    </p:spTree>
    <p:extLst>
      <p:ext uri="{BB962C8B-B14F-4D97-AF65-F5344CB8AC3E}">
        <p14:creationId xmlns:p14="http://schemas.microsoft.com/office/powerpoint/2010/main" val="1267284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animBg="1"/>
      <p:bldP spid="14"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2E3C5E5-1620-704A-B1BC-D84381C5FEE1}" type="slidenum">
              <a:rPr lang="en-US" smtClean="0"/>
              <a:t>27</a:t>
            </a:fld>
            <a:endParaRPr lang="en-US"/>
          </a:p>
        </p:txBody>
      </p:sp>
      <p:pic>
        <p:nvPicPr>
          <p:cNvPr id="5" name="图片 4">
            <a:extLst>
              <a:ext uri="{FF2B5EF4-FFF2-40B4-BE49-F238E27FC236}">
                <a16:creationId xmlns:a16="http://schemas.microsoft.com/office/drawing/2014/main" id="{F36E4160-0C1D-42DE-B35D-E1D3FA111F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577" y="1371386"/>
            <a:ext cx="3105198" cy="2527941"/>
          </a:xfrm>
          <a:prstGeom prst="rect">
            <a:avLst/>
          </a:prstGeom>
        </p:spPr>
      </p:pic>
      <p:pic>
        <p:nvPicPr>
          <p:cNvPr id="6" name="图片 5">
            <a:extLst>
              <a:ext uri="{FF2B5EF4-FFF2-40B4-BE49-F238E27FC236}">
                <a16:creationId xmlns:a16="http://schemas.microsoft.com/office/drawing/2014/main" id="{8D0F1AEF-FAE2-4259-A7F9-77B6FF9E25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9300" y="1371386"/>
            <a:ext cx="3105198" cy="2527941"/>
          </a:xfrm>
          <a:prstGeom prst="rect">
            <a:avLst/>
          </a:prstGeom>
        </p:spPr>
      </p:pic>
      <p:pic>
        <p:nvPicPr>
          <p:cNvPr id="8" name="图片 7">
            <a:extLst>
              <a:ext uri="{FF2B5EF4-FFF2-40B4-BE49-F238E27FC236}">
                <a16:creationId xmlns:a16="http://schemas.microsoft.com/office/drawing/2014/main" id="{105C1736-FE99-4FB4-809C-B888FDF6AC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7577" y="4337512"/>
            <a:ext cx="2971849" cy="2419382"/>
          </a:xfrm>
          <a:prstGeom prst="rect">
            <a:avLst/>
          </a:prstGeom>
        </p:spPr>
      </p:pic>
      <p:pic>
        <p:nvPicPr>
          <p:cNvPr id="10" name="图片 9">
            <a:extLst>
              <a:ext uri="{FF2B5EF4-FFF2-40B4-BE49-F238E27FC236}">
                <a16:creationId xmlns:a16="http://schemas.microsoft.com/office/drawing/2014/main" id="{6513C64F-B9CF-4E11-90E4-EB3BD7AEDA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02649" y="4305106"/>
            <a:ext cx="2971849" cy="2419381"/>
          </a:xfrm>
          <a:prstGeom prst="rect">
            <a:avLst/>
          </a:prstGeom>
        </p:spPr>
      </p:pic>
      <p:sp>
        <p:nvSpPr>
          <p:cNvPr id="11" name="文本框 10">
            <a:extLst>
              <a:ext uri="{FF2B5EF4-FFF2-40B4-BE49-F238E27FC236}">
                <a16:creationId xmlns:a16="http://schemas.microsoft.com/office/drawing/2014/main" id="{77047953-7570-4D47-BACC-C215CBB18BF3}"/>
              </a:ext>
            </a:extLst>
          </p:cNvPr>
          <p:cNvSpPr txBox="1"/>
          <p:nvPr/>
        </p:nvSpPr>
        <p:spPr>
          <a:xfrm>
            <a:off x="1701140" y="1046422"/>
            <a:ext cx="2150024" cy="461665"/>
          </a:xfrm>
          <a:prstGeom prst="rect">
            <a:avLst/>
          </a:prstGeom>
          <a:noFill/>
        </p:spPr>
        <p:txBody>
          <a:bodyPr wrap="square" rtlCol="0">
            <a:spAutoFit/>
          </a:bodyPr>
          <a:lstStyle/>
          <a:p>
            <a:r>
              <a:rPr lang="en-US" altLang="zh-CN" sz="2400" dirty="0"/>
              <a:t>EP (unaffected)</a:t>
            </a:r>
            <a:endParaRPr lang="zh-CN" altLang="en-US" sz="2400" dirty="0"/>
          </a:p>
        </p:txBody>
      </p:sp>
      <p:sp>
        <p:nvSpPr>
          <p:cNvPr id="12" name="文本框 11">
            <a:extLst>
              <a:ext uri="{FF2B5EF4-FFF2-40B4-BE49-F238E27FC236}">
                <a16:creationId xmlns:a16="http://schemas.microsoft.com/office/drawing/2014/main" id="{36480AD3-832F-4898-9541-3AE5D0C7EE06}"/>
              </a:ext>
            </a:extLst>
          </p:cNvPr>
          <p:cNvSpPr txBox="1"/>
          <p:nvPr/>
        </p:nvSpPr>
        <p:spPr>
          <a:xfrm>
            <a:off x="5298779" y="1062625"/>
            <a:ext cx="2607220" cy="461665"/>
          </a:xfrm>
          <a:prstGeom prst="rect">
            <a:avLst/>
          </a:prstGeom>
          <a:noFill/>
        </p:spPr>
        <p:txBody>
          <a:bodyPr wrap="square" rtlCol="0">
            <a:spAutoFit/>
          </a:bodyPr>
          <a:lstStyle/>
          <a:p>
            <a:r>
              <a:rPr lang="en-US" altLang="zh-CN" sz="2400" dirty="0" err="1"/>
              <a:t>Facesim</a:t>
            </a:r>
            <a:r>
              <a:rPr lang="en-US" altLang="zh-CN" sz="2400" dirty="0"/>
              <a:t> (benefited)</a:t>
            </a:r>
            <a:endParaRPr lang="zh-CN" altLang="en-US" sz="2400" dirty="0"/>
          </a:p>
        </p:txBody>
      </p:sp>
      <p:sp>
        <p:nvSpPr>
          <p:cNvPr id="13" name="文本框 12">
            <a:extLst>
              <a:ext uri="{FF2B5EF4-FFF2-40B4-BE49-F238E27FC236}">
                <a16:creationId xmlns:a16="http://schemas.microsoft.com/office/drawing/2014/main" id="{C0B54280-3829-4508-9C65-9835606B4758}"/>
              </a:ext>
            </a:extLst>
          </p:cNvPr>
          <p:cNvSpPr txBox="1"/>
          <p:nvPr/>
        </p:nvSpPr>
        <p:spPr>
          <a:xfrm>
            <a:off x="1762697" y="3958531"/>
            <a:ext cx="1871727" cy="461665"/>
          </a:xfrm>
          <a:prstGeom prst="rect">
            <a:avLst/>
          </a:prstGeom>
          <a:noFill/>
        </p:spPr>
        <p:txBody>
          <a:bodyPr wrap="square" rtlCol="0">
            <a:spAutoFit/>
          </a:bodyPr>
          <a:lstStyle/>
          <a:p>
            <a:r>
              <a:rPr lang="en-US" altLang="zh-CN" sz="2400" dirty="0"/>
              <a:t>CG (affected)</a:t>
            </a:r>
            <a:endParaRPr lang="zh-CN" altLang="en-US" sz="2400" dirty="0"/>
          </a:p>
        </p:txBody>
      </p:sp>
      <p:sp>
        <p:nvSpPr>
          <p:cNvPr id="14" name="文本框 13">
            <a:extLst>
              <a:ext uri="{FF2B5EF4-FFF2-40B4-BE49-F238E27FC236}">
                <a16:creationId xmlns:a16="http://schemas.microsoft.com/office/drawing/2014/main" id="{C9529D36-5BA0-465B-BEEF-848E8E75AD4B}"/>
              </a:ext>
            </a:extLst>
          </p:cNvPr>
          <p:cNvSpPr txBox="1"/>
          <p:nvPr/>
        </p:nvSpPr>
        <p:spPr>
          <a:xfrm>
            <a:off x="5089727" y="3899327"/>
            <a:ext cx="3105197" cy="461665"/>
          </a:xfrm>
          <a:prstGeom prst="rect">
            <a:avLst/>
          </a:prstGeom>
          <a:noFill/>
        </p:spPr>
        <p:txBody>
          <a:bodyPr wrap="square" rtlCol="0">
            <a:spAutoFit/>
          </a:bodyPr>
          <a:lstStyle/>
          <a:p>
            <a:r>
              <a:rPr lang="en-US" altLang="zh-CN" sz="2400" dirty="0" err="1"/>
              <a:t>Streamcluster</a:t>
            </a:r>
            <a:r>
              <a:rPr lang="en-US" altLang="zh-CN" sz="2400" dirty="0"/>
              <a:t> (affected)</a:t>
            </a:r>
            <a:endParaRPr lang="zh-CN" altLang="en-US" sz="2400" dirty="0"/>
          </a:p>
        </p:txBody>
      </p:sp>
      <p:sp>
        <p:nvSpPr>
          <p:cNvPr id="16" name="Title 1">
            <a:extLst>
              <a:ext uri="{FF2B5EF4-FFF2-40B4-BE49-F238E27FC236}">
                <a16:creationId xmlns:a16="http://schemas.microsoft.com/office/drawing/2014/main" id="{24755F6F-779E-4084-9F43-D8DF9C8697A6}"/>
              </a:ext>
            </a:extLst>
          </p:cNvPr>
          <p:cNvSpPr txBox="1">
            <a:spLocks/>
          </p:cNvSpPr>
          <p:nvPr/>
        </p:nvSpPr>
        <p:spPr>
          <a:xfrm>
            <a:off x="0" y="-4945"/>
            <a:ext cx="9152028"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Improvement with runtime adaptation</a:t>
            </a:r>
          </a:p>
        </p:txBody>
      </p:sp>
    </p:spTree>
    <p:extLst>
      <p:ext uri="{BB962C8B-B14F-4D97-AF65-F5344CB8AC3E}">
        <p14:creationId xmlns:p14="http://schemas.microsoft.com/office/powerpoint/2010/main" val="3078225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F4B18CE0-8B00-441B-AFB3-6AC20ECDA8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2399" y="1503688"/>
            <a:ext cx="3337033" cy="2299242"/>
          </a:xfrm>
          <a:prstGeom prst="rect">
            <a:avLst/>
          </a:prstGeom>
        </p:spPr>
      </p:pic>
      <p:pic>
        <p:nvPicPr>
          <p:cNvPr id="8" name="图片 7">
            <a:extLst>
              <a:ext uri="{FF2B5EF4-FFF2-40B4-BE49-F238E27FC236}">
                <a16:creationId xmlns:a16="http://schemas.microsoft.com/office/drawing/2014/main" id="{BF630F0D-38A3-4204-8289-C1D26C5F61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0" y="4356706"/>
            <a:ext cx="3310895" cy="2325922"/>
          </a:xfrm>
          <a:prstGeom prst="rect">
            <a:avLst/>
          </a:prstGeom>
        </p:spPr>
      </p:pic>
      <p:pic>
        <p:nvPicPr>
          <p:cNvPr id="5" name="图片 4">
            <a:extLst>
              <a:ext uri="{FF2B5EF4-FFF2-40B4-BE49-F238E27FC236}">
                <a16:creationId xmlns:a16="http://schemas.microsoft.com/office/drawing/2014/main" id="{63172A82-00B0-4645-9B83-E9042B3677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2399" y="4356706"/>
            <a:ext cx="3310894" cy="2325922"/>
          </a:xfrm>
          <a:prstGeom prst="rect">
            <a:avLst/>
          </a:prstGeom>
        </p:spPr>
      </p:pic>
      <p:sp>
        <p:nvSpPr>
          <p:cNvPr id="4" name="灯片编号占位符 3"/>
          <p:cNvSpPr>
            <a:spLocks noGrp="1"/>
          </p:cNvSpPr>
          <p:nvPr>
            <p:ph type="sldNum" sz="quarter" idx="12"/>
          </p:nvPr>
        </p:nvSpPr>
        <p:spPr/>
        <p:txBody>
          <a:bodyPr/>
          <a:lstStyle/>
          <a:p>
            <a:fld id="{72E3C5E5-1620-704A-B1BC-D84381C5FEE1}" type="slidenum">
              <a:rPr lang="en-US" smtClean="0"/>
              <a:t>28</a:t>
            </a:fld>
            <a:endParaRPr lang="en-US"/>
          </a:p>
        </p:txBody>
      </p:sp>
      <p:sp>
        <p:nvSpPr>
          <p:cNvPr id="14" name="文本框 13">
            <a:extLst>
              <a:ext uri="{FF2B5EF4-FFF2-40B4-BE49-F238E27FC236}">
                <a16:creationId xmlns:a16="http://schemas.microsoft.com/office/drawing/2014/main" id="{DDF8C6D0-23DD-42CB-97FA-B2C6714F28E8}"/>
              </a:ext>
            </a:extLst>
          </p:cNvPr>
          <p:cNvSpPr txBox="1"/>
          <p:nvPr/>
        </p:nvSpPr>
        <p:spPr>
          <a:xfrm>
            <a:off x="1831629" y="1094730"/>
            <a:ext cx="2027959"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Throughout</a:t>
            </a:r>
            <a:endParaRPr lang="zh-CN" altLang="en-US" sz="2400" dirty="0">
              <a:latin typeface="Calibri" panose="020F0502020204030204" pitchFamily="34" charset="0"/>
              <a:cs typeface="Calibri" panose="020F0502020204030204" pitchFamily="34" charset="0"/>
            </a:endParaRPr>
          </a:p>
        </p:txBody>
      </p:sp>
      <p:sp>
        <p:nvSpPr>
          <p:cNvPr id="15" name="文本框 14">
            <a:extLst>
              <a:ext uri="{FF2B5EF4-FFF2-40B4-BE49-F238E27FC236}">
                <a16:creationId xmlns:a16="http://schemas.microsoft.com/office/drawing/2014/main" id="{A2442468-8750-45CD-B720-022458239BD2}"/>
              </a:ext>
            </a:extLst>
          </p:cNvPr>
          <p:cNvSpPr txBox="1"/>
          <p:nvPr/>
        </p:nvSpPr>
        <p:spPr>
          <a:xfrm>
            <a:off x="5215302" y="1121994"/>
            <a:ext cx="2339344"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Average latency</a:t>
            </a:r>
            <a:endParaRPr lang="zh-CN" altLang="en-US" sz="2400" dirty="0">
              <a:latin typeface="Calibri" panose="020F0502020204030204" pitchFamily="34" charset="0"/>
              <a:cs typeface="Calibri" panose="020F0502020204030204" pitchFamily="34" charset="0"/>
            </a:endParaRPr>
          </a:p>
        </p:txBody>
      </p:sp>
      <p:sp>
        <p:nvSpPr>
          <p:cNvPr id="16" name="文本框 15">
            <a:extLst>
              <a:ext uri="{FF2B5EF4-FFF2-40B4-BE49-F238E27FC236}">
                <a16:creationId xmlns:a16="http://schemas.microsoft.com/office/drawing/2014/main" id="{7D68AEE1-7EB2-4089-A212-64364A292143}"/>
              </a:ext>
            </a:extLst>
          </p:cNvPr>
          <p:cNvSpPr txBox="1"/>
          <p:nvPr/>
        </p:nvSpPr>
        <p:spPr>
          <a:xfrm>
            <a:off x="1448805" y="3974661"/>
            <a:ext cx="2793609"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95</a:t>
            </a:r>
            <a:r>
              <a:rPr lang="en-US" altLang="zh-CN" sz="2400" baseline="30000" dirty="0">
                <a:latin typeface="Calibri" panose="020F0502020204030204" pitchFamily="34" charset="0"/>
                <a:cs typeface="Calibri" panose="020F0502020204030204" pitchFamily="34" charset="0"/>
              </a:rPr>
              <a:t>th</a:t>
            </a:r>
            <a:r>
              <a:rPr lang="en-US" altLang="zh-CN" sz="2400" dirty="0">
                <a:latin typeface="Calibri" panose="020F0502020204030204" pitchFamily="34" charset="0"/>
                <a:cs typeface="Calibri" panose="020F0502020204030204" pitchFamily="34" charset="0"/>
              </a:rPr>
              <a:t> Percentile Tail</a:t>
            </a:r>
            <a:endParaRPr lang="zh-CN" altLang="en-US" sz="2400" dirty="0">
              <a:latin typeface="Calibri" panose="020F0502020204030204" pitchFamily="34" charset="0"/>
              <a:cs typeface="Calibri" panose="020F0502020204030204" pitchFamily="34" charset="0"/>
            </a:endParaRPr>
          </a:p>
        </p:txBody>
      </p:sp>
      <p:sp>
        <p:nvSpPr>
          <p:cNvPr id="17" name="文本框 16">
            <a:extLst>
              <a:ext uri="{FF2B5EF4-FFF2-40B4-BE49-F238E27FC236}">
                <a16:creationId xmlns:a16="http://schemas.microsoft.com/office/drawing/2014/main" id="{E8D62C51-7789-4C4F-A39A-BA87947B3B7A}"/>
              </a:ext>
            </a:extLst>
          </p:cNvPr>
          <p:cNvSpPr txBox="1"/>
          <p:nvPr/>
        </p:nvSpPr>
        <p:spPr>
          <a:xfrm>
            <a:off x="5227711" y="3974661"/>
            <a:ext cx="2536678" cy="461665"/>
          </a:xfrm>
          <a:prstGeom prst="rect">
            <a:avLst/>
          </a:prstGeom>
          <a:noFill/>
        </p:spPr>
        <p:txBody>
          <a:bodyPr wrap="square" rtlCol="0">
            <a:spAutoFit/>
          </a:bodyPr>
          <a:lstStyle/>
          <a:p>
            <a:r>
              <a:rPr lang="en-US" altLang="zh-CN" sz="2400" dirty="0">
                <a:latin typeface="Calibri" panose="020F0502020204030204" pitchFamily="34" charset="0"/>
                <a:cs typeface="Calibri" panose="020F0502020204030204" pitchFamily="34" charset="0"/>
              </a:rPr>
              <a:t>99</a:t>
            </a:r>
            <a:r>
              <a:rPr lang="en-US" altLang="zh-CN" sz="2400" baseline="30000" dirty="0">
                <a:latin typeface="Calibri" panose="020F0502020204030204" pitchFamily="34" charset="0"/>
                <a:cs typeface="Calibri" panose="020F0502020204030204" pitchFamily="34" charset="0"/>
              </a:rPr>
              <a:t>th</a:t>
            </a:r>
            <a:r>
              <a:rPr lang="en-US" altLang="zh-CN" sz="2400" dirty="0">
                <a:latin typeface="Calibri" panose="020F0502020204030204" pitchFamily="34" charset="0"/>
                <a:cs typeface="Calibri" panose="020F0502020204030204" pitchFamily="34" charset="0"/>
              </a:rPr>
              <a:t> Percentile Tail</a:t>
            </a:r>
            <a:endParaRPr lang="zh-CN" altLang="en-US" sz="2400" dirty="0">
              <a:latin typeface="Calibri" panose="020F0502020204030204" pitchFamily="34" charset="0"/>
              <a:cs typeface="Calibri" panose="020F0502020204030204" pitchFamily="34" charset="0"/>
            </a:endParaRPr>
          </a:p>
        </p:txBody>
      </p:sp>
      <p:cxnSp>
        <p:nvCxnSpPr>
          <p:cNvPr id="19" name="直接箭头连接符 18">
            <a:extLst>
              <a:ext uri="{FF2B5EF4-FFF2-40B4-BE49-F238E27FC236}">
                <a16:creationId xmlns:a16="http://schemas.microsoft.com/office/drawing/2014/main" id="{17E1D5BF-B741-497C-834B-996DDB29EFF9}"/>
              </a:ext>
            </a:extLst>
          </p:cNvPr>
          <p:cNvCxnSpPr/>
          <p:nvPr/>
        </p:nvCxnSpPr>
        <p:spPr>
          <a:xfrm>
            <a:off x="2188152" y="4729004"/>
            <a:ext cx="0" cy="1400175"/>
          </a:xfrm>
          <a:prstGeom prst="straightConnector1">
            <a:avLst/>
          </a:prstGeom>
          <a:ln w="25400">
            <a:solidFill>
              <a:srgbClr val="1F3B7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BC0F4072-6735-4E8B-8373-9579176DA031}"/>
              </a:ext>
            </a:extLst>
          </p:cNvPr>
          <p:cNvSpPr txBox="1"/>
          <p:nvPr/>
        </p:nvSpPr>
        <p:spPr>
          <a:xfrm>
            <a:off x="2182372" y="5154244"/>
            <a:ext cx="1291655" cy="369332"/>
          </a:xfrm>
          <a:prstGeom prst="rect">
            <a:avLst/>
          </a:prstGeom>
          <a:noFill/>
        </p:spPr>
        <p:txBody>
          <a:bodyPr wrap="square" rtlCol="0">
            <a:spAutoFit/>
          </a:bodyPr>
          <a:lstStyle/>
          <a:p>
            <a:r>
              <a:rPr lang="en-US" altLang="zh-CN" b="1" dirty="0">
                <a:solidFill>
                  <a:srgbClr val="002060"/>
                </a:solidFill>
                <a:latin typeface="Calibri" panose="020F0502020204030204" pitchFamily="34" charset="0"/>
                <a:cs typeface="Calibri" panose="020F0502020204030204" pitchFamily="34" charset="0"/>
              </a:rPr>
              <a:t>92% </a:t>
            </a:r>
            <a:endParaRPr lang="zh-CN" altLang="en-US" b="1" dirty="0">
              <a:solidFill>
                <a:srgbClr val="002060"/>
              </a:solidFill>
              <a:latin typeface="Calibri" panose="020F0502020204030204" pitchFamily="34" charset="0"/>
              <a:cs typeface="Calibri" panose="020F0502020204030204" pitchFamily="34" charset="0"/>
            </a:endParaRPr>
          </a:p>
        </p:txBody>
      </p:sp>
      <p:cxnSp>
        <p:nvCxnSpPr>
          <p:cNvPr id="22" name="直接箭头连接符 21">
            <a:extLst>
              <a:ext uri="{FF2B5EF4-FFF2-40B4-BE49-F238E27FC236}">
                <a16:creationId xmlns:a16="http://schemas.microsoft.com/office/drawing/2014/main" id="{97675DC2-D4AE-44E6-A3AC-41328D878D2D}"/>
              </a:ext>
            </a:extLst>
          </p:cNvPr>
          <p:cNvCxnSpPr>
            <a:cxnSpLocks/>
          </p:cNvCxnSpPr>
          <p:nvPr/>
        </p:nvCxnSpPr>
        <p:spPr>
          <a:xfrm>
            <a:off x="5819775" y="4699161"/>
            <a:ext cx="0" cy="850480"/>
          </a:xfrm>
          <a:prstGeom prst="straightConnector1">
            <a:avLst/>
          </a:prstGeom>
          <a:ln w="25400">
            <a:solidFill>
              <a:srgbClr val="1F3B7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83219B60-1A77-4C0D-B8D3-5D7DC9FB9481}"/>
              </a:ext>
            </a:extLst>
          </p:cNvPr>
          <p:cNvSpPr txBox="1"/>
          <p:nvPr/>
        </p:nvSpPr>
        <p:spPr>
          <a:xfrm>
            <a:off x="5855477" y="4939735"/>
            <a:ext cx="619125" cy="369332"/>
          </a:xfrm>
          <a:prstGeom prst="rect">
            <a:avLst/>
          </a:prstGeom>
          <a:noFill/>
        </p:spPr>
        <p:txBody>
          <a:bodyPr wrap="square" rtlCol="0">
            <a:spAutoFit/>
          </a:bodyPr>
          <a:lstStyle/>
          <a:p>
            <a:r>
              <a:rPr lang="en-US" altLang="zh-CN" b="1" dirty="0">
                <a:solidFill>
                  <a:srgbClr val="002060"/>
                </a:solidFill>
                <a:latin typeface="Calibri" panose="020F0502020204030204" pitchFamily="34" charset="0"/>
                <a:cs typeface="Calibri" panose="020F0502020204030204" pitchFamily="34" charset="0"/>
              </a:rPr>
              <a:t>60%</a:t>
            </a:r>
            <a:endParaRPr lang="zh-CN" altLang="en-US" b="1" dirty="0">
              <a:solidFill>
                <a:srgbClr val="002060"/>
              </a:solidFill>
              <a:latin typeface="Calibri" panose="020F0502020204030204" pitchFamily="34" charset="0"/>
              <a:cs typeface="Calibri" panose="020F0502020204030204" pitchFamily="34" charset="0"/>
            </a:endParaRPr>
          </a:p>
        </p:txBody>
      </p:sp>
      <p:pic>
        <p:nvPicPr>
          <p:cNvPr id="25" name="图片 24">
            <a:extLst>
              <a:ext uri="{FF2B5EF4-FFF2-40B4-BE49-F238E27FC236}">
                <a16:creationId xmlns:a16="http://schemas.microsoft.com/office/drawing/2014/main" id="{25561698-272F-4D28-BC45-95EAB4B6EEA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91274" y="1509567"/>
            <a:ext cx="3192389" cy="2287483"/>
          </a:xfrm>
          <a:prstGeom prst="rect">
            <a:avLst/>
          </a:prstGeom>
        </p:spPr>
      </p:pic>
      <p:sp>
        <p:nvSpPr>
          <p:cNvPr id="26" name="Title 1">
            <a:extLst>
              <a:ext uri="{FF2B5EF4-FFF2-40B4-BE49-F238E27FC236}">
                <a16:creationId xmlns:a16="http://schemas.microsoft.com/office/drawing/2014/main" id="{7EE67140-EFD9-4AD6-8062-468F68BDD88C}"/>
              </a:ext>
            </a:extLst>
          </p:cNvPr>
          <p:cNvSpPr txBox="1">
            <a:spLocks/>
          </p:cNvSpPr>
          <p:nvPr/>
        </p:nvSpPr>
        <p:spPr>
          <a:xfrm>
            <a:off x="0" y="-4945"/>
            <a:ext cx="9152028"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Improvement in Memcached Server</a:t>
            </a:r>
          </a:p>
        </p:txBody>
      </p:sp>
    </p:spTree>
    <p:extLst>
      <p:ext uri="{BB962C8B-B14F-4D97-AF65-F5344CB8AC3E}">
        <p14:creationId xmlns:p14="http://schemas.microsoft.com/office/powerpoint/2010/main" val="126084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2E3C5E5-1620-704A-B1BC-D84381C5FEE1}" type="slidenum">
              <a:rPr lang="en-US" smtClean="0"/>
              <a:t>29</a:t>
            </a:fld>
            <a:endParaRPr lang="en-US"/>
          </a:p>
        </p:txBody>
      </p:sp>
      <p:sp>
        <p:nvSpPr>
          <p:cNvPr id="8" name="文本框 7">
            <a:extLst>
              <a:ext uri="{FF2B5EF4-FFF2-40B4-BE49-F238E27FC236}">
                <a16:creationId xmlns:a16="http://schemas.microsoft.com/office/drawing/2014/main" id="{8BAD8AC0-291F-4E87-BAF1-2E9EDC946D6C}"/>
              </a:ext>
            </a:extLst>
          </p:cNvPr>
          <p:cNvSpPr txBox="1"/>
          <p:nvPr/>
        </p:nvSpPr>
        <p:spPr>
          <a:xfrm>
            <a:off x="1825378" y="1868316"/>
            <a:ext cx="1368024" cy="523220"/>
          </a:xfrm>
          <a:prstGeom prst="rect">
            <a:avLst/>
          </a:prstGeom>
          <a:noFill/>
        </p:spPr>
        <p:txBody>
          <a:bodyPr wrap="square" rtlCol="0">
            <a:spAutoFit/>
          </a:bodyPr>
          <a:lstStyle/>
          <a:p>
            <a:r>
              <a:rPr lang="en-US" altLang="zh-CN" sz="2800" dirty="0" err="1">
                <a:latin typeface="Calibri" panose="020F0502020204030204" pitchFamily="34" charset="0"/>
                <a:cs typeface="Calibri" panose="020F0502020204030204" pitchFamily="34" charset="0"/>
              </a:rPr>
              <a:t>Volrend</a:t>
            </a:r>
            <a:endParaRPr lang="zh-CN" altLang="en-US" sz="2800" dirty="0">
              <a:latin typeface="Calibri" panose="020F0502020204030204" pitchFamily="34" charset="0"/>
              <a:cs typeface="Calibri" panose="020F0502020204030204" pitchFamily="34" charset="0"/>
            </a:endParaRPr>
          </a:p>
        </p:txBody>
      </p:sp>
      <p:sp>
        <p:nvSpPr>
          <p:cNvPr id="9" name="文本框 8">
            <a:extLst>
              <a:ext uri="{FF2B5EF4-FFF2-40B4-BE49-F238E27FC236}">
                <a16:creationId xmlns:a16="http://schemas.microsoft.com/office/drawing/2014/main" id="{B778FA16-AF20-42B4-A4D8-2EAFA5950682}"/>
              </a:ext>
            </a:extLst>
          </p:cNvPr>
          <p:cNvSpPr txBox="1"/>
          <p:nvPr/>
        </p:nvSpPr>
        <p:spPr>
          <a:xfrm>
            <a:off x="6749201" y="1881378"/>
            <a:ext cx="913194" cy="523220"/>
          </a:xfrm>
          <a:prstGeom prst="rect">
            <a:avLst/>
          </a:prstGeom>
          <a:noFill/>
        </p:spPr>
        <p:txBody>
          <a:bodyPr wrap="square" rtlCol="0">
            <a:spAutoFit/>
          </a:bodyPr>
          <a:lstStyle/>
          <a:p>
            <a:r>
              <a:rPr lang="en-US" altLang="zh-CN" sz="2800" dirty="0">
                <a:latin typeface="Calibri" panose="020F0502020204030204" pitchFamily="34" charset="0"/>
                <a:cs typeface="Calibri" panose="020F0502020204030204" pitchFamily="34" charset="0"/>
              </a:rPr>
              <a:t>Lu</a:t>
            </a:r>
            <a:endParaRPr lang="zh-CN" altLang="en-US" sz="2800" dirty="0">
              <a:latin typeface="Calibri" panose="020F0502020204030204" pitchFamily="34" charset="0"/>
              <a:cs typeface="Calibri" panose="020F0502020204030204" pitchFamily="34" charset="0"/>
            </a:endParaRPr>
          </a:p>
        </p:txBody>
      </p:sp>
      <p:pic>
        <p:nvPicPr>
          <p:cNvPr id="6" name="图片 5">
            <a:extLst>
              <a:ext uri="{FF2B5EF4-FFF2-40B4-BE49-F238E27FC236}">
                <a16:creationId xmlns:a16="http://schemas.microsoft.com/office/drawing/2014/main" id="{1E4AB962-84A9-4C58-8D16-7889F5332A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087" y="2282208"/>
            <a:ext cx="4455913" cy="3169544"/>
          </a:xfrm>
          <a:prstGeom prst="rect">
            <a:avLst/>
          </a:prstGeom>
        </p:spPr>
      </p:pic>
      <p:pic>
        <p:nvPicPr>
          <p:cNvPr id="11" name="图片 10">
            <a:extLst>
              <a:ext uri="{FF2B5EF4-FFF2-40B4-BE49-F238E27FC236}">
                <a16:creationId xmlns:a16="http://schemas.microsoft.com/office/drawing/2014/main" id="{A562F434-85AC-4580-9217-2A8C762982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0490" y="2282208"/>
            <a:ext cx="4557423" cy="3169544"/>
          </a:xfrm>
          <a:prstGeom prst="rect">
            <a:avLst/>
          </a:prstGeom>
        </p:spPr>
      </p:pic>
      <p:sp>
        <p:nvSpPr>
          <p:cNvPr id="12" name="Title 1">
            <a:extLst>
              <a:ext uri="{FF2B5EF4-FFF2-40B4-BE49-F238E27FC236}">
                <a16:creationId xmlns:a16="http://schemas.microsoft.com/office/drawing/2014/main" id="{FFBA3D67-BB9C-4157-9EA4-E8179F9BF132}"/>
              </a:ext>
            </a:extLst>
          </p:cNvPr>
          <p:cNvSpPr txBox="1">
            <a:spLocks/>
          </p:cNvSpPr>
          <p:nvPr/>
        </p:nvSpPr>
        <p:spPr>
          <a:xfrm>
            <a:off x="0" y="28296"/>
            <a:ext cx="9152028"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The Improvement due to BWD</a:t>
            </a:r>
          </a:p>
        </p:txBody>
      </p:sp>
    </p:spTree>
    <p:extLst>
      <p:ext uri="{BB962C8B-B14F-4D97-AF65-F5344CB8AC3E}">
        <p14:creationId xmlns:p14="http://schemas.microsoft.com/office/powerpoint/2010/main" val="30478710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2E3C5E5-1620-704A-B1BC-D84381C5FEE1}" type="slidenum">
              <a:rPr lang="en-US" smtClean="0"/>
              <a:t>30</a:t>
            </a:fld>
            <a:endParaRPr lang="en-US"/>
          </a:p>
        </p:txBody>
      </p:sp>
      <p:pic>
        <p:nvPicPr>
          <p:cNvPr id="5" name="图片 4">
            <a:extLst>
              <a:ext uri="{FF2B5EF4-FFF2-40B4-BE49-F238E27FC236}">
                <a16:creationId xmlns:a16="http://schemas.microsoft.com/office/drawing/2014/main" id="{2E0CDBD5-5130-4A65-B5CC-7C95D803EF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98419" y="2356664"/>
            <a:ext cx="6372225" cy="2406259"/>
          </a:xfrm>
          <a:prstGeom prst="rect">
            <a:avLst/>
          </a:prstGeom>
        </p:spPr>
      </p:pic>
      <p:cxnSp>
        <p:nvCxnSpPr>
          <p:cNvPr id="7" name="直接箭头连接符 6">
            <a:extLst>
              <a:ext uri="{FF2B5EF4-FFF2-40B4-BE49-F238E27FC236}">
                <a16:creationId xmlns:a16="http://schemas.microsoft.com/office/drawing/2014/main" id="{5F18761A-90A6-4D48-BBBC-52EBC01A499E}"/>
              </a:ext>
            </a:extLst>
          </p:cNvPr>
          <p:cNvCxnSpPr/>
          <p:nvPr/>
        </p:nvCxnSpPr>
        <p:spPr>
          <a:xfrm>
            <a:off x="3886200" y="2680855"/>
            <a:ext cx="0" cy="1423554"/>
          </a:xfrm>
          <a:prstGeom prst="straightConnector1">
            <a:avLst/>
          </a:prstGeom>
          <a:ln w="25400">
            <a:solidFill>
              <a:srgbClr val="1F3B7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F4C26FC-5C44-49D6-A620-BCF91A9B74F1}"/>
              </a:ext>
            </a:extLst>
          </p:cNvPr>
          <p:cNvSpPr txBox="1"/>
          <p:nvPr/>
        </p:nvSpPr>
        <p:spPr>
          <a:xfrm>
            <a:off x="3886200" y="3169680"/>
            <a:ext cx="685800" cy="369332"/>
          </a:xfrm>
          <a:prstGeom prst="rect">
            <a:avLst/>
          </a:prstGeom>
          <a:noFill/>
        </p:spPr>
        <p:txBody>
          <a:bodyPr wrap="square" rtlCol="0">
            <a:spAutoFit/>
          </a:bodyPr>
          <a:lstStyle/>
          <a:p>
            <a:r>
              <a:rPr lang="en-US" altLang="zh-CN" b="1" dirty="0">
                <a:solidFill>
                  <a:srgbClr val="1F3B73"/>
                </a:solidFill>
                <a:latin typeface="Calibri" panose="020F0502020204030204" pitchFamily="34" charset="0"/>
                <a:cs typeface="Calibri" panose="020F0502020204030204" pitchFamily="34" charset="0"/>
              </a:rPr>
              <a:t>5.4x</a:t>
            </a:r>
            <a:endParaRPr lang="zh-CN" altLang="en-US" b="1" dirty="0">
              <a:solidFill>
                <a:srgbClr val="1F3B73"/>
              </a:solidFill>
              <a:latin typeface="Calibri" panose="020F0502020204030204" pitchFamily="34" charset="0"/>
              <a:cs typeface="Calibri" panose="020F0502020204030204" pitchFamily="34" charset="0"/>
            </a:endParaRPr>
          </a:p>
        </p:txBody>
      </p:sp>
      <p:sp>
        <p:nvSpPr>
          <p:cNvPr id="9" name="Title 1">
            <a:extLst>
              <a:ext uri="{FF2B5EF4-FFF2-40B4-BE49-F238E27FC236}">
                <a16:creationId xmlns:a16="http://schemas.microsoft.com/office/drawing/2014/main" id="{46F359B0-F817-4F9F-ABB6-C83CFD7AAB26}"/>
              </a:ext>
            </a:extLst>
          </p:cNvPr>
          <p:cNvSpPr txBox="1">
            <a:spLocks/>
          </p:cNvSpPr>
          <p:nvPr/>
        </p:nvSpPr>
        <p:spPr>
          <a:xfrm>
            <a:off x="0" y="28296"/>
            <a:ext cx="9152028"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Comparison with SHFLLOCKS</a:t>
            </a:r>
          </a:p>
        </p:txBody>
      </p:sp>
    </p:spTree>
    <p:extLst>
      <p:ext uri="{BB962C8B-B14F-4D97-AF65-F5344CB8AC3E}">
        <p14:creationId xmlns:p14="http://schemas.microsoft.com/office/powerpoint/2010/main" val="239403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CC06481-1412-9343-99ED-090B692C4C67}"/>
              </a:ext>
            </a:extLst>
          </p:cNvPr>
          <p:cNvSpPr txBox="1">
            <a:spLocks/>
          </p:cNvSpPr>
          <p:nvPr/>
        </p:nvSpPr>
        <p:spPr>
          <a:xfrm>
            <a:off x="44604" y="1471188"/>
            <a:ext cx="9144000" cy="6251753"/>
          </a:xfrm>
          <a:prstGeom prst="rect">
            <a:avLst/>
          </a:prstGeom>
        </p:spPr>
        <p:txBody>
          <a:bodyPr>
            <a:noAutofit/>
          </a:bodyPr>
          <a:lstStyle>
            <a:lvl1pPr marL="228600" indent="-228600" algn="l" defTabSz="914400" rtl="0" eaLnBrk="1" latinLnBrk="0" hangingPunct="1">
              <a:lnSpc>
                <a:spcPct val="120000"/>
              </a:lnSpc>
              <a:spcBef>
                <a:spcPts val="1000"/>
              </a:spcBef>
              <a:buFont typeface="Arial"/>
              <a:buChar char="•"/>
              <a:defRPr sz="2800" b="0" i="0" kern="1200">
                <a:solidFill>
                  <a:schemeClr val="tx1"/>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120000"/>
              </a:lnSpc>
              <a:spcBef>
                <a:spcPts val="500"/>
              </a:spcBef>
              <a:buSzPct val="80000"/>
              <a:buFont typeface="Wingdings" charset="2"/>
              <a:buChar char="ü"/>
              <a:defRPr sz="2400" b="0" i="0" kern="1200">
                <a:solidFill>
                  <a:schemeClr val="tx1"/>
                </a:solidFill>
                <a:latin typeface="Helvetica Neue Light" panose="02000403000000020004" pitchFamily="2" charset="0"/>
                <a:ea typeface="Helvetica Neue Light" panose="02000403000000020004" pitchFamily="2" charset="0"/>
                <a:cs typeface="+mn-cs"/>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Helvetica Neue Light" panose="02000403000000020004" pitchFamily="2" charset="0"/>
                <a:ea typeface="Helvetica Neue Light" panose="02000403000000020004" pitchFamily="2" charset="0"/>
                <a:cs typeface="+mn-cs"/>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Helvetica Neue Light" panose="02000403000000020004" pitchFamily="2" charset="0"/>
                <a:ea typeface="Helvetica Neue Light" panose="02000403000000020004" pitchFamily="2" charset="0"/>
                <a:cs typeface="+mn-cs"/>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Helvetica Neue Light" panose="02000403000000020004" pitchFamily="2" charset="0"/>
                <a:ea typeface="Helvetica Neue Light" panose="02000403000000020004" pitchFamily="2" charset="0"/>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altLang="zh-CN" b="1" dirty="0">
                <a:solidFill>
                  <a:schemeClr val="accent1">
                    <a:lumMod val="75000"/>
                  </a:schemeClr>
                </a:solidFill>
                <a:latin typeface="Calibri" panose="020F0502020204030204" pitchFamily="34" charset="0"/>
                <a:ea typeface="Open Sans" panose="020B0606030504020204" pitchFamily="34" charset="0"/>
                <a:cs typeface="Calibri" panose="020F0502020204030204" pitchFamily="34" charset="0"/>
              </a:rPr>
              <a:t>Motivation:</a:t>
            </a:r>
          </a:p>
          <a:p>
            <a:pPr marL="457200" lvl="1" indent="0">
              <a:buNone/>
            </a:pPr>
            <a:r>
              <a:rPr lang="en-US" altLang="zh-CN" sz="2000" dirty="0">
                <a:latin typeface="Calibri" panose="020F0502020204030204" pitchFamily="34" charset="0"/>
                <a:ea typeface="Open Sans" panose="020B0606030504020204" pitchFamily="34" charset="0"/>
                <a:cs typeface="Calibri" panose="020F0502020204030204" pitchFamily="34" charset="0"/>
              </a:rPr>
              <a:t>We explore thread over-subscription to exploit CPU elasticity and identify two kernel issues that lead to inefficiencies in managing oversubscribed threads.</a:t>
            </a:r>
          </a:p>
          <a:p>
            <a:pPr marL="0" indent="0">
              <a:buFont typeface="Arial"/>
              <a:buNone/>
            </a:pPr>
            <a:r>
              <a:rPr lang="en-US" altLang="zh-CN" b="1" dirty="0">
                <a:solidFill>
                  <a:srgbClr val="00B050"/>
                </a:solidFill>
                <a:latin typeface="+mn-lt"/>
                <a:ea typeface="Open Sans" panose="020B0606030504020204" pitchFamily="34" charset="0"/>
                <a:cs typeface="Calibri" panose="020F0502020204030204" pitchFamily="34" charset="0"/>
              </a:rPr>
              <a:t>Solution:</a:t>
            </a:r>
          </a:p>
          <a:p>
            <a:pPr lvl="1">
              <a:buFont typeface="Helvetica" charset="0"/>
              <a:buChar char="-"/>
            </a:pPr>
            <a:r>
              <a:rPr lang="en-US" altLang="zh-CN" sz="2000" dirty="0">
                <a:solidFill>
                  <a:prstClr val="black"/>
                </a:solidFill>
                <a:latin typeface="Calibri Light"/>
                <a:cs typeface="Calibri" panose="020F0502020204030204" pitchFamily="34" charset="0"/>
              </a:rPr>
              <a:t>Virtual blocking </a:t>
            </a:r>
          </a:p>
          <a:p>
            <a:pPr lvl="1">
              <a:buFont typeface="Helvetica" charset="0"/>
              <a:buChar char="-"/>
            </a:pPr>
            <a:r>
              <a:rPr lang="en-US" altLang="zh-CN" sz="2000" dirty="0">
                <a:solidFill>
                  <a:prstClr val="black"/>
                </a:solidFill>
                <a:latin typeface="Calibri Light"/>
                <a:cs typeface="Calibri" panose="020F0502020204030204" pitchFamily="34" charset="0"/>
              </a:rPr>
              <a:t>Busy-waiting detection</a:t>
            </a:r>
            <a:endParaRPr lang="en-US" altLang="zh-CN" sz="2000" b="1" dirty="0">
              <a:solidFill>
                <a:srgbClr val="00B050"/>
              </a:solidFill>
              <a:latin typeface="Calibri" panose="020F0502020204030204" pitchFamily="34" charset="0"/>
              <a:ea typeface="Open Sans" panose="020B0606030504020204" pitchFamily="34" charset="0"/>
              <a:cs typeface="Calibri" panose="020F0502020204030204" pitchFamily="34" charset="0"/>
            </a:endParaRPr>
          </a:p>
          <a:p>
            <a:pPr marL="0" indent="0">
              <a:buNone/>
            </a:pPr>
            <a:r>
              <a:rPr lang="en-US" altLang="zh-CN" b="1" dirty="0">
                <a:solidFill>
                  <a:srgbClr val="C00000"/>
                </a:solidFill>
                <a:latin typeface="+mn-lt"/>
                <a:ea typeface="Open Sans" panose="020B0606030504020204" pitchFamily="34" charset="0"/>
                <a:cs typeface="Open Sans" panose="020B0606030504020204" pitchFamily="34" charset="0"/>
              </a:rPr>
              <a:t>Results:</a:t>
            </a:r>
            <a:endParaRPr lang="en-US" altLang="zh-CN" b="1" dirty="0">
              <a:solidFill>
                <a:srgbClr val="00B050"/>
              </a:solidFill>
              <a:latin typeface="+mn-lt"/>
              <a:ea typeface="Open Sans" panose="020B0606030504020204" pitchFamily="34" charset="0"/>
              <a:cs typeface="Calibri" panose="020F0502020204030204" pitchFamily="34" charset="0"/>
            </a:endParaRPr>
          </a:p>
          <a:p>
            <a:pPr marL="457200" lvl="1" indent="0">
              <a:lnSpc>
                <a:spcPct val="100000"/>
              </a:lnSpc>
              <a:spcBef>
                <a:spcPts val="0"/>
              </a:spcBef>
              <a:buSzTx/>
              <a:buNone/>
            </a:pPr>
            <a:r>
              <a:rPr lang="en-US" altLang="zh-CN" sz="2000" dirty="0">
                <a:latin typeface="Calibri" panose="020F0502020204030204" pitchFamily="34" charset="0"/>
                <a:ea typeface="Open Sans" panose="020B0606030504020204" pitchFamily="34" charset="0"/>
                <a:cs typeface="Calibri" panose="020F0502020204030204" pitchFamily="34" charset="0"/>
              </a:rPr>
              <a:t>Our solution achieves an efficiency close to that in under-subscribed scenarios while preserving the capability to expand to more CPUs. </a:t>
            </a:r>
          </a:p>
          <a:p>
            <a:pPr marL="0" indent="0">
              <a:buNone/>
            </a:pPr>
            <a:r>
              <a:rPr lang="en-US" altLang="zh-CN" b="1" dirty="0">
                <a:solidFill>
                  <a:schemeClr val="accent2">
                    <a:lumMod val="60000"/>
                    <a:lumOff val="40000"/>
                  </a:schemeClr>
                </a:solidFill>
                <a:latin typeface="+mn-lt"/>
                <a:ea typeface="Open Sans" panose="020B0606030504020204" pitchFamily="34" charset="0"/>
                <a:cs typeface="Open Sans" panose="020B0606030504020204" pitchFamily="34" charset="0"/>
              </a:rPr>
              <a:t>Limitations :</a:t>
            </a:r>
          </a:p>
          <a:p>
            <a:pPr marL="457200" lvl="1" indent="0">
              <a:lnSpc>
                <a:spcPct val="100000"/>
              </a:lnSpc>
              <a:spcBef>
                <a:spcPts val="0"/>
              </a:spcBef>
              <a:buSzTx/>
              <a:buNone/>
            </a:pPr>
            <a:r>
              <a:rPr lang="en-US" altLang="zh-CN" sz="2000" dirty="0">
                <a:latin typeface="Calibri" panose="020F0502020204030204" pitchFamily="34" charset="0"/>
                <a:ea typeface="Open Sans" panose="020B0606030504020204" pitchFamily="34" charset="0"/>
                <a:cs typeface="Calibri" panose="020F0502020204030204" pitchFamily="34" charset="0"/>
              </a:rPr>
              <a:t>Our solution is most</a:t>
            </a:r>
            <a:r>
              <a:rPr lang="zh-CN" altLang="en-US" sz="2000" dirty="0">
                <a:latin typeface="Calibri" panose="020F0502020204030204" pitchFamily="34" charset="0"/>
                <a:ea typeface="Open Sans" panose="020B0606030504020204" pitchFamily="34" charset="0"/>
                <a:cs typeface="Calibri" panose="020F0502020204030204" pitchFamily="34" charset="0"/>
              </a:rPr>
              <a:t> </a:t>
            </a:r>
            <a:r>
              <a:rPr lang="en-US" altLang="zh-CN" sz="2000" dirty="0">
                <a:latin typeface="Calibri" panose="020F0502020204030204" pitchFamily="34" charset="0"/>
                <a:ea typeface="Open Sans" panose="020B0606030504020204" pitchFamily="34" charset="0"/>
                <a:cs typeface="Calibri" panose="020F0502020204030204" pitchFamily="34" charset="0"/>
              </a:rPr>
              <a:t>effective for strong scaling </a:t>
            </a:r>
            <a:r>
              <a:rPr lang="zh-CN" altLang="en-US" sz="2000" dirty="0">
                <a:latin typeface="Calibri" panose="020F0502020204030204" pitchFamily="34" charset="0"/>
                <a:ea typeface="Open Sans" panose="020B0606030504020204" pitchFamily="34" charset="0"/>
                <a:cs typeface="Calibri" panose="020F0502020204030204" pitchFamily="34" charset="0"/>
              </a:rPr>
              <a:t> </a:t>
            </a:r>
            <a:r>
              <a:rPr lang="en-US" altLang="zh-CN" sz="2000" dirty="0">
                <a:latin typeface="Calibri" panose="020F0502020204030204" pitchFamily="34" charset="0"/>
                <a:ea typeface="Open Sans" panose="020B0606030504020204" pitchFamily="34" charset="0"/>
                <a:cs typeface="Calibri" panose="020F0502020204030204" pitchFamily="34" charset="0"/>
              </a:rPr>
              <a:t>with a fixed problem size. </a:t>
            </a:r>
          </a:p>
        </p:txBody>
      </p:sp>
      <p:sp>
        <p:nvSpPr>
          <p:cNvPr id="6" name="Title 1">
            <a:extLst>
              <a:ext uri="{FF2B5EF4-FFF2-40B4-BE49-F238E27FC236}">
                <a16:creationId xmlns:a16="http://schemas.microsoft.com/office/drawing/2014/main" id="{80431215-3F73-4C63-9148-26042880A2D3}"/>
              </a:ext>
            </a:extLst>
          </p:cNvPr>
          <p:cNvSpPr txBox="1">
            <a:spLocks/>
          </p:cNvSpPr>
          <p:nvPr/>
        </p:nvSpPr>
        <p:spPr>
          <a:xfrm>
            <a:off x="0" y="28296"/>
            <a:ext cx="9152028"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tLang="zh-CN" b="1" dirty="0">
                <a:latin typeface="Calibri" panose="020F0502020204030204" pitchFamily="34" charset="0"/>
                <a:cs typeface="Calibri" panose="020F0502020204030204" pitchFamily="34" charset="0"/>
              </a:rPr>
              <a:t>Conclusions</a:t>
            </a:r>
          </a:p>
        </p:txBody>
      </p:sp>
    </p:spTree>
    <p:extLst>
      <p:ext uri="{BB962C8B-B14F-4D97-AF65-F5344CB8AC3E}">
        <p14:creationId xmlns:p14="http://schemas.microsoft.com/office/powerpoint/2010/main" val="213129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54631" y="2241724"/>
            <a:ext cx="2250552" cy="2153218"/>
          </a:xfrm>
          <a:prstGeom prst="rect">
            <a:avLst/>
          </a:prstGeom>
        </p:spPr>
        <p:txBody>
          <a:bodyPr wrap="none">
            <a:spAutoFit/>
          </a:bodyPr>
          <a:lstStyle/>
          <a:p>
            <a:pPr algn="ctr">
              <a:lnSpc>
                <a:spcPct val="200000"/>
              </a:lnSpc>
            </a:pPr>
            <a:r>
              <a:rPr lang="en-US" altLang="zh-CN" sz="3600" dirty="0">
                <a:latin typeface="Calibri" panose="020F0502020204030204" pitchFamily="34" charset="0"/>
                <a:ea typeface="Helvetica Neue Light" panose="02000403000000020004" pitchFamily="2" charset="0"/>
                <a:cs typeface="Calibri" panose="020F0502020204030204" pitchFamily="34" charset="0"/>
              </a:rPr>
              <a:t>Thanks!</a:t>
            </a:r>
          </a:p>
          <a:p>
            <a:pPr algn="ctr">
              <a:lnSpc>
                <a:spcPct val="200000"/>
              </a:lnSpc>
            </a:pPr>
            <a:r>
              <a:rPr lang="en-US" altLang="zh-CN" sz="3600" i="1" dirty="0">
                <a:solidFill>
                  <a:srgbClr val="0432FF"/>
                </a:solidFill>
                <a:latin typeface="Calibri" panose="020F0502020204030204" pitchFamily="34" charset="0"/>
                <a:ea typeface="Helvetica Neue Light" panose="02000403000000020004" pitchFamily="2" charset="0"/>
                <a:cs typeface="Calibri" panose="020F0502020204030204" pitchFamily="34" charset="0"/>
              </a:rPr>
              <a:t>Questions?</a:t>
            </a:r>
            <a:endParaRPr lang="zh-CN" altLang="en-US" sz="3600" i="1" dirty="0">
              <a:solidFill>
                <a:srgbClr val="0432F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72693350"/>
      </p:ext>
    </p:extLst>
  </p:cSld>
  <p:clrMapOvr>
    <a:masterClrMapping/>
  </p:clrMapOvr>
</p:sld>
</file>

<file path=ppt/theme/theme1.xml><?xml version="1.0" encoding="utf-8"?>
<a:theme xmlns:a="http://schemas.openxmlformats.org/drawingml/2006/main" name="Talk">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alk" id="{E5CF5A19-C2F2-8E4D-93C4-DB9849008E1F}" vid="{2AE6E2EB-C212-0044-A76C-3D4484E097A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Talk</Template>
  <TotalTime>14005</TotalTime>
  <Words>4539</Words>
  <Application>Microsoft Macintosh PowerPoint</Application>
  <PresentationFormat>On-screen Show (4:3)</PresentationFormat>
  <Paragraphs>384</Paragraphs>
  <Slides>32</Slides>
  <Notes>30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32</vt:i4>
      </vt:variant>
    </vt:vector>
  </HeadingPairs>
  <TitlesOfParts>
    <vt:vector size="48" baseType="lpstr">
      <vt:lpstr>等线</vt:lpstr>
      <vt:lpstr>等线</vt:lpstr>
      <vt:lpstr>Arial</vt:lpstr>
      <vt:lpstr>Calibri</vt:lpstr>
      <vt:lpstr>Calibri Light</vt:lpstr>
      <vt:lpstr>Cambria Math</vt:lpstr>
      <vt:lpstr>Helvetica</vt:lpstr>
      <vt:lpstr>Helvetica Neue</vt:lpstr>
      <vt:lpstr>Helvetica Neue Light</vt:lpstr>
      <vt:lpstr>Helvetica Neue Medium</vt:lpstr>
      <vt:lpstr>Helvetica Neue Thin</vt:lpstr>
      <vt:lpstr>NYTCheltenham</vt:lpstr>
      <vt:lpstr>Open Sans</vt:lpstr>
      <vt:lpstr>Wingdings</vt:lpstr>
      <vt:lpstr>Wingdings 2</vt:lpstr>
      <vt:lpstr>Talk</vt:lpstr>
      <vt:lpstr>PowerPoint Presentation</vt:lpstr>
      <vt:lpstr>Elasticity</vt:lpstr>
      <vt:lpstr>Elasticity in the Cloud</vt:lpstr>
      <vt:lpstr> </vt:lpstr>
      <vt:lpstr>PowerPoint Presentation</vt:lpstr>
      <vt:lpstr>Explore Thread Oversubscription</vt:lpstr>
      <vt:lpstr>PowerPoint Presentation</vt:lpstr>
      <vt:lpstr>Applications with Thread Oversubscription</vt:lpstr>
      <vt:lpstr>PowerPoint Presentation</vt:lpstr>
      <vt:lpstr>PowerPoint Presentation</vt:lpstr>
      <vt:lpstr>PowerPoint Presentation</vt:lpstr>
      <vt:lpstr>PowerPoint Presentation</vt:lpstr>
      <vt:lpstr>PowerPoint Presentation</vt:lpstr>
      <vt:lpstr> Managing Oversubscribed Threads</vt:lpstr>
      <vt:lpstr>Thread Sleep/Wakeup with Futex</vt:lpstr>
      <vt:lpstr>The Inefficiency with Futex</vt:lpstr>
      <vt:lpstr> Managing Oversubscribed Threads - cont'd</vt:lpstr>
      <vt:lpstr>The Inefficiency with Spinning</vt:lpstr>
      <vt:lpstr>PowerPoint Presentation</vt:lpstr>
      <vt:lpstr>Virtual Blocking (VB)</vt:lpstr>
      <vt:lpstr> The Benefits of VB</vt:lpstr>
      <vt:lpstr>Busy-waiting Detection</vt:lpstr>
      <vt:lpstr>Busy-waiting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 航</dc:creator>
  <cp:lastModifiedBy>Rao, Jia</cp:lastModifiedBy>
  <cp:revision>1525</cp:revision>
  <dcterms:created xsi:type="dcterms:W3CDTF">2019-04-22T19:34:45Z</dcterms:created>
  <dcterms:modified xsi:type="dcterms:W3CDTF">2021-06-06T20:10:39Z</dcterms:modified>
</cp:coreProperties>
</file>