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256" r:id="rId2"/>
    <p:sldId id="257" r:id="rId3"/>
    <p:sldId id="261" r:id="rId4"/>
    <p:sldId id="264" r:id="rId5"/>
    <p:sldId id="269" r:id="rId6"/>
    <p:sldId id="270" r:id="rId7"/>
    <p:sldId id="271" r:id="rId8"/>
    <p:sldId id="272" r:id="rId9"/>
    <p:sldId id="289" r:id="rId10"/>
    <p:sldId id="273" r:id="rId11"/>
    <p:sldId id="260" r:id="rId12"/>
    <p:sldId id="274" r:id="rId13"/>
    <p:sldId id="276" r:id="rId14"/>
    <p:sldId id="277" r:id="rId15"/>
    <p:sldId id="278" r:id="rId16"/>
    <p:sldId id="279" r:id="rId17"/>
    <p:sldId id="280" r:id="rId18"/>
    <p:sldId id="281" r:id="rId19"/>
    <p:sldId id="275" r:id="rId20"/>
    <p:sldId id="282" r:id="rId21"/>
    <p:sldId id="283" r:id="rId22"/>
    <p:sldId id="284" r:id="rId23"/>
    <p:sldId id="285" r:id="rId24"/>
    <p:sldId id="286" r:id="rId25"/>
    <p:sldId id="287" r:id="rId26"/>
    <p:sldId id="288"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0352"/>
    <p:restoredTop sz="88411" autoAdjust="0"/>
  </p:normalViewPr>
  <p:slideViewPr>
    <p:cSldViewPr snapToGrid="0">
      <p:cViewPr varScale="1">
        <p:scale>
          <a:sx n="91" d="100"/>
          <a:sy n="91" d="100"/>
        </p:scale>
        <p:origin x="2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8057D0-B08D-E24E-B192-AABE5E3C4DDF}" type="datetimeFigureOut">
              <a:rPr kumimoji="1" lang="zh-CN" altLang="en-US" smtClean="0"/>
              <a:t>2025/9/28</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DB340-651E-0A47-996B-3058385D0A99}" type="slidenum">
              <a:rPr kumimoji="1" lang="zh-CN" altLang="en-US" smtClean="0"/>
              <a:t>‹#›</a:t>
            </a:fld>
            <a:endParaRPr kumimoji="1" lang="zh-CN" altLang="en-US"/>
          </a:p>
        </p:txBody>
      </p:sp>
    </p:spTree>
    <p:extLst>
      <p:ext uri="{BB962C8B-B14F-4D97-AF65-F5344CB8AC3E}">
        <p14:creationId xmlns:p14="http://schemas.microsoft.com/office/powerpoint/2010/main" val="2936525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Hello, everyone: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I am Jiangshan Lai, the joint first author from ant group. Today, I will be presenting our work “</a:t>
            </a:r>
            <a:r>
              <a:rPr kumimoji="1" lang="en" altLang="zh-CN" sz="1200" dirty="0">
                <a:latin typeface="Times New Roman" panose="02020603050405020304" pitchFamily="18" charset="0"/>
                <a:cs typeface="Times New Roman" panose="02020603050405020304" pitchFamily="18" charset="0"/>
              </a:rPr>
              <a:t>PVM: Efficient Shadow Paging for Deploying Secure Containers in Cloud-native Environments</a:t>
            </a:r>
            <a:r>
              <a:rPr kumimoji="1" lang="en-US"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This</a:t>
            </a:r>
            <a:r>
              <a:rPr lang="en-US" altLang="zh-CN" sz="1200" kern="1200" baseline="0" dirty="0">
                <a:solidFill>
                  <a:schemeClr val="tx1"/>
                </a:solidFill>
                <a:effectLst/>
                <a:latin typeface="+mn-lt"/>
                <a:ea typeface="+mn-ea"/>
                <a:cs typeface="+mn-cs"/>
              </a:rPr>
              <a:t> work</a:t>
            </a:r>
            <a:r>
              <a:rPr lang="en-US" altLang="zh-CN" sz="1200" kern="1200" dirty="0">
                <a:solidFill>
                  <a:schemeClr val="tx1"/>
                </a:solidFill>
                <a:effectLst/>
                <a:latin typeface="+mn-lt"/>
                <a:ea typeface="+mn-ea"/>
                <a:cs typeface="+mn-cs"/>
              </a:rPr>
              <a:t> comes from the collaboration between Alibaba group, ant group, the</a:t>
            </a:r>
            <a:r>
              <a:rPr lang="en-US" altLang="zh-CN" sz="1200" kern="1200" baseline="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University</a:t>
            </a:r>
            <a:r>
              <a:rPr lang="en-US" altLang="zh-CN" sz="1200" kern="1200" baseline="0" dirty="0">
                <a:solidFill>
                  <a:schemeClr val="tx1"/>
                </a:solidFill>
                <a:effectLst/>
                <a:latin typeface="+mn-lt"/>
                <a:ea typeface="+mn-ea"/>
                <a:cs typeface="+mn-cs"/>
              </a:rPr>
              <a:t> of Texas at Arlington, and </a:t>
            </a:r>
            <a:r>
              <a:rPr lang="en-US" altLang="zh-CN" sz="1200" kern="1200" dirty="0">
                <a:solidFill>
                  <a:schemeClr val="tx1"/>
                </a:solidFill>
                <a:effectLst/>
                <a:latin typeface="+mn-lt"/>
                <a:ea typeface="+mn-ea"/>
                <a:cs typeface="+mn-cs"/>
              </a:rPr>
              <a:t>Huazhong University of Science and Technology.</a:t>
            </a:r>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a:t>
            </a:fld>
            <a:endParaRPr kumimoji="1" lang="zh-CN" altLang="en-US"/>
          </a:p>
        </p:txBody>
      </p:sp>
    </p:spTree>
    <p:extLst>
      <p:ext uri="{BB962C8B-B14F-4D97-AF65-F5344CB8AC3E}">
        <p14:creationId xmlns:p14="http://schemas.microsoft.com/office/powerpoint/2010/main" val="2394898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At first,</a:t>
            </a:r>
            <a:r>
              <a:rPr lang="en" altLang="zh-CN" b="0" i="0" dirty="0">
                <a:solidFill>
                  <a:srgbClr val="333333"/>
                </a:solidFill>
                <a:effectLst/>
                <a:latin typeface="PingFangSC-Regular" panose="020B0400000000000000" pitchFamily="34" charset="-122"/>
                <a:ea typeface="PingFangSC-Regular" panose="020B0400000000000000" pitchFamily="34" charset="-122"/>
              </a:rPr>
              <a:t> let‘s </a:t>
            </a:r>
            <a:r>
              <a:rPr lang="en-US" altLang="zh-CN" sz="1200" b="0" i="0" kern="1200" dirty="0">
                <a:solidFill>
                  <a:schemeClr val="tx1"/>
                </a:solidFill>
                <a:effectLst/>
                <a:latin typeface="+mn-lt"/>
                <a:ea typeface="+mn-ea"/>
                <a:cs typeface="+mn-cs"/>
              </a:rPr>
              <a:t>take a look at </a:t>
            </a:r>
            <a:r>
              <a:rPr lang="en" altLang="zh-CN" b="0" i="0" dirty="0">
                <a:solidFill>
                  <a:srgbClr val="333333"/>
                </a:solidFill>
                <a:effectLst/>
                <a:latin typeface="PingFangSC-Regular" panose="020B0400000000000000" pitchFamily="34" charset="-122"/>
                <a:ea typeface="PingFangSC-Regular" panose="020B0400000000000000" pitchFamily="34" charset="-122"/>
              </a:rPr>
              <a:t>the realm of cloud-native computing and containers. As organizations embrace the cloud, they are compelled to reassess their software development strategies. In response, cloud-native has arisen, empowering organizations to execute scalable applications and fully leverage the capabilities of clouds.</a:t>
            </a:r>
            <a:r>
              <a:rPr lang="en-US" altLang="zh-CN" b="0" i="0" dirty="0">
                <a:solidFill>
                  <a:srgbClr val="333333"/>
                </a:solidFill>
                <a:effectLst/>
                <a:latin typeface="PingFangSC-Regular" panose="020B0400000000000000" pitchFamily="34" charset="-122"/>
                <a:ea typeface="PingFangSC-Regular" panose="020B0400000000000000" pitchFamily="34" charset="-122"/>
              </a:rPr>
              <a:t> </a:t>
            </a:r>
            <a:r>
              <a:rPr lang="en" altLang="zh-CN" b="0" i="0" dirty="0">
                <a:solidFill>
                  <a:srgbClr val="333333"/>
                </a:solidFill>
                <a:effectLst/>
                <a:latin typeface="PingFangSC-Regular" panose="020B0400000000000000" pitchFamily="34" charset="-122"/>
                <a:ea typeface="PingFangSC-Regular" panose="020B0400000000000000" pitchFamily="34" charset="-122"/>
              </a:rPr>
              <a:t>When it comes to implementing cloud-native architectures, containers have emerged as one of the most important technologies. Containers help to </a:t>
            </a:r>
            <a:r>
              <a:rPr lang="en-US" altLang="zh-CN" sz="1200" b="0" i="0" kern="1200" dirty="0">
                <a:solidFill>
                  <a:schemeClr val="tx1"/>
                </a:solidFill>
                <a:effectLst/>
                <a:latin typeface="+mn-lt"/>
                <a:ea typeface="+mn-ea"/>
                <a:cs typeface="+mn-cs"/>
              </a:rPr>
              <a:t>package applications and </a:t>
            </a:r>
            <a:r>
              <a:rPr lang="en" altLang="zh-CN" b="0" i="0" dirty="0">
                <a:solidFill>
                  <a:srgbClr val="333333"/>
                </a:solidFill>
                <a:effectLst/>
                <a:latin typeface="PingFangSC-Regular" panose="020B0400000000000000" pitchFamily="34" charset="-122"/>
                <a:ea typeface="PingFangSC-Regular" panose="020B0400000000000000" pitchFamily="34" charset="-122"/>
              </a:rPr>
              <a:t>gained widespread popularity because of their </a:t>
            </a:r>
            <a:r>
              <a:rPr lang="en-US" altLang="zh-CN" sz="1200" b="0" i="0" kern="1200" dirty="0">
                <a:solidFill>
                  <a:schemeClr val="tx1"/>
                </a:solidFill>
                <a:effectLst/>
                <a:latin typeface="+mn-lt"/>
                <a:ea typeface="+mn-ea"/>
                <a:cs typeface="+mn-cs"/>
              </a:rPr>
              <a:t>flexibility, portability, minimal resource utilization, and excellent scalability</a:t>
            </a:r>
            <a:r>
              <a:rPr lang="en-US" altLang="zh-CN" sz="2200" baseline="0" dirty="0"/>
              <a:t>.</a:t>
            </a:r>
            <a:endParaRPr lang="en-US" altLang="zh-CN" sz="2200"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2</a:t>
            </a:fld>
            <a:endParaRPr kumimoji="1" lang="zh-CN" altLang="en-US"/>
          </a:p>
        </p:txBody>
      </p:sp>
    </p:spTree>
    <p:extLst>
      <p:ext uri="{BB962C8B-B14F-4D97-AF65-F5344CB8AC3E}">
        <p14:creationId xmlns:p14="http://schemas.microsoft.com/office/powerpoint/2010/main" val="3707733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solidFill>
                  <a:srgbClr val="333333"/>
                </a:solidFill>
                <a:effectLst/>
                <a:latin typeface="PingFangSC-Regular" panose="020B0400000000000000" pitchFamily="34" charset="-122"/>
                <a:ea typeface="PingFangSC-Regular" panose="020B0400000000000000" pitchFamily="34" charset="-122"/>
              </a:rPr>
              <a:t>However, traditional containers, such as </a:t>
            </a:r>
            <a:r>
              <a:rPr lang="en" altLang="zh-CN" b="0" i="0" dirty="0" err="1">
                <a:solidFill>
                  <a:srgbClr val="333333"/>
                </a:solidFill>
                <a:effectLst/>
                <a:latin typeface="PingFangSC-Regular" panose="020B0400000000000000" pitchFamily="34" charset="-122"/>
                <a:ea typeface="PingFangSC-Regular" panose="020B0400000000000000" pitchFamily="34" charset="-122"/>
              </a:rPr>
              <a:t>runc</a:t>
            </a:r>
            <a:r>
              <a:rPr lang="en" altLang="zh-CN" b="0" i="0" dirty="0">
                <a:solidFill>
                  <a:srgbClr val="333333"/>
                </a:solidFill>
                <a:effectLst/>
                <a:latin typeface="PingFangSC-Regular" panose="020B0400000000000000" pitchFamily="34" charset="-122"/>
                <a:ea typeface="PingFangSC-Regular" panose="020B0400000000000000" pitchFamily="34" charset="-122"/>
              </a:rPr>
              <a:t> containers, share the same kernel as the host operating system, which opens up opportunities for attackers to compromise the entire system. Although system-level mechanisms like namespaces, capabilities, seccomp, and </a:t>
            </a:r>
            <a:r>
              <a:rPr lang="en" altLang="zh-CN" b="0" i="0" dirty="0" err="1">
                <a:solidFill>
                  <a:srgbClr val="333333"/>
                </a:solidFill>
                <a:effectLst/>
                <a:latin typeface="PingFangSC-Regular" panose="020B0400000000000000" pitchFamily="34" charset="-122"/>
                <a:ea typeface="PingFangSC-Regular" panose="020B0400000000000000" pitchFamily="34" charset="-122"/>
              </a:rPr>
              <a:t>apparmor</a:t>
            </a:r>
            <a:r>
              <a:rPr lang="en" altLang="zh-CN" b="0" i="0" dirty="0">
                <a:solidFill>
                  <a:srgbClr val="333333"/>
                </a:solidFill>
                <a:effectLst/>
                <a:latin typeface="PingFangSC-Regular" panose="020B0400000000000000" pitchFamily="34" charset="-122"/>
                <a:ea typeface="PingFangSC-Regular" panose="020B0400000000000000" pitchFamily="34" charset="-122"/>
              </a:rPr>
              <a:t> help enhance container isolation and security, they are insufficient to meet the security requirements in the public cloud. As a result, secure containers, which consist of a traditional container and a lightweight virtual machine that hosts it, have gained increasing popularity in production systems. Secure containers provide strong isolation and compatibility with legacy applications.</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3</a:t>
            </a:fld>
            <a:endParaRPr kumimoji="1" lang="zh-CN" altLang="en-US"/>
          </a:p>
        </p:txBody>
      </p:sp>
    </p:spTree>
    <p:extLst>
      <p:ext uri="{BB962C8B-B14F-4D97-AF65-F5344CB8AC3E}">
        <p14:creationId xmlns:p14="http://schemas.microsoft.com/office/powerpoint/2010/main" val="393907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solidFill>
                  <a:srgbClr val="333333"/>
                </a:solidFill>
                <a:effectLst/>
                <a:latin typeface="PingFangSC-Regular" panose="020B0400000000000000" pitchFamily="34" charset="-122"/>
                <a:ea typeface="PingFangSC-Regular" panose="020B0400000000000000" pitchFamily="34" charset="-122"/>
              </a:rPr>
              <a:t>With the assistance of hardware virtualization extensions, secure containers are capable of achieving comparable performance when running on physical machines or cloud bare-metal instances. For instance [Action #1] Intel CPUs equipped with VT-x support offer two operation modes that operate at the full ring level, facilitating quick switches between the host and guest. Moreover, [Action #2] VT-x provides a extended page table to enhance the fast translation of guest virtual addresses to host physical addresses.</a:t>
            </a:r>
            <a:endParaRPr kumimoji="1" lang="en-US" altLang="zh-CN"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4</a:t>
            </a:fld>
            <a:endParaRPr kumimoji="1" lang="zh-CN" altLang="en-US"/>
          </a:p>
        </p:txBody>
      </p:sp>
    </p:spTree>
    <p:extLst>
      <p:ext uri="{BB962C8B-B14F-4D97-AF65-F5344CB8AC3E}">
        <p14:creationId xmlns:p14="http://schemas.microsoft.com/office/powerpoint/2010/main" val="1988751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i="0" dirty="0">
                <a:solidFill>
                  <a:srgbClr val="333333"/>
                </a:solidFill>
                <a:effectLst/>
                <a:latin typeface="PingFangSC-Regular" panose="020B0400000000000000" pitchFamily="34" charset="-122"/>
                <a:ea typeface="PingFangSC-Regular" panose="020B0400000000000000" pitchFamily="34" charset="-122"/>
              </a:rPr>
              <a:t>However, running secure containers in a Cloud VM is still a challenging topic, as the </a:t>
            </a:r>
            <a:r>
              <a:rPr lang="en-US" altLang="zh-CN" sz="1200" b="0" i="0" dirty="0">
                <a:solidFill>
                  <a:srgbClr val="333333"/>
                </a:solidFill>
                <a:effectLst/>
                <a:latin typeface="Times New Roman" panose="02020603050405020304" pitchFamily="18" charset="0"/>
                <a:ea typeface="PingFangSC-Regular" panose="020B0400000000000000" pitchFamily="34" charset="-122"/>
                <a:cs typeface="Times New Roman" panose="02020603050405020304" pitchFamily="18" charset="0"/>
              </a:rPr>
              <a:t>h</a:t>
            </a:r>
            <a:r>
              <a:rPr lang="en-US" altLang="zh-CN" sz="1200" dirty="0">
                <a:latin typeface="Times New Roman" panose="02020603050405020304" pitchFamily="18" charset="0"/>
                <a:cs typeface="Times New Roman" panose="02020603050405020304" pitchFamily="18" charset="0"/>
              </a:rPr>
              <a:t>ardware virtualization extensions only has a single level of architectural support for virtualization</a:t>
            </a:r>
            <a:r>
              <a:rPr lang="en" altLang="zh-CN" b="0" i="0" dirty="0">
                <a:solidFill>
                  <a:srgbClr val="333333"/>
                </a:solidFill>
                <a:effectLst/>
                <a:latin typeface="PingFangSC-Regular" panose="020B0400000000000000" pitchFamily="34" charset="-122"/>
                <a:ea typeface="PingFangSC-Regular" panose="020B0400000000000000" pitchFamily="34" charset="-122"/>
              </a:rPr>
              <a:t>. Therefore, enabling the execution of secure containers within a VM (also known as 2-level nested virtualization) requires </a:t>
            </a:r>
            <a:r>
              <a:rPr kumimoji="1" lang="en" altLang="zh-CN" sz="1200" dirty="0">
                <a:solidFill>
                  <a:srgbClr val="C00000"/>
                </a:solidFill>
                <a:latin typeface="Times New Roman" panose="02020603050405020304" pitchFamily="18" charset="0"/>
                <a:cs typeface="Times New Roman" panose="02020603050405020304" pitchFamily="18" charset="0"/>
              </a:rPr>
              <a:t>more complex and costly software efforts, especially for the L0 hypervisor. Moreover, </a:t>
            </a:r>
            <a:r>
              <a:rPr kumimoji="1" lang="en" altLang="zh-CN" sz="1200" b="0" i="0" dirty="0">
                <a:solidFill>
                  <a:srgbClr val="C00000"/>
                </a:solidFill>
                <a:effectLst/>
                <a:latin typeface="Times New Roman" panose="02020603050405020304" pitchFamily="18" charset="0"/>
                <a:cs typeface="Times New Roman" panose="02020603050405020304" pitchFamily="18" charset="0"/>
              </a:rPr>
              <a:t>h</a:t>
            </a:r>
            <a:r>
              <a:rPr lang="en" altLang="zh-CN" sz="1200" b="0" i="0" dirty="0">
                <a:effectLst/>
                <a:latin typeface="Times New Roman" panose="02020603050405020304" pitchFamily="18" charset="0"/>
                <a:cs typeface="Times New Roman" panose="02020603050405020304" pitchFamily="18" charset="0"/>
              </a:rPr>
              <a:t>ardware-assisted nested virtualization</a:t>
            </a:r>
            <a:r>
              <a:rPr kumimoji="1" lang="en-US" altLang="zh-CN" sz="1200" b="1" i="0" dirty="0">
                <a:effectLst/>
                <a:latin typeface="Times New Roman" panose="02020603050405020304" pitchFamily="18" charset="0"/>
                <a:cs typeface="Times New Roman" panose="02020603050405020304" pitchFamily="18" charset="0"/>
              </a:rPr>
              <a:t> </a:t>
            </a:r>
            <a:r>
              <a:rPr lang="en" altLang="zh-CN" b="0" i="0" dirty="0">
                <a:effectLst/>
                <a:latin typeface="Arial" panose="020B0604020202020204" pitchFamily="34" charset="0"/>
              </a:rPr>
              <a:t>involves complex and expensive transitions between multiple hypervisors and guest VMs. For example, any privileged instruction from 𝐿2 will first be trapped by 𝐿0 (via a VM Exit). Since the privileged instruction needs to be handled by 𝐿2’s hypervisor, i.e., 𝐿1, 𝐿0 forwards the trap to 𝐿1 and uses VM Entry to switch to 𝐿1, which in turn handles the injected trap. Upon the completion of trap handling, 𝐿1 attempts to resume running 𝐿2 using the VM Entry instruction. As the VM Entry is a privileged instruction, 𝐿1 is trapped by 𝐿0 again, where the VM Entry instruction is executed in the root mode to finally resume 𝐿2. a transition between 𝐿2 and 𝐿1 requires an exit to 𝐿0, doubling the number of world switches compared to that in single-level virtualization, To avoid excessive L0 exits, VMCS shadowing allows L1 to maintain a software-based VMCS_12 that is not directly used for running L2. Despite these optimizations, nested virtualization remains expensive.</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5</a:t>
            </a:fld>
            <a:endParaRPr kumimoji="1" lang="zh-CN" altLang="en-US"/>
          </a:p>
        </p:txBody>
      </p:sp>
    </p:spTree>
    <p:extLst>
      <p:ext uri="{BB962C8B-B14F-4D97-AF65-F5344CB8AC3E}">
        <p14:creationId xmlns:p14="http://schemas.microsoft.com/office/powerpoint/2010/main" val="1863499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We conducted performance tests using </a:t>
            </a:r>
            <a:r>
              <a:rPr lang="en" altLang="zh-CN" b="0" i="0" dirty="0" err="1">
                <a:effectLst/>
                <a:latin typeface="Arial" panose="020B0604020202020204" pitchFamily="34" charset="0"/>
              </a:rPr>
              <a:t>LMbench</a:t>
            </a:r>
            <a:r>
              <a:rPr lang="en" altLang="zh-CN" b="0" i="0" dirty="0">
                <a:effectLst/>
                <a:latin typeface="Arial" panose="020B0604020202020204" pitchFamily="34" charset="0"/>
              </a:rPr>
              <a:t>, </a:t>
            </a:r>
            <a:r>
              <a:rPr lang="en" altLang="zh-CN" b="0" i="0" dirty="0" err="1">
                <a:effectLst/>
                <a:latin typeface="Arial" panose="020B0604020202020204" pitchFamily="34" charset="0"/>
              </a:rPr>
              <a:t>Kbuild,and</a:t>
            </a:r>
            <a:r>
              <a:rPr lang="en" altLang="zh-CN" b="0" i="0" dirty="0">
                <a:effectLst/>
                <a:latin typeface="Arial" panose="020B0604020202020204" pitchFamily="34" charset="0"/>
              </a:rPr>
              <a:t> SPECjbb2005 within one or multiple secure containers and compared the performance of single-level virtualization (the secure container running in a regular VM) with that of 2-level nested virtualization (the secure container</a:t>
            </a:r>
            <a:br>
              <a:rPr lang="en" altLang="zh-CN" dirty="0"/>
            </a:br>
            <a:r>
              <a:rPr lang="en" altLang="zh-CN" b="0" i="0" dirty="0">
                <a:effectLst/>
                <a:latin typeface="Arial" panose="020B0604020202020204" pitchFamily="34" charset="0"/>
              </a:rPr>
              <a:t>running in an 𝐿2 guest). As shown in the figure, while nested virtualization introduces additional world switches for handling privileged instructions, its overhead for workloads that do not involve intensive memory access is negligible with the help of VMCS shadowing. However, when dealing with memory-intensive workloads like frequent updates to page tables, virtual address translations, and especially simultaneous memory accesses, the performance slowdown is substantial, reaching up to two orders of magnitude. In what follows, we discuss memory virtualization and analyze its overhead.</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6</a:t>
            </a:fld>
            <a:endParaRPr kumimoji="1" lang="zh-CN" altLang="en-US"/>
          </a:p>
        </p:txBody>
      </p:sp>
    </p:spTree>
    <p:extLst>
      <p:ext uri="{BB962C8B-B14F-4D97-AF65-F5344CB8AC3E}">
        <p14:creationId xmlns:p14="http://schemas.microsoft.com/office/powerpoint/2010/main" val="7631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To support 2-level nested memory virtualization, three dimensional page tables are required: one for the 𝐿2 guest, one for the 𝐿1 guest hypervisor, and one for the 𝐿0 host hypervisor. One straightforward approach to achieve this is by using shadow page tables (SPT) in 𝐿1, while still allowing 𝐿0 to use the EPT hardware, called SPT-on-EPT. As illustrated in the Figure, a page fault from 𝐿2 can trigger two phases of page table updates : 1) The first phase updates 𝐿2’s GPT2; and 2) the second phase updates 𝐿1’s GPT1 and SPT12. More specifically, in the first phase, an access to an absent GVA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in GPT2 triggers an 𝐿2 page fault and</a:t>
            </a:r>
            <a:br>
              <a:rPr lang="en" altLang="zh-CN" dirty="0"/>
            </a:br>
            <a:r>
              <a:rPr lang="en" altLang="zh-CN" b="0" i="0" dirty="0">
                <a:effectLst/>
                <a:latin typeface="Arial" panose="020B0604020202020204" pitchFamily="34" charset="0"/>
              </a:rPr>
              <a:t>an exit to 𝐿0(</a:t>
            </a:r>
            <a:r>
              <a:rPr lang="en" altLang="zh-CN" b="0" i="0" dirty="0">
                <a:effectLst/>
                <a:latin typeface="Courier New" panose="02070309020205020404" pitchFamily="49" charset="0"/>
              </a:rPr>
              <a:t>➀</a:t>
            </a:r>
            <a:r>
              <a:rPr lang="en" altLang="zh-CN" b="0" i="0" dirty="0">
                <a:effectLst/>
                <a:latin typeface="Arial" panose="020B0604020202020204" pitchFamily="34" charset="0"/>
              </a:rPr>
              <a:t>)[Action #1], which injects the page fault to 𝐿1 by writing 𝑉𝑀𝐶𝑆01 (</a:t>
            </a:r>
            <a:r>
              <a:rPr lang="en" altLang="zh-CN" b="0" i="0" dirty="0">
                <a:effectLst/>
                <a:latin typeface="Courier New" panose="02070309020205020404" pitchFamily="49" charset="0"/>
              </a:rPr>
              <a:t>➁</a:t>
            </a:r>
            <a:r>
              <a:rPr lang="en" altLang="zh-CN" b="0" i="0" dirty="0">
                <a:effectLst/>
                <a:latin typeface="Arial" panose="020B0604020202020204" pitchFamily="34" charset="0"/>
              </a:rPr>
              <a:t>) and resumes executing 𝐿1 (</a:t>
            </a:r>
            <a:r>
              <a:rPr lang="en" altLang="zh-CN" b="0" i="0" dirty="0">
                <a:effectLst/>
                <a:latin typeface="Courier New" panose="02070309020205020404" pitchFamily="49" charset="0"/>
              </a:rPr>
              <a:t>➂</a:t>
            </a:r>
            <a:r>
              <a:rPr lang="en" altLang="zh-CN" b="0" i="0" dirty="0">
                <a:effectLst/>
                <a:latin typeface="Arial" panose="020B0604020202020204" pitchFamily="34" charset="0"/>
              </a:rPr>
              <a:t>)[Action #2]. The 𝐿1 hypervisor recognizes that this is an 𝐿2 page fault and injects it to 𝐿2’s</a:t>
            </a:r>
            <a:r>
              <a:rPr lang="zh-CN" altLang="en-US" b="0" i="0" dirty="0">
                <a:effectLst/>
                <a:latin typeface="Arial" panose="020B0604020202020204" pitchFamily="34" charset="0"/>
              </a:rPr>
              <a:t> </a:t>
            </a:r>
            <a:r>
              <a:rPr lang="en" altLang="zh-CN" b="0" i="0" dirty="0">
                <a:effectLst/>
                <a:latin typeface="Arial" panose="020B0604020202020204" pitchFamily="34" charset="0"/>
              </a:rPr>
              <a:t>𝑉𝑀𝐶𝑆12 (</a:t>
            </a:r>
            <a:r>
              <a:rPr lang="en" altLang="zh-CN" b="0" i="0" dirty="0">
                <a:effectLst/>
                <a:latin typeface="Courier New" panose="02070309020205020404" pitchFamily="49" charset="0"/>
              </a:rPr>
              <a:t>➃</a:t>
            </a:r>
            <a:r>
              <a:rPr lang="en" altLang="zh-CN" b="0" i="0" dirty="0">
                <a:effectLst/>
                <a:latin typeface="Arial" panose="020B0604020202020204" pitchFamily="34" charset="0"/>
              </a:rPr>
              <a:t>) and attempts to resume 𝐿2. Resuming 𝐿2 needs</a:t>
            </a:r>
            <a:r>
              <a:rPr lang="zh-CN" altLang="en-US" b="0" i="0" dirty="0">
                <a:effectLst/>
                <a:latin typeface="Arial" panose="020B0604020202020204" pitchFamily="34" charset="0"/>
              </a:rPr>
              <a:t> </a:t>
            </a:r>
            <a:r>
              <a:rPr lang="en" altLang="zh-CN" b="0" i="0" dirty="0">
                <a:effectLst/>
                <a:latin typeface="Arial" panose="020B0604020202020204" pitchFamily="34" charset="0"/>
              </a:rPr>
              <a:t>to trap back to 𝐿0 (</a:t>
            </a:r>
            <a:r>
              <a:rPr lang="en" altLang="zh-CN" b="0" i="0" dirty="0">
                <a:effectLst/>
                <a:latin typeface="Courier New" panose="02070309020205020404" pitchFamily="49" charset="0"/>
              </a:rPr>
              <a:t>➄</a:t>
            </a:r>
            <a:r>
              <a:rPr lang="en" altLang="zh-CN" b="0" i="0" dirty="0">
                <a:effectLst/>
                <a:latin typeface="Arial" panose="020B0604020202020204" pitchFamily="34" charset="0"/>
              </a:rPr>
              <a:t>), which updates 𝑉 𝑀𝐶𝑆02 (</a:t>
            </a:r>
            <a:r>
              <a:rPr lang="en" altLang="zh-CN" b="0" i="0" dirty="0">
                <a:effectLst/>
                <a:latin typeface="Courier New" panose="02070309020205020404" pitchFamily="49" charset="0"/>
              </a:rPr>
              <a:t>➅</a:t>
            </a:r>
            <a:r>
              <a:rPr lang="en" altLang="zh-CN" b="0" i="0" dirty="0">
                <a:effectLst/>
                <a:latin typeface="Arial" panose="020B0604020202020204" pitchFamily="34" charset="0"/>
              </a:rPr>
              <a:t>) before finally resuming 𝐿2 using 𝑉 𝑀𝐶𝑆02 (</a:t>
            </a:r>
            <a:r>
              <a:rPr lang="en" altLang="zh-CN" b="0" i="0" dirty="0">
                <a:effectLst/>
                <a:latin typeface="Courier New" panose="02070309020205020404" pitchFamily="49" charset="0"/>
              </a:rPr>
              <a:t>➆</a:t>
            </a:r>
            <a:r>
              <a:rPr lang="en" altLang="zh-CN" b="0" i="0" dirty="0">
                <a:effectLst/>
                <a:latin typeface="Arial" panose="020B0604020202020204" pitchFamily="34" charset="0"/>
              </a:rPr>
              <a:t>)[Action #3]. The page fault handler</a:t>
            </a:r>
            <a:r>
              <a:rPr lang="zh-CN" altLang="en-US" b="0" i="0" dirty="0">
                <a:effectLst/>
                <a:latin typeface="Arial" panose="020B0604020202020204" pitchFamily="34" charset="0"/>
              </a:rPr>
              <a:t> </a:t>
            </a:r>
            <a:r>
              <a:rPr lang="en" altLang="zh-CN" b="0" i="0" dirty="0">
                <a:effectLst/>
                <a:latin typeface="Arial" panose="020B0604020202020204" pitchFamily="34" charset="0"/>
              </a:rPr>
              <a:t>in 𝐿2 updates GPT2 with new page table entries mapping</a:t>
            </a:r>
            <a:r>
              <a:rPr lang="zh-CN" altLang="en-US" b="0" i="0" dirty="0">
                <a:effectLst/>
                <a:latin typeface="Arial" panose="020B0604020202020204" pitchFamily="34" charset="0"/>
              </a:rPr>
              <a:t> </a:t>
            </a:r>
            <a:r>
              <a:rPr lang="en" altLang="zh-CN" b="0" i="0" dirty="0">
                <a:effectLst/>
                <a:latin typeface="Arial" panose="020B0604020202020204" pitchFamily="34" charset="0"/>
              </a:rPr>
              <a:t>GVA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to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a:t>
            </a:r>
            <a:r>
              <a:rPr lang="en" altLang="zh-CN" b="0" i="0" dirty="0">
                <a:effectLst/>
                <a:latin typeface="Courier New" panose="02070309020205020404" pitchFamily="49" charset="0"/>
              </a:rPr>
              <a:t>➇</a:t>
            </a:r>
            <a:r>
              <a:rPr lang="en" altLang="zh-CN" b="0" i="0" dirty="0">
                <a:effectLst/>
                <a:latin typeface="Arial" panose="020B0604020202020204" pitchFamily="34" charset="0"/>
              </a:rPr>
              <a:t>) and finally returns to user (</a:t>
            </a:r>
            <a:r>
              <a:rPr lang="en" altLang="zh-CN" b="0" i="0" dirty="0">
                <a:effectLst/>
                <a:latin typeface="Courier New" panose="02070309020205020404" pitchFamily="49" charset="0"/>
              </a:rPr>
              <a:t>➈</a:t>
            </a:r>
            <a:r>
              <a:rPr lang="en" altLang="zh-CN" b="0" i="0" dirty="0">
                <a:effectLst/>
                <a:latin typeface="Arial" panose="020B0604020202020204" pitchFamily="34" charset="0"/>
              </a:rPr>
              <a:t>)[Action #4]. To add</a:t>
            </a:r>
            <a:r>
              <a:rPr lang="zh-CN" altLang="en-US" b="0" i="0" dirty="0">
                <a:effectLst/>
                <a:latin typeface="Arial" panose="020B0604020202020204" pitchFamily="34" charset="0"/>
              </a:rPr>
              <a:t> </a:t>
            </a:r>
            <a:r>
              <a:rPr lang="en" altLang="zh-CN" b="0" i="0" dirty="0">
                <a:effectLst/>
                <a:latin typeface="Arial" panose="020B0604020202020204" pitchFamily="34" charset="0"/>
              </a:rPr>
              <a:t>more complexity to this process – since GPT2 is read-only,</a:t>
            </a:r>
            <a:r>
              <a:rPr lang="zh-CN" altLang="en-US" b="0" i="0" dirty="0">
                <a:effectLst/>
                <a:latin typeface="Arial" panose="020B0604020202020204" pitchFamily="34" charset="0"/>
              </a:rPr>
              <a:t> </a:t>
            </a:r>
            <a:r>
              <a:rPr lang="en" altLang="zh-CN" b="0" i="0" dirty="0">
                <a:effectLst/>
                <a:latin typeface="Arial" panose="020B0604020202020204" pitchFamily="34" charset="0"/>
              </a:rPr>
              <a:t>every update to GPT2 needs assistance from 𝐿1. Hence, step</a:t>
            </a:r>
            <a:r>
              <a:rPr lang="zh-CN" altLang="en-US" b="0" i="0" dirty="0">
                <a:effectLst/>
                <a:latin typeface="Arial" panose="020B0604020202020204" pitchFamily="34" charset="0"/>
              </a:rPr>
              <a:t> </a:t>
            </a:r>
            <a:r>
              <a:rPr lang="en" altLang="zh-CN" b="0" i="0" dirty="0">
                <a:effectLst/>
                <a:latin typeface="Courier New" panose="02070309020205020404" pitchFamily="49" charset="0"/>
              </a:rPr>
              <a:t>➇ </a:t>
            </a:r>
            <a:r>
              <a:rPr lang="en" altLang="zh-CN" b="0" i="0" dirty="0">
                <a:effectLst/>
                <a:latin typeface="Arial" panose="020B0604020202020204" pitchFamily="34" charset="0"/>
              </a:rPr>
              <a:t>could further cause multiple rounds of switches between</a:t>
            </a:r>
            <a:r>
              <a:rPr lang="zh-CN" altLang="en-US" b="0" i="0" dirty="0">
                <a:effectLst/>
                <a:latin typeface="Arial" panose="020B0604020202020204" pitchFamily="34" charset="0"/>
              </a:rPr>
              <a:t> </a:t>
            </a:r>
            <a:r>
              <a:rPr lang="en" altLang="zh-CN" b="0" i="0" dirty="0">
                <a:effectLst/>
                <a:latin typeface="Arial" panose="020B0604020202020204" pitchFamily="34" charset="0"/>
              </a:rPr>
              <a:t>𝐿2 and 𝐿1 via 𝐿0</a:t>
            </a:r>
            <a:r>
              <a:rPr lang="en-US" altLang="zh-CN" b="0" i="0" dirty="0">
                <a:effectLst/>
                <a:latin typeface="Arial" panose="020B0604020202020204" pitchFamily="34" charset="0"/>
              </a:rPr>
              <a:t>,</a:t>
            </a:r>
            <a:r>
              <a:rPr lang="en" altLang="zh-CN" b="0" i="0" dirty="0">
                <a:effectLst/>
                <a:latin typeface="Arial" panose="020B0604020202020204" pitchFamily="34" charset="0"/>
              </a:rPr>
              <a:t>depending on</a:t>
            </a:r>
            <a:r>
              <a:rPr lang="zh-CN" altLang="en-US" b="0" i="0" dirty="0">
                <a:effectLst/>
                <a:latin typeface="Arial" panose="020B0604020202020204" pitchFamily="34" charset="0"/>
              </a:rPr>
              <a:t> </a:t>
            </a:r>
            <a:r>
              <a:rPr lang="en" altLang="zh-CN" b="0" i="0" dirty="0">
                <a:effectLst/>
                <a:latin typeface="Arial" panose="020B0604020202020204" pitchFamily="34" charset="0"/>
              </a:rPr>
              <a:t>the number of page table level. es. In the first phase, 𝐿0 can be involved up to 2𝑛 + 2 times with 4𝑛 + 4 world switches (where 𝑛 is the number of 𝐿2 page table level. The following access to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 which was added to GPT2 during the first phase, triggers a page fault in 𝐿1 since GPA</a:t>
            </a:r>
            <a:r>
              <a:rPr lang="en" altLang="zh-CN" b="0" i="0" dirty="0">
                <a:effectLst/>
                <a:latin typeface="Courier New" panose="02070309020205020404" pitchFamily="49" charset="0"/>
              </a:rPr>
              <a:t>𝐿 </a:t>
            </a:r>
            <a:r>
              <a:rPr lang="en" altLang="zh-CN" b="0" i="0" dirty="0">
                <a:effectLst/>
                <a:latin typeface="Arial" panose="020B0604020202020204" pitchFamily="34" charset="0"/>
              </a:rPr>
              <a:t>is absent from GPT1 and hence SPT12. The second phase handles this 𝐿1 page fault and updates SPT12. As shown in Figure, the second phase follows the same steps as the first phase (</a:t>
            </a:r>
            <a:r>
              <a:rPr lang="en" altLang="zh-CN" b="0" i="0" dirty="0">
                <a:effectLst/>
                <a:latin typeface="Courier New" panose="02070309020205020404" pitchFamily="49" charset="0"/>
              </a:rPr>
              <a:t>➊</a:t>
            </a:r>
            <a:r>
              <a:rPr lang="en" altLang="zh-CN" b="0" i="0" dirty="0">
                <a:effectLst/>
                <a:latin typeface="Arial" panose="020B0604020202020204" pitchFamily="34" charset="0"/>
              </a:rPr>
              <a:t>-</a:t>
            </a:r>
            <a:r>
              <a:rPr lang="en" altLang="zh-CN" b="0" i="0" dirty="0">
                <a:effectLst/>
                <a:latin typeface="Courier New" panose="02070309020205020404" pitchFamily="49" charset="0"/>
              </a:rPr>
              <a:t>➐</a:t>
            </a:r>
            <a:r>
              <a:rPr lang="en" altLang="zh-CN" b="0" i="0" dirty="0">
                <a:effectLst/>
                <a:latin typeface="Arial" panose="020B0604020202020204" pitchFamily="34" charset="0"/>
              </a:rPr>
              <a:t>), except for two differences. First[Action#5], at step </a:t>
            </a:r>
            <a:r>
              <a:rPr lang="en" altLang="zh-CN" b="0" i="0" dirty="0">
                <a:effectLst/>
                <a:latin typeface="Courier New" panose="02070309020205020404" pitchFamily="49" charset="0"/>
              </a:rPr>
              <a:t>➍ </a:t>
            </a:r>
            <a:r>
              <a:rPr lang="en" altLang="zh-CN" b="0" i="0" dirty="0">
                <a:effectLst/>
                <a:latin typeface="Arial" panose="020B0604020202020204" pitchFamily="34" charset="0"/>
              </a:rPr>
              <a:t>the 𝐿1 kernel handles the page fault and updates SPT12. Second[Action#6], step </a:t>
            </a:r>
            <a:r>
              <a:rPr lang="en" altLang="zh-CN" b="0" i="0" dirty="0">
                <a:effectLst/>
                <a:latin typeface="Courier New" panose="02070309020205020404" pitchFamily="49" charset="0"/>
              </a:rPr>
              <a:t>➐ </a:t>
            </a:r>
            <a:r>
              <a:rPr lang="en" altLang="zh-CN" b="0" i="0" dirty="0">
                <a:effectLst/>
                <a:latin typeface="Arial" panose="020B0604020202020204" pitchFamily="34" charset="0"/>
              </a:rPr>
              <a:t>returns directly to 𝐿2 user space without involving the 𝐿2 guest kernel. In the second phase, there are four more world switches, including trapping to 𝐿0 twice. [Action#7]in the worst-case scenario, in which both GPT2 and SPT12 need to be updated, and assuming an n-level GPT2, an 𝐿2 page fault can lead to 4n + 8 world switches and 2n + 4 exits to 𝐿0 and [Action#6]in the worst-case scenario, in which both GPT2 and SPT12 need to be updated, and assuming an n-level GPT2, an 𝐿2 page fault can lead to 4n + 8 world switches and 2n + 4 exits to 𝐿0.</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7</a:t>
            </a:fld>
            <a:endParaRPr kumimoji="1" lang="zh-CN" altLang="en-US"/>
          </a:p>
        </p:txBody>
      </p:sp>
    </p:spTree>
    <p:extLst>
      <p:ext uri="{BB962C8B-B14F-4D97-AF65-F5344CB8AC3E}">
        <p14:creationId xmlns:p14="http://schemas.microsoft.com/office/powerpoint/2010/main" val="468383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rtl="0"/>
            <a:r>
              <a:rPr lang="en" altLang="zh-CN" b="0" i="0" dirty="0">
                <a:effectLst/>
                <a:latin typeface="Arial" panose="020B0604020202020204" pitchFamily="34" charset="0"/>
              </a:rPr>
              <a:t>The state-of-the-art nested memory virtualization approach for KVM leverages the architectural support for 2-dimensional page tables in EPT, called EPT-on-EPT. As illustrated in Figure, 𝐿2 has its own GPT2, which maps GVA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to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 𝐿0 exposes EPT capabilities to 𝐿1, which creates and maintains an EPT12 table mapping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to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1. Same as SPT-on-EPT, 𝐿0 manages EPT01, mapping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1 to HPA. Because MMU only supports one EPT table, 𝐿0 compresses EPT01 and EPT12 into one, EPT02, mapping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to HPA. Therefore, 𝐿0 can run 𝐿2 using 𝐿2’s GPT2 and EPT02. [Action#1] The EPT-on-EPT approach allows 𝐿2 to freely update GPT2 without any traps to 𝐿0, but needs multiple world switches to build and update EPT02. The update of EPT02 also involves two phases: The first phase updates EPT12 and EPT01 (</a:t>
            </a:r>
            <a:r>
              <a:rPr lang="en" altLang="zh-CN" b="0" i="0" dirty="0">
                <a:effectLst/>
                <a:latin typeface="Courier New" panose="02070309020205020404" pitchFamily="49" charset="0"/>
              </a:rPr>
              <a:t>➊</a:t>
            </a:r>
            <a:r>
              <a:rPr lang="en" altLang="zh-CN" b="0" i="0" dirty="0">
                <a:effectLst/>
                <a:latin typeface="Arial" panose="020B0604020202020204" pitchFamily="34" charset="0"/>
              </a:rPr>
              <a:t>-</a:t>
            </a:r>
            <a:r>
              <a:rPr lang="en" altLang="zh-CN" b="0" i="0" dirty="0">
                <a:effectLst/>
                <a:latin typeface="Courier New" panose="02070309020205020404" pitchFamily="49" charset="0"/>
              </a:rPr>
              <a:t>➓</a:t>
            </a:r>
            <a:r>
              <a:rPr lang="en" altLang="zh-CN" b="0" i="0" dirty="0">
                <a:effectLst/>
                <a:latin typeface="Arial" panose="020B0604020202020204" pitchFamily="34" charset="0"/>
              </a:rPr>
              <a:t>). The update of EPT is emulated by 𝐿0 – by making EPT12 read-only to 𝐿1. Hence, step </a:t>
            </a:r>
            <a:r>
              <a:rPr lang="en" altLang="zh-CN" b="0" i="0" dirty="0">
                <a:effectLst/>
                <a:latin typeface="Courier New" panose="02070309020205020404" pitchFamily="49" charset="0"/>
              </a:rPr>
              <a:t>➎</a:t>
            </a:r>
            <a:r>
              <a:rPr lang="en" altLang="zh-CN" b="0" i="0" dirty="0">
                <a:effectLst/>
                <a:latin typeface="Arial" panose="020B0604020202020204" pitchFamily="34" charset="0"/>
              </a:rPr>
              <a:t>-</a:t>
            </a:r>
            <a:r>
              <a:rPr lang="en" altLang="zh-CN" b="0" i="0" dirty="0">
                <a:effectLst/>
                <a:latin typeface="Courier New" panose="02070309020205020404" pitchFamily="49" charset="0"/>
              </a:rPr>
              <a:t>➐ </a:t>
            </a:r>
            <a:r>
              <a:rPr lang="en" altLang="zh-CN" b="0" i="0" dirty="0">
                <a:effectLst/>
                <a:latin typeface="Arial" panose="020B0604020202020204" pitchFamily="34" charset="0"/>
              </a:rPr>
              <a:t>may repeat multiple times – depending on the number of page table levels in EPT12. Thus, the first phase traps to 𝐿0 𝑛 + 2 times with 2𝑛 + 4 world switches. The second phase updates EPT02 (11 - 13), by compressing EPT01 and EPT12 (built in the first phase). It adds one more 𝐿0 trap and two more world switches. In summary, a page fault from 𝐿2 triggers 2n + 6 world switches and exit to 𝐿0 for n + 3 times Compared to SPT-on-EPT, EPT-on-EPT is more efficient in terms of fewer number of world switches and 𝐿0 traps. a page fault from 𝐿2 triggers 2n + 6 world switches and exit to 𝐿0 for n + 3 times.</a:t>
            </a:r>
            <a:r>
              <a:rPr lang="en" altLang="zh-CN" b="0" i="0" dirty="0">
                <a:solidFill>
                  <a:srgbClr val="5D6879"/>
                </a:solidFill>
                <a:effectLst/>
                <a:latin typeface="Arial" panose="020B0604020202020204" pitchFamily="34" charset="0"/>
              </a:rPr>
              <a:t> However, our measurements showed</a:t>
            </a:r>
            <a:r>
              <a:rPr lang="en" altLang="zh-CN" b="0" i="0" dirty="0">
                <a:solidFill>
                  <a:srgbClr val="5D6879"/>
                </a:solidFill>
                <a:effectLst/>
                <a:latin typeface="Lato" panose="020F0502020204030204" pitchFamily="34" charset="0"/>
              </a:rPr>
              <a:t> </a:t>
            </a:r>
            <a:r>
              <a:rPr lang="en" altLang="zh-CN" b="0" i="0" dirty="0">
                <a:solidFill>
                  <a:srgbClr val="5D6879"/>
                </a:solidFill>
                <a:effectLst/>
                <a:latin typeface="Arial" panose="020B0604020202020204" pitchFamily="34" charset="0"/>
              </a:rPr>
              <a:t>that world switches in nested virtualization (1.3 </a:t>
            </a:r>
            <a:r>
              <a:rPr lang="el-GR" altLang="zh-CN" b="0" i="0" dirty="0">
                <a:solidFill>
                  <a:srgbClr val="5D6879"/>
                </a:solidFill>
                <a:effectLst/>
                <a:latin typeface="Courier New" panose="02070309020205020404" pitchFamily="49" charset="0"/>
              </a:rPr>
              <a:t>μ</a:t>
            </a:r>
            <a:r>
              <a:rPr lang="en" altLang="zh-CN" b="0" i="0" dirty="0">
                <a:solidFill>
                  <a:srgbClr val="5D6879"/>
                </a:solidFill>
                <a:effectLst/>
                <a:latin typeface="Arial" panose="020B0604020202020204" pitchFamily="34" charset="0"/>
              </a:rPr>
              <a:t>s) is an order of magnitude more expensive than those in single-level</a:t>
            </a:r>
            <a:r>
              <a:rPr lang="en" altLang="zh-CN" b="0" i="0" dirty="0">
                <a:solidFill>
                  <a:srgbClr val="5D6879"/>
                </a:solidFill>
                <a:effectLst/>
                <a:latin typeface="Lato" panose="020F0502020204030204" pitchFamily="34" charset="0"/>
              </a:rPr>
              <a:t> </a:t>
            </a:r>
            <a:r>
              <a:rPr lang="en" altLang="zh-CN" b="0" i="0" dirty="0">
                <a:solidFill>
                  <a:srgbClr val="5D6879"/>
                </a:solidFill>
                <a:effectLst/>
                <a:latin typeface="Arial" panose="020B0604020202020204" pitchFamily="34" charset="0"/>
              </a:rPr>
              <a:t>virtualization (0.105 </a:t>
            </a:r>
            <a:r>
              <a:rPr lang="el-GR" altLang="zh-CN" b="0" i="0" dirty="0">
                <a:solidFill>
                  <a:srgbClr val="5D6879"/>
                </a:solidFill>
                <a:effectLst/>
                <a:latin typeface="Courier New" panose="02070309020205020404" pitchFamily="49" charset="0"/>
              </a:rPr>
              <a:t>μ</a:t>
            </a:r>
            <a:r>
              <a:rPr lang="en" altLang="zh-CN" b="0" i="0" dirty="0">
                <a:solidFill>
                  <a:srgbClr val="5D6879"/>
                </a:solidFill>
                <a:effectLst/>
                <a:latin typeface="Arial" panose="020B0604020202020204" pitchFamily="34" charset="0"/>
              </a:rPr>
              <a:t>s).</a:t>
            </a:r>
            <a:endParaRPr lang="en" altLang="zh-CN" b="0" i="0" dirty="0">
              <a:solidFill>
                <a:srgbClr val="5D6879"/>
              </a:solidFill>
              <a:effectLst/>
              <a:latin typeface="Lato" panose="020F0502020204030204" pitchFamily="34" charset="0"/>
            </a:endParaRPr>
          </a:p>
          <a:p>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8</a:t>
            </a:fld>
            <a:endParaRPr kumimoji="1" lang="zh-CN" altLang="en-US"/>
          </a:p>
        </p:txBody>
      </p:sp>
    </p:spTree>
    <p:extLst>
      <p:ext uri="{BB962C8B-B14F-4D97-AF65-F5344CB8AC3E}">
        <p14:creationId xmlns:p14="http://schemas.microsoft.com/office/powerpoint/2010/main" val="3989805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We used a memory-intensive micro-benchmark running in 𝐿2 to sequentially allocate 1 MB memory spaces</a:t>
            </a:r>
            <a:br>
              <a:rPr lang="en" altLang="zh-CN" dirty="0"/>
            </a:br>
            <a:r>
              <a:rPr lang="en" altLang="zh-CN" b="0" i="0" dirty="0">
                <a:effectLst/>
                <a:latin typeface="Arial" panose="020B0604020202020204" pitchFamily="34" charset="0"/>
              </a:rPr>
              <a:t>and access pages within the allocated regions one by one. We varied the number of benchmark instances from 1 to 16. EPT-on-EPT significantly outperformed SPT-on-EPT in all cases. However, a considerable performance gap persisted between EPT-on-EPT and single-level memory virtualization (EPT only), and this gap widened as concurrency levels increased. We quantified the cost of world switches in EPT-on-EPT and EPT only. We quantified the cost of world switches in EPT-on-EPT and EPT only. Our measurements showed that world switches in nested virtualization (1.3 </a:t>
            </a:r>
            <a:r>
              <a:rPr lang="el-GR" altLang="zh-CN" b="0" i="0" dirty="0">
                <a:effectLst/>
                <a:latin typeface="Courier New" panose="02070309020205020404" pitchFamily="49" charset="0"/>
              </a:rPr>
              <a:t>μ</a:t>
            </a:r>
            <a:r>
              <a:rPr lang="en" altLang="zh-CN" b="0" i="0" dirty="0">
                <a:effectLst/>
                <a:latin typeface="Arial" panose="020B0604020202020204" pitchFamily="34" charset="0"/>
              </a:rPr>
              <a:t>s) is an order of magnitude more expensive than those in single-level virtualization (0.105 </a:t>
            </a:r>
            <a:r>
              <a:rPr lang="el-GR" altLang="zh-CN" b="0" i="0" dirty="0">
                <a:effectLst/>
                <a:latin typeface="Courier New" panose="02070309020205020404" pitchFamily="49" charset="0"/>
              </a:rPr>
              <a:t>μ</a:t>
            </a:r>
            <a:r>
              <a:rPr lang="en" altLang="zh-CN" b="0" i="0" dirty="0">
                <a:effectLst/>
                <a:latin typeface="Arial" panose="020B0604020202020204" pitchFamily="34" charset="0"/>
              </a:rPr>
              <a:t>s)</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9</a:t>
            </a:fld>
            <a:endParaRPr kumimoji="1" lang="zh-CN" altLang="en-US"/>
          </a:p>
        </p:txBody>
      </p:sp>
    </p:spTree>
    <p:extLst>
      <p:ext uri="{BB962C8B-B14F-4D97-AF65-F5344CB8AC3E}">
        <p14:creationId xmlns:p14="http://schemas.microsoft.com/office/powerpoint/2010/main" val="2528179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While EPT-on-EPT is the state-of-the-art nested memory virtualization approach, it has several drawbacks that prevent it from being adopted in production cloud systems. First, EPT-on-EPT still leads to a large number of costly world switches between various levels of hypervisors and VMs, leading to poor performance.  Second, nested virtualization upon EPT-on-EPT heavily relies on the 𝐿0 hypervisor (e.g., maintaining EPT02 and forwarding traps between 𝐿2 and 𝐿1). A “fat” host hypervisor increases security risks by expanding the attack surface for cloud providers. Third, nested virtualization is incompatible with emerging technologies such as AMD SEV and Intel TDX. This motivates us to develop a more efficient nested virtualization framework, which assumes no support from hardware virtualization and supports unmodified L0 host hypervisor.</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10</a:t>
            </a:fld>
            <a:endParaRPr kumimoji="1" lang="zh-CN" altLang="en-US"/>
          </a:p>
        </p:txBody>
      </p:sp>
    </p:spTree>
    <p:extLst>
      <p:ext uri="{BB962C8B-B14F-4D97-AF65-F5344CB8AC3E}">
        <p14:creationId xmlns:p14="http://schemas.microsoft.com/office/powerpoint/2010/main" val="325024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PVM, is a high-performance, </a:t>
            </a:r>
            <a:r>
              <a:rPr lang="en" altLang="zh-CN" b="0" i="0" dirty="0" err="1">
                <a:effectLst/>
                <a:latin typeface="Arial" panose="020B0604020202020204" pitchFamily="34" charset="0"/>
              </a:rPr>
              <a:t>pagetable</a:t>
            </a:r>
            <a:r>
              <a:rPr lang="en" altLang="zh-CN" b="0" i="0" dirty="0">
                <a:effectLst/>
                <a:latin typeface="Arial" panose="020B0604020202020204" pitchFamily="34" charset="0"/>
              </a:rPr>
              <a:t>-based nested virtualization framework built upon the KVM hypervisor. The over-arching goals of PVM are to 1) enable nested virtualization with any IaaS clouds without affecting the security, flexibility, and complexity of the cloud platform; 2) avoid costly exits to the host hypervisor and devise efficient world switching mechanisms. The figure depicts the architecture of PVM, which comprises three key components: the 𝐿2 guest, the switcher, and the 𝐿1 guest hypervisor, or the PVM hypervisor. [Action#1]The 𝐿2 guest operates entirely within the hardware Ring 3 (i.e., h_ring3 in the non-root mode) with the least privilege. It features secure containers in virtual Ring 3 (i.e., v_ring3) and the </a:t>
            </a:r>
            <a:r>
              <a:rPr lang="en" altLang="zh-CN" b="0" i="0" dirty="0" err="1">
                <a:effectLst/>
                <a:latin typeface="Arial" panose="020B0604020202020204" pitchFamily="34" charset="0"/>
              </a:rPr>
              <a:t>paravirtualized</a:t>
            </a:r>
            <a:r>
              <a:rPr lang="en" altLang="zh-CN" b="0" i="0" dirty="0">
                <a:effectLst/>
                <a:latin typeface="Arial" panose="020B0604020202020204" pitchFamily="34" charset="0"/>
              </a:rPr>
              <a:t> 𝐿2 guest kernel in virtual Ring 0. 2) [Action#2]The switcher is responsible </a:t>
            </a:r>
            <a:r>
              <a:rPr lang="en" altLang="zh-CN" b="0" i="0" dirty="0" err="1">
                <a:effectLst/>
                <a:latin typeface="Arial" panose="020B0604020202020204" pitchFamily="34" charset="0"/>
              </a:rPr>
              <a:t>for“switching</a:t>
            </a:r>
            <a:r>
              <a:rPr lang="en" altLang="zh-CN" b="0" i="0" dirty="0">
                <a:effectLst/>
                <a:latin typeface="Arial" panose="020B0604020202020204" pitchFamily="34" charset="0"/>
              </a:rPr>
              <a:t>” the worlds between the 𝐿1 guest hypervisor, the 𝐿2 guest user, and the 𝐿2 guest kernel. The world switches can be triggered by a set of events, such as system calls, </a:t>
            </a:r>
            <a:r>
              <a:rPr lang="en" altLang="zh-CN" b="0" i="0" dirty="0" err="1">
                <a:effectLst/>
                <a:latin typeface="Arial" panose="020B0604020202020204" pitchFamily="34" charset="0"/>
              </a:rPr>
              <a:t>hypercalls</a:t>
            </a:r>
            <a:r>
              <a:rPr lang="en" altLang="zh-CN" b="0" i="0" dirty="0">
                <a:effectLst/>
                <a:latin typeface="Arial" panose="020B0604020202020204" pitchFamily="34" charset="0"/>
              </a:rPr>
              <a:t>, and interrupts/exceptions. 3) [Action#3]the PVM hypervisor comprises two (loadable) kernel modules: </a:t>
            </a:r>
            <a:r>
              <a:rPr lang="en" altLang="zh-CN" b="0" i="0" dirty="0" err="1">
                <a:effectLst/>
                <a:latin typeface="Arial" panose="020B0604020202020204" pitchFamily="34" charset="0"/>
              </a:rPr>
              <a:t>kvm.ko</a:t>
            </a:r>
            <a:r>
              <a:rPr lang="en" altLang="zh-CN" b="0" i="0" dirty="0">
                <a:effectLst/>
                <a:latin typeface="Arial" panose="020B0604020202020204" pitchFamily="34" charset="0"/>
              </a:rPr>
              <a:t>, which incorporates traditional KVM core functionality to ensure compatibility with the upper software stack, and </a:t>
            </a:r>
            <a:r>
              <a:rPr lang="en" altLang="zh-CN" b="0" i="0" dirty="0" err="1">
                <a:effectLst/>
                <a:latin typeface="Arial" panose="020B0604020202020204" pitchFamily="34" charset="0"/>
              </a:rPr>
              <a:t>kvm-pvm.ko</a:t>
            </a:r>
            <a:r>
              <a:rPr lang="en" altLang="zh-CN" b="0" i="0" dirty="0">
                <a:effectLst/>
                <a:latin typeface="Arial" panose="020B0604020202020204" pitchFamily="34" charset="0"/>
              </a:rPr>
              <a:t>, which incorporates the core PVM functionality, </a:t>
            </a:r>
            <a:r>
              <a:rPr lang="en" altLang="zh-CN" b="0" i="0" dirty="0" err="1">
                <a:effectLst/>
                <a:latin typeface="Arial" panose="020B0604020202020204" pitchFamily="34" charset="0"/>
              </a:rPr>
              <a:t>i.e.,a</a:t>
            </a:r>
            <a:r>
              <a:rPr lang="en" altLang="zh-CN" b="0" i="0" dirty="0">
                <a:effectLst/>
                <a:latin typeface="Arial" panose="020B0604020202020204" pitchFamily="34" charset="0"/>
              </a:rPr>
              <a:t> customized virtualization implementation using a function pointer vector of KVM. </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11</a:t>
            </a:fld>
            <a:endParaRPr kumimoji="1" lang="zh-CN" altLang="en-US"/>
          </a:p>
        </p:txBody>
      </p:sp>
    </p:spTree>
    <p:extLst>
      <p:ext uri="{BB962C8B-B14F-4D97-AF65-F5344CB8AC3E}">
        <p14:creationId xmlns:p14="http://schemas.microsoft.com/office/powerpoint/2010/main" val="2448459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The Switcher comprises efficient and concise assembly code and data structures that map to identical addresses within the L1 hypervisor, L2 user, and L2 kernel address spaces, and facilitates state transitions between them. there are three key elements in switcher: 1) a per-CPU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entry to handle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requests between the 𝐿1 guest hypervisor, the 𝐿2 guest user, and the 𝐿2 kernel; 2) a per-CPU switcher state, similar to VMCS, which saves and restores 𝐿2 guest and 𝐿1 host states during world switches; and 3) customized interrupt descriptor table (IDT) handlers for capturing interrupts/exceptions. Without hardware support, an 𝐿2 guest traps to the 𝐿1 hypervisor in two ways: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a:t>
            </a:r>
            <a:r>
              <a:rPr lang="en" altLang="zh-CN" b="0" i="0" dirty="0" err="1">
                <a:effectLst/>
                <a:latin typeface="Arial" panose="020B0604020202020204" pitchFamily="34" charset="0"/>
              </a:rPr>
              <a:t>hypercall</a:t>
            </a:r>
            <a:r>
              <a:rPr lang="en" altLang="zh-CN" b="0" i="0" dirty="0">
                <a:effectLst/>
                <a:latin typeface="Arial" panose="020B0604020202020204" pitchFamily="34" charset="0"/>
              </a:rPr>
              <a:t> and interrupt/exception. In PVM, </a:t>
            </a:r>
            <a:r>
              <a:rPr lang="en" altLang="zh-CN" b="0" i="0" dirty="0" err="1">
                <a:effectLst/>
                <a:latin typeface="Arial" panose="020B0604020202020204" pitchFamily="34" charset="0"/>
              </a:rPr>
              <a:t>hypercalls</a:t>
            </a:r>
            <a:r>
              <a:rPr lang="en" altLang="zh-CN" b="0" i="0" dirty="0">
                <a:effectLst/>
                <a:latin typeface="Arial" panose="020B0604020202020204" pitchFamily="34" charset="0"/>
              </a:rPr>
              <a:t> in the 𝐿2 guest kernel are implemented through the invocation of </a:t>
            </a:r>
            <a:r>
              <a:rPr lang="en" altLang="zh-CN" b="0" i="0" dirty="0" err="1">
                <a:effectLst/>
                <a:latin typeface="Arial" panose="020B0604020202020204" pitchFamily="34" charset="0"/>
              </a:rPr>
              <a:t>syscalls</a:t>
            </a:r>
            <a:r>
              <a:rPr lang="en" altLang="zh-CN" b="0" i="0" dirty="0">
                <a:effectLst/>
                <a:latin typeface="Arial" panose="020B0604020202020204" pitchFamily="34" charset="0"/>
              </a:rPr>
              <a:t>. [Action#1]When an 𝐿2 guest executes</a:t>
            </a:r>
            <a:br>
              <a:rPr lang="en" altLang="zh-CN" dirty="0"/>
            </a:br>
            <a:r>
              <a:rPr lang="en" altLang="zh-CN" b="0" i="0" dirty="0">
                <a:effectLst/>
                <a:latin typeface="Arial" panose="020B0604020202020204" pitchFamily="34" charset="0"/>
              </a:rPr>
              <a:t>a </a:t>
            </a:r>
            <a:r>
              <a:rPr lang="en" altLang="zh-CN" b="0" i="0" dirty="0" err="1">
                <a:effectLst/>
                <a:latin typeface="Courier New" panose="02070309020205020404" pitchFamily="49" charset="0"/>
              </a:rPr>
              <a:t>syscall</a:t>
            </a:r>
            <a:r>
              <a:rPr lang="en" altLang="zh-CN" b="0" i="0" dirty="0">
                <a:effectLst/>
                <a:latin typeface="Courier New" panose="02070309020205020404" pitchFamily="49" charset="0"/>
              </a:rPr>
              <a:t> </a:t>
            </a:r>
            <a:r>
              <a:rPr lang="en" altLang="zh-CN" b="0" i="0" dirty="0">
                <a:effectLst/>
                <a:latin typeface="Arial" panose="020B0604020202020204" pitchFamily="34" charset="0"/>
              </a:rPr>
              <a:t>instruction or an interrupt/exception occurs, [Action#2]the CPU transitions to h_ring0 and enters the switcher through a pre-defined handler in CPU registers (e.g., </a:t>
            </a:r>
            <a:r>
              <a:rPr lang="en" altLang="zh-CN" b="0" i="0" dirty="0" err="1">
                <a:effectLst/>
                <a:latin typeface="Arial" panose="020B0604020202020204" pitchFamily="34" charset="0"/>
              </a:rPr>
              <a:t>MSR_LSTARor</a:t>
            </a:r>
            <a:r>
              <a:rPr lang="en" altLang="zh-CN" b="0" i="0" dirty="0">
                <a:effectLst/>
                <a:latin typeface="Arial" panose="020B0604020202020204" pitchFamily="34" charset="0"/>
              </a:rPr>
              <a:t> IDTR). Inside the switcher, the </a:t>
            </a:r>
            <a:r>
              <a:rPr lang="en" altLang="zh-CN" b="0" i="0" dirty="0" err="1">
                <a:effectLst/>
                <a:latin typeface="Courier New" panose="02070309020205020404" pitchFamily="49" charset="0"/>
              </a:rPr>
              <a:t>to_hypervisor</a:t>
            </a:r>
            <a:r>
              <a:rPr lang="en" altLang="zh-CN" b="0" i="0" dirty="0">
                <a:effectLst/>
                <a:latin typeface="Courier New" panose="02070309020205020404" pitchFamily="49" charset="0"/>
              </a:rPr>
              <a:t> </a:t>
            </a:r>
            <a:r>
              <a:rPr lang="en" altLang="zh-CN" b="0" i="0" dirty="0">
                <a:effectLst/>
                <a:latin typeface="Arial" panose="020B0604020202020204" pitchFamily="34" charset="0"/>
              </a:rPr>
              <a:t>function performs the world switch from the 𝐿2 guest user (or kernel) to the 𝐿1 hypervisor. [Action#3]The switch function saves the 𝐿2 guest states and restores the 𝐿1 host states to/from the per-CPU switcher state. Once the exit has been completed, as shown in the right figure, the </a:t>
            </a:r>
            <a:r>
              <a:rPr lang="en" altLang="zh-CN" b="0" i="0" dirty="0" err="1">
                <a:effectLst/>
                <a:latin typeface="Courier New" panose="02070309020205020404" pitchFamily="49" charset="0"/>
              </a:rPr>
              <a:t>enter_guest</a:t>
            </a:r>
            <a:r>
              <a:rPr lang="en" altLang="zh-CN" b="0" i="0" dirty="0">
                <a:effectLst/>
                <a:latin typeface="Courier New" panose="02070309020205020404" pitchFamily="49" charset="0"/>
              </a:rPr>
              <a:t> </a:t>
            </a:r>
            <a:r>
              <a:rPr lang="en" altLang="zh-CN" b="0" i="0" dirty="0">
                <a:effectLst/>
                <a:latin typeface="Arial" panose="020B0604020202020204" pitchFamily="34" charset="0"/>
              </a:rPr>
              <a:t>function in the 𝐿1 hypervisor rebuilds the 𝐿2 guest context by saving the 𝐿1 host states and restoring the 𝐿2 guest states to/from the per-CPU switcher state.</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12</a:t>
            </a:fld>
            <a:endParaRPr kumimoji="1" lang="zh-CN" altLang="en-US"/>
          </a:p>
        </p:txBody>
      </p:sp>
    </p:spTree>
    <p:extLst>
      <p:ext uri="{BB962C8B-B14F-4D97-AF65-F5344CB8AC3E}">
        <p14:creationId xmlns:p14="http://schemas.microsoft.com/office/powerpoint/2010/main" val="2427205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PVM has also devised a novel direct switch mechanism in the switcher, to allows 𝐿2 guests to achieve fast user/kernel switches due to </a:t>
            </a:r>
            <a:r>
              <a:rPr lang="en" altLang="zh-CN" b="0" i="0" dirty="0" err="1">
                <a:effectLst/>
                <a:latin typeface="Arial" panose="020B0604020202020204" pitchFamily="34" charset="0"/>
              </a:rPr>
              <a:t>syscalls</a:t>
            </a:r>
            <a:r>
              <a:rPr lang="en" altLang="zh-CN" b="0" i="0" dirty="0">
                <a:effectLst/>
                <a:latin typeface="Arial" panose="020B0604020202020204" pitchFamily="34" charset="0"/>
              </a:rPr>
              <a:t> without hypervisor intervention. Specifically, when an 𝐿2 guest user invokes a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from h_ring3, the CPU transitions to h_ring0 and enters switcher. Switcher emulates the </a:t>
            </a:r>
            <a:r>
              <a:rPr lang="en" altLang="zh-CN" b="0" i="0" dirty="0" err="1">
                <a:effectLst/>
                <a:latin typeface="Courier New" panose="02070309020205020404" pitchFamily="49" charset="0"/>
              </a:rPr>
              <a:t>syscall</a:t>
            </a:r>
            <a:r>
              <a:rPr lang="en" altLang="zh-CN" b="0" i="0" dirty="0">
                <a:effectLst/>
                <a:latin typeface="Courier New" panose="02070309020205020404" pitchFamily="49" charset="0"/>
              </a:rPr>
              <a:t> </a:t>
            </a:r>
            <a:r>
              <a:rPr lang="en" altLang="zh-CN" b="0" i="0" dirty="0">
                <a:effectLst/>
                <a:latin typeface="Arial" panose="020B0604020202020204" pitchFamily="34" charset="0"/>
              </a:rPr>
              <a:t>instruction by 1) saving the state of the 𝐿2 guest user; 2) restoring the state of the 𝐿2 guest kernel; and 3) constructing a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frame where the 𝐿2 guest kernel can invoke the requested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function. At the end of the </a:t>
            </a:r>
            <a:r>
              <a:rPr lang="en" altLang="zh-CN" b="0" i="0" dirty="0" err="1">
                <a:effectLst/>
                <a:latin typeface="Courier New" panose="02070309020205020404" pitchFamily="49" charset="0"/>
              </a:rPr>
              <a:t>syscall</a:t>
            </a:r>
            <a:r>
              <a:rPr lang="en" altLang="zh-CN" b="0" i="0" dirty="0">
                <a:effectLst/>
                <a:latin typeface="Courier New" panose="02070309020205020404" pitchFamily="49" charset="0"/>
              </a:rPr>
              <a:t> </a:t>
            </a:r>
            <a:r>
              <a:rPr lang="en" altLang="zh-CN" b="0" i="0" dirty="0">
                <a:effectLst/>
                <a:latin typeface="Arial" panose="020B0604020202020204" pitchFamily="34" charset="0"/>
              </a:rPr>
              <a:t>emulation, switcher directly switches to the 𝐿2 guest kernel for executing the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To enable direct switch for </a:t>
            </a:r>
            <a:r>
              <a:rPr lang="en" altLang="zh-CN" b="0" i="0" dirty="0" err="1">
                <a:effectLst/>
                <a:latin typeface="Arial" panose="020B0604020202020204" pitchFamily="34" charset="0"/>
              </a:rPr>
              <a:t>sysret</a:t>
            </a:r>
            <a:r>
              <a:rPr lang="en" altLang="zh-CN" b="0" i="0" dirty="0">
                <a:effectLst/>
                <a:latin typeface="Arial" panose="020B0604020202020204" pitchFamily="34" charset="0"/>
              </a:rPr>
              <a:t>, PVM uses a </a:t>
            </a:r>
            <a:r>
              <a:rPr lang="en" altLang="zh-CN" b="0" i="0" dirty="0" err="1">
                <a:effectLst/>
                <a:latin typeface="Courier New" panose="02070309020205020404" pitchFamily="49" charset="0"/>
              </a:rPr>
              <a:t>sysret</a:t>
            </a:r>
            <a:r>
              <a:rPr lang="en" altLang="zh-CN" b="0" i="0" dirty="0">
                <a:effectLst/>
                <a:latin typeface="Courier New" panose="02070309020205020404" pitchFamily="49" charset="0"/>
              </a:rPr>
              <a:t> </a:t>
            </a:r>
            <a:r>
              <a:rPr lang="en" altLang="zh-CN" b="0" i="0" dirty="0" err="1">
                <a:effectLst/>
                <a:latin typeface="Arial" panose="020B0604020202020204" pitchFamily="34" charset="0"/>
              </a:rPr>
              <a:t>hypercall</a:t>
            </a:r>
            <a:r>
              <a:rPr lang="en" altLang="zh-CN" b="0" i="0" dirty="0">
                <a:effectLst/>
                <a:latin typeface="Arial" panose="020B0604020202020204" pitchFamily="34" charset="0"/>
              </a:rPr>
              <a:t> in the 𝐿2 guest kernel to return a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The </a:t>
            </a:r>
            <a:r>
              <a:rPr lang="en" altLang="zh-CN" b="0" i="0" dirty="0" err="1">
                <a:effectLst/>
                <a:latin typeface="Courier New" panose="02070309020205020404" pitchFamily="49" charset="0"/>
              </a:rPr>
              <a:t>sysret</a:t>
            </a:r>
            <a:r>
              <a:rPr lang="en" altLang="zh-CN" b="0" i="0" dirty="0">
                <a:effectLst/>
                <a:latin typeface="Courier New" panose="02070309020205020404" pitchFamily="49" charset="0"/>
              </a:rPr>
              <a:t> </a:t>
            </a:r>
            <a:r>
              <a:rPr lang="en" altLang="zh-CN" b="0" i="0" dirty="0" err="1">
                <a:effectLst/>
                <a:latin typeface="Arial" panose="020B0604020202020204" pitchFamily="34" charset="0"/>
              </a:rPr>
              <a:t>hypercall</a:t>
            </a:r>
            <a:r>
              <a:rPr lang="en" altLang="zh-CN" b="0" i="0" dirty="0">
                <a:effectLst/>
                <a:latin typeface="Arial" panose="020B0604020202020204" pitchFamily="34" charset="0"/>
              </a:rPr>
              <a:t> will enter the switcher (no traps to the 𝐿1 hypervisor), which switches the execution worlds </a:t>
            </a:r>
            <a:r>
              <a:rPr lang="en" altLang="zh-CN" b="0" i="0" dirty="0" err="1">
                <a:effectLst/>
                <a:latin typeface="Arial" panose="020B0604020202020204" pitchFamily="34" charset="0"/>
              </a:rPr>
              <a:t>anddirectly</a:t>
            </a:r>
            <a:r>
              <a:rPr lang="en" altLang="zh-CN" b="0" i="0" dirty="0">
                <a:effectLst/>
                <a:latin typeface="Arial" panose="020B0604020202020204" pitchFamily="34" charset="0"/>
              </a:rPr>
              <a:t> returns the 𝐿2 guest user. This helps save one world switch to hypervisor per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a:t>
            </a:r>
            <a:r>
              <a:rPr lang="en" altLang="zh-CN" b="0" i="0" dirty="0" err="1">
                <a:effectLst/>
                <a:latin typeface="Arial" panose="020B0604020202020204" pitchFamily="34" charset="0"/>
              </a:rPr>
              <a:t>sysret</a:t>
            </a:r>
            <a:r>
              <a:rPr lang="en" altLang="zh-CN" b="0" i="0" dirty="0">
                <a:effectLst/>
                <a:latin typeface="Arial" panose="020B0604020202020204" pitchFamily="34" charset="0"/>
              </a:rPr>
              <a:t>.</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13</a:t>
            </a:fld>
            <a:endParaRPr kumimoji="1" lang="zh-CN" altLang="en-US"/>
          </a:p>
        </p:txBody>
      </p:sp>
    </p:spTree>
    <p:extLst>
      <p:ext uri="{BB962C8B-B14F-4D97-AF65-F5344CB8AC3E}">
        <p14:creationId xmlns:p14="http://schemas.microsoft.com/office/powerpoint/2010/main" val="18368034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As 𝐿2</a:t>
            </a:r>
            <a:r>
              <a:rPr lang="zh-CN" altLang="en-US" b="0" i="0" dirty="0">
                <a:effectLst/>
                <a:latin typeface="Arial" panose="020B0604020202020204" pitchFamily="34" charset="0"/>
              </a:rPr>
              <a:t> </a:t>
            </a:r>
            <a:r>
              <a:rPr lang="en" altLang="zh-CN" b="0" i="0" dirty="0">
                <a:effectLst/>
                <a:latin typeface="Arial" panose="020B0604020202020204" pitchFamily="34" charset="0"/>
              </a:rPr>
              <a:t>guest vCPU works on h_ring3, access to privileged registers</a:t>
            </a:r>
            <a:r>
              <a:rPr lang="zh-CN" altLang="en-US" b="0" i="0" dirty="0">
                <a:effectLst/>
                <a:latin typeface="Arial" panose="020B0604020202020204" pitchFamily="34" charset="0"/>
              </a:rPr>
              <a:t> </a:t>
            </a:r>
            <a:r>
              <a:rPr lang="en" altLang="zh-CN" b="0" i="0" dirty="0">
                <a:effectLst/>
                <a:latin typeface="Arial" panose="020B0604020202020204" pitchFamily="34" charset="0"/>
              </a:rPr>
              <a:t>and segment states, and the execution of privileged CPU instructions must be intercepted by the PVM hypervisor. PVM</a:t>
            </a:r>
            <a:r>
              <a:rPr lang="zh-CN" altLang="en-US" b="0" i="0" dirty="0">
                <a:effectLst/>
                <a:latin typeface="Arial" panose="020B0604020202020204" pitchFamily="34" charset="0"/>
              </a:rPr>
              <a:t> </a:t>
            </a:r>
            <a:r>
              <a:rPr lang="en" altLang="zh-CN" b="0" i="0" dirty="0">
                <a:effectLst/>
                <a:latin typeface="Arial" panose="020B0604020202020204" pitchFamily="34" charset="0"/>
              </a:rPr>
              <a:t>adopts a hybrid approach based on instruction emulation</a:t>
            </a:r>
            <a:r>
              <a:rPr lang="en-US" altLang="zh-CN" b="0" i="0" dirty="0">
                <a:effectLst/>
                <a:latin typeface="Arial" panose="020B0604020202020204" pitchFamily="34" charset="0"/>
              </a:rPr>
              <a:t>, </a:t>
            </a:r>
            <a:r>
              <a:rPr lang="en" altLang="zh-CN" b="0" i="0" dirty="0">
                <a:effectLst/>
                <a:latin typeface="Arial" panose="020B0604020202020204" pitchFamily="34" charset="0"/>
              </a:rPr>
              <a:t>and paravirtualization for CPU virtualization. PVM currently focuses on supporting the 64-bit mode with paging for 𝐿2 guest vCPUs. when an 𝐿2 vCPU executes a privileged instruction, it leads to a general protection exception and triggers an exit to the 𝐿1 hypervisor. The PVM hypervisor employs an instruction simulator to emulate instruction execution for the 𝐿2 guest. Non-privileged but sensitive instructions also need to be restricted because of their capability to modify/observe privileged host state. PVM uses the Linux paravirtualization (PV) mechanism – initially proposed by Xen - to capture and handle any sensitive instructions even though x86 is not fully virtualizable.</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14</a:t>
            </a:fld>
            <a:endParaRPr kumimoji="1" lang="zh-CN" altLang="en-US"/>
          </a:p>
        </p:txBody>
      </p:sp>
    </p:spTree>
    <p:extLst>
      <p:ext uri="{BB962C8B-B14F-4D97-AF65-F5344CB8AC3E}">
        <p14:creationId xmlns:p14="http://schemas.microsoft.com/office/powerpoint/2010/main" val="2466891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PVM seeks to handle memory virtualization of an 𝐿2 guest exclusively by and within the 𝐿1 hypervisor and employs a software-based approach, i.e., shadow page tables (SPT). To distinguish between v_ring0 and v_ring3, both residing at h_ring3, PVM uses separate page tables for isolating the 𝐿2 guest user and kernel. However, as previous discussed, both SPT (single memory virtualization) and SPT-on-EPT (2-level nested memory virtualization) incur significant poor overhead due to a large number of expensive world switches. To address this challenge, PVM devises a new and highly-efficient SPT approach with various optimizations, called PVM-on-EPT,</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15</a:t>
            </a:fld>
            <a:endParaRPr kumimoji="1" lang="zh-CN" altLang="en-US"/>
          </a:p>
        </p:txBody>
      </p:sp>
    </p:spTree>
    <p:extLst>
      <p:ext uri="{BB962C8B-B14F-4D97-AF65-F5344CB8AC3E}">
        <p14:creationId xmlns:p14="http://schemas.microsoft.com/office/powerpoint/2010/main" val="1907841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As</a:t>
            </a:r>
            <a:r>
              <a:rPr lang="zh-CN" altLang="en-US" b="0" i="0" dirty="0">
                <a:effectLst/>
                <a:latin typeface="Arial" panose="020B0604020202020204" pitchFamily="34" charset="0"/>
              </a:rPr>
              <a:t> </a:t>
            </a:r>
            <a:r>
              <a:rPr lang="en-US" altLang="zh-CN" b="0" i="0" dirty="0">
                <a:effectLst/>
                <a:latin typeface="Arial" panose="020B0604020202020204" pitchFamily="34" charset="0"/>
              </a:rPr>
              <a:t>shown</a:t>
            </a:r>
            <a:r>
              <a:rPr lang="zh-CN" altLang="en-US" b="0" i="0" dirty="0">
                <a:effectLst/>
                <a:latin typeface="Arial" panose="020B0604020202020204" pitchFamily="34" charset="0"/>
              </a:rPr>
              <a:t> </a:t>
            </a:r>
            <a:r>
              <a:rPr lang="en-US" altLang="zh-CN" b="0" i="0" dirty="0">
                <a:effectLst/>
                <a:latin typeface="Arial" panose="020B0604020202020204" pitchFamily="34" charset="0"/>
              </a:rPr>
              <a:t>in</a:t>
            </a:r>
            <a:r>
              <a:rPr lang="zh-CN" altLang="en-US" b="0" i="0" dirty="0">
                <a:effectLst/>
                <a:latin typeface="Arial" panose="020B0604020202020204" pitchFamily="34" charset="0"/>
              </a:rPr>
              <a:t> </a:t>
            </a:r>
            <a:r>
              <a:rPr lang="en-US" altLang="zh-CN" b="0" i="0" dirty="0">
                <a:effectLst/>
                <a:latin typeface="Arial" panose="020B0604020202020204" pitchFamily="34" charset="0"/>
              </a:rPr>
              <a:t>the</a:t>
            </a:r>
            <a:r>
              <a:rPr lang="zh-CN" altLang="en-US" b="0" i="0" dirty="0">
                <a:effectLst/>
                <a:latin typeface="Arial" panose="020B0604020202020204" pitchFamily="34" charset="0"/>
              </a:rPr>
              <a:t> </a:t>
            </a:r>
            <a:r>
              <a:rPr lang="en-US" altLang="zh-CN" b="0" i="0" dirty="0">
                <a:effectLst/>
                <a:latin typeface="Arial" panose="020B0604020202020204" pitchFamily="34" charset="0"/>
              </a:rPr>
              <a:t>figure, </a:t>
            </a:r>
            <a:r>
              <a:rPr lang="en" altLang="zh-CN" b="0" i="0" dirty="0">
                <a:effectLst/>
                <a:latin typeface="Arial" panose="020B0604020202020204" pitchFamily="34" charset="0"/>
              </a:rPr>
              <a:t>the 𝐿2 guest operates its guest page table (GPT2), mapping GVA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to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 while the 𝐿1 hypervisor maintains the guest shadow page table (SPT12) for 𝐿2, mapping GVA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to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1. To ensure that any updates from GPT2 are synchronized with SPT12, GPT2 is made read-only to 𝐿2. Finally, to run the 𝐿2 guest, the underlying host 𝐿0 hypervisor simply uses both SPT12 and EPT01 (which maps GPA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1 to HPA) to translate GVA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to HPA. Since EPT01 for an 𝐿1 VM appears identical to that of other regular VMs, the 𝐿0 hypervisor remains unaware of the nested memory virtualization within 𝐿1, and thus, requires no modifications to support PVM-on-EPT. </a:t>
            </a:r>
          </a:p>
          <a:p>
            <a:endParaRPr lang="en" altLang="zh-CN" b="0" i="0" dirty="0">
              <a:effectLst/>
              <a:latin typeface="Arial" panose="020B0604020202020204" pitchFamily="34" charset="0"/>
            </a:endParaRPr>
          </a:p>
          <a:p>
            <a:r>
              <a:rPr lang="en" altLang="zh-CN" b="0" i="0" dirty="0">
                <a:effectLst/>
                <a:latin typeface="Arial" panose="020B0604020202020204" pitchFamily="34" charset="0"/>
              </a:rPr>
              <a:t>When</a:t>
            </a:r>
            <a:r>
              <a:rPr lang="zh-CN" altLang="en-US" b="0" i="0" dirty="0">
                <a:effectLst/>
                <a:latin typeface="Arial" panose="020B0604020202020204" pitchFamily="34" charset="0"/>
              </a:rPr>
              <a:t> </a:t>
            </a:r>
            <a:r>
              <a:rPr lang="en" altLang="zh-CN" b="0" i="0" dirty="0">
                <a:effectLst/>
                <a:latin typeface="Arial" panose="020B0604020202020204" pitchFamily="34" charset="0"/>
              </a:rPr>
              <a:t>an 𝐿2 page fault occurring from the guest user space[Action#1]</a:t>
            </a:r>
            <a:r>
              <a:rPr lang="zh-CN" altLang="en-US" b="0" i="0" dirty="0">
                <a:effectLst/>
                <a:latin typeface="Arial" panose="020B0604020202020204" pitchFamily="34" charset="0"/>
              </a:rPr>
              <a:t>，</a:t>
            </a:r>
            <a:r>
              <a:rPr lang="en-US" altLang="zh-CN" b="0" i="0" dirty="0">
                <a:effectLst/>
                <a:latin typeface="Arial" panose="020B0604020202020204" pitchFamily="34" charset="0"/>
              </a:rPr>
              <a:t>it</a:t>
            </a:r>
            <a:r>
              <a:rPr lang="en" altLang="zh-CN" b="0" i="0" dirty="0">
                <a:effectLst/>
                <a:latin typeface="Arial" panose="020B0604020202020204" pitchFamily="34" charset="0"/>
              </a:rPr>
              <a:t> traps</a:t>
            </a:r>
            <a:r>
              <a:rPr lang="zh-CN" altLang="en-US" b="0" i="0" dirty="0">
                <a:effectLst/>
                <a:latin typeface="Arial" panose="020B0604020202020204" pitchFamily="34" charset="0"/>
              </a:rPr>
              <a:t> </a:t>
            </a:r>
            <a:r>
              <a:rPr lang="en" altLang="zh-CN" b="0" i="0" dirty="0">
                <a:effectLst/>
                <a:latin typeface="Arial" panose="020B0604020202020204" pitchFamily="34" charset="0"/>
              </a:rPr>
              <a:t>to the 𝐿1 hypervisor via the switcher (</a:t>
            </a:r>
            <a:r>
              <a:rPr lang="en" altLang="zh-CN" b="0" i="0" dirty="0">
                <a:effectLst/>
                <a:latin typeface="Courier New" panose="02070309020205020404" pitchFamily="49" charset="0"/>
              </a:rPr>
              <a:t>➀</a:t>
            </a:r>
            <a:r>
              <a:rPr lang="en" altLang="zh-CN" b="0" i="0" dirty="0">
                <a:effectLst/>
                <a:latin typeface="Arial" panose="020B0604020202020204" pitchFamily="34" charset="0"/>
              </a:rPr>
              <a:t>-</a:t>
            </a:r>
            <a:r>
              <a:rPr lang="en" altLang="zh-CN" b="0" i="0" dirty="0">
                <a:effectLst/>
                <a:latin typeface="Courier New" panose="02070309020205020404" pitchFamily="49" charset="0"/>
              </a:rPr>
              <a:t>➁</a:t>
            </a:r>
            <a:r>
              <a:rPr lang="en" altLang="zh-CN" b="0" i="0" dirty="0">
                <a:effectLst/>
                <a:latin typeface="Arial" panose="020B0604020202020204" pitchFamily="34" charset="0"/>
              </a:rPr>
              <a:t>) with one world switch. </a:t>
            </a:r>
            <a:r>
              <a:rPr lang="en-US" altLang="zh-CN" b="0" i="0" dirty="0">
                <a:effectLst/>
                <a:latin typeface="Arial" panose="020B0604020202020204" pitchFamily="34" charset="0"/>
              </a:rPr>
              <a:t>Action#2]</a:t>
            </a:r>
            <a:r>
              <a:rPr lang="en" altLang="zh-CN" b="0" i="0" dirty="0">
                <a:effectLst/>
                <a:latin typeface="Arial" panose="020B0604020202020204" pitchFamily="34" charset="0"/>
              </a:rPr>
              <a:t>The page fault handler of the PVM hypervisor injects the page fault back to 𝐿2 (</a:t>
            </a:r>
            <a:r>
              <a:rPr lang="en" altLang="zh-CN" b="0" i="0" dirty="0">
                <a:effectLst/>
                <a:latin typeface="Courier New" panose="02070309020205020404" pitchFamily="49" charset="0"/>
              </a:rPr>
              <a:t>➂</a:t>
            </a:r>
            <a:r>
              <a:rPr lang="en" altLang="zh-CN" b="0" i="0" dirty="0">
                <a:effectLst/>
                <a:latin typeface="Arial" panose="020B0604020202020204" pitchFamily="34" charset="0"/>
              </a:rPr>
              <a:t>) and switches to the 𝐿2 kernel via one world switch (</a:t>
            </a:r>
            <a:r>
              <a:rPr lang="en" altLang="zh-CN" b="0" i="0" dirty="0">
                <a:effectLst/>
                <a:latin typeface="Courier New" panose="02070309020205020404" pitchFamily="49" charset="0"/>
              </a:rPr>
              <a:t>➃</a:t>
            </a:r>
            <a:r>
              <a:rPr lang="en" altLang="zh-CN" b="0" i="0" dirty="0">
                <a:effectLst/>
                <a:latin typeface="Arial" panose="020B0604020202020204" pitchFamily="34" charset="0"/>
              </a:rPr>
              <a:t>-</a:t>
            </a:r>
            <a:r>
              <a:rPr lang="en" altLang="zh-CN" b="0" i="0" dirty="0">
                <a:effectLst/>
                <a:latin typeface="Courier New" panose="02070309020205020404" pitchFamily="49" charset="0"/>
              </a:rPr>
              <a:t>➄</a:t>
            </a:r>
            <a:r>
              <a:rPr lang="en" altLang="zh-CN" b="0" i="0" dirty="0">
                <a:effectLst/>
                <a:latin typeface="Arial" panose="020B0604020202020204" pitchFamily="34" charset="0"/>
              </a:rPr>
              <a:t>). Then, the 𝐿2 kernel starts updating GPT2(</a:t>
            </a:r>
            <a:r>
              <a:rPr lang="en" altLang="zh-CN" b="0" i="0" dirty="0">
                <a:effectLst/>
                <a:latin typeface="Courier New" panose="02070309020205020404" pitchFamily="49" charset="0"/>
              </a:rPr>
              <a:t>➅</a:t>
            </a:r>
            <a:r>
              <a:rPr lang="en" altLang="zh-CN" b="0" i="0" dirty="0">
                <a:effectLst/>
                <a:latin typeface="Arial" panose="020B0604020202020204" pitchFamily="34" charset="0"/>
              </a:rPr>
              <a:t>). As GPT2 is read-only, each update needs the assistance of 𝐿1, causing 2n world switches between the 𝐿2 kernel and 𝐿1. After all related page table entries in GPT2 have been updated, the 𝐿2 guest kernel returns (</a:t>
            </a:r>
            <a:r>
              <a:rPr lang="en" altLang="zh-CN" b="0" i="0" dirty="0">
                <a:effectLst/>
                <a:latin typeface="Courier New" panose="02070309020205020404" pitchFamily="49" charset="0"/>
              </a:rPr>
              <a:t>➆ </a:t>
            </a:r>
            <a:r>
              <a:rPr lang="en" altLang="zh-CN" b="0" i="0" dirty="0">
                <a:effectLst/>
                <a:latin typeface="Arial" panose="020B0604020202020204" pitchFamily="34" charset="0"/>
              </a:rPr>
              <a:t>via the </a:t>
            </a:r>
            <a:r>
              <a:rPr lang="en" altLang="zh-CN" b="0" i="0" dirty="0" err="1">
                <a:effectLst/>
                <a:latin typeface="Courier New" panose="02070309020205020404" pitchFamily="49" charset="0"/>
              </a:rPr>
              <a:t>iret</a:t>
            </a:r>
            <a:r>
              <a:rPr lang="en" altLang="zh-CN" b="0" i="0" dirty="0">
                <a:effectLst/>
                <a:latin typeface="Courier New" panose="02070309020205020404" pitchFamily="49" charset="0"/>
              </a:rPr>
              <a:t> </a:t>
            </a:r>
            <a:r>
              <a:rPr lang="en" altLang="zh-CN" b="0" i="0" dirty="0" err="1">
                <a:effectLst/>
                <a:latin typeface="Arial" panose="020B0604020202020204" pitchFamily="34" charset="0"/>
              </a:rPr>
              <a:t>hypercall</a:t>
            </a:r>
            <a:r>
              <a:rPr lang="en" altLang="zh-CN" b="0" i="0" dirty="0">
                <a:effectLst/>
                <a:latin typeface="Arial" panose="020B0604020202020204" pitchFamily="34" charset="0"/>
              </a:rPr>
              <a:t>). </a:t>
            </a:r>
            <a:r>
              <a:rPr lang="en-US" altLang="zh-CN" b="0" i="0" dirty="0">
                <a:effectLst/>
                <a:latin typeface="Arial" panose="020B0604020202020204" pitchFamily="34" charset="0"/>
              </a:rPr>
              <a:t>[Action#3]</a:t>
            </a:r>
            <a:r>
              <a:rPr lang="en" altLang="zh-CN" b="0" i="0" dirty="0">
                <a:effectLst/>
                <a:latin typeface="Arial" panose="020B0604020202020204" pitchFamily="34" charset="0"/>
              </a:rPr>
              <a:t>Instead of returning to the 𝐿2 guest user via direct switch, PVM adopts a </a:t>
            </a:r>
            <a:r>
              <a:rPr lang="en" altLang="zh-CN" b="0" i="0" dirty="0" err="1">
                <a:effectLst/>
                <a:latin typeface="Arial" panose="020B0604020202020204" pitchFamily="34" charset="0"/>
              </a:rPr>
              <a:t>prefault</a:t>
            </a:r>
            <a:r>
              <a:rPr lang="en" altLang="zh-CN" b="0" i="0" dirty="0">
                <a:effectLst/>
                <a:latin typeface="Arial" panose="020B0604020202020204" pitchFamily="34" charset="0"/>
              </a:rPr>
              <a:t> optimization and switches to 𝐿1 (with one world switch), which proactively updates SPT12 (</a:t>
            </a:r>
            <a:r>
              <a:rPr lang="en" altLang="zh-CN" b="0" i="0" dirty="0">
                <a:effectLst/>
                <a:latin typeface="Courier New" panose="02070309020205020404" pitchFamily="49" charset="0"/>
              </a:rPr>
              <a:t>➇</a:t>
            </a:r>
            <a:r>
              <a:rPr lang="en" altLang="zh-CN" b="0" i="0" dirty="0">
                <a:effectLst/>
                <a:latin typeface="Arial" panose="020B0604020202020204" pitchFamily="34" charset="0"/>
              </a:rPr>
              <a:t>), preventing future traps due to subsequent page faults on SPT12 due to the missing of the corresponding GVA</a:t>
            </a:r>
            <a:r>
              <a:rPr lang="en" altLang="zh-CN" b="0" i="0" dirty="0">
                <a:effectLst/>
                <a:latin typeface="Courier New" panose="02070309020205020404" pitchFamily="49" charset="0"/>
              </a:rPr>
              <a:t>𝐿</a:t>
            </a:r>
            <a:r>
              <a:rPr lang="en" altLang="zh-CN" b="0" i="0" dirty="0">
                <a:effectLst/>
                <a:latin typeface="Arial" panose="020B0604020202020204" pitchFamily="34" charset="0"/>
              </a:rPr>
              <a:t>2 recently updated in GPT2.  Finally, 𝐿1 returns to 𝐿2 guest user with one more world switch. [</a:t>
            </a:r>
            <a:r>
              <a:rPr lang="en-US" altLang="zh-CN" b="0" i="0" dirty="0">
                <a:effectLst/>
                <a:latin typeface="Arial" panose="020B0604020202020204" pitchFamily="34" charset="0"/>
              </a:rPr>
              <a:t>Action#4]</a:t>
            </a:r>
            <a:r>
              <a:rPr lang="en" altLang="zh-CN" b="0" i="0" dirty="0">
                <a:effectLst/>
                <a:latin typeface="Arial" panose="020B0604020202020204" pitchFamily="34" charset="0"/>
              </a:rPr>
              <a:t>In summary, an 𝐿2 page fault causes 2n + 4 world switches under PVM-on-EPT, fewer than EPT-on-EPT which triggers 2n + 6 world switches. Note that, PVM-on-EPT exclusively handles of 𝐿2 page faults within 𝐿1, while EPT-on-EPT heavily relies on 𝐿0. Although PVM-on-EPT only saves two world switches compared to EPT-on-EPT, the world switches in PVM-on-EPT are substantially cheaper. The world switches in PVM entail state transitions within switcher and ring level changes in the non-root mode while those in EPT-on-EPT require state transitions across the non-root and root mode. Our measurements show that it takes on average 0.179 </a:t>
            </a:r>
            <a:r>
              <a:rPr lang="el-GR" altLang="zh-CN" b="0" i="0" dirty="0">
                <a:effectLst/>
                <a:latin typeface="Courier New" panose="02070309020205020404" pitchFamily="49" charset="0"/>
              </a:rPr>
              <a:t>μ</a:t>
            </a:r>
            <a:r>
              <a:rPr lang="en" altLang="zh-CN" b="0" i="0" dirty="0">
                <a:effectLst/>
                <a:latin typeface="Arial" panose="020B0604020202020204" pitchFamily="34" charset="0"/>
              </a:rPr>
              <a:t>s to perform a world switch in PVM, almost an order of magnitude cheaper than that in EPT-on-EPT and close to that in single-level virtualization.</a:t>
            </a:r>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16</a:t>
            </a:fld>
            <a:endParaRPr kumimoji="1" lang="zh-CN" altLang="en-US"/>
          </a:p>
        </p:txBody>
      </p:sp>
    </p:spTree>
    <p:extLst>
      <p:ext uri="{BB962C8B-B14F-4D97-AF65-F5344CB8AC3E}">
        <p14:creationId xmlns:p14="http://schemas.microsoft.com/office/powerpoint/2010/main" val="4271702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VM adopts serval</a:t>
            </a:r>
            <a:r>
              <a:rPr lang="zh-CN" altLang="en-US" b="0" i="0" dirty="0">
                <a:effectLst/>
                <a:latin typeface="Arial" panose="020B0604020202020204" pitchFamily="34" charset="0"/>
              </a:rPr>
              <a:t> </a:t>
            </a:r>
            <a:r>
              <a:rPr lang="en-US" altLang="zh-CN" b="0" i="0" dirty="0">
                <a:effectLst/>
                <a:latin typeface="Arial" panose="020B0604020202020204" pitchFamily="34" charset="0"/>
              </a:rPr>
              <a:t>optimizations on PVM-on-EPT.</a:t>
            </a:r>
            <a:r>
              <a:rPr lang="en" altLang="zh-CN" b="0" i="0" dirty="0">
                <a:effectLst/>
                <a:latin typeface="Arial" panose="020B0604020202020204" pitchFamily="34" charset="0"/>
              </a:rPr>
              <a:t> A process context identifiers (PCID) mapping mechanism that eliminates TLB flushes for 𝐿2. It assigns unused PCID values (e.g.,32-63) from 𝐿1 to the 𝐿2 guest. This allows the TLB hardware to recognize individual SPTs for each process in 𝐿2, thereby eliminating TLB flushes during world switches. In addition, a traditional SPT approach relies on a global read-write lock, namely “</a:t>
            </a:r>
            <a:r>
              <a:rPr lang="en" altLang="zh-CN" b="0" i="0" dirty="0" err="1">
                <a:effectLst/>
                <a:latin typeface="Arial" panose="020B0604020202020204" pitchFamily="34" charset="0"/>
              </a:rPr>
              <a:t>mmu_lock</a:t>
            </a:r>
            <a:r>
              <a:rPr lang="en" altLang="zh-CN" b="0" i="0" dirty="0">
                <a:effectLst/>
                <a:latin typeface="Arial" panose="020B0604020202020204" pitchFamily="34" charset="0"/>
              </a:rPr>
              <a:t>”, to serialize updates to SPT data structures. In contrast, PVM employs a fine-grained locking mechanism that provides more precise data protection and enables greater concurrency in handling page faults.</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17</a:t>
            </a:fld>
            <a:endParaRPr kumimoji="1" lang="zh-CN" altLang="en-US"/>
          </a:p>
        </p:txBody>
      </p:sp>
    </p:spTree>
    <p:extLst>
      <p:ext uri="{BB962C8B-B14F-4D97-AF65-F5344CB8AC3E}">
        <p14:creationId xmlns:p14="http://schemas.microsoft.com/office/powerpoint/2010/main" val="806156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In case of interrupt virtualization. PVM need to capture all interrupts for an 𝐿2 guest, so the PVM hypervisor enables hardware interrupts at h_ring3, where the 𝐿2 guest operates. PVM also introduces an 8-byte shared data structure between an 𝐿2 guest and the 𝐿1 hypervisor to virtualize </a:t>
            </a:r>
            <a:r>
              <a:rPr lang="en" altLang="zh-CN" b="0" i="0" dirty="0">
                <a:effectLst/>
                <a:latin typeface="Courier New" panose="02070309020205020404" pitchFamily="49" charset="0"/>
              </a:rPr>
              <a:t>RFLAGS.IF</a:t>
            </a:r>
            <a:r>
              <a:rPr lang="en" altLang="zh-CN" b="0" i="0" dirty="0">
                <a:effectLst/>
                <a:latin typeface="Arial" panose="020B0604020202020204" pitchFamily="34" charset="0"/>
              </a:rPr>
              <a:t>, so that the 𝐿1 hypervisor is able to directly query interrupt configuration inside an 𝐿2 guest. PVM relies on 𝐿0 solely for interrupt injection to 𝐿1 and adopts software-based interrupt virtualization afterwards. If an interrupt occurs while an 𝐿2 guest is running, the default interrupt descriptor table (IDT) handler for this 𝐿2 guest, which is pointed by the hardware IDTR register located in the 𝐿2 guest address space, cannot handle it appropriately. To address this issue, PVM maps a customized IDT at the address to where the IDTR points in the 𝐿2 address space. The customized IDT initiates a transition to the PVM hypervisor (equivalent to a VM exit from 𝐿2 to 𝐿1) to handle the interrupt. </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18</a:t>
            </a:fld>
            <a:endParaRPr kumimoji="1" lang="zh-CN" altLang="en-US"/>
          </a:p>
        </p:txBody>
      </p:sp>
    </p:spTree>
    <p:extLst>
      <p:ext uri="{BB962C8B-B14F-4D97-AF65-F5344CB8AC3E}">
        <p14:creationId xmlns:p14="http://schemas.microsoft.com/office/powerpoint/2010/main" val="1900610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We compared PVM with two existing approaches: hardware-assisted and shadow page table based (software) approaches in both single-level (bare-metal) and nested (2-level) virtualization. Without loss of generality, we conducted the experiments using Intel processors. We used two Intel x86 instances from Alibaba Cloud – 1) a bare-metal instance and 2) a general-purpose (VM) instance with identical software and hardware configurations. Each instance was configured with two Intel Xeon Platinum CPUs,385 GB RAM, and a 500 GB SATA SSD. The bare-metal instance was equipped with Intel virtualization technology (VT), supporting VMX root and non-root modes, EPT, and VMCS Shadowing. The VM instance had no hardware virtualization support and did not </a:t>
            </a:r>
            <a:r>
              <a:rPr lang="en" altLang="zh-CN" b="0" i="0" dirty="0" err="1">
                <a:effectLst/>
                <a:latin typeface="Arial" panose="020B0604020202020204" pitchFamily="34" charset="0"/>
              </a:rPr>
              <a:t>colocate</a:t>
            </a:r>
            <a:r>
              <a:rPr lang="en" altLang="zh-CN" b="0" i="0" dirty="0">
                <a:effectLst/>
                <a:latin typeface="Arial" panose="020B0604020202020204" pitchFamily="34" charset="0"/>
              </a:rPr>
              <a:t> with other VMs.</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19</a:t>
            </a:fld>
            <a:endParaRPr kumimoji="1" lang="zh-CN" altLang="en-US"/>
          </a:p>
        </p:txBody>
      </p:sp>
    </p:spTree>
    <p:extLst>
      <p:ext uri="{BB962C8B-B14F-4D97-AF65-F5344CB8AC3E}">
        <p14:creationId xmlns:p14="http://schemas.microsoft.com/office/powerpoint/2010/main" val="2041161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We used a set of micro-benchmarks to perform privileged guest operations to trigger VM exits and measured the round-trip time until VM entries, both with KPTI enabled/disabled. The table lists the average round-trip latency under five privileged guest operations: no-op </a:t>
            </a:r>
            <a:r>
              <a:rPr lang="en" altLang="zh-CN" b="0" i="0" dirty="0" err="1">
                <a:effectLst/>
                <a:latin typeface="Arial" panose="020B0604020202020204" pitchFamily="34" charset="0"/>
              </a:rPr>
              <a:t>hypercall</a:t>
            </a:r>
            <a:r>
              <a:rPr lang="en" altLang="zh-CN" b="0" i="0" dirty="0">
                <a:effectLst/>
                <a:latin typeface="Arial" panose="020B0604020202020204" pitchFamily="34" charset="0"/>
              </a:rPr>
              <a:t>, invalid opcode exception, MSR access of </a:t>
            </a:r>
            <a:r>
              <a:rPr lang="en" altLang="zh-CN" b="0" i="0" dirty="0">
                <a:effectLst/>
                <a:latin typeface="Courier New" panose="02070309020205020404" pitchFamily="49" charset="0"/>
              </a:rPr>
              <a:t>MSR_CORE_PERF_GLOBAL_CTRL</a:t>
            </a:r>
            <a:r>
              <a:rPr lang="en" altLang="zh-CN" b="0" i="0" dirty="0">
                <a:effectLst/>
                <a:latin typeface="Arial" panose="020B0604020202020204" pitchFamily="34" charset="0"/>
              </a:rPr>
              <a:t>, </a:t>
            </a:r>
            <a:r>
              <a:rPr lang="en" altLang="zh-CN" b="0" i="0" dirty="0" err="1">
                <a:effectLst/>
                <a:latin typeface="Courier New" panose="02070309020205020404" pitchFamily="49" charset="0"/>
              </a:rPr>
              <a:t>CPUID</a:t>
            </a:r>
            <a:r>
              <a:rPr lang="en" altLang="zh-CN" b="0" i="0" dirty="0" err="1">
                <a:effectLst/>
                <a:latin typeface="Arial" panose="020B0604020202020204" pitchFamily="34" charset="0"/>
              </a:rPr>
              <a:t>,port</a:t>
            </a:r>
            <a:r>
              <a:rPr lang="en" altLang="zh-CN" b="0" i="0" dirty="0">
                <a:effectLst/>
                <a:latin typeface="Arial" panose="020B0604020202020204" pitchFamily="34" charset="0"/>
              </a:rPr>
              <a:t>-mapped I/O (PIO). In single-level virtualization, VM exits/entries were efficiently handled by hardware: </a:t>
            </a:r>
            <a:r>
              <a:rPr lang="en" altLang="zh-CN" b="0" i="0" dirty="0" err="1">
                <a:effectLst/>
                <a:latin typeface="Arial" panose="020B0604020202020204" pitchFamily="34" charset="0"/>
              </a:rPr>
              <a:t>pvm</a:t>
            </a:r>
            <a:r>
              <a:rPr lang="en" altLang="zh-CN" b="0" i="0" dirty="0">
                <a:effectLst/>
                <a:latin typeface="Arial" panose="020B0604020202020204" pitchFamily="34" charset="0"/>
              </a:rPr>
              <a:t> (BM) offered performance comparable to </a:t>
            </a:r>
            <a:r>
              <a:rPr lang="en" altLang="zh-CN" b="0" i="0" dirty="0" err="1">
                <a:effectLst/>
                <a:latin typeface="Arial" panose="020B0604020202020204" pitchFamily="34" charset="0"/>
              </a:rPr>
              <a:t>kvm</a:t>
            </a:r>
            <a:r>
              <a:rPr lang="en" altLang="zh-CN" b="0" i="0" dirty="0">
                <a:effectLst/>
                <a:latin typeface="Arial" panose="020B0604020202020204" pitchFamily="34" charset="0"/>
              </a:rPr>
              <a:t> (BM) in most guest operations, except for MSR access.</a:t>
            </a:r>
            <a:r>
              <a:rPr lang="en-US" altLang="zh-CN" b="0" i="0" dirty="0">
                <a:effectLst/>
                <a:latin typeface="Arial" panose="020B0604020202020204" pitchFamily="34" charset="0"/>
              </a:rPr>
              <a:t>[Action #1]</a:t>
            </a:r>
            <a:r>
              <a:rPr lang="en" altLang="zh-CN" b="0" i="0" dirty="0">
                <a:effectLst/>
                <a:latin typeface="Arial" panose="020B0604020202020204" pitchFamily="34" charset="0"/>
              </a:rPr>
              <a:t> It is due to KVM’s capability to directly access MSR registers in non-root mode, avoiding VM exits. In nested virtualization, PVM significantly outperformed hardware-assisted approaches: </a:t>
            </a:r>
            <a:r>
              <a:rPr lang="en" altLang="zh-CN" b="0" i="0" dirty="0" err="1">
                <a:effectLst/>
                <a:latin typeface="Arial" panose="020B0604020202020204" pitchFamily="34" charset="0"/>
              </a:rPr>
              <a:t>pvm</a:t>
            </a:r>
            <a:r>
              <a:rPr lang="en" altLang="zh-CN" b="0" i="0" dirty="0">
                <a:effectLst/>
                <a:latin typeface="Arial" panose="020B0604020202020204" pitchFamily="34" charset="0"/>
              </a:rPr>
              <a:t> (NST), compared to </a:t>
            </a:r>
            <a:r>
              <a:rPr lang="en" altLang="zh-CN" b="0" i="0" dirty="0" err="1">
                <a:effectLst/>
                <a:latin typeface="Arial" panose="020B0604020202020204" pitchFamily="34" charset="0"/>
              </a:rPr>
              <a:t>kvm</a:t>
            </a:r>
            <a:r>
              <a:rPr lang="en" altLang="zh-CN" b="0" i="0" dirty="0">
                <a:effectLst/>
                <a:latin typeface="Arial" panose="020B0604020202020204" pitchFamily="34" charset="0"/>
              </a:rPr>
              <a:t> (NST), This clearly demonstrates the benefit of PVM’s software-based VM exit/entry: </a:t>
            </a:r>
            <a:r>
              <a:rPr lang="en" altLang="zh-CN" b="0" i="0" dirty="0" err="1">
                <a:effectLst/>
                <a:latin typeface="Arial" panose="020B0604020202020204" pitchFamily="34" charset="0"/>
              </a:rPr>
              <a:t>kvm</a:t>
            </a:r>
            <a:r>
              <a:rPr lang="en" altLang="zh-CN" b="0" i="0" dirty="0">
                <a:effectLst/>
                <a:latin typeface="Arial" panose="020B0604020202020204" pitchFamily="34" charset="0"/>
              </a:rPr>
              <a:t> (NST) triggered two expensive exits to the 𝐿0 hypervisor for each privileged 𝐿2 guest operation, while PVM needed one and less expensive VM exit to the 𝐿1 guest hypervisor. From these results, we did not discern any considerable impact from KPTI on VM exits/entries.</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20</a:t>
            </a:fld>
            <a:endParaRPr kumimoji="1" lang="zh-CN" altLang="en-US"/>
          </a:p>
        </p:txBody>
      </p:sp>
    </p:spTree>
    <p:extLst>
      <p:ext uri="{BB962C8B-B14F-4D97-AF65-F5344CB8AC3E}">
        <p14:creationId xmlns:p14="http://schemas.microsoft.com/office/powerpoint/2010/main" val="1388890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To test PVM’s efficiency in handling guest </a:t>
            </a:r>
            <a:r>
              <a:rPr lang="en" altLang="zh-CN" b="0" i="0" dirty="0" err="1">
                <a:effectLst/>
                <a:latin typeface="Arial" panose="020B0604020202020204" pitchFamily="34" charset="0"/>
              </a:rPr>
              <a:t>syscalls</a:t>
            </a:r>
            <a:r>
              <a:rPr lang="en" altLang="zh-CN" b="0" i="0" dirty="0">
                <a:effectLst/>
                <a:latin typeface="Arial" panose="020B0604020202020204" pitchFamily="34" charset="0"/>
              </a:rPr>
              <a:t>, we measured the execution time of the </a:t>
            </a:r>
            <a:r>
              <a:rPr lang="en" altLang="zh-CN" b="0" i="0" dirty="0" err="1">
                <a:effectLst/>
                <a:latin typeface="Courier New" panose="02070309020205020404" pitchFamily="49" charset="0"/>
              </a:rPr>
              <a:t>get_pid</a:t>
            </a:r>
            <a:r>
              <a:rPr lang="en" altLang="zh-CN" b="0" i="0" dirty="0">
                <a:effectLst/>
                <a:latin typeface="Courier New" panose="02070309020205020404" pitchFamily="49" charset="0"/>
              </a:rPr>
              <a:t>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This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is simple and mostly involves a user/kernel transition. We analyzed two PVM variants: one with direct switching and the other without. Compared with hardware-assisted approaches, PVM noticeably slowed down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execution without direct switching, [Action #1]However, the direct switching feature can reduce PVM’s overhead, narrowing the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execution time gap between PVM and its hardware-assisted. [Action#2]We observed that with KPTI disabled, both </a:t>
            </a:r>
            <a:r>
              <a:rPr lang="en" altLang="zh-CN" b="0" i="0" dirty="0" err="1">
                <a:effectLst/>
                <a:latin typeface="Arial" panose="020B0604020202020204" pitchFamily="34" charset="0"/>
              </a:rPr>
              <a:t>kvm-ept</a:t>
            </a:r>
            <a:r>
              <a:rPr lang="en" altLang="zh-CN" b="0" i="0" dirty="0">
                <a:effectLst/>
                <a:latin typeface="Arial" panose="020B0604020202020204" pitchFamily="34" charset="0"/>
              </a:rPr>
              <a:t> (BM) and </a:t>
            </a:r>
            <a:r>
              <a:rPr lang="en" altLang="zh-CN" b="0" i="0" dirty="0" err="1">
                <a:effectLst/>
                <a:latin typeface="Arial" panose="020B0604020202020204" pitchFamily="34" charset="0"/>
              </a:rPr>
              <a:t>kvm</a:t>
            </a:r>
            <a:r>
              <a:rPr lang="en" altLang="zh-CN" b="0" i="0" dirty="0">
                <a:effectLst/>
                <a:latin typeface="Arial" panose="020B0604020202020204" pitchFamily="34" charset="0"/>
              </a:rPr>
              <a:t> (NST) executed the </a:t>
            </a:r>
            <a:r>
              <a:rPr lang="en" altLang="zh-CN" b="0" i="0" dirty="0" err="1">
                <a:effectLst/>
                <a:latin typeface="Courier New" panose="02070309020205020404" pitchFamily="49" charset="0"/>
              </a:rPr>
              <a:t>get_pid</a:t>
            </a:r>
            <a:r>
              <a:rPr lang="en" altLang="zh-CN" b="0" i="0" dirty="0">
                <a:effectLst/>
                <a:latin typeface="Courier New" panose="02070309020205020404" pitchFamily="49" charset="0"/>
              </a:rPr>
              <a:t> </a:t>
            </a:r>
            <a:r>
              <a:rPr lang="en" altLang="zh-CN" b="0" i="0" dirty="0" err="1">
                <a:effectLst/>
                <a:latin typeface="Arial" panose="020B0604020202020204" pitchFamily="34" charset="0"/>
              </a:rPr>
              <a:t>syscall</a:t>
            </a:r>
            <a:r>
              <a:rPr lang="en" altLang="zh-CN" b="0" i="0" dirty="0">
                <a:effectLst/>
                <a:latin typeface="Arial" panose="020B0604020202020204" pitchFamily="34" charset="0"/>
              </a:rPr>
              <a:t> faster due to reduced world switches between the guest user and kernel. However, this improvement was not observed in PVM, this is because PVM does not reduce its world switches. After a system call completes via </a:t>
            </a:r>
            <a:r>
              <a:rPr lang="en" altLang="zh-CN" b="0" i="0" dirty="0" err="1">
                <a:effectLst/>
                <a:latin typeface="Courier New" panose="02070309020205020404" pitchFamily="49" charset="0"/>
              </a:rPr>
              <a:t>sysret</a:t>
            </a:r>
            <a:r>
              <a:rPr lang="en" altLang="zh-CN" b="0" i="0" dirty="0">
                <a:effectLst/>
                <a:latin typeface="Arial" panose="020B0604020202020204" pitchFamily="34" charset="0"/>
              </a:rPr>
              <a:t>, there remains the necessity to exit either to switcher or to the PVM hypervisor. We are in the process of developing an advanced direct switching optimization that can return </a:t>
            </a:r>
            <a:r>
              <a:rPr lang="en" altLang="zh-CN" b="0" i="0" dirty="0" err="1">
                <a:effectLst/>
                <a:latin typeface="Courier New" panose="02070309020205020404" pitchFamily="49" charset="0"/>
              </a:rPr>
              <a:t>sysret</a:t>
            </a:r>
            <a:r>
              <a:rPr lang="en" altLang="zh-CN" b="0" i="0" dirty="0">
                <a:effectLst/>
                <a:latin typeface="Courier New" panose="02070309020205020404" pitchFamily="49" charset="0"/>
              </a:rPr>
              <a:t> </a:t>
            </a:r>
            <a:r>
              <a:rPr lang="en" altLang="zh-CN" b="0" i="0" dirty="0">
                <a:effectLst/>
                <a:latin typeface="Arial" panose="020B0604020202020204" pitchFamily="34" charset="0"/>
              </a:rPr>
              <a:t>at h_ring3.</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21</a:t>
            </a:fld>
            <a:endParaRPr kumimoji="1" lang="zh-CN" altLang="en-US"/>
          </a:p>
        </p:txBody>
      </p:sp>
    </p:spTree>
    <p:extLst>
      <p:ext uri="{BB962C8B-B14F-4D97-AF65-F5344CB8AC3E}">
        <p14:creationId xmlns:p14="http://schemas.microsoft.com/office/powerpoint/2010/main" val="28299230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We used a micro-benchmark to repeatedly allocate and release 1MB of memory in a guest’s virtual address space and access the allocated data at page granularity. This benchmark caused frequent updates to the guest page table and thus stress-tested memory virtualization. To examine scalability, we adjusted the number of benchmark processes from 1 to 32 within a single container.  </a:t>
            </a:r>
            <a:r>
              <a:rPr lang="en" altLang="zh-CN" b="0" i="0" dirty="0" err="1">
                <a:effectLst/>
                <a:latin typeface="Arial" panose="020B0604020202020204" pitchFamily="34" charset="0"/>
              </a:rPr>
              <a:t>pvm</a:t>
            </a:r>
            <a:r>
              <a:rPr lang="en" altLang="zh-CN" b="0" i="0" dirty="0">
                <a:effectLst/>
                <a:latin typeface="Arial" panose="020B0604020202020204" pitchFamily="34" charset="0"/>
              </a:rPr>
              <a:t> (NST) significantly outperformed </a:t>
            </a:r>
            <a:r>
              <a:rPr lang="en" altLang="zh-CN" b="0" i="0" dirty="0" err="1">
                <a:effectLst/>
                <a:latin typeface="Arial" panose="020B0604020202020204" pitchFamily="34" charset="0"/>
              </a:rPr>
              <a:t>kvm-ept</a:t>
            </a:r>
            <a:r>
              <a:rPr lang="en" altLang="zh-CN" b="0" i="0" dirty="0">
                <a:effectLst/>
                <a:latin typeface="Arial" panose="020B0604020202020204" pitchFamily="34" charset="0"/>
              </a:rPr>
              <a:t> (NST), and the performance gap widened with increasing concurrency. [Action #1]By applying the fine-grained page table locking optimization alone, PVM achieves superior scalability; the use of </a:t>
            </a:r>
            <a:r>
              <a:rPr lang="en" altLang="zh-CN" b="0" i="0" dirty="0" err="1">
                <a:effectLst/>
                <a:latin typeface="Arial" panose="020B0604020202020204" pitchFamily="34" charset="0"/>
              </a:rPr>
              <a:t>prefault</a:t>
            </a:r>
            <a:r>
              <a:rPr lang="en" altLang="zh-CN" b="0" i="0" dirty="0">
                <a:effectLst/>
                <a:latin typeface="Arial" panose="020B0604020202020204" pitchFamily="34" charset="0"/>
              </a:rPr>
              <a:t> and </a:t>
            </a:r>
            <a:r>
              <a:rPr lang="en" altLang="zh-CN" b="0" i="0" dirty="0">
                <a:effectLst/>
                <a:latin typeface="Courier New" panose="02070309020205020404" pitchFamily="49" charset="0"/>
              </a:rPr>
              <a:t>PCID </a:t>
            </a:r>
            <a:r>
              <a:rPr lang="en" altLang="zh-CN" b="0" i="0" dirty="0">
                <a:effectLst/>
                <a:latin typeface="Arial" panose="020B0604020202020204" pitchFamily="34" charset="0"/>
              </a:rPr>
              <a:t>mapping further enhances PVM’s performance.</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22</a:t>
            </a:fld>
            <a:endParaRPr kumimoji="1" lang="zh-CN" altLang="en-US"/>
          </a:p>
        </p:txBody>
      </p:sp>
    </p:spTree>
    <p:extLst>
      <p:ext uri="{BB962C8B-B14F-4D97-AF65-F5344CB8AC3E}">
        <p14:creationId xmlns:p14="http://schemas.microsoft.com/office/powerpoint/2010/main" val="1018505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We continued the evaluation of PVM using four representative real-world applications with distinct characteristics: 1) </a:t>
            </a:r>
            <a:r>
              <a:rPr lang="en" altLang="zh-CN" b="0" i="0" dirty="0" err="1">
                <a:effectLst/>
                <a:latin typeface="Arial" panose="020B0604020202020204" pitchFamily="34" charset="0"/>
              </a:rPr>
              <a:t>Kbuild</a:t>
            </a:r>
            <a:r>
              <a:rPr lang="en" altLang="zh-CN" b="0" i="0" dirty="0">
                <a:effectLst/>
                <a:latin typeface="Arial" panose="020B0604020202020204" pitchFamily="34" charset="0"/>
              </a:rPr>
              <a:t>  builds the Linux kernel from the source involving a mixture of compute and file I/O; 2) </a:t>
            </a:r>
            <a:r>
              <a:rPr lang="en" altLang="zh-CN" b="0" i="0" dirty="0" err="1">
                <a:effectLst/>
                <a:latin typeface="Arial" panose="020B0604020202020204" pitchFamily="34" charset="0"/>
              </a:rPr>
              <a:t>Blogbench</a:t>
            </a:r>
            <a:r>
              <a:rPr lang="en" altLang="zh-CN" b="0" i="0" dirty="0">
                <a:effectLst/>
                <a:latin typeface="Arial" panose="020B0604020202020204" pitchFamily="34" charset="0"/>
              </a:rPr>
              <a:t> is a filesystem benchmark that reproduces the load of a busy file server; 3) SPECjbb2005 is a Java benchmark involving he use of a Java virtual machine ; 4) </a:t>
            </a:r>
            <a:r>
              <a:rPr lang="en" altLang="zh-CN" b="0" i="0" dirty="0" err="1">
                <a:effectLst/>
                <a:latin typeface="Arial" panose="020B0604020202020204" pitchFamily="34" charset="0"/>
              </a:rPr>
              <a:t>Fluidanimate</a:t>
            </a:r>
            <a:r>
              <a:rPr lang="en" altLang="zh-CN" b="0" i="0" dirty="0">
                <a:effectLst/>
                <a:latin typeface="Arial" panose="020B0604020202020204" pitchFamily="34" charset="0"/>
              </a:rPr>
              <a:t> is a benchmark with a large dataset selected from the PARSEC benchmark suite. We ran multiple instances of the same benchmark, each in a separate secure container, and varied the concurrency level from 1 to 16. For all applications, PVM offered performance close to the hardware-assisted approach for single-level virtualization. Further, the performance of </a:t>
            </a:r>
            <a:r>
              <a:rPr lang="en" altLang="zh-CN" b="0" i="0" dirty="0" err="1">
                <a:effectLst/>
                <a:latin typeface="Arial" panose="020B0604020202020204" pitchFamily="34" charset="0"/>
              </a:rPr>
              <a:t>kvm-ept</a:t>
            </a:r>
            <a:r>
              <a:rPr lang="en" altLang="zh-CN" b="0" i="0" dirty="0">
                <a:effectLst/>
                <a:latin typeface="Arial" panose="020B0604020202020204" pitchFamily="34" charset="0"/>
              </a:rPr>
              <a:t> (NST) collapsed in all cases when concurrency was high, suggesting that the 𝐿0 hypervisor became the bottleneck. [Action #2]PVM even outperformed the hardware-assisted approach in </a:t>
            </a:r>
            <a:r>
              <a:rPr lang="en" altLang="zh-CN" b="0" i="0" dirty="0" err="1">
                <a:effectLst/>
                <a:latin typeface="Arial" panose="020B0604020202020204" pitchFamily="34" charset="0"/>
              </a:rPr>
              <a:t>fluidanimate</a:t>
            </a:r>
            <a:r>
              <a:rPr lang="en" altLang="zh-CN" b="0" i="0" dirty="0">
                <a:effectLst/>
                <a:latin typeface="Arial" panose="020B0604020202020204" pitchFamily="34" charset="0"/>
              </a:rPr>
              <a:t> due to more efficient handling of the </a:t>
            </a:r>
            <a:r>
              <a:rPr lang="en" altLang="zh-CN" b="0" i="0" dirty="0">
                <a:effectLst/>
                <a:latin typeface="Courier New" panose="02070309020205020404" pitchFamily="49" charset="0"/>
              </a:rPr>
              <a:t>HALT </a:t>
            </a:r>
            <a:r>
              <a:rPr lang="en" altLang="zh-CN" b="0" i="0" dirty="0">
                <a:effectLst/>
                <a:latin typeface="Arial" panose="020B0604020202020204" pitchFamily="34" charset="0"/>
              </a:rPr>
              <a:t>instruction.</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23</a:t>
            </a:fld>
            <a:endParaRPr kumimoji="1" lang="zh-CN" altLang="en-US"/>
          </a:p>
        </p:txBody>
      </p:sp>
    </p:spTree>
    <p:extLst>
      <p:ext uri="{BB962C8B-B14F-4D97-AF65-F5344CB8AC3E}">
        <p14:creationId xmlns:p14="http://schemas.microsoft.com/office/powerpoint/2010/main" val="3720848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effectLst/>
                <a:latin typeface="Arial" panose="020B0604020202020204" pitchFamily="34" charset="0"/>
              </a:rPr>
              <a:t>PVM has been adopted by Alibaba Cloud, a major IaaS cloud provider, as an alternative to bare-metal instances for hosting secure containers. Presently, PVM operates more than 100K secure containers with over 400K vCPUs on a daily basis. The adoption of PVM has continued to grow over the past</a:t>
            </a:r>
            <a:br>
              <a:rPr lang="en" altLang="zh-CN" dirty="0"/>
            </a:br>
            <a:r>
              <a:rPr lang="en" altLang="zh-CN" b="0" i="0" dirty="0">
                <a:effectLst/>
                <a:latin typeface="Arial" panose="020B0604020202020204" pitchFamily="34" charset="0"/>
              </a:rPr>
              <a:t>year. It has led to a 36% user shift from bare-metal instances to general-purpose instances for secure container hosting and substantial cost-savings for cloud tenants. Notably, there has been a steady migration of Spark–based in-memory data processing and analytics workloads from bare-metal servers to PVM servers with nested virtualization. These PVM servers have shown an average performance boost of 22.6% for Spark workloads compared to bare-metal servers. It is worth noting that the PVM servers are equipped with newer generation processors than the bare-metal ones in Alibaba Cloud. </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24</a:t>
            </a:fld>
            <a:endParaRPr kumimoji="1" lang="zh-CN" altLang="en-US"/>
          </a:p>
        </p:txBody>
      </p:sp>
    </p:spTree>
    <p:extLst>
      <p:ext uri="{BB962C8B-B14F-4D97-AF65-F5344CB8AC3E}">
        <p14:creationId xmlns:p14="http://schemas.microsoft.com/office/powerpoint/2010/main" val="27180818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b="0" i="0" dirty="0">
                <a:effectLst/>
                <a:latin typeface="Arial" panose="020B0604020202020204" pitchFamily="34" charset="0"/>
              </a:rPr>
              <a:t>To conclude, We made a </a:t>
            </a:r>
            <a:r>
              <a:rPr lang="en" altLang="zh-CN" b="0" i="0" dirty="0">
                <a:effectLst/>
                <a:latin typeface="Arial" panose="020B0604020202020204" pitchFamily="34" charset="0"/>
              </a:rPr>
              <a:t>comprehensive analysis of state-of-the-art nested virtualization that reveals the drawbacks of hardware-assisted approaches and motivates the hybrid software-hardware nested architecture, as well as decoupling nested VMs from the host </a:t>
            </a:r>
            <a:r>
              <a:rPr lang="en" altLang="zh-CN" b="0" i="0" dirty="0" err="1">
                <a:effectLst/>
                <a:latin typeface="Arial" panose="020B0604020202020204" pitchFamily="34" charset="0"/>
              </a:rPr>
              <a:t>hypervisor.We</a:t>
            </a:r>
            <a:r>
              <a:rPr lang="en" altLang="zh-CN" b="0" i="0" dirty="0">
                <a:effectLst/>
                <a:latin typeface="Arial" panose="020B0604020202020204" pitchFamily="34" charset="0"/>
              </a:rPr>
              <a:t> introduce PVM, a minimal, high-performance, and software-based hypervisor for nested virtualization. PVM does not assume any hardware virtualization support and thus is portable to any cloud systems based on KVM. With optimizations for world switches, concurrent shadow page table updates, and guest page fault handling, PVM is the only viable approach with superior performance than hardware-assisted nested virtualization. PVM has been adopted in Alibaba Cloud for hosting secure containers, providing a more performant and cost-effective option for cloud users</a:t>
            </a:r>
            <a:endParaRPr kumimoji="1" lang="zh-CN" altLang="en-US" dirty="0"/>
          </a:p>
        </p:txBody>
      </p:sp>
      <p:sp>
        <p:nvSpPr>
          <p:cNvPr id="4" name="灯片编号占位符 3"/>
          <p:cNvSpPr>
            <a:spLocks noGrp="1"/>
          </p:cNvSpPr>
          <p:nvPr>
            <p:ph type="sldNum" sz="quarter" idx="5"/>
          </p:nvPr>
        </p:nvSpPr>
        <p:spPr/>
        <p:txBody>
          <a:bodyPr/>
          <a:lstStyle/>
          <a:p>
            <a:fld id="{9AADB340-651E-0A47-996B-3058385D0A99}" type="slidenum">
              <a:rPr kumimoji="1" lang="zh-CN" altLang="en-US" smtClean="0"/>
              <a:t>25</a:t>
            </a:fld>
            <a:endParaRPr kumimoji="1" lang="zh-CN" altLang="en-US"/>
          </a:p>
        </p:txBody>
      </p:sp>
    </p:spTree>
    <p:extLst>
      <p:ext uri="{BB962C8B-B14F-4D97-AF65-F5344CB8AC3E}">
        <p14:creationId xmlns:p14="http://schemas.microsoft.com/office/powerpoint/2010/main" val="2989252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D13D5347-DAF0-AB49-82CA-BB8419852924}" type="datetimeFigureOut">
              <a:rPr kumimoji="1" lang="zh-CN" altLang="en-US" smtClean="0"/>
              <a:pPr/>
              <a:t>2025/9/28</a:t>
            </a:fld>
            <a:endParaRPr kumimoji="1" lang="zh-CN" alt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kumimoji="1" lang="zh-CN" altLang="en-US"/>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FE0C6637-E5A6-1D43-804F-ED0A005A836D}" type="slidenum">
              <a:rPr kumimoji="1" lang="zh-CN" altLang="en-US" smtClean="0"/>
              <a:pPr/>
              <a:t>‹#›</a:t>
            </a:fld>
            <a:endParaRPr kumimoji="1" lang="zh-CN" altLang="en-US"/>
          </a:p>
        </p:txBody>
      </p:sp>
    </p:spTree>
    <p:extLst>
      <p:ext uri="{BB962C8B-B14F-4D97-AF65-F5344CB8AC3E}">
        <p14:creationId xmlns:p14="http://schemas.microsoft.com/office/powerpoint/2010/main" val="1774606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84678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1716058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1123097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3719333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3067857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3289657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1038755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4067836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2318338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13D5347-DAF0-AB49-82CA-BB8419852924}" type="datetimeFigureOut">
              <a:rPr kumimoji="1" lang="zh-CN" altLang="en-US" smtClean="0"/>
              <a:t>2025/9/28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1599721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D5347-DAF0-AB49-82CA-BB8419852924}" type="datetimeFigureOut">
              <a:rPr kumimoji="1" lang="zh-CN" altLang="en-US" smtClean="0"/>
              <a:t>2025/9/28</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0C6637-E5A6-1D43-804F-ED0A005A836D}" type="slidenum">
              <a:rPr kumimoji="1" lang="zh-CN" altLang="en-US" smtClean="0"/>
              <a:t>‹#›</a:t>
            </a:fld>
            <a:endParaRPr kumimoji="1" lang="zh-CN" altLang="en-US"/>
          </a:p>
        </p:txBody>
      </p:sp>
    </p:spTree>
    <p:extLst>
      <p:ext uri="{BB962C8B-B14F-4D97-AF65-F5344CB8AC3E}">
        <p14:creationId xmlns:p14="http://schemas.microsoft.com/office/powerpoint/2010/main" val="2107732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tif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28A422F-7548-907B-5D90-238355972CC2}"/>
              </a:ext>
            </a:extLst>
          </p:cNvPr>
          <p:cNvSpPr txBox="1"/>
          <p:nvPr/>
        </p:nvSpPr>
        <p:spPr>
          <a:xfrm>
            <a:off x="410300" y="1419074"/>
            <a:ext cx="8481350" cy="1077218"/>
          </a:xfrm>
          <a:prstGeom prst="rect">
            <a:avLst/>
          </a:prstGeom>
          <a:noFill/>
        </p:spPr>
        <p:txBody>
          <a:bodyPr wrap="square" rtlCol="0">
            <a:spAutoFit/>
          </a:bodyPr>
          <a:lstStyle/>
          <a:p>
            <a:pPr algn="ctr"/>
            <a:r>
              <a:rPr kumimoji="1" lang="en" altLang="zh-CN" sz="3200" dirty="0">
                <a:latin typeface="Times New Roman" panose="02020603050405020304" pitchFamily="18" charset="0"/>
                <a:cs typeface="Times New Roman" panose="02020603050405020304" pitchFamily="18" charset="0"/>
              </a:rPr>
              <a:t>PVM: Efficient Shadow Paging for Deploying Secure Containers in Cloud-native Environments</a:t>
            </a:r>
            <a:endParaRPr kumimoji="1" lang="zh-CN" altLang="en-US" sz="32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9D908CDE-3758-3D66-9E37-BEBFFDDBFE70}"/>
              </a:ext>
            </a:extLst>
          </p:cNvPr>
          <p:cNvSpPr txBox="1"/>
          <p:nvPr/>
        </p:nvSpPr>
        <p:spPr>
          <a:xfrm>
            <a:off x="967932" y="3324829"/>
            <a:ext cx="7378861" cy="923330"/>
          </a:xfrm>
          <a:prstGeom prst="rect">
            <a:avLst/>
          </a:prstGeom>
          <a:noFill/>
        </p:spPr>
        <p:txBody>
          <a:bodyPr wrap="square" rtlCol="0">
            <a:spAutoFit/>
          </a:bodyPr>
          <a:lstStyle/>
          <a:p>
            <a:pPr algn="ctr"/>
            <a:r>
              <a:rPr kumimoji="1" lang="en-US" altLang="zh-CN" dirty="0">
                <a:latin typeface="Times New Roman" panose="02020603050405020304" pitchFamily="18" charset="0"/>
                <a:cs typeface="Times New Roman" panose="02020603050405020304" pitchFamily="18" charset="0"/>
              </a:rPr>
              <a:t>Hang Huang</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a:t>
            </a:r>
            <a:r>
              <a:rPr kumimoji="1" lang="en-US" altLang="zh-CN" b="1" u="sng" dirty="0">
                <a:latin typeface="Times New Roman" panose="02020603050405020304" pitchFamily="18" charset="0"/>
                <a:cs typeface="Times New Roman" panose="02020603050405020304" pitchFamily="18" charset="0"/>
              </a:rPr>
              <a:t>Jiangshan Lai</a:t>
            </a:r>
            <a:r>
              <a:rPr kumimoji="1" lang="en-US" altLang="zh-CN" b="1" u="sng" baseline="30000" dirty="0">
                <a:latin typeface="Times New Roman" panose="02020603050405020304" pitchFamily="18" charset="0"/>
                <a:cs typeface="Times New Roman" panose="02020603050405020304" pitchFamily="18" charset="0"/>
              </a:rPr>
              <a:t>✮</a:t>
            </a:r>
            <a:r>
              <a:rPr kumimoji="1" lang="zh-CN" altLang="en-US" u="sng"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Jia Rao</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Hui Lu</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a:t>
            </a:r>
            <a:r>
              <a:rPr kumimoji="1" lang="en-US" altLang="zh-CN" dirty="0" err="1">
                <a:latin typeface="Times New Roman" panose="02020603050405020304" pitchFamily="18" charset="0"/>
                <a:cs typeface="Times New Roman" panose="02020603050405020304" pitchFamily="18" charset="0"/>
              </a:rPr>
              <a:t>Wenlong</a:t>
            </a:r>
            <a:r>
              <a:rPr kumimoji="1" lang="en-US" altLang="zh-CN" dirty="0">
                <a:latin typeface="Times New Roman" panose="02020603050405020304" pitchFamily="18" charset="0"/>
                <a:cs typeface="Times New Roman" panose="02020603050405020304" pitchFamily="18" charset="0"/>
              </a:rPr>
              <a:t> Hou</a:t>
            </a:r>
            <a:r>
              <a:rPr kumimoji="1" lang="en-US" altLang="zh-CN" baseline="30000"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 Hang </a:t>
            </a:r>
            <a:r>
              <a:rPr kumimoji="1" lang="en-US" altLang="zh-CN" dirty="0" err="1">
                <a:latin typeface="Times New Roman" panose="02020603050405020304" pitchFamily="18" charset="0"/>
                <a:cs typeface="Times New Roman" panose="02020603050405020304" pitchFamily="18" charset="0"/>
              </a:rPr>
              <a:t>Su</a:t>
            </a:r>
            <a:r>
              <a:rPr kumimoji="1" lang="en-US" altLang="zh-CN" baseline="30000"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 Quan Xu</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Jiang Zhong</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a:t>
            </a:r>
            <a:r>
              <a:rPr kumimoji="1" lang="en-US" altLang="zh-CN" dirty="0" err="1">
                <a:latin typeface="Times New Roman" panose="02020603050405020304" pitchFamily="18" charset="0"/>
                <a:cs typeface="Times New Roman" panose="02020603050405020304" pitchFamily="18" charset="0"/>
              </a:rPr>
              <a:t>Jiahao</a:t>
            </a:r>
            <a:r>
              <a:rPr kumimoji="1" lang="en-US" altLang="zh-CN" dirty="0">
                <a:latin typeface="Times New Roman" panose="02020603050405020304" pitchFamily="18" charset="0"/>
                <a:cs typeface="Times New Roman" panose="02020603050405020304" pitchFamily="18" charset="0"/>
              </a:rPr>
              <a:t> Zeng</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Xu Wang</a:t>
            </a:r>
            <a:r>
              <a:rPr kumimoji="1" lang="en-US" altLang="zh-CN" baseline="30000"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 </a:t>
            </a:r>
            <a:r>
              <a:rPr kumimoji="1" lang="en-US" altLang="zh-CN" dirty="0" err="1">
                <a:latin typeface="Times New Roman" panose="02020603050405020304" pitchFamily="18" charset="0"/>
                <a:cs typeface="Times New Roman" panose="02020603050405020304" pitchFamily="18" charset="0"/>
              </a:rPr>
              <a:t>Zhengyu</a:t>
            </a:r>
            <a:r>
              <a:rPr kumimoji="1" lang="en-US" altLang="zh-CN" dirty="0">
                <a:latin typeface="Times New Roman" panose="02020603050405020304" pitchFamily="18" charset="0"/>
                <a:cs typeface="Times New Roman" panose="02020603050405020304" pitchFamily="18" charset="0"/>
              </a:rPr>
              <a:t> He</a:t>
            </a:r>
            <a:r>
              <a:rPr kumimoji="1" lang="en-US" altLang="zh-CN" baseline="30000"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 </a:t>
            </a:r>
            <a:r>
              <a:rPr kumimoji="1" lang="en-US" altLang="zh-CN" dirty="0" err="1">
                <a:latin typeface="Times New Roman" panose="02020603050405020304" pitchFamily="18" charset="0"/>
                <a:cs typeface="Times New Roman" panose="02020603050405020304" pitchFamily="18" charset="0"/>
              </a:rPr>
              <a:t>Weidong</a:t>
            </a:r>
            <a:r>
              <a:rPr kumimoji="1" lang="en-US" altLang="zh-CN" dirty="0">
                <a:latin typeface="Times New Roman" panose="02020603050405020304" pitchFamily="18" charset="0"/>
                <a:cs typeface="Times New Roman" panose="02020603050405020304" pitchFamily="18" charset="0"/>
              </a:rPr>
              <a:t> Han</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Jiang Liu</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Tao Ma</a:t>
            </a:r>
            <a:r>
              <a:rPr kumimoji="1" lang="en-US" altLang="zh-CN" baseline="30000" dirty="0">
                <a:latin typeface="Times New Roman" panose="02020603050405020304" pitchFamily="18" charset="0"/>
                <a:cs typeface="Times New Roman" panose="02020603050405020304" pitchFamily="18" charset="0"/>
              </a:rPr>
              <a:t>✻</a:t>
            </a:r>
            <a:r>
              <a:rPr kumimoji="1" lang="en-US" altLang="zh-CN" dirty="0">
                <a:latin typeface="Times New Roman" panose="02020603050405020304" pitchFamily="18" charset="0"/>
                <a:cs typeface="Times New Roman" panose="02020603050405020304" pitchFamily="18" charset="0"/>
              </a:rPr>
              <a:t>, Song Wu</a:t>
            </a:r>
            <a:r>
              <a:rPr kumimoji="1" lang="en-US" altLang="zh-CN" baseline="30000" dirty="0">
                <a:latin typeface="Times New Roman" panose="02020603050405020304" pitchFamily="18" charset="0"/>
                <a:cs typeface="Times New Roman" panose="02020603050405020304" pitchFamily="18" charset="0"/>
              </a:rPr>
              <a:t> §</a:t>
            </a:r>
            <a:endParaRPr kumimoji="1" lang="zh-CN" altLang="en-US" baseline="30000" dirty="0">
              <a:latin typeface="Times New Roman" panose="02020603050405020304" pitchFamily="18" charset="0"/>
              <a:cs typeface="Times New Roman" panose="02020603050405020304" pitchFamily="18" charset="0"/>
            </a:endParaRPr>
          </a:p>
        </p:txBody>
      </p:sp>
      <p:pic>
        <p:nvPicPr>
          <p:cNvPr id="12" name="图片 11">
            <a:extLst>
              <a:ext uri="{FF2B5EF4-FFF2-40B4-BE49-F238E27FC236}">
                <a16:creationId xmlns:a16="http://schemas.microsoft.com/office/drawing/2014/main" id="{FDF4EF1F-97AA-16C3-2531-DAF90C385550}"/>
              </a:ext>
            </a:extLst>
          </p:cNvPr>
          <p:cNvPicPr>
            <a:picLocks noChangeAspect="1"/>
          </p:cNvPicPr>
          <p:nvPr/>
        </p:nvPicPr>
        <p:blipFill>
          <a:blip r:embed="rId3">
            <a:duotone>
              <a:prstClr val="black"/>
              <a:schemeClr val="accent2">
                <a:tint val="45000"/>
                <a:satMod val="400000"/>
              </a:schemeClr>
            </a:duotone>
          </a:blip>
          <a:stretch>
            <a:fillRect/>
          </a:stretch>
        </p:blipFill>
        <p:spPr>
          <a:xfrm>
            <a:off x="410300" y="5113117"/>
            <a:ext cx="2038350" cy="495300"/>
          </a:xfrm>
          <a:prstGeom prst="rect">
            <a:avLst/>
          </a:prstGeom>
        </p:spPr>
      </p:pic>
      <p:pic>
        <p:nvPicPr>
          <p:cNvPr id="13" name="图像" descr="图像">
            <a:extLst>
              <a:ext uri="{FF2B5EF4-FFF2-40B4-BE49-F238E27FC236}">
                <a16:creationId xmlns:a16="http://schemas.microsoft.com/office/drawing/2014/main" id="{A0E0B594-F789-C477-20F6-E816C14BCC83}"/>
              </a:ext>
            </a:extLst>
          </p:cNvPr>
          <p:cNvPicPr>
            <a:picLocks noChangeAspect="1"/>
          </p:cNvPicPr>
          <p:nvPr/>
        </p:nvPicPr>
        <p:blipFill>
          <a:blip r:embed="rId4"/>
          <a:stretch>
            <a:fillRect/>
          </a:stretch>
        </p:blipFill>
        <p:spPr>
          <a:xfrm>
            <a:off x="2805297" y="5012680"/>
            <a:ext cx="1404995" cy="595737"/>
          </a:xfrm>
          <a:prstGeom prst="rect">
            <a:avLst/>
          </a:prstGeom>
          <a:ln w="12700">
            <a:miter lim="400000"/>
          </a:ln>
        </p:spPr>
      </p:pic>
      <p:sp>
        <p:nvSpPr>
          <p:cNvPr id="15" name="文本框 14">
            <a:extLst>
              <a:ext uri="{FF2B5EF4-FFF2-40B4-BE49-F238E27FC236}">
                <a16:creationId xmlns:a16="http://schemas.microsoft.com/office/drawing/2014/main" id="{418577E1-3DDA-6ED6-ADD5-EAA742C1EC93}"/>
              </a:ext>
            </a:extLst>
          </p:cNvPr>
          <p:cNvSpPr txBox="1"/>
          <p:nvPr/>
        </p:nvSpPr>
        <p:spPr>
          <a:xfrm>
            <a:off x="236559" y="4945457"/>
            <a:ext cx="1048232" cy="369332"/>
          </a:xfrm>
          <a:prstGeom prst="rect">
            <a:avLst/>
          </a:prstGeom>
          <a:noFill/>
        </p:spPr>
        <p:txBody>
          <a:bodyPr wrap="square">
            <a:spAutoFit/>
          </a:bodyPr>
          <a:lstStyle/>
          <a:p>
            <a:r>
              <a:rPr kumimoji="1" lang="en-US" altLang="zh-CN" baseline="30000" dirty="0">
                <a:latin typeface="Times New Roman" panose="02020603050405020304" pitchFamily="18" charset="0"/>
                <a:cs typeface="Times New Roman" panose="02020603050405020304" pitchFamily="18" charset="0"/>
              </a:rPr>
              <a:t>✻</a:t>
            </a:r>
            <a:endParaRPr lang="zh-CN" altLang="en-US" dirty="0"/>
          </a:p>
        </p:txBody>
      </p:sp>
      <p:pic>
        <p:nvPicPr>
          <p:cNvPr id="16" name="Picture 6">
            <a:extLst>
              <a:ext uri="{FF2B5EF4-FFF2-40B4-BE49-F238E27FC236}">
                <a16:creationId xmlns:a16="http://schemas.microsoft.com/office/drawing/2014/main" id="{23BF2EC8-C6EA-A002-B055-B26515F36A9B}"/>
              </a:ext>
            </a:extLst>
          </p:cNvPr>
          <p:cNvPicPr>
            <a:picLocks noChangeAspect="1"/>
          </p:cNvPicPr>
          <p:nvPr/>
        </p:nvPicPr>
        <p:blipFill>
          <a:blip r:embed="rId5"/>
          <a:stretch>
            <a:fillRect/>
          </a:stretch>
        </p:blipFill>
        <p:spPr>
          <a:xfrm>
            <a:off x="4420692" y="4869338"/>
            <a:ext cx="1764840" cy="882420"/>
          </a:xfrm>
          <a:prstGeom prst="rect">
            <a:avLst/>
          </a:prstGeom>
        </p:spPr>
      </p:pic>
      <p:sp>
        <p:nvSpPr>
          <p:cNvPr id="18" name="文本框 17">
            <a:extLst>
              <a:ext uri="{FF2B5EF4-FFF2-40B4-BE49-F238E27FC236}">
                <a16:creationId xmlns:a16="http://schemas.microsoft.com/office/drawing/2014/main" id="{595160CB-BB2F-94FF-F608-869B40C3020D}"/>
              </a:ext>
            </a:extLst>
          </p:cNvPr>
          <p:cNvSpPr txBox="1"/>
          <p:nvPr/>
        </p:nvSpPr>
        <p:spPr>
          <a:xfrm>
            <a:off x="2566456" y="4945457"/>
            <a:ext cx="868215" cy="369332"/>
          </a:xfrm>
          <a:prstGeom prst="rect">
            <a:avLst/>
          </a:prstGeom>
          <a:noFill/>
        </p:spPr>
        <p:txBody>
          <a:bodyPr wrap="square">
            <a:spAutoFit/>
          </a:bodyPr>
          <a:lstStyle/>
          <a:p>
            <a:r>
              <a:rPr kumimoji="1" lang="en-US" altLang="zh-CN" baseline="30000" dirty="0">
                <a:latin typeface="Times New Roman" panose="02020603050405020304" pitchFamily="18" charset="0"/>
                <a:cs typeface="Times New Roman" panose="02020603050405020304" pitchFamily="18" charset="0"/>
              </a:rPr>
              <a:t> ✮</a:t>
            </a:r>
            <a:endParaRPr lang="zh-CN" altLang="en-US" dirty="0"/>
          </a:p>
        </p:txBody>
      </p:sp>
      <p:sp>
        <p:nvSpPr>
          <p:cNvPr id="20" name="文本框 19">
            <a:extLst>
              <a:ext uri="{FF2B5EF4-FFF2-40B4-BE49-F238E27FC236}">
                <a16:creationId xmlns:a16="http://schemas.microsoft.com/office/drawing/2014/main" id="{0F362E82-AB5B-9E29-FB7E-A7693BFF219B}"/>
              </a:ext>
            </a:extLst>
          </p:cNvPr>
          <p:cNvSpPr txBox="1"/>
          <p:nvPr/>
        </p:nvSpPr>
        <p:spPr>
          <a:xfrm>
            <a:off x="4393198" y="4945457"/>
            <a:ext cx="540512" cy="369332"/>
          </a:xfrm>
          <a:prstGeom prst="rect">
            <a:avLst/>
          </a:prstGeom>
          <a:noFill/>
        </p:spPr>
        <p:txBody>
          <a:bodyPr wrap="square">
            <a:spAutoFit/>
          </a:bodyPr>
          <a:lstStyle/>
          <a:p>
            <a:r>
              <a:rPr kumimoji="1" lang="en-US" altLang="zh-CN" baseline="30000" dirty="0">
                <a:latin typeface="Times New Roman" panose="02020603050405020304" pitchFamily="18" charset="0"/>
                <a:cs typeface="Times New Roman" panose="02020603050405020304" pitchFamily="18" charset="0"/>
              </a:rPr>
              <a:t>✧</a:t>
            </a:r>
            <a:endParaRPr lang="zh-CN" altLang="en-US" dirty="0"/>
          </a:p>
        </p:txBody>
      </p:sp>
      <p:pic>
        <p:nvPicPr>
          <p:cNvPr id="21" name="图片 10">
            <a:extLst>
              <a:ext uri="{FF2B5EF4-FFF2-40B4-BE49-F238E27FC236}">
                <a16:creationId xmlns:a16="http://schemas.microsoft.com/office/drawing/2014/main" id="{2FE8D4B3-1818-DBB2-1753-A64136E7A7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41789" y="5012680"/>
            <a:ext cx="2509888" cy="628650"/>
          </a:xfrm>
          <a:prstGeom prst="rect">
            <a:avLst/>
          </a:prstGeom>
        </p:spPr>
      </p:pic>
      <p:sp>
        <p:nvSpPr>
          <p:cNvPr id="23" name="文本框 22">
            <a:extLst>
              <a:ext uri="{FF2B5EF4-FFF2-40B4-BE49-F238E27FC236}">
                <a16:creationId xmlns:a16="http://schemas.microsoft.com/office/drawing/2014/main" id="{9F55CE02-C958-AFD2-F070-A86884A6B945}"/>
              </a:ext>
            </a:extLst>
          </p:cNvPr>
          <p:cNvSpPr txBox="1"/>
          <p:nvPr/>
        </p:nvSpPr>
        <p:spPr>
          <a:xfrm>
            <a:off x="6345409" y="4945457"/>
            <a:ext cx="650471" cy="369332"/>
          </a:xfrm>
          <a:prstGeom prst="rect">
            <a:avLst/>
          </a:prstGeom>
          <a:noFill/>
        </p:spPr>
        <p:txBody>
          <a:bodyPr wrap="square">
            <a:spAutoFit/>
          </a:bodyPr>
          <a:lstStyle/>
          <a:p>
            <a:r>
              <a:rPr kumimoji="1" lang="en-US" altLang="zh-CN" baseline="30000" dirty="0">
                <a:latin typeface="Times New Roman" panose="02020603050405020304" pitchFamily="18" charset="0"/>
                <a:cs typeface="Times New Roman" panose="02020603050405020304" pitchFamily="18" charset="0"/>
              </a:rPr>
              <a:t>§</a:t>
            </a:r>
            <a:endParaRPr lang="zh-CN" altLang="en-US" dirty="0"/>
          </a:p>
        </p:txBody>
      </p:sp>
      <p:sp>
        <p:nvSpPr>
          <p:cNvPr id="24" name="文本框 23">
            <a:extLst>
              <a:ext uri="{FF2B5EF4-FFF2-40B4-BE49-F238E27FC236}">
                <a16:creationId xmlns:a16="http://schemas.microsoft.com/office/drawing/2014/main" id="{CB9D8E78-BBF7-7DF5-ECBA-0F038D284862}"/>
              </a:ext>
            </a:extLst>
          </p:cNvPr>
          <p:cNvSpPr txBox="1"/>
          <p:nvPr/>
        </p:nvSpPr>
        <p:spPr>
          <a:xfrm>
            <a:off x="6202012" y="6456770"/>
            <a:ext cx="2849665" cy="369332"/>
          </a:xfrm>
          <a:prstGeom prst="rect">
            <a:avLst/>
          </a:prstGeom>
          <a:noFill/>
        </p:spPr>
        <p:txBody>
          <a:bodyPr wrap="square" rtlCol="0">
            <a:spAutoFit/>
          </a:bodyPr>
          <a:lstStyle/>
          <a:p>
            <a:r>
              <a:rPr kumimoji="1" lang="en" altLang="zh-CN" dirty="0" err="1">
                <a:latin typeface="Times New Roman" panose="02020603050405020304" pitchFamily="18" charset="0"/>
                <a:cs typeface="Times New Roman" panose="02020603050405020304" pitchFamily="18" charset="0"/>
              </a:rPr>
              <a:t>jiangshan.ljs@antgroup.com</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18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4F52F1A-BD45-4BB0-D710-A26438F7413C}"/>
              </a:ext>
            </a:extLst>
          </p:cNvPr>
          <p:cNvSpPr txBox="1"/>
          <p:nvPr/>
        </p:nvSpPr>
        <p:spPr>
          <a:xfrm>
            <a:off x="1" y="0"/>
            <a:ext cx="9144000" cy="1015663"/>
          </a:xfrm>
          <a:prstGeom prst="rect">
            <a:avLst/>
          </a:prstGeom>
          <a:noFill/>
        </p:spPr>
        <p:txBody>
          <a:bodyPr wrap="square" rtlCol="0">
            <a:spAutoFit/>
          </a:bodyPr>
          <a:lstStyle/>
          <a:p>
            <a:pPr algn="ctr"/>
            <a:endParaRPr kumimoji="1" lang="en-US" altLang="zh-CN" sz="2400" b="1" dirty="0">
              <a:latin typeface="Times New Roman" panose="02020603050405020304" pitchFamily="18" charset="0"/>
              <a:cs typeface="Times New Roman" panose="02020603050405020304" pitchFamily="18" charset="0"/>
            </a:endParaRPr>
          </a:p>
          <a:p>
            <a:pPr algn="ctr"/>
            <a:r>
              <a:rPr kumimoji="1" lang="en-US" altLang="zh-CN" sz="3600" b="1" dirty="0">
                <a:latin typeface="Times New Roman" panose="02020603050405020304" pitchFamily="18" charset="0"/>
                <a:cs typeface="Times New Roman" panose="02020603050405020304" pitchFamily="18" charset="0"/>
              </a:rPr>
              <a:t>Cloud-native and Containers</a:t>
            </a:r>
          </a:p>
        </p:txBody>
      </p:sp>
      <p:sp>
        <p:nvSpPr>
          <p:cNvPr id="29" name="文本框 28">
            <a:extLst>
              <a:ext uri="{FF2B5EF4-FFF2-40B4-BE49-F238E27FC236}">
                <a16:creationId xmlns:a16="http://schemas.microsoft.com/office/drawing/2014/main" id="{BEF57E03-1985-208B-AA56-D9CDAA971315}"/>
              </a:ext>
            </a:extLst>
          </p:cNvPr>
          <p:cNvSpPr txBox="1"/>
          <p:nvPr/>
        </p:nvSpPr>
        <p:spPr>
          <a:xfrm>
            <a:off x="434714" y="1831989"/>
            <a:ext cx="8709286" cy="1107996"/>
          </a:xfrm>
          <a:prstGeom prst="rect">
            <a:avLst/>
          </a:prstGeom>
          <a:noFill/>
        </p:spPr>
        <p:txBody>
          <a:bodyPr wrap="square">
            <a:spAutoFit/>
          </a:bodyPr>
          <a:lstStyle/>
          <a:p>
            <a:r>
              <a:rPr lang="en" altLang="zh-CN" sz="2200" b="0" i="1" dirty="0">
                <a:solidFill>
                  <a:srgbClr val="161616"/>
                </a:solidFill>
                <a:effectLst/>
                <a:latin typeface="Times New Roman" panose="02020603050405020304" pitchFamily="18" charset="0"/>
                <a:cs typeface="Times New Roman" panose="02020603050405020304" pitchFamily="18" charset="0"/>
              </a:rPr>
              <a:t>Cloud-native technologies empower organizations to build and run scalable applications in modern, dynamic environments such as public, private, and hybrid clouds. </a:t>
            </a:r>
            <a:endParaRPr lang="zh-CN" altLang="en-US" sz="2200" i="1"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E87A3088-A067-7D3D-F257-91469B1712D1}"/>
              </a:ext>
            </a:extLst>
          </p:cNvPr>
          <p:cNvSpPr txBox="1"/>
          <p:nvPr/>
        </p:nvSpPr>
        <p:spPr>
          <a:xfrm>
            <a:off x="434714" y="1401102"/>
            <a:ext cx="8529404" cy="430887"/>
          </a:xfrm>
          <a:prstGeom prst="rect">
            <a:avLst/>
          </a:prstGeom>
          <a:noFill/>
        </p:spPr>
        <p:txBody>
          <a:bodyPr wrap="square">
            <a:spAutoFit/>
          </a:bodyPr>
          <a:lstStyle/>
          <a:p>
            <a:r>
              <a:rPr lang="en" altLang="zh-CN" sz="2200" dirty="0">
                <a:latin typeface="Times New Roman" panose="02020603050405020304" pitchFamily="18" charset="0"/>
                <a:cs typeface="Times New Roman" panose="02020603050405020304" pitchFamily="18" charset="0"/>
              </a:rPr>
              <a:t>The Cloud Native Computing Foundation provides the official definition:</a:t>
            </a:r>
            <a:endParaRPr lang="zh-CN" altLang="en-US" sz="2200"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23B16268-4F03-4FCB-FF28-12A6E381B9EC}"/>
              </a:ext>
            </a:extLst>
          </p:cNvPr>
          <p:cNvSpPr txBox="1"/>
          <p:nvPr/>
        </p:nvSpPr>
        <p:spPr>
          <a:xfrm>
            <a:off x="434714" y="3046069"/>
            <a:ext cx="8529404" cy="2570640"/>
          </a:xfrm>
          <a:prstGeom prst="rect">
            <a:avLst/>
          </a:prstGeom>
          <a:noFill/>
        </p:spPr>
        <p:txBody>
          <a:bodyPr wrap="square">
            <a:spAutoFit/>
          </a:bodyPr>
          <a:lstStyle/>
          <a:p>
            <a:pPr>
              <a:lnSpc>
                <a:spcPct val="150000"/>
              </a:lnSpc>
            </a:pPr>
            <a:r>
              <a:rPr kumimoji="1" lang="en-US" altLang="zh-CN" sz="2200" dirty="0">
                <a:latin typeface="Times New Roman" panose="02020603050405020304" pitchFamily="18" charset="0"/>
                <a:cs typeface="Times New Roman" panose="02020603050405020304" pitchFamily="18" charset="0"/>
              </a:rPr>
              <a:t>Containers are used in cloud-native environments for:</a:t>
            </a:r>
          </a:p>
          <a:p>
            <a:pPr marL="342900"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Flexibility: ease</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of</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management.</a:t>
            </a:r>
          </a:p>
          <a:p>
            <a:pPr marL="342900"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Portability: fast</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and</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cross-platform</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deployment.</a:t>
            </a:r>
          </a:p>
          <a:p>
            <a:pPr marL="342900"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Excellent scalability.</a:t>
            </a:r>
          </a:p>
          <a:p>
            <a:pPr marL="342900"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Minimal resource utilization.</a:t>
            </a:r>
          </a:p>
        </p:txBody>
      </p:sp>
    </p:spTree>
    <p:extLst>
      <p:ext uri="{BB962C8B-B14F-4D97-AF65-F5344CB8AC3E}">
        <p14:creationId xmlns:p14="http://schemas.microsoft.com/office/powerpoint/2010/main" val="3374838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BDEE369-5C01-48FF-5DCD-862033461519}"/>
              </a:ext>
            </a:extLst>
          </p:cNvPr>
          <p:cNvSpPr txBox="1"/>
          <p:nvPr/>
        </p:nvSpPr>
        <p:spPr>
          <a:xfrm>
            <a:off x="523205" y="1357143"/>
            <a:ext cx="8258254" cy="769441"/>
          </a:xfrm>
          <a:prstGeom prst="rect">
            <a:avLst/>
          </a:prstGeom>
          <a:noFill/>
        </p:spPr>
        <p:txBody>
          <a:bodyPr wrap="square" rtlCol="0">
            <a:spAutoFit/>
          </a:bodyPr>
          <a:lstStyle/>
          <a:p>
            <a:r>
              <a:rPr lang="en-US" altLang="zh-CN" sz="2200" dirty="0">
                <a:effectLst/>
                <a:latin typeface="Times New Roman" panose="02020603050405020304" pitchFamily="18" charset="0"/>
                <a:cs typeface="Times New Roman" panose="02020603050405020304" pitchFamily="18" charset="0"/>
              </a:rPr>
              <a:t>To address the increasing security challenges, secure containers are designed with stronger isolation and security</a:t>
            </a:r>
            <a:r>
              <a:rPr lang="en-US" altLang="zh-CN" sz="2200" dirty="0">
                <a:latin typeface="Times New Roman" panose="02020603050405020304" pitchFamily="18" charset="0"/>
                <a:cs typeface="Times New Roman" panose="02020603050405020304" pitchFamily="18" charset="0"/>
              </a:rPr>
              <a:t>.</a:t>
            </a:r>
            <a:endParaRPr lang="en" altLang="zh-CN" sz="2200" dirty="0">
              <a:effectLst/>
              <a:latin typeface="Times New Roman" panose="02020603050405020304" pitchFamily="18" charset="0"/>
              <a:cs typeface="Times New Roman" panose="02020603050405020304" pitchFamily="18" charset="0"/>
            </a:endParaRPr>
          </a:p>
        </p:txBody>
      </p:sp>
      <p:sp>
        <p:nvSpPr>
          <p:cNvPr id="11" name="Rectangle 4">
            <a:extLst>
              <a:ext uri="{FF2B5EF4-FFF2-40B4-BE49-F238E27FC236}">
                <a16:creationId xmlns:a16="http://schemas.microsoft.com/office/drawing/2014/main" id="{0D65B74D-64D5-B691-D64A-0B5E33B57D59}"/>
              </a:ext>
            </a:extLst>
          </p:cNvPr>
          <p:cNvSpPr/>
          <p:nvPr/>
        </p:nvSpPr>
        <p:spPr>
          <a:xfrm>
            <a:off x="4448613" y="5049032"/>
            <a:ext cx="3246666" cy="386907"/>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Infrastructure</a:t>
            </a:r>
            <a:endParaRPr lang="en-US" sz="2200" dirty="0">
              <a:latin typeface="Times New Roman" panose="02020603050405020304" pitchFamily="18" charset="0"/>
              <a:cs typeface="Times New Roman" panose="02020603050405020304" pitchFamily="18" charset="0"/>
            </a:endParaRPr>
          </a:p>
        </p:txBody>
      </p:sp>
      <p:sp>
        <p:nvSpPr>
          <p:cNvPr id="12" name="Rectangle 5">
            <a:extLst>
              <a:ext uri="{FF2B5EF4-FFF2-40B4-BE49-F238E27FC236}">
                <a16:creationId xmlns:a16="http://schemas.microsoft.com/office/drawing/2014/main" id="{A59CE8F0-90C8-16BB-F183-10A326771666}"/>
              </a:ext>
            </a:extLst>
          </p:cNvPr>
          <p:cNvSpPr/>
          <p:nvPr/>
        </p:nvSpPr>
        <p:spPr>
          <a:xfrm>
            <a:off x="4448613" y="4602717"/>
            <a:ext cx="3246666" cy="348342"/>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Hypervisor</a:t>
            </a:r>
            <a:endParaRPr lang="en-US" sz="2200" dirty="0">
              <a:latin typeface="Times New Roman" panose="02020603050405020304" pitchFamily="18" charset="0"/>
              <a:cs typeface="Times New Roman" panose="02020603050405020304" pitchFamily="18" charset="0"/>
            </a:endParaRPr>
          </a:p>
        </p:txBody>
      </p:sp>
      <p:sp>
        <p:nvSpPr>
          <p:cNvPr id="24" name="Rectangle 6">
            <a:extLst>
              <a:ext uri="{FF2B5EF4-FFF2-40B4-BE49-F238E27FC236}">
                <a16:creationId xmlns:a16="http://schemas.microsoft.com/office/drawing/2014/main" id="{59A39A3D-A5A0-C5AA-34E0-3B05FFA7C4EB}"/>
              </a:ext>
            </a:extLst>
          </p:cNvPr>
          <p:cNvSpPr/>
          <p:nvPr/>
        </p:nvSpPr>
        <p:spPr>
          <a:xfrm>
            <a:off x="4448613" y="3668457"/>
            <a:ext cx="3246666"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Guest</a:t>
            </a:r>
            <a:r>
              <a:rPr lang="zh-CN" altLang="en-US"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Kernel</a:t>
            </a:r>
          </a:p>
        </p:txBody>
      </p:sp>
      <p:sp>
        <p:nvSpPr>
          <p:cNvPr id="26" name="Rectangle 10">
            <a:extLst>
              <a:ext uri="{FF2B5EF4-FFF2-40B4-BE49-F238E27FC236}">
                <a16:creationId xmlns:a16="http://schemas.microsoft.com/office/drawing/2014/main" id="{777E3B8C-1EF9-1660-BC0E-404C7E652300}"/>
              </a:ext>
            </a:extLst>
          </p:cNvPr>
          <p:cNvSpPr/>
          <p:nvPr/>
        </p:nvSpPr>
        <p:spPr>
          <a:xfrm>
            <a:off x="4448614" y="3192987"/>
            <a:ext cx="3246665"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Bins/lib</a:t>
            </a:r>
            <a:endParaRPr lang="en-US" sz="2200" dirty="0">
              <a:latin typeface="Times New Roman" panose="02020603050405020304" pitchFamily="18" charset="0"/>
              <a:cs typeface="Times New Roman" panose="02020603050405020304" pitchFamily="18" charset="0"/>
            </a:endParaRPr>
          </a:p>
        </p:txBody>
      </p:sp>
      <p:sp>
        <p:nvSpPr>
          <p:cNvPr id="14" name="Rectangle 41">
            <a:extLst>
              <a:ext uri="{FF2B5EF4-FFF2-40B4-BE49-F238E27FC236}">
                <a16:creationId xmlns:a16="http://schemas.microsoft.com/office/drawing/2014/main" id="{7D7D5CC7-0643-845C-E0B1-10C4C8C805B3}"/>
              </a:ext>
            </a:extLst>
          </p:cNvPr>
          <p:cNvSpPr/>
          <p:nvPr/>
        </p:nvSpPr>
        <p:spPr>
          <a:xfrm>
            <a:off x="4448613" y="4135167"/>
            <a:ext cx="3246666" cy="348342"/>
          </a:xfrm>
          <a:prstGeom prst="rect">
            <a:avLst/>
          </a:prstGeom>
          <a:solidFill>
            <a:srgbClr val="0432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Virtual</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Hardware</a:t>
            </a:r>
            <a:endParaRPr lang="en-US" sz="2200" dirty="0">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7E8BE7DC-5E4F-80E9-E45E-A4FA08B30FD1}"/>
              </a:ext>
            </a:extLst>
          </p:cNvPr>
          <p:cNvSpPr/>
          <p:nvPr/>
        </p:nvSpPr>
        <p:spPr>
          <a:xfrm>
            <a:off x="4331655" y="2455526"/>
            <a:ext cx="3487478" cy="2104659"/>
          </a:xfrm>
          <a:prstGeom prst="rect">
            <a:avLst/>
          </a:prstGeom>
          <a:noFill/>
          <a:ln w="254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200">
              <a:latin typeface="Times New Roman" panose="02020603050405020304" pitchFamily="18" charset="0"/>
              <a:cs typeface="Times New Roman" panose="02020603050405020304" pitchFamily="18" charset="0"/>
            </a:endParaRPr>
          </a:p>
        </p:txBody>
      </p:sp>
      <p:sp>
        <p:nvSpPr>
          <p:cNvPr id="2" name="文本框 1">
            <a:extLst>
              <a:ext uri="{FF2B5EF4-FFF2-40B4-BE49-F238E27FC236}">
                <a16:creationId xmlns:a16="http://schemas.microsoft.com/office/drawing/2014/main" id="{20F20779-DCC0-1531-2234-9D81B0BB4B8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b="0" i="0" dirty="0">
                <a:effectLst/>
                <a:latin typeface="Times New Roman" panose="02020603050405020304" pitchFamily="18" charset="0"/>
                <a:cs typeface="Times New Roman" panose="02020603050405020304" pitchFamily="18" charset="0"/>
              </a:rPr>
              <a:t>Container vs. Secure Container</a:t>
            </a:r>
            <a:endParaRPr kumimoji="1" lang="en-US" altLang="zh-CN" sz="3600" b="1" dirty="0">
              <a:latin typeface="Times New Roman" panose="02020603050405020304" pitchFamily="18" charset="0"/>
              <a:cs typeface="Times New Roman" panose="02020603050405020304" pitchFamily="18" charset="0"/>
            </a:endParaRPr>
          </a:p>
        </p:txBody>
      </p:sp>
      <p:sp>
        <p:nvSpPr>
          <p:cNvPr id="4" name="Rectangle 10">
            <a:extLst>
              <a:ext uri="{FF2B5EF4-FFF2-40B4-BE49-F238E27FC236}">
                <a16:creationId xmlns:a16="http://schemas.microsoft.com/office/drawing/2014/main" id="{8E6D03FA-2021-56DE-8580-376B0391E73B}"/>
              </a:ext>
            </a:extLst>
          </p:cNvPr>
          <p:cNvSpPr/>
          <p:nvPr/>
        </p:nvSpPr>
        <p:spPr>
          <a:xfrm>
            <a:off x="4448613" y="2826580"/>
            <a:ext cx="3246665"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App</a:t>
            </a:r>
            <a:endParaRPr lang="en-US" sz="2200" dirty="0">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F1665448-C4BB-2E76-019A-974CA360337A}"/>
              </a:ext>
            </a:extLst>
          </p:cNvPr>
          <p:cNvSpPr/>
          <p:nvPr/>
        </p:nvSpPr>
        <p:spPr>
          <a:xfrm>
            <a:off x="643612" y="5114021"/>
            <a:ext cx="3246666" cy="386907"/>
          </a:xfrm>
          <a:prstGeom prst="rect">
            <a:avLst/>
          </a:prstGeom>
          <a:solidFill>
            <a:schemeClr val="tx1">
              <a:lumMod val="65000"/>
              <a:lumOff val="3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Infrastructure</a:t>
            </a:r>
            <a:endParaRPr lang="en-US" sz="2200" dirty="0">
              <a:latin typeface="Times New Roman" panose="02020603050405020304" pitchFamily="18" charset="0"/>
              <a:cs typeface="Times New Roman" panose="02020603050405020304" pitchFamily="18" charset="0"/>
            </a:endParaRPr>
          </a:p>
        </p:txBody>
      </p:sp>
      <p:sp>
        <p:nvSpPr>
          <p:cNvPr id="9" name="Rectangle 5">
            <a:extLst>
              <a:ext uri="{FF2B5EF4-FFF2-40B4-BE49-F238E27FC236}">
                <a16:creationId xmlns:a16="http://schemas.microsoft.com/office/drawing/2014/main" id="{4BBE5EA6-D211-BEE4-0E48-AACD949247BB}"/>
              </a:ext>
            </a:extLst>
          </p:cNvPr>
          <p:cNvSpPr/>
          <p:nvPr/>
        </p:nvSpPr>
        <p:spPr>
          <a:xfrm>
            <a:off x="643612" y="3809596"/>
            <a:ext cx="3246666" cy="1198019"/>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lstStyle/>
          <a:p>
            <a:pPr algn="ctr"/>
            <a:r>
              <a:rPr lang="en-US" altLang="zh-CN" sz="2200" dirty="0">
                <a:latin typeface="Times New Roman" panose="02020603050405020304" pitchFamily="18" charset="0"/>
                <a:cs typeface="Times New Roman" panose="02020603050405020304" pitchFamily="18" charset="0"/>
              </a:rPr>
              <a:t>Host Kernel</a:t>
            </a:r>
            <a:endParaRPr lang="en-US" sz="2200" dirty="0">
              <a:latin typeface="Times New Roman" panose="02020603050405020304" pitchFamily="18" charset="0"/>
              <a:cs typeface="Times New Roman" panose="02020603050405020304" pitchFamily="18" charset="0"/>
            </a:endParaRPr>
          </a:p>
        </p:txBody>
      </p:sp>
      <p:sp>
        <p:nvSpPr>
          <p:cNvPr id="10" name="Rectangle 10">
            <a:extLst>
              <a:ext uri="{FF2B5EF4-FFF2-40B4-BE49-F238E27FC236}">
                <a16:creationId xmlns:a16="http://schemas.microsoft.com/office/drawing/2014/main" id="{A536883F-CAB8-D164-FDDB-81B3F8650D50}"/>
              </a:ext>
            </a:extLst>
          </p:cNvPr>
          <p:cNvSpPr/>
          <p:nvPr/>
        </p:nvSpPr>
        <p:spPr>
          <a:xfrm>
            <a:off x="643613" y="3198474"/>
            <a:ext cx="3246665"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Bins/lib</a:t>
            </a:r>
            <a:endParaRPr lang="en-US" sz="2200" dirty="0">
              <a:latin typeface="Times New Roman" panose="02020603050405020304" pitchFamily="18" charset="0"/>
              <a:cs typeface="Times New Roman" panose="02020603050405020304" pitchFamily="18" charset="0"/>
            </a:endParaRPr>
          </a:p>
        </p:txBody>
      </p:sp>
      <p:sp>
        <p:nvSpPr>
          <p:cNvPr id="13" name="Rectangle 10">
            <a:extLst>
              <a:ext uri="{FF2B5EF4-FFF2-40B4-BE49-F238E27FC236}">
                <a16:creationId xmlns:a16="http://schemas.microsoft.com/office/drawing/2014/main" id="{975687D6-D738-227B-F97E-D063CC32AE69}"/>
              </a:ext>
            </a:extLst>
          </p:cNvPr>
          <p:cNvSpPr/>
          <p:nvPr/>
        </p:nvSpPr>
        <p:spPr>
          <a:xfrm>
            <a:off x="643612" y="2832067"/>
            <a:ext cx="3246665" cy="36636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Times New Roman" panose="02020603050405020304" pitchFamily="18" charset="0"/>
                <a:cs typeface="Times New Roman" panose="02020603050405020304" pitchFamily="18" charset="0"/>
              </a:rPr>
              <a:t>App</a:t>
            </a:r>
            <a:endParaRPr lang="en-US" sz="22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C21470CE-0A9D-191A-057F-5F41ED8539FE}"/>
              </a:ext>
            </a:extLst>
          </p:cNvPr>
          <p:cNvSpPr txBox="1"/>
          <p:nvPr/>
        </p:nvSpPr>
        <p:spPr>
          <a:xfrm>
            <a:off x="4448613" y="5533912"/>
            <a:ext cx="3537679" cy="769441"/>
          </a:xfrm>
          <a:prstGeom prst="rect">
            <a:avLst/>
          </a:prstGeom>
          <a:noFill/>
        </p:spPr>
        <p:txBody>
          <a:bodyPr wrap="square" rtlCol="0">
            <a:spAutoFit/>
          </a:bodyPr>
          <a:lstStyle/>
          <a:p>
            <a:pPr marL="342900" indent="-342900">
              <a:buFont typeface="Arial" panose="020B0604020202020204" pitchFamily="34" charset="0"/>
              <a:buChar char="•"/>
            </a:pPr>
            <a:r>
              <a:rPr lang="en" altLang="zh-CN" sz="2200" dirty="0">
                <a:solidFill>
                  <a:srgbClr val="002060"/>
                </a:solidFill>
                <a:effectLst/>
                <a:latin typeface="Times New Roman" panose="02020603050405020304" pitchFamily="18" charset="0"/>
                <a:cs typeface="Times New Roman" panose="02020603050405020304" pitchFamily="18" charset="0"/>
              </a:rPr>
              <a:t>Narrow attack surface</a:t>
            </a:r>
            <a:endParaRPr kumimoji="1" lang="en-US" altLang="zh-CN" sz="2200" dirty="0">
              <a:solidFill>
                <a:srgbClr val="002060"/>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 altLang="zh-CN" sz="2200" dirty="0">
                <a:solidFill>
                  <a:srgbClr val="002060"/>
                </a:solidFill>
                <a:effectLst/>
                <a:latin typeface="Times New Roman" panose="02020603050405020304" pitchFamily="18" charset="0"/>
                <a:cs typeface="Times New Roman" panose="02020603050405020304" pitchFamily="18" charset="0"/>
              </a:rPr>
              <a:t>Defense in depth</a:t>
            </a:r>
            <a:r>
              <a:rPr kumimoji="1" lang="en-US" altLang="zh-CN" sz="2200" dirty="0">
                <a:solidFill>
                  <a:srgbClr val="002060"/>
                </a:solidFill>
                <a:effectLst/>
                <a:latin typeface="Times New Roman" panose="02020603050405020304" pitchFamily="18" charset="0"/>
                <a:cs typeface="Times New Roman" panose="02020603050405020304" pitchFamily="18" charset="0"/>
              </a:rPr>
              <a:t> </a:t>
            </a:r>
            <a:endParaRPr lang="en" altLang="zh-CN" sz="2200" dirty="0">
              <a:solidFill>
                <a:srgbClr val="002060"/>
              </a:solidFill>
              <a:effectLst/>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0956BF58-3ED8-7C55-D58A-B7ADC537D02A}"/>
              </a:ext>
            </a:extLst>
          </p:cNvPr>
          <p:cNvSpPr txBox="1"/>
          <p:nvPr/>
        </p:nvSpPr>
        <p:spPr>
          <a:xfrm>
            <a:off x="1642247" y="2401161"/>
            <a:ext cx="1498687" cy="430887"/>
          </a:xfrm>
          <a:prstGeom prst="rect">
            <a:avLst/>
          </a:prstGeom>
          <a:noFill/>
        </p:spPr>
        <p:txBody>
          <a:bodyPr wrap="square">
            <a:spAutoFit/>
          </a:bodyPr>
          <a:lstStyle/>
          <a:p>
            <a:r>
              <a:rPr lang="en-US" altLang="zh-CN" sz="2200" dirty="0">
                <a:latin typeface="Times New Roman" panose="02020603050405020304" pitchFamily="18" charset="0"/>
                <a:cs typeface="Times New Roman" panose="02020603050405020304" pitchFamily="18" charset="0"/>
              </a:rPr>
              <a:t>Container</a:t>
            </a:r>
            <a:endParaRPr lang="zh-CN" altLang="en-US" sz="2200" dirty="0"/>
          </a:p>
        </p:txBody>
      </p:sp>
      <p:sp>
        <p:nvSpPr>
          <p:cNvPr id="18" name="文本框 17">
            <a:extLst>
              <a:ext uri="{FF2B5EF4-FFF2-40B4-BE49-F238E27FC236}">
                <a16:creationId xmlns:a16="http://schemas.microsoft.com/office/drawing/2014/main" id="{444446A5-05A1-9D52-700E-E373EE829FF7}"/>
              </a:ext>
            </a:extLst>
          </p:cNvPr>
          <p:cNvSpPr txBox="1"/>
          <p:nvPr/>
        </p:nvSpPr>
        <p:spPr>
          <a:xfrm>
            <a:off x="5082758" y="2372398"/>
            <a:ext cx="2372677" cy="430887"/>
          </a:xfrm>
          <a:prstGeom prst="rect">
            <a:avLst/>
          </a:prstGeom>
          <a:noFill/>
        </p:spPr>
        <p:txBody>
          <a:bodyPr wrap="square">
            <a:spAutoFit/>
          </a:bodyPr>
          <a:lstStyle/>
          <a:p>
            <a:r>
              <a:rPr lang="en-US" altLang="zh-CN" sz="2200" dirty="0">
                <a:latin typeface="Times New Roman" panose="02020603050405020304" pitchFamily="18" charset="0"/>
                <a:cs typeface="Times New Roman" panose="02020603050405020304" pitchFamily="18" charset="0"/>
              </a:rPr>
              <a:t>Secure Container</a:t>
            </a:r>
            <a:endParaRPr lang="zh-CN" altLang="en-US" sz="2200" dirty="0"/>
          </a:p>
        </p:txBody>
      </p:sp>
      <p:sp>
        <p:nvSpPr>
          <p:cNvPr id="19" name="矩形 18">
            <a:extLst>
              <a:ext uri="{FF2B5EF4-FFF2-40B4-BE49-F238E27FC236}">
                <a16:creationId xmlns:a16="http://schemas.microsoft.com/office/drawing/2014/main" id="{187BC2FD-0692-7945-F232-D674E626B1D5}"/>
              </a:ext>
            </a:extLst>
          </p:cNvPr>
          <p:cNvSpPr/>
          <p:nvPr/>
        </p:nvSpPr>
        <p:spPr>
          <a:xfrm>
            <a:off x="523205" y="2477277"/>
            <a:ext cx="3487478" cy="1146175"/>
          </a:xfrm>
          <a:prstGeom prst="rect">
            <a:avLst/>
          </a:prstGeom>
          <a:noFill/>
          <a:ln w="254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20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F2032F10-6E04-D64F-9E0A-2D5A8838CED4}"/>
              </a:ext>
            </a:extLst>
          </p:cNvPr>
          <p:cNvSpPr txBox="1"/>
          <p:nvPr/>
        </p:nvSpPr>
        <p:spPr>
          <a:xfrm>
            <a:off x="7819133" y="3337145"/>
            <a:ext cx="1400581" cy="430887"/>
          </a:xfrm>
          <a:prstGeom prst="rect">
            <a:avLst/>
          </a:prstGeom>
          <a:noFill/>
        </p:spPr>
        <p:txBody>
          <a:bodyPr wrap="square">
            <a:spAutoFit/>
          </a:bodyPr>
          <a:lstStyle/>
          <a:p>
            <a:r>
              <a:rPr lang="en" altLang="zh-CN" sz="2200" dirty="0" err="1">
                <a:effectLst/>
                <a:latin typeface="Times New Roman" panose="02020603050405020304" pitchFamily="18" charset="0"/>
                <a:cs typeface="Times New Roman" panose="02020603050405020304" pitchFamily="18" charset="0"/>
              </a:rPr>
              <a:t>microVM</a:t>
            </a:r>
            <a:r>
              <a:rPr lang="en" altLang="zh-CN" sz="2200" dirty="0">
                <a:effectLst/>
                <a:latin typeface="Times New Roman" panose="02020603050405020304" pitchFamily="18" charset="0"/>
                <a:cs typeface="Times New Roman" panose="02020603050405020304" pitchFamily="18" charset="0"/>
              </a:rPr>
              <a:t> </a:t>
            </a:r>
            <a:endParaRPr lang="zh-CN" altLang="en-US" sz="2200" dirty="0"/>
          </a:p>
        </p:txBody>
      </p:sp>
      <p:sp>
        <p:nvSpPr>
          <p:cNvPr id="3" name="文本框 2">
            <a:extLst>
              <a:ext uri="{FF2B5EF4-FFF2-40B4-BE49-F238E27FC236}">
                <a16:creationId xmlns:a16="http://schemas.microsoft.com/office/drawing/2014/main" id="{A6801ACA-F7D7-5B1F-8A8D-864A98C1B2E0}"/>
              </a:ext>
            </a:extLst>
          </p:cNvPr>
          <p:cNvSpPr txBox="1"/>
          <p:nvPr/>
        </p:nvSpPr>
        <p:spPr>
          <a:xfrm>
            <a:off x="622750" y="5607334"/>
            <a:ext cx="3537679" cy="430887"/>
          </a:xfrm>
          <a:prstGeom prst="rect">
            <a:avLst/>
          </a:prstGeom>
          <a:noFill/>
        </p:spPr>
        <p:txBody>
          <a:bodyPr wrap="square" rtlCol="0">
            <a:spAutoFit/>
          </a:bodyPr>
          <a:lstStyle/>
          <a:p>
            <a:pPr marL="342900" indent="-342900">
              <a:buFont typeface="Arial" panose="020B0604020202020204" pitchFamily="34" charset="0"/>
              <a:buChar char="•"/>
            </a:pPr>
            <a:r>
              <a:rPr kumimoji="1" lang="en-US" altLang="zh-CN" sz="2200" dirty="0">
                <a:solidFill>
                  <a:srgbClr val="C00000"/>
                </a:solidFill>
                <a:latin typeface="Times New Roman" panose="02020603050405020304" pitchFamily="18" charset="0"/>
                <a:cs typeface="Times New Roman" panose="02020603050405020304" pitchFamily="18" charset="0"/>
              </a:rPr>
              <a:t>Host kernel sharing</a:t>
            </a:r>
          </a:p>
        </p:txBody>
      </p:sp>
      <p:sp>
        <p:nvSpPr>
          <p:cNvPr id="5" name="文本框 4">
            <a:extLst>
              <a:ext uri="{FF2B5EF4-FFF2-40B4-BE49-F238E27FC236}">
                <a16:creationId xmlns:a16="http://schemas.microsoft.com/office/drawing/2014/main" id="{6253D64A-2AE9-F9C2-B584-DF37C2EDE677}"/>
              </a:ext>
            </a:extLst>
          </p:cNvPr>
          <p:cNvSpPr txBox="1"/>
          <p:nvPr/>
        </p:nvSpPr>
        <p:spPr>
          <a:xfrm>
            <a:off x="1054419" y="3839719"/>
            <a:ext cx="961053" cy="369332"/>
          </a:xfrm>
          <a:prstGeom prst="rect">
            <a:avLst/>
          </a:prstGeom>
          <a:noFill/>
        </p:spPr>
        <p:txBody>
          <a:bodyPr wrap="square" rtlCol="0">
            <a:spAutoFit/>
          </a:bodyPr>
          <a:lstStyle/>
          <a:p>
            <a:r>
              <a:rPr lang="en-US" altLang="zh-CN" dirty="0" err="1">
                <a:solidFill>
                  <a:schemeClr val="bg1"/>
                </a:solidFill>
              </a:rPr>
              <a:t>Cgroups</a:t>
            </a:r>
            <a:endParaRPr lang="zh-CN" altLang="en-US" dirty="0">
              <a:solidFill>
                <a:schemeClr val="bg1"/>
              </a:solidFill>
            </a:endParaRPr>
          </a:p>
        </p:txBody>
      </p:sp>
      <p:sp>
        <p:nvSpPr>
          <p:cNvPr id="8" name="文本框 7">
            <a:extLst>
              <a:ext uri="{FF2B5EF4-FFF2-40B4-BE49-F238E27FC236}">
                <a16:creationId xmlns:a16="http://schemas.microsoft.com/office/drawing/2014/main" id="{99DC6C90-0ACB-A756-C273-8F226B667EE9}"/>
              </a:ext>
            </a:extLst>
          </p:cNvPr>
          <p:cNvSpPr txBox="1"/>
          <p:nvPr/>
        </p:nvSpPr>
        <p:spPr>
          <a:xfrm>
            <a:off x="2213129" y="3835520"/>
            <a:ext cx="1444471" cy="369332"/>
          </a:xfrm>
          <a:prstGeom prst="rect">
            <a:avLst/>
          </a:prstGeom>
          <a:noFill/>
        </p:spPr>
        <p:txBody>
          <a:bodyPr wrap="square" rtlCol="0">
            <a:spAutoFit/>
          </a:bodyPr>
          <a:lstStyle/>
          <a:p>
            <a:r>
              <a:rPr lang="en-US" altLang="zh-CN" dirty="0">
                <a:solidFill>
                  <a:schemeClr val="bg1"/>
                </a:solidFill>
              </a:rPr>
              <a:t>Namespaces</a:t>
            </a:r>
            <a:endParaRPr lang="zh-CN" altLang="en-US" dirty="0">
              <a:solidFill>
                <a:schemeClr val="bg1"/>
              </a:solidFill>
            </a:endParaRPr>
          </a:p>
        </p:txBody>
      </p:sp>
      <p:sp>
        <p:nvSpPr>
          <p:cNvPr id="16" name="文本框 15">
            <a:extLst>
              <a:ext uri="{FF2B5EF4-FFF2-40B4-BE49-F238E27FC236}">
                <a16:creationId xmlns:a16="http://schemas.microsoft.com/office/drawing/2014/main" id="{8C1EE011-33EC-F020-8D5E-28FDAA74639C}"/>
              </a:ext>
            </a:extLst>
          </p:cNvPr>
          <p:cNvSpPr txBox="1"/>
          <p:nvPr/>
        </p:nvSpPr>
        <p:spPr>
          <a:xfrm>
            <a:off x="687321" y="4204852"/>
            <a:ext cx="3487478" cy="369332"/>
          </a:xfrm>
          <a:prstGeom prst="rect">
            <a:avLst/>
          </a:prstGeom>
          <a:noFill/>
        </p:spPr>
        <p:txBody>
          <a:bodyPr wrap="square" rtlCol="0">
            <a:spAutoFit/>
          </a:bodyPr>
          <a:lstStyle/>
          <a:p>
            <a:r>
              <a:rPr lang="en-US" altLang="zh-CN" dirty="0">
                <a:solidFill>
                  <a:schemeClr val="bg1"/>
                </a:solidFill>
              </a:rPr>
              <a:t>LSMs (e.g. Capability, </a:t>
            </a:r>
            <a:r>
              <a:rPr lang="en-US" altLang="zh-CN" dirty="0" err="1">
                <a:solidFill>
                  <a:schemeClr val="bg1"/>
                </a:solidFill>
              </a:rPr>
              <a:t>AppArmor</a:t>
            </a:r>
            <a:r>
              <a:rPr lang="en-US" altLang="zh-CN" dirty="0">
                <a:solidFill>
                  <a:schemeClr val="bg1"/>
                </a:solidFill>
              </a:rPr>
              <a:t>)</a:t>
            </a:r>
            <a:endParaRPr lang="zh-CN" altLang="en-US" dirty="0">
              <a:solidFill>
                <a:schemeClr val="bg1"/>
              </a:solidFill>
            </a:endParaRPr>
          </a:p>
        </p:txBody>
      </p:sp>
      <p:sp>
        <p:nvSpPr>
          <p:cNvPr id="20" name="矩形 19">
            <a:extLst>
              <a:ext uri="{FF2B5EF4-FFF2-40B4-BE49-F238E27FC236}">
                <a16:creationId xmlns:a16="http://schemas.microsoft.com/office/drawing/2014/main" id="{A3C07961-81D0-9757-8AEE-E5BDAAB1FE2A}"/>
              </a:ext>
            </a:extLst>
          </p:cNvPr>
          <p:cNvSpPr/>
          <p:nvPr/>
        </p:nvSpPr>
        <p:spPr>
          <a:xfrm>
            <a:off x="4425232" y="2722833"/>
            <a:ext cx="3280437" cy="881923"/>
          </a:xfrm>
          <a:prstGeom prst="rect">
            <a:avLst/>
          </a:prstGeom>
          <a:noFill/>
          <a:ln w="254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8329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F20779-DCC0-1531-2234-9D81B0BB4B8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b="0" i="0" dirty="0">
                <a:effectLst/>
                <a:latin typeface="Times New Roman" panose="02020603050405020304" pitchFamily="18" charset="0"/>
                <a:cs typeface="Times New Roman" panose="02020603050405020304" pitchFamily="18" charset="0"/>
              </a:rPr>
              <a:t>Hardware-Assisted Single-Level Virtualization</a:t>
            </a:r>
            <a:endParaRPr kumimoji="1" lang="en-US" altLang="zh-CN" sz="3600" b="1" dirty="0">
              <a:latin typeface="Times New Roman" panose="02020603050405020304" pitchFamily="18" charset="0"/>
              <a:cs typeface="Times New Roman" panose="02020603050405020304" pitchFamily="18" charset="0"/>
            </a:endParaRPr>
          </a:p>
        </p:txBody>
      </p:sp>
      <p:cxnSp>
        <p:nvCxnSpPr>
          <p:cNvPr id="4" name="直线连接符 3">
            <a:extLst>
              <a:ext uri="{FF2B5EF4-FFF2-40B4-BE49-F238E27FC236}">
                <a16:creationId xmlns:a16="http://schemas.microsoft.com/office/drawing/2014/main" id="{A22BE111-811F-1E1D-A813-F8D1394D588B}"/>
              </a:ext>
            </a:extLst>
          </p:cNvPr>
          <p:cNvCxnSpPr>
            <a:cxnSpLocks/>
          </p:cNvCxnSpPr>
          <p:nvPr/>
        </p:nvCxnSpPr>
        <p:spPr>
          <a:xfrm>
            <a:off x="4193307" y="2405692"/>
            <a:ext cx="0" cy="4379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3EA033D8-4865-C95F-AFA9-91938FA7E5FC}"/>
              </a:ext>
            </a:extLst>
          </p:cNvPr>
          <p:cNvSpPr txBox="1"/>
          <p:nvPr/>
        </p:nvSpPr>
        <p:spPr>
          <a:xfrm>
            <a:off x="877455" y="2634293"/>
            <a:ext cx="2512286" cy="430887"/>
          </a:xfrm>
          <a:prstGeom prst="rect">
            <a:avLst/>
          </a:prstGeom>
          <a:noFill/>
        </p:spPr>
        <p:txBody>
          <a:bodyPr wrap="square" rtlCol="0">
            <a:spAutoFit/>
          </a:bodyPr>
          <a:lstStyle/>
          <a:p>
            <a:r>
              <a:rPr kumimoji="1" lang="en-US" altLang="zh-CN" sz="2200" dirty="0">
                <a:latin typeface="Times New Roman" panose="02020603050405020304" pitchFamily="18" charset="0"/>
                <a:cs typeface="Times New Roman" panose="02020603050405020304" pitchFamily="18" charset="0"/>
              </a:rPr>
              <a:t>CPU Virtualization</a:t>
            </a:r>
            <a:endParaRPr kumimoji="1" lang="zh-CN" altLang="en-US" sz="22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9384DDAA-6951-1720-828E-515CBA39778E}"/>
              </a:ext>
            </a:extLst>
          </p:cNvPr>
          <p:cNvSpPr txBox="1"/>
          <p:nvPr/>
        </p:nvSpPr>
        <p:spPr>
          <a:xfrm>
            <a:off x="5043055" y="2634293"/>
            <a:ext cx="2955633" cy="430887"/>
          </a:xfrm>
          <a:prstGeom prst="rect">
            <a:avLst/>
          </a:prstGeom>
          <a:noFill/>
        </p:spPr>
        <p:txBody>
          <a:bodyPr wrap="square" rtlCol="0">
            <a:spAutoFit/>
          </a:bodyPr>
          <a:lstStyle/>
          <a:p>
            <a:r>
              <a:rPr kumimoji="1" lang="en-US" altLang="zh-CN" sz="2200" dirty="0">
                <a:latin typeface="Times New Roman" panose="02020603050405020304" pitchFamily="18" charset="0"/>
                <a:cs typeface="Times New Roman" panose="02020603050405020304" pitchFamily="18" charset="0"/>
              </a:rPr>
              <a:t>Memory Virtualization</a:t>
            </a:r>
            <a:endParaRPr kumimoji="1" lang="zh-CN" altLang="en-US" sz="2200" dirty="0">
              <a:latin typeface="Times New Roman" panose="02020603050405020304" pitchFamily="18" charset="0"/>
              <a:cs typeface="Times New Roman" panose="02020603050405020304" pitchFamily="18" charset="0"/>
            </a:endParaRPr>
          </a:p>
        </p:txBody>
      </p:sp>
      <p:sp>
        <p:nvSpPr>
          <p:cNvPr id="10" name="圆角矩形 9">
            <a:extLst>
              <a:ext uri="{FF2B5EF4-FFF2-40B4-BE49-F238E27FC236}">
                <a16:creationId xmlns:a16="http://schemas.microsoft.com/office/drawing/2014/main" id="{4CFE576D-0D7E-327E-070C-195F05BBEEA6}"/>
              </a:ext>
            </a:extLst>
          </p:cNvPr>
          <p:cNvSpPr/>
          <p:nvPr/>
        </p:nvSpPr>
        <p:spPr>
          <a:xfrm>
            <a:off x="877455" y="3447093"/>
            <a:ext cx="2318327" cy="89592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C6A9F56C-64B7-A243-474F-EFBBCFCE50AC}"/>
              </a:ext>
            </a:extLst>
          </p:cNvPr>
          <p:cNvSpPr txBox="1"/>
          <p:nvPr/>
        </p:nvSpPr>
        <p:spPr>
          <a:xfrm>
            <a:off x="1173019" y="3090188"/>
            <a:ext cx="1727197" cy="369332"/>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non-root mode</a:t>
            </a:r>
            <a:endParaRPr kumimoji="1" lang="zh-CN" altLang="en-US" dirty="0">
              <a:latin typeface="Times New Roman" panose="02020603050405020304" pitchFamily="18" charset="0"/>
              <a:cs typeface="Times New Roman" panose="02020603050405020304" pitchFamily="18" charset="0"/>
            </a:endParaRPr>
          </a:p>
        </p:txBody>
      </p:sp>
      <p:sp>
        <p:nvSpPr>
          <p:cNvPr id="12" name="圆角矩形 11">
            <a:extLst>
              <a:ext uri="{FF2B5EF4-FFF2-40B4-BE49-F238E27FC236}">
                <a16:creationId xmlns:a16="http://schemas.microsoft.com/office/drawing/2014/main" id="{4AB9DCBB-BF49-FD0D-21DE-F268975B12EA}"/>
              </a:ext>
            </a:extLst>
          </p:cNvPr>
          <p:cNvSpPr/>
          <p:nvPr/>
        </p:nvSpPr>
        <p:spPr>
          <a:xfrm>
            <a:off x="498784" y="4932752"/>
            <a:ext cx="3140341" cy="895927"/>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cxnSp>
        <p:nvCxnSpPr>
          <p:cNvPr id="14" name="直线连接符 13">
            <a:extLst>
              <a:ext uri="{FF2B5EF4-FFF2-40B4-BE49-F238E27FC236}">
                <a16:creationId xmlns:a16="http://schemas.microsoft.com/office/drawing/2014/main" id="{14E603C9-4636-8E76-E832-3187463B4565}"/>
              </a:ext>
            </a:extLst>
          </p:cNvPr>
          <p:cNvCxnSpPr>
            <a:stCxn id="10" idx="1"/>
            <a:endCxn id="10" idx="3"/>
          </p:cNvCxnSpPr>
          <p:nvPr/>
        </p:nvCxnSpPr>
        <p:spPr>
          <a:xfrm>
            <a:off x="877455" y="3895057"/>
            <a:ext cx="231832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0519823-1D6E-3295-431B-75F69A5185CF}"/>
              </a:ext>
            </a:extLst>
          </p:cNvPr>
          <p:cNvSpPr txBox="1"/>
          <p:nvPr/>
        </p:nvSpPr>
        <p:spPr>
          <a:xfrm>
            <a:off x="1570186" y="3925754"/>
            <a:ext cx="1366980" cy="369332"/>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guest kernel</a:t>
            </a:r>
            <a:endParaRPr kumimoji="1" lang="zh-CN" altLang="en-US"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B918DB9B-0ADF-2FF5-364B-BE668A95C325}"/>
              </a:ext>
            </a:extLst>
          </p:cNvPr>
          <p:cNvSpPr txBox="1"/>
          <p:nvPr/>
        </p:nvSpPr>
        <p:spPr>
          <a:xfrm>
            <a:off x="1690255" y="3474150"/>
            <a:ext cx="1366980" cy="369332"/>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guest user</a:t>
            </a:r>
            <a:endParaRPr kumimoji="1" lang="zh-CN" altLang="en-US" dirty="0">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68E5ACB9-743F-1BA6-D063-50D1D67AC626}"/>
              </a:ext>
            </a:extLst>
          </p:cNvPr>
          <p:cNvSpPr txBox="1"/>
          <p:nvPr/>
        </p:nvSpPr>
        <p:spPr>
          <a:xfrm>
            <a:off x="877455" y="3822225"/>
            <a:ext cx="1366980" cy="369332"/>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ring0</a:t>
            </a:r>
            <a:endParaRPr kumimoji="1" lang="zh-CN" altLang="en-US" dirty="0">
              <a:latin typeface="Times New Roman" panose="02020603050405020304" pitchFamily="18" charset="0"/>
              <a:cs typeface="Times New Roman" panose="02020603050405020304" pitchFamily="18" charset="0"/>
            </a:endParaRPr>
          </a:p>
        </p:txBody>
      </p:sp>
      <p:sp>
        <p:nvSpPr>
          <p:cNvPr id="18" name="文本框 17">
            <a:extLst>
              <a:ext uri="{FF2B5EF4-FFF2-40B4-BE49-F238E27FC236}">
                <a16:creationId xmlns:a16="http://schemas.microsoft.com/office/drawing/2014/main" id="{6D5BFE24-C2DF-8A92-E4DF-FAA2AC475F3A}"/>
              </a:ext>
            </a:extLst>
          </p:cNvPr>
          <p:cNvSpPr txBox="1"/>
          <p:nvPr/>
        </p:nvSpPr>
        <p:spPr>
          <a:xfrm>
            <a:off x="877455" y="3568354"/>
            <a:ext cx="1366980" cy="369332"/>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ring3</a:t>
            </a:r>
            <a:endParaRPr kumimoji="1" lang="zh-CN" altLang="en-US" dirty="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7979E3FE-D1A2-A3F6-0F78-4B0BDC3A5F5B}"/>
              </a:ext>
            </a:extLst>
          </p:cNvPr>
          <p:cNvSpPr txBox="1"/>
          <p:nvPr/>
        </p:nvSpPr>
        <p:spPr>
          <a:xfrm>
            <a:off x="558822" y="4875493"/>
            <a:ext cx="1366980" cy="369332"/>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ring0</a:t>
            </a:r>
            <a:endParaRPr kumimoji="1" lang="zh-CN" altLang="en-US" dirty="0">
              <a:latin typeface="Times New Roman" panose="02020603050405020304" pitchFamily="18" charset="0"/>
              <a:cs typeface="Times New Roman" panose="02020603050405020304" pitchFamily="18" charset="0"/>
            </a:endParaRPr>
          </a:p>
        </p:txBody>
      </p:sp>
      <p:sp>
        <p:nvSpPr>
          <p:cNvPr id="22" name="文本框 21">
            <a:extLst>
              <a:ext uri="{FF2B5EF4-FFF2-40B4-BE49-F238E27FC236}">
                <a16:creationId xmlns:a16="http://schemas.microsoft.com/office/drawing/2014/main" id="{206D65DC-548E-01DB-E12B-A01137E96E00}"/>
              </a:ext>
            </a:extLst>
          </p:cNvPr>
          <p:cNvSpPr txBox="1"/>
          <p:nvPr/>
        </p:nvSpPr>
        <p:spPr>
          <a:xfrm>
            <a:off x="1390073" y="5807295"/>
            <a:ext cx="1293088" cy="369332"/>
          </a:xfrm>
          <a:prstGeom prst="rect">
            <a:avLst/>
          </a:prstGeom>
          <a:noFill/>
        </p:spPr>
        <p:txBody>
          <a:bodyPr wrap="square" rtlCol="0">
            <a:spAutoFit/>
          </a:bodyPr>
          <a:lstStyle/>
          <a:p>
            <a:r>
              <a:rPr kumimoji="1" lang="en-US" altLang="zh-CN" dirty="0">
                <a:latin typeface="Times New Roman" panose="02020603050405020304" pitchFamily="18" charset="0"/>
                <a:cs typeface="Times New Roman" panose="02020603050405020304" pitchFamily="18" charset="0"/>
              </a:rPr>
              <a:t>root mode</a:t>
            </a:r>
            <a:endParaRPr kumimoji="1" lang="zh-CN" altLang="en-US" dirty="0">
              <a:latin typeface="Times New Roman" panose="02020603050405020304" pitchFamily="18" charset="0"/>
              <a:cs typeface="Times New Roman" panose="02020603050405020304" pitchFamily="18" charset="0"/>
            </a:endParaRPr>
          </a:p>
        </p:txBody>
      </p:sp>
      <p:sp>
        <p:nvSpPr>
          <p:cNvPr id="23" name="圆角矩形 22">
            <a:extLst>
              <a:ext uri="{FF2B5EF4-FFF2-40B4-BE49-F238E27FC236}">
                <a16:creationId xmlns:a16="http://schemas.microsoft.com/office/drawing/2014/main" id="{7DE17C99-C06E-DFB5-4C75-13D34E31195F}"/>
              </a:ext>
            </a:extLst>
          </p:cNvPr>
          <p:cNvSpPr/>
          <p:nvPr/>
        </p:nvSpPr>
        <p:spPr>
          <a:xfrm>
            <a:off x="1173021" y="5208218"/>
            <a:ext cx="886691" cy="369332"/>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VMCS</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4" name="圆角矩形 23">
            <a:extLst>
              <a:ext uri="{FF2B5EF4-FFF2-40B4-BE49-F238E27FC236}">
                <a16:creationId xmlns:a16="http://schemas.microsoft.com/office/drawing/2014/main" id="{A883C06A-5ADA-D8F1-F37D-3FBA039BD623}"/>
              </a:ext>
            </a:extLst>
          </p:cNvPr>
          <p:cNvSpPr/>
          <p:nvPr/>
        </p:nvSpPr>
        <p:spPr>
          <a:xfrm>
            <a:off x="2660073" y="5196048"/>
            <a:ext cx="803541" cy="369332"/>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KVM</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26" name="直线箭头连接符 25">
            <a:extLst>
              <a:ext uri="{FF2B5EF4-FFF2-40B4-BE49-F238E27FC236}">
                <a16:creationId xmlns:a16="http://schemas.microsoft.com/office/drawing/2014/main" id="{99BD777B-8C39-6B54-5FC5-B00B88B00365}"/>
              </a:ext>
            </a:extLst>
          </p:cNvPr>
          <p:cNvCxnSpPr/>
          <p:nvPr/>
        </p:nvCxnSpPr>
        <p:spPr>
          <a:xfrm flipH="1">
            <a:off x="2059712" y="5331310"/>
            <a:ext cx="6003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45F01395-25B3-79BF-C453-F71A063C33D7}"/>
              </a:ext>
            </a:extLst>
          </p:cNvPr>
          <p:cNvCxnSpPr/>
          <p:nvPr/>
        </p:nvCxnSpPr>
        <p:spPr>
          <a:xfrm flipH="1">
            <a:off x="2059712" y="5474474"/>
            <a:ext cx="6003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63EAD54C-4D44-B408-ACF6-D63BF44B8206}"/>
              </a:ext>
            </a:extLst>
          </p:cNvPr>
          <p:cNvSpPr txBox="1"/>
          <p:nvPr/>
        </p:nvSpPr>
        <p:spPr>
          <a:xfrm>
            <a:off x="2147482" y="5057951"/>
            <a:ext cx="1237657"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read</a:t>
            </a:r>
            <a:endParaRPr kumimoji="1" lang="zh-CN" altLang="en-US" sz="1400" dirty="0">
              <a:latin typeface="Times New Roman" panose="02020603050405020304" pitchFamily="18" charset="0"/>
              <a:cs typeface="Times New Roman" panose="02020603050405020304" pitchFamily="18" charset="0"/>
            </a:endParaRPr>
          </a:p>
        </p:txBody>
      </p:sp>
      <p:sp>
        <p:nvSpPr>
          <p:cNvPr id="29" name="文本框 28">
            <a:extLst>
              <a:ext uri="{FF2B5EF4-FFF2-40B4-BE49-F238E27FC236}">
                <a16:creationId xmlns:a16="http://schemas.microsoft.com/office/drawing/2014/main" id="{CAA3A902-3EE6-CBE5-BF78-7E973E0062CD}"/>
              </a:ext>
            </a:extLst>
          </p:cNvPr>
          <p:cNvSpPr txBox="1"/>
          <p:nvPr/>
        </p:nvSpPr>
        <p:spPr>
          <a:xfrm>
            <a:off x="2105891" y="5422987"/>
            <a:ext cx="757387"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write</a:t>
            </a:r>
            <a:endParaRPr kumimoji="1" lang="zh-CN" altLang="en-US" sz="1400" dirty="0">
              <a:latin typeface="Times New Roman" panose="02020603050405020304" pitchFamily="18" charset="0"/>
              <a:cs typeface="Times New Roman" panose="02020603050405020304" pitchFamily="18" charset="0"/>
            </a:endParaRPr>
          </a:p>
        </p:txBody>
      </p:sp>
      <p:cxnSp>
        <p:nvCxnSpPr>
          <p:cNvPr id="31" name="肘形连接符 30">
            <a:extLst>
              <a:ext uri="{FF2B5EF4-FFF2-40B4-BE49-F238E27FC236}">
                <a16:creationId xmlns:a16="http://schemas.microsoft.com/office/drawing/2014/main" id="{F743D37D-0C82-DB17-39A2-03EED17D7CD3}"/>
              </a:ext>
            </a:extLst>
          </p:cNvPr>
          <p:cNvCxnSpPr>
            <a:cxnSpLocks/>
          </p:cNvCxnSpPr>
          <p:nvPr/>
        </p:nvCxnSpPr>
        <p:spPr>
          <a:xfrm rot="5400000" flipH="1" flipV="1">
            <a:off x="1694984" y="4661273"/>
            <a:ext cx="729483" cy="295575"/>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肘形连接符 32">
            <a:extLst>
              <a:ext uri="{FF2B5EF4-FFF2-40B4-BE49-F238E27FC236}">
                <a16:creationId xmlns:a16="http://schemas.microsoft.com/office/drawing/2014/main" id="{CB616824-46F2-77D6-8335-93B132102052}"/>
              </a:ext>
            </a:extLst>
          </p:cNvPr>
          <p:cNvCxnSpPr>
            <a:cxnSpLocks/>
          </p:cNvCxnSpPr>
          <p:nvPr/>
        </p:nvCxnSpPr>
        <p:spPr>
          <a:xfrm rot="5400000">
            <a:off x="1198934" y="4716897"/>
            <a:ext cx="756367" cy="22627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749C2260-BEF8-D9E5-F7E9-F7761221A209}"/>
              </a:ext>
            </a:extLst>
          </p:cNvPr>
          <p:cNvSpPr/>
          <p:nvPr/>
        </p:nvSpPr>
        <p:spPr>
          <a:xfrm>
            <a:off x="712365" y="3166110"/>
            <a:ext cx="2683168" cy="1287545"/>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A9E3BF2E-D605-838A-074F-2B842D8B5FF8}"/>
              </a:ext>
            </a:extLst>
          </p:cNvPr>
          <p:cNvSpPr txBox="1"/>
          <p:nvPr/>
        </p:nvSpPr>
        <p:spPr>
          <a:xfrm>
            <a:off x="2189036" y="4528655"/>
            <a:ext cx="1348484" cy="307777"/>
          </a:xfrm>
          <a:prstGeom prst="rect">
            <a:avLst/>
          </a:prstGeom>
          <a:noFill/>
        </p:spPr>
        <p:txBody>
          <a:bodyPr wrap="square" rtlCol="0">
            <a:spAutoFit/>
          </a:bodyPr>
          <a:lstStyle/>
          <a:p>
            <a:r>
              <a:rPr kumimoji="1" lang="en-US" altLang="zh-CN" sz="1400" dirty="0" err="1">
                <a:latin typeface="Times New Roman" panose="02020603050405020304" pitchFamily="18" charset="0"/>
                <a:cs typeface="Times New Roman" panose="02020603050405020304" pitchFamily="18" charset="0"/>
              </a:rPr>
              <a:t>vm</a:t>
            </a:r>
            <a:r>
              <a:rPr kumimoji="1" lang="en-US" altLang="zh-CN" sz="1400" dirty="0">
                <a:latin typeface="Times New Roman" panose="02020603050405020304" pitchFamily="18" charset="0"/>
                <a:cs typeface="Times New Roman" panose="02020603050405020304" pitchFamily="18" charset="0"/>
              </a:rPr>
              <a:t>-entry</a:t>
            </a:r>
            <a:endParaRPr kumimoji="1" lang="zh-CN" altLang="en-US" sz="1400" dirty="0">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EA2B3E0A-F6D6-FA35-17F3-960B8A9E5338}"/>
              </a:ext>
            </a:extLst>
          </p:cNvPr>
          <p:cNvSpPr txBox="1"/>
          <p:nvPr/>
        </p:nvSpPr>
        <p:spPr>
          <a:xfrm>
            <a:off x="972134" y="4501283"/>
            <a:ext cx="835877" cy="307777"/>
          </a:xfrm>
          <a:prstGeom prst="rect">
            <a:avLst/>
          </a:prstGeom>
          <a:noFill/>
        </p:spPr>
        <p:txBody>
          <a:bodyPr wrap="square" rtlCol="0">
            <a:spAutoFit/>
          </a:bodyPr>
          <a:lstStyle/>
          <a:p>
            <a:r>
              <a:rPr kumimoji="1" lang="en-US" altLang="zh-CN" sz="1400" dirty="0" err="1">
                <a:latin typeface="Times New Roman" panose="02020603050405020304" pitchFamily="18" charset="0"/>
                <a:cs typeface="Times New Roman" panose="02020603050405020304" pitchFamily="18" charset="0"/>
              </a:rPr>
              <a:t>vm</a:t>
            </a:r>
            <a:r>
              <a:rPr kumimoji="1" lang="en-US" altLang="zh-CN" sz="1400" dirty="0">
                <a:latin typeface="Times New Roman" panose="02020603050405020304" pitchFamily="18" charset="0"/>
                <a:cs typeface="Times New Roman" panose="02020603050405020304" pitchFamily="18" charset="0"/>
              </a:rPr>
              <a:t>-exit</a:t>
            </a:r>
            <a:endParaRPr kumimoji="1" lang="zh-CN" altLang="en-US" sz="1400"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9D9358CA-5D0E-1357-05EF-30CF56CA15DB}"/>
              </a:ext>
            </a:extLst>
          </p:cNvPr>
          <p:cNvSpPr txBox="1"/>
          <p:nvPr/>
        </p:nvSpPr>
        <p:spPr>
          <a:xfrm>
            <a:off x="343722" y="6176627"/>
            <a:ext cx="3607519" cy="646331"/>
          </a:xfrm>
          <a:prstGeom prst="rect">
            <a:avLst/>
          </a:prstGeom>
          <a:noFill/>
        </p:spPr>
        <p:txBody>
          <a:bodyPr wrap="square" rtlCol="0">
            <a:spAutoFit/>
          </a:bodyPr>
          <a:lstStyle/>
          <a:p>
            <a:pPr algn="ctr"/>
            <a:r>
              <a:rPr kumimoji="1" lang="en" altLang="zh-CN" dirty="0">
                <a:solidFill>
                  <a:srgbClr val="002060"/>
                </a:solidFill>
                <a:latin typeface="Times New Roman" panose="02020603050405020304" pitchFamily="18" charset="0"/>
                <a:cs typeface="Times New Roman" panose="02020603050405020304" pitchFamily="18" charset="0"/>
              </a:rPr>
              <a:t>Two CPU operating mode with full ring level for host and guest.</a:t>
            </a:r>
          </a:p>
        </p:txBody>
      </p:sp>
      <p:sp>
        <p:nvSpPr>
          <p:cNvPr id="46" name="Rectangle 5">
            <a:extLst>
              <a:ext uri="{FF2B5EF4-FFF2-40B4-BE49-F238E27FC236}">
                <a16:creationId xmlns:a16="http://schemas.microsoft.com/office/drawing/2014/main" id="{41C22900-697E-D447-A937-B19F2CE582A8}"/>
              </a:ext>
            </a:extLst>
          </p:cNvPr>
          <p:cNvSpPr>
            <a:spLocks noChangeAspect="1" noChangeArrowheads="1"/>
          </p:cNvSpPr>
          <p:nvPr/>
        </p:nvSpPr>
        <p:spPr bwMode="auto">
          <a:xfrm>
            <a:off x="6550943" y="3673691"/>
            <a:ext cx="1252809" cy="74554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effectLst/>
                <a:latin typeface="Times New Roman" panose="02020603050405020304" pitchFamily="18" charset="0"/>
                <a:ea typeface="宋体" panose="02010600030101010101" pitchFamily="2" charset="-122"/>
                <a:cs typeface="Times New Roman" panose="02020603050405020304" pitchFamily="18" charset="0"/>
              </a:rPr>
              <a:t>Guest</a:t>
            </a: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b="1" dirty="0">
                <a:effectLst/>
                <a:latin typeface="Times New Roman" panose="02020603050405020304" pitchFamily="18" charset="0"/>
                <a:ea typeface="宋体" panose="02010600030101010101" pitchFamily="2" charset="-122"/>
                <a:cs typeface="Times New Roman" panose="02020603050405020304" pitchFamily="18" charset="0"/>
              </a:rPr>
              <a:t>Page Tables</a:t>
            </a:r>
          </a:p>
          <a:p>
            <a:pPr algn="ct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(GPT)</a:t>
            </a:r>
            <a:endParaRPr lang="en-US" alt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Text Box 6">
            <a:extLst>
              <a:ext uri="{FF2B5EF4-FFF2-40B4-BE49-F238E27FC236}">
                <a16:creationId xmlns:a16="http://schemas.microsoft.com/office/drawing/2014/main" id="{F6108B16-5720-E226-2F88-C2C1E3B2A1D3}"/>
              </a:ext>
            </a:extLst>
          </p:cNvPr>
          <p:cNvSpPr txBox="1">
            <a:spLocks noChangeAspect="1" noChangeArrowheads="1"/>
          </p:cNvSpPr>
          <p:nvPr/>
        </p:nvSpPr>
        <p:spPr bwMode="auto">
          <a:xfrm>
            <a:off x="4216374" y="3849514"/>
            <a:ext cx="17874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Guest Linear Address </a:t>
            </a:r>
          </a:p>
          <a:p>
            <a:pPr algn="ctr"/>
            <a:r>
              <a:rPr lang="en-US" altLang="zh-CN" sz="1400" b="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(GVA)</a:t>
            </a:r>
          </a:p>
        </p:txBody>
      </p:sp>
      <p:sp>
        <p:nvSpPr>
          <p:cNvPr id="48" name="Line 7">
            <a:extLst>
              <a:ext uri="{FF2B5EF4-FFF2-40B4-BE49-F238E27FC236}">
                <a16:creationId xmlns:a16="http://schemas.microsoft.com/office/drawing/2014/main" id="{DB3B08D1-D257-A54F-515F-9D57968589A3}"/>
              </a:ext>
            </a:extLst>
          </p:cNvPr>
          <p:cNvSpPr>
            <a:spLocks noChangeAspect="1" noChangeShapeType="1"/>
          </p:cNvSpPr>
          <p:nvPr/>
        </p:nvSpPr>
        <p:spPr bwMode="auto">
          <a:xfrm>
            <a:off x="5904899" y="4082552"/>
            <a:ext cx="617129" cy="0"/>
          </a:xfrm>
          <a:prstGeom prst="line">
            <a:avLst/>
          </a:prstGeom>
          <a:noFill/>
          <a:ln w="1905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6" name="Text Box 17">
            <a:extLst>
              <a:ext uri="{FF2B5EF4-FFF2-40B4-BE49-F238E27FC236}">
                <a16:creationId xmlns:a16="http://schemas.microsoft.com/office/drawing/2014/main" id="{BFD7AE89-FC89-B813-DFE9-7BA4FAC5E98F}"/>
              </a:ext>
            </a:extLst>
          </p:cNvPr>
          <p:cNvSpPr txBox="1">
            <a:spLocks noChangeAspect="1" noChangeArrowheads="1"/>
          </p:cNvSpPr>
          <p:nvPr/>
        </p:nvSpPr>
        <p:spPr bwMode="auto">
          <a:xfrm>
            <a:off x="5683365" y="3141493"/>
            <a:ext cx="51488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effectLst/>
                <a:latin typeface="Times New Roman" panose="02020603050405020304" pitchFamily="18" charset="0"/>
                <a:ea typeface="宋体" panose="02010600030101010101" pitchFamily="2" charset="-122"/>
                <a:cs typeface="Times New Roman" panose="02020603050405020304" pitchFamily="18" charset="0"/>
              </a:rPr>
              <a:t>CR3</a:t>
            </a:r>
          </a:p>
        </p:txBody>
      </p:sp>
      <p:grpSp>
        <p:nvGrpSpPr>
          <p:cNvPr id="57" name="Group 18">
            <a:extLst>
              <a:ext uri="{FF2B5EF4-FFF2-40B4-BE49-F238E27FC236}">
                <a16:creationId xmlns:a16="http://schemas.microsoft.com/office/drawing/2014/main" id="{AAAD49B9-0EEA-1FA0-7560-716E9ECFDF30}"/>
              </a:ext>
            </a:extLst>
          </p:cNvPr>
          <p:cNvGrpSpPr>
            <a:grpSpLocks noChangeAspect="1"/>
          </p:cNvGrpSpPr>
          <p:nvPr/>
        </p:nvGrpSpPr>
        <p:grpSpPr bwMode="auto">
          <a:xfrm>
            <a:off x="5936530" y="3441848"/>
            <a:ext cx="605261" cy="267931"/>
            <a:chOff x="2964" y="2106"/>
            <a:chExt cx="306" cy="138"/>
          </a:xfrm>
        </p:grpSpPr>
        <p:sp>
          <p:nvSpPr>
            <p:cNvPr id="58" name="Line 19">
              <a:extLst>
                <a:ext uri="{FF2B5EF4-FFF2-40B4-BE49-F238E27FC236}">
                  <a16:creationId xmlns:a16="http://schemas.microsoft.com/office/drawing/2014/main" id="{5F28FF5B-89A3-FADC-F617-AB54648AB480}"/>
                </a:ext>
              </a:extLst>
            </p:cNvPr>
            <p:cNvSpPr>
              <a:spLocks noChangeAspect="1" noChangeShapeType="1"/>
            </p:cNvSpPr>
            <p:nvPr/>
          </p:nvSpPr>
          <p:spPr bwMode="auto">
            <a:xfrm flipV="1">
              <a:off x="2964" y="2244"/>
              <a:ext cx="306" cy="0"/>
            </a:xfrm>
            <a:prstGeom prst="line">
              <a:avLst/>
            </a:prstGeom>
            <a:noFill/>
            <a:ln w="1905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59" name="Line 20">
              <a:extLst>
                <a:ext uri="{FF2B5EF4-FFF2-40B4-BE49-F238E27FC236}">
                  <a16:creationId xmlns:a16="http://schemas.microsoft.com/office/drawing/2014/main" id="{3A365F3F-4639-09A1-782B-9D61C62C5772}"/>
                </a:ext>
              </a:extLst>
            </p:cNvPr>
            <p:cNvSpPr>
              <a:spLocks noChangeAspect="1" noChangeShapeType="1"/>
            </p:cNvSpPr>
            <p:nvPr/>
          </p:nvSpPr>
          <p:spPr bwMode="auto">
            <a:xfrm flipV="1">
              <a:off x="2964" y="2106"/>
              <a:ext cx="0" cy="1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63" name="Text Box 9">
            <a:extLst>
              <a:ext uri="{FF2B5EF4-FFF2-40B4-BE49-F238E27FC236}">
                <a16:creationId xmlns:a16="http://schemas.microsoft.com/office/drawing/2014/main" id="{E91144A3-F3A9-9E03-C833-1A6F9783A022}"/>
              </a:ext>
            </a:extLst>
          </p:cNvPr>
          <p:cNvSpPr txBox="1">
            <a:spLocks noChangeAspect="1" noChangeArrowheads="1"/>
          </p:cNvSpPr>
          <p:nvPr/>
        </p:nvSpPr>
        <p:spPr bwMode="auto">
          <a:xfrm>
            <a:off x="7122500" y="4409999"/>
            <a:ext cx="18835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Guest Physical Address</a:t>
            </a:r>
          </a:p>
          <a:p>
            <a:pPr algn="ctr"/>
            <a:r>
              <a:rPr lang="en-US" altLang="zh-CN" sz="140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(GPA)</a:t>
            </a:r>
          </a:p>
        </p:txBody>
      </p:sp>
      <p:sp>
        <p:nvSpPr>
          <p:cNvPr id="64" name="Rectangle 10">
            <a:extLst>
              <a:ext uri="{FF2B5EF4-FFF2-40B4-BE49-F238E27FC236}">
                <a16:creationId xmlns:a16="http://schemas.microsoft.com/office/drawing/2014/main" id="{892AB066-4A5B-A428-9A5C-93128BDA7BD3}"/>
              </a:ext>
            </a:extLst>
          </p:cNvPr>
          <p:cNvSpPr>
            <a:spLocks noChangeAspect="1" noChangeArrowheads="1"/>
          </p:cNvSpPr>
          <p:nvPr/>
        </p:nvSpPr>
        <p:spPr bwMode="auto">
          <a:xfrm>
            <a:off x="5838527" y="5041499"/>
            <a:ext cx="1502233" cy="74554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effectLst/>
                <a:latin typeface="Times New Roman" panose="02020603050405020304" pitchFamily="18" charset="0"/>
                <a:ea typeface="宋体" panose="02010600030101010101" pitchFamily="2" charset="-122"/>
                <a:cs typeface="Times New Roman" panose="02020603050405020304" pitchFamily="18" charset="0"/>
              </a:rPr>
              <a:t>Extended Page Table</a:t>
            </a:r>
          </a:p>
          <a:p>
            <a:pPr algn="ctr"/>
            <a:r>
              <a:rPr lang="en-US" altLang="zh-CN" sz="1200" b="1" dirty="0">
                <a:latin typeface="Times New Roman" panose="02020603050405020304" pitchFamily="18" charset="0"/>
                <a:ea typeface="宋体" panose="02010600030101010101" pitchFamily="2" charset="-122"/>
                <a:cs typeface="Times New Roman" panose="02020603050405020304" pitchFamily="18" charset="0"/>
              </a:rPr>
              <a:t>(EPT)</a:t>
            </a:r>
            <a:endParaRPr lang="en-US" altLang="zh-CN" sz="1200" b="1"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Line 11">
            <a:extLst>
              <a:ext uri="{FF2B5EF4-FFF2-40B4-BE49-F238E27FC236}">
                <a16:creationId xmlns:a16="http://schemas.microsoft.com/office/drawing/2014/main" id="{83466425-E79B-A615-ABC2-3F224799667C}"/>
              </a:ext>
            </a:extLst>
          </p:cNvPr>
          <p:cNvSpPr>
            <a:spLocks noChangeAspect="1" noChangeShapeType="1"/>
          </p:cNvSpPr>
          <p:nvPr/>
        </p:nvSpPr>
        <p:spPr bwMode="auto">
          <a:xfrm flipV="1">
            <a:off x="7334825" y="5414272"/>
            <a:ext cx="1578268" cy="0"/>
          </a:xfrm>
          <a:prstGeom prst="line">
            <a:avLst/>
          </a:prstGeom>
          <a:noFill/>
          <a:ln w="1905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6" name="Text Box 12">
            <a:extLst>
              <a:ext uri="{FF2B5EF4-FFF2-40B4-BE49-F238E27FC236}">
                <a16:creationId xmlns:a16="http://schemas.microsoft.com/office/drawing/2014/main" id="{019DC577-9B31-FFAD-A31B-95A2C92914CA}"/>
              </a:ext>
            </a:extLst>
          </p:cNvPr>
          <p:cNvSpPr txBox="1">
            <a:spLocks noChangeAspect="1" noChangeArrowheads="1"/>
          </p:cNvSpPr>
          <p:nvPr/>
        </p:nvSpPr>
        <p:spPr bwMode="auto">
          <a:xfrm>
            <a:off x="7295165" y="5139082"/>
            <a:ext cx="18034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Host Physical Address</a:t>
            </a:r>
          </a:p>
          <a:p>
            <a:pPr algn="ctr"/>
            <a:r>
              <a:rPr lang="en-US" altLang="zh-CN" sz="140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a:t>(HPA)</a:t>
            </a:r>
            <a:endParaRPr lang="en-US" altLang="zh-CN" sz="1400" b="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67" name="Group 13">
            <a:extLst>
              <a:ext uri="{FF2B5EF4-FFF2-40B4-BE49-F238E27FC236}">
                <a16:creationId xmlns:a16="http://schemas.microsoft.com/office/drawing/2014/main" id="{459136DA-F732-B417-AE54-3B668207C954}"/>
              </a:ext>
            </a:extLst>
          </p:cNvPr>
          <p:cNvGrpSpPr>
            <a:grpSpLocks noChangeAspect="1"/>
          </p:cNvGrpSpPr>
          <p:nvPr/>
        </p:nvGrpSpPr>
        <p:grpSpPr bwMode="auto">
          <a:xfrm>
            <a:off x="5217533" y="4868286"/>
            <a:ext cx="605261" cy="267931"/>
            <a:chOff x="2868" y="2010"/>
            <a:chExt cx="306" cy="138"/>
          </a:xfrm>
        </p:grpSpPr>
        <p:sp>
          <p:nvSpPr>
            <p:cNvPr id="68" name="Line 14">
              <a:extLst>
                <a:ext uri="{FF2B5EF4-FFF2-40B4-BE49-F238E27FC236}">
                  <a16:creationId xmlns:a16="http://schemas.microsoft.com/office/drawing/2014/main" id="{13911896-3BD4-4B9A-E8AE-1DA75DE7EFED}"/>
                </a:ext>
              </a:extLst>
            </p:cNvPr>
            <p:cNvSpPr>
              <a:spLocks noChangeAspect="1" noChangeShapeType="1"/>
            </p:cNvSpPr>
            <p:nvPr/>
          </p:nvSpPr>
          <p:spPr bwMode="auto">
            <a:xfrm flipV="1">
              <a:off x="2868" y="2148"/>
              <a:ext cx="306" cy="0"/>
            </a:xfrm>
            <a:prstGeom prst="line">
              <a:avLst/>
            </a:prstGeom>
            <a:noFill/>
            <a:ln w="19050">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69" name="Line 15">
              <a:extLst>
                <a:ext uri="{FF2B5EF4-FFF2-40B4-BE49-F238E27FC236}">
                  <a16:creationId xmlns:a16="http://schemas.microsoft.com/office/drawing/2014/main" id="{E27826AE-95D1-254F-4C4C-D42151EA6F30}"/>
                </a:ext>
              </a:extLst>
            </p:cNvPr>
            <p:cNvSpPr>
              <a:spLocks noChangeAspect="1" noChangeShapeType="1"/>
            </p:cNvSpPr>
            <p:nvPr/>
          </p:nvSpPr>
          <p:spPr bwMode="auto">
            <a:xfrm flipV="1">
              <a:off x="2868" y="2010"/>
              <a:ext cx="0" cy="1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grpSp>
      <p:sp>
        <p:nvSpPr>
          <p:cNvPr id="70" name="Text Box 16">
            <a:extLst>
              <a:ext uri="{FF2B5EF4-FFF2-40B4-BE49-F238E27FC236}">
                <a16:creationId xmlns:a16="http://schemas.microsoft.com/office/drawing/2014/main" id="{17E0FA33-2DC1-D584-3315-4DD9316E156F}"/>
              </a:ext>
            </a:extLst>
          </p:cNvPr>
          <p:cNvSpPr txBox="1">
            <a:spLocks noChangeAspect="1" noChangeArrowheads="1"/>
          </p:cNvSpPr>
          <p:nvPr/>
        </p:nvSpPr>
        <p:spPr bwMode="auto">
          <a:xfrm>
            <a:off x="4498508" y="4586033"/>
            <a:ext cx="20376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effectLst/>
                <a:latin typeface="Times New Roman" panose="02020603050405020304" pitchFamily="18" charset="0"/>
                <a:ea typeface="宋体" panose="02010600030101010101" pitchFamily="2" charset="-122"/>
                <a:cs typeface="Times New Roman" panose="02020603050405020304" pitchFamily="18" charset="0"/>
              </a:rPr>
              <a:t>EPT Base Pointer (EPTP)</a:t>
            </a:r>
          </a:p>
        </p:txBody>
      </p:sp>
      <p:cxnSp>
        <p:nvCxnSpPr>
          <p:cNvPr id="72" name="肘形连接符 71">
            <a:extLst>
              <a:ext uri="{FF2B5EF4-FFF2-40B4-BE49-F238E27FC236}">
                <a16:creationId xmlns:a16="http://schemas.microsoft.com/office/drawing/2014/main" id="{1C3A580F-17E5-ADD2-E000-3A6A0D02256F}"/>
              </a:ext>
            </a:extLst>
          </p:cNvPr>
          <p:cNvCxnSpPr>
            <a:cxnSpLocks/>
            <a:stCxn id="46" idx="2"/>
            <a:endCxn id="64" idx="0"/>
          </p:cNvCxnSpPr>
          <p:nvPr/>
        </p:nvCxnSpPr>
        <p:spPr>
          <a:xfrm rot="5400000">
            <a:off x="6572366" y="4436516"/>
            <a:ext cx="622261" cy="587704"/>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52B3D60C-E0E1-09C4-9861-CD804849F493}"/>
              </a:ext>
            </a:extLst>
          </p:cNvPr>
          <p:cNvSpPr txBox="1"/>
          <p:nvPr/>
        </p:nvSpPr>
        <p:spPr>
          <a:xfrm>
            <a:off x="5245062" y="6097672"/>
            <a:ext cx="3048000" cy="646331"/>
          </a:xfrm>
          <a:prstGeom prst="rect">
            <a:avLst/>
          </a:prstGeom>
          <a:noFill/>
        </p:spPr>
        <p:txBody>
          <a:bodyPr wrap="square" rtlCol="0">
            <a:spAutoFit/>
          </a:bodyPr>
          <a:lstStyle/>
          <a:p>
            <a:pPr algn="ctr"/>
            <a:r>
              <a:rPr kumimoji="1" lang="en" altLang="zh-CN" dirty="0">
                <a:solidFill>
                  <a:srgbClr val="002060"/>
                </a:solidFill>
                <a:latin typeface="Times New Roman" panose="02020603050405020304" pitchFamily="18" charset="0"/>
                <a:cs typeface="Times New Roman" panose="02020603050405020304" pitchFamily="18" charset="0"/>
              </a:rPr>
              <a:t>Two pagetables for guest address translation.</a:t>
            </a:r>
          </a:p>
        </p:txBody>
      </p:sp>
      <p:sp>
        <p:nvSpPr>
          <p:cNvPr id="5" name="文本框 4">
            <a:extLst>
              <a:ext uri="{FF2B5EF4-FFF2-40B4-BE49-F238E27FC236}">
                <a16:creationId xmlns:a16="http://schemas.microsoft.com/office/drawing/2014/main" id="{3501E02E-2FED-3E3B-2E00-15D8776CF178}"/>
              </a:ext>
            </a:extLst>
          </p:cNvPr>
          <p:cNvSpPr txBox="1"/>
          <p:nvPr/>
        </p:nvSpPr>
        <p:spPr>
          <a:xfrm>
            <a:off x="295398" y="1300403"/>
            <a:ext cx="8443343" cy="1107996"/>
          </a:xfrm>
          <a:prstGeom prst="rect">
            <a:avLst/>
          </a:prstGeom>
          <a:noFill/>
        </p:spPr>
        <p:txBody>
          <a:bodyPr wrap="square" rtlCol="0">
            <a:spAutoFit/>
          </a:bodyPr>
          <a:lstStyle/>
          <a:p>
            <a:r>
              <a:rPr lang="en-US" altLang="zh-CN" sz="2200" dirty="0">
                <a:latin typeface="Times New Roman" panose="02020603050405020304" pitchFamily="18" charset="0"/>
                <a:cs typeface="Times New Roman" panose="02020603050405020304" pitchFamily="18" charset="0"/>
              </a:rPr>
              <a:t>Hardware virtualization extensions (e.g. Intel VT-x) provide efficient single-level virtualization support, enabling secure containers to achieve comparable performance on Bare-Metal instances.</a:t>
            </a:r>
            <a:endParaRPr lang="zh-CN"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5040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7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F20779-DCC0-1531-2234-9D81B0BB4B8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b="0" i="0" dirty="0">
                <a:effectLst/>
                <a:latin typeface="Times New Roman" panose="02020603050405020304" pitchFamily="18" charset="0"/>
                <a:cs typeface="Times New Roman" panose="02020603050405020304" pitchFamily="18" charset="0"/>
              </a:rPr>
              <a:t>Hardware-Assisted Nested Virtualization</a:t>
            </a:r>
            <a:endParaRPr kumimoji="1" lang="en-US" altLang="zh-CN" sz="3600" b="1" dirty="0">
              <a:latin typeface="Times New Roman" panose="02020603050405020304" pitchFamily="18" charset="0"/>
              <a:cs typeface="Times New Roman" panose="02020603050405020304" pitchFamily="18" charset="0"/>
            </a:endParaRPr>
          </a:p>
        </p:txBody>
      </p:sp>
      <p:sp>
        <p:nvSpPr>
          <p:cNvPr id="114" name="文本框 113">
            <a:extLst>
              <a:ext uri="{FF2B5EF4-FFF2-40B4-BE49-F238E27FC236}">
                <a16:creationId xmlns:a16="http://schemas.microsoft.com/office/drawing/2014/main" id="{8A024452-DAB6-7639-0018-F3E5B0C2268C}"/>
              </a:ext>
            </a:extLst>
          </p:cNvPr>
          <p:cNvSpPr txBox="1"/>
          <p:nvPr/>
        </p:nvSpPr>
        <p:spPr>
          <a:xfrm>
            <a:off x="473529" y="1158032"/>
            <a:ext cx="8320142" cy="769441"/>
          </a:xfrm>
          <a:prstGeom prst="rect">
            <a:avLst/>
          </a:prstGeom>
          <a:noFill/>
        </p:spPr>
        <p:txBody>
          <a:bodyPr wrap="square" rtlCol="0">
            <a:spAutoFit/>
          </a:bodyPr>
          <a:lstStyle/>
          <a:p>
            <a:r>
              <a:rPr kumimoji="1" lang="en" altLang="zh-CN" sz="2200" dirty="0">
                <a:latin typeface="Times New Roman" panose="02020603050405020304" pitchFamily="18" charset="0"/>
                <a:cs typeface="Times New Roman" panose="02020603050405020304" pitchFamily="18" charset="0"/>
              </a:rPr>
              <a:t>2-Level nested virtualization requires more complex and costly software efforts, especially for the L0 hypervisor</a:t>
            </a:r>
            <a:r>
              <a:rPr lang="en-US" altLang="zh-CN" sz="2200" dirty="0">
                <a:latin typeface="Times New Roman" panose="02020603050405020304" pitchFamily="18" charset="0"/>
                <a:cs typeface="Times New Roman" panose="02020603050405020304" pitchFamily="18" charset="0"/>
              </a:rPr>
              <a:t>.</a:t>
            </a:r>
            <a:endParaRPr lang="zh-CN" altLang="en-US" sz="2200" dirty="0">
              <a:latin typeface="Times New Roman" panose="02020603050405020304" pitchFamily="18" charset="0"/>
              <a:cs typeface="Times New Roman" panose="02020603050405020304" pitchFamily="18" charset="0"/>
            </a:endParaRPr>
          </a:p>
        </p:txBody>
      </p:sp>
      <p:sp>
        <p:nvSpPr>
          <p:cNvPr id="115" name="文本框 114">
            <a:extLst>
              <a:ext uri="{FF2B5EF4-FFF2-40B4-BE49-F238E27FC236}">
                <a16:creationId xmlns:a16="http://schemas.microsoft.com/office/drawing/2014/main" id="{2AB0D8DF-8EA3-D922-3FFB-B4E8212AF0DC}"/>
              </a:ext>
            </a:extLst>
          </p:cNvPr>
          <p:cNvSpPr txBox="1"/>
          <p:nvPr/>
        </p:nvSpPr>
        <p:spPr>
          <a:xfrm>
            <a:off x="1600199" y="5762369"/>
            <a:ext cx="5476010" cy="1107996"/>
          </a:xfrm>
          <a:prstGeom prst="rect">
            <a:avLst/>
          </a:prstGeom>
          <a:noFill/>
        </p:spPr>
        <p:txBody>
          <a:bodyPr wrap="square" rtlCol="0">
            <a:spAutoFit/>
          </a:bodyPr>
          <a:lstStyle/>
          <a:p>
            <a:pPr algn="ctr"/>
            <a:r>
              <a:rPr kumimoji="1" lang="en" altLang="zh-CN" sz="2200" dirty="0">
                <a:solidFill>
                  <a:srgbClr val="C00000"/>
                </a:solidFill>
                <a:latin typeface="Times New Roman" panose="02020603050405020304" pitchFamily="18" charset="0"/>
                <a:cs typeface="Times New Roman" panose="02020603050405020304" pitchFamily="18" charset="0"/>
              </a:rPr>
              <a:t>a transition between 𝐿2 and 𝐿1 requires an exit to 𝐿0, doubling the number of world switches compared to that in single-level virtualization</a:t>
            </a:r>
            <a:endParaRPr kumimoji="1" lang="zh-CN" altLang="en-US" sz="2200" dirty="0">
              <a:solidFill>
                <a:srgbClr val="C00000"/>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78339B30-FA26-D74D-92C5-6818B4ADAA67}"/>
              </a:ext>
            </a:extLst>
          </p:cNvPr>
          <p:cNvSpPr/>
          <p:nvPr/>
        </p:nvSpPr>
        <p:spPr>
          <a:xfrm>
            <a:off x="1048597" y="2008416"/>
            <a:ext cx="6579213" cy="3671031"/>
          </a:xfrm>
          <a:prstGeom prst="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206EF126-82DB-67C4-FE3C-B5717F26F973}"/>
              </a:ext>
            </a:extLst>
          </p:cNvPr>
          <p:cNvSpPr/>
          <p:nvPr/>
        </p:nvSpPr>
        <p:spPr>
          <a:xfrm>
            <a:off x="1516190" y="3823565"/>
            <a:ext cx="5584106" cy="1663908"/>
          </a:xfrm>
          <a:prstGeom prst="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 name="矩形 6">
            <a:extLst>
              <a:ext uri="{FF2B5EF4-FFF2-40B4-BE49-F238E27FC236}">
                <a16:creationId xmlns:a16="http://schemas.microsoft.com/office/drawing/2014/main" id="{C837EEB4-D8E8-DBD4-7075-622EB389239B}"/>
              </a:ext>
            </a:extLst>
          </p:cNvPr>
          <p:cNvSpPr/>
          <p:nvPr/>
        </p:nvSpPr>
        <p:spPr>
          <a:xfrm>
            <a:off x="2008546" y="2143666"/>
            <a:ext cx="4854661" cy="2065303"/>
          </a:xfrm>
          <a:prstGeom prst="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圆角矩形 17">
            <a:extLst>
              <a:ext uri="{FF2B5EF4-FFF2-40B4-BE49-F238E27FC236}">
                <a16:creationId xmlns:a16="http://schemas.microsoft.com/office/drawing/2014/main" id="{E04FC937-22AF-E75F-50AF-F404EEAB09D1}"/>
              </a:ext>
            </a:extLst>
          </p:cNvPr>
          <p:cNvSpPr/>
          <p:nvPr/>
        </p:nvSpPr>
        <p:spPr>
          <a:xfrm>
            <a:off x="1710626" y="4576149"/>
            <a:ext cx="795793" cy="378378"/>
          </a:xfrm>
          <a:prstGeom prst="roundRect">
            <a:avLst/>
          </a:prstGeom>
          <a:solidFill>
            <a:schemeClr val="bg1">
              <a:lumMod val="8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lgn="ctr"/>
            <a:r>
              <a:rPr kumimoji="1" lang="en-US" altLang="zh-CN" sz="1400" dirty="0">
                <a:solidFill>
                  <a:schemeClr val="tx1"/>
                </a:solidFill>
                <a:latin typeface="Times New Roman" panose="02020603050405020304" pitchFamily="18" charset="0"/>
                <a:cs typeface="Times New Roman" panose="02020603050405020304" pitchFamily="18" charset="0"/>
              </a:rPr>
              <a:t>VMCS01</a:t>
            </a: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E058DEB6-E2AA-CE41-9F1D-F773DCC9A12A}"/>
              </a:ext>
            </a:extLst>
          </p:cNvPr>
          <p:cNvSpPr/>
          <p:nvPr/>
        </p:nvSpPr>
        <p:spPr>
          <a:xfrm>
            <a:off x="2880775" y="4477078"/>
            <a:ext cx="401152" cy="610733"/>
          </a:xfrm>
          <a:prstGeom prst="rect">
            <a:avLst/>
          </a:prstGeom>
          <a:solidFill>
            <a:schemeClr val="bg1">
              <a:lumMod val="8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0" name="直线连接符 19">
            <a:extLst>
              <a:ext uri="{FF2B5EF4-FFF2-40B4-BE49-F238E27FC236}">
                <a16:creationId xmlns:a16="http://schemas.microsoft.com/office/drawing/2014/main" id="{A5FB97C5-D501-4CEB-E93A-62191420CB60}"/>
              </a:ext>
            </a:extLst>
          </p:cNvPr>
          <p:cNvCxnSpPr>
            <a:cxnSpLocks/>
          </p:cNvCxnSpPr>
          <p:nvPr/>
        </p:nvCxnSpPr>
        <p:spPr>
          <a:xfrm>
            <a:off x="2880774" y="4699925"/>
            <a:ext cx="418805"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线连接符 20">
            <a:extLst>
              <a:ext uri="{FF2B5EF4-FFF2-40B4-BE49-F238E27FC236}">
                <a16:creationId xmlns:a16="http://schemas.microsoft.com/office/drawing/2014/main" id="{7615631F-DC70-6AF5-6347-122157CF5EB1}"/>
              </a:ext>
            </a:extLst>
          </p:cNvPr>
          <p:cNvCxnSpPr>
            <a:cxnSpLocks/>
          </p:cNvCxnSpPr>
          <p:nvPr/>
        </p:nvCxnSpPr>
        <p:spPr>
          <a:xfrm>
            <a:off x="2863123" y="4920920"/>
            <a:ext cx="43645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60F05BE6-8A42-B597-596B-D1A8531F33AC}"/>
              </a:ext>
            </a:extLst>
          </p:cNvPr>
          <p:cNvSpPr/>
          <p:nvPr/>
        </p:nvSpPr>
        <p:spPr>
          <a:xfrm>
            <a:off x="3767025" y="4477078"/>
            <a:ext cx="335956" cy="610733"/>
          </a:xfrm>
          <a:prstGeom prst="rect">
            <a:avLst/>
          </a:prstGeom>
          <a:solidFill>
            <a:schemeClr val="bg1">
              <a:lumMod val="8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24" name="肘形连接符 23">
            <a:extLst>
              <a:ext uri="{FF2B5EF4-FFF2-40B4-BE49-F238E27FC236}">
                <a16:creationId xmlns:a16="http://schemas.microsoft.com/office/drawing/2014/main" id="{40849CAB-7AC9-C9E9-569B-3758D4B30C33}"/>
              </a:ext>
            </a:extLst>
          </p:cNvPr>
          <p:cNvCxnSpPr/>
          <p:nvPr/>
        </p:nvCxnSpPr>
        <p:spPr>
          <a:xfrm>
            <a:off x="3293497" y="4920920"/>
            <a:ext cx="464209" cy="155444"/>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BBDF46BE-4A13-E5DE-3052-495AF498F116}"/>
              </a:ext>
            </a:extLst>
          </p:cNvPr>
          <p:cNvCxnSpPr>
            <a:cxnSpLocks/>
          </p:cNvCxnSpPr>
          <p:nvPr/>
        </p:nvCxnSpPr>
        <p:spPr>
          <a:xfrm>
            <a:off x="2506419" y="4791656"/>
            <a:ext cx="356704"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4190CB92-F05D-C422-1687-8874A7C6BF24}"/>
              </a:ext>
            </a:extLst>
          </p:cNvPr>
          <p:cNvSpPr txBox="1"/>
          <p:nvPr/>
        </p:nvSpPr>
        <p:spPr>
          <a:xfrm>
            <a:off x="3345109" y="5057951"/>
            <a:ext cx="898019"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EPT01</a:t>
            </a:r>
            <a:endParaRPr kumimoji="1" lang="zh-CN" altLang="en-US" sz="1400" dirty="0">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8EA39462-9D0F-B55F-7091-BF37493A4065}"/>
              </a:ext>
            </a:extLst>
          </p:cNvPr>
          <p:cNvSpPr/>
          <p:nvPr/>
        </p:nvSpPr>
        <p:spPr>
          <a:xfrm>
            <a:off x="1641457" y="4348719"/>
            <a:ext cx="2601671" cy="945509"/>
          </a:xfrm>
          <a:prstGeom prst="rect">
            <a:avLst/>
          </a:prstGeom>
          <a:noFill/>
          <a:ln w="254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圆角矩形 42">
            <a:extLst>
              <a:ext uri="{FF2B5EF4-FFF2-40B4-BE49-F238E27FC236}">
                <a16:creationId xmlns:a16="http://schemas.microsoft.com/office/drawing/2014/main" id="{9FEF981A-7DD4-2759-52B3-0D454F13EE98}"/>
              </a:ext>
            </a:extLst>
          </p:cNvPr>
          <p:cNvSpPr/>
          <p:nvPr/>
        </p:nvSpPr>
        <p:spPr>
          <a:xfrm>
            <a:off x="4470852" y="4576149"/>
            <a:ext cx="795793" cy="378378"/>
          </a:xfrm>
          <a:prstGeom prst="roundRect">
            <a:avLst/>
          </a:prstGeom>
          <a:solidFill>
            <a:schemeClr val="bg1">
              <a:lumMod val="8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lgn="ctr"/>
            <a:r>
              <a:rPr kumimoji="1" lang="en-US" altLang="zh-CN" sz="1400" dirty="0">
                <a:solidFill>
                  <a:schemeClr val="tx1"/>
                </a:solidFill>
                <a:latin typeface="Times New Roman" panose="02020603050405020304" pitchFamily="18" charset="0"/>
                <a:cs typeface="Times New Roman" panose="02020603050405020304" pitchFamily="18" charset="0"/>
              </a:rPr>
              <a:t>VMCS02</a:t>
            </a: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44" name="矩形 43">
            <a:extLst>
              <a:ext uri="{FF2B5EF4-FFF2-40B4-BE49-F238E27FC236}">
                <a16:creationId xmlns:a16="http://schemas.microsoft.com/office/drawing/2014/main" id="{9A448D16-23EF-791E-D147-6039E868919F}"/>
              </a:ext>
            </a:extLst>
          </p:cNvPr>
          <p:cNvSpPr/>
          <p:nvPr/>
        </p:nvSpPr>
        <p:spPr>
          <a:xfrm>
            <a:off x="5641001" y="4477078"/>
            <a:ext cx="401152" cy="610733"/>
          </a:xfrm>
          <a:prstGeom prst="rect">
            <a:avLst/>
          </a:prstGeom>
          <a:solidFill>
            <a:schemeClr val="bg1">
              <a:lumMod val="8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5" name="直线连接符 44">
            <a:extLst>
              <a:ext uri="{FF2B5EF4-FFF2-40B4-BE49-F238E27FC236}">
                <a16:creationId xmlns:a16="http://schemas.microsoft.com/office/drawing/2014/main" id="{050DE43A-5046-388E-9A2E-60C642CA2966}"/>
              </a:ext>
            </a:extLst>
          </p:cNvPr>
          <p:cNvCxnSpPr>
            <a:cxnSpLocks/>
          </p:cNvCxnSpPr>
          <p:nvPr/>
        </p:nvCxnSpPr>
        <p:spPr>
          <a:xfrm>
            <a:off x="5641000" y="4699925"/>
            <a:ext cx="418805"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直线连接符 45">
            <a:extLst>
              <a:ext uri="{FF2B5EF4-FFF2-40B4-BE49-F238E27FC236}">
                <a16:creationId xmlns:a16="http://schemas.microsoft.com/office/drawing/2014/main" id="{09A59622-F48C-21B5-0DDB-43EAC150BC54}"/>
              </a:ext>
            </a:extLst>
          </p:cNvPr>
          <p:cNvCxnSpPr>
            <a:cxnSpLocks/>
          </p:cNvCxnSpPr>
          <p:nvPr/>
        </p:nvCxnSpPr>
        <p:spPr>
          <a:xfrm>
            <a:off x="5623349" y="4920920"/>
            <a:ext cx="43645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9017294A-943A-CC60-00B8-E7AC31C6E228}"/>
              </a:ext>
            </a:extLst>
          </p:cNvPr>
          <p:cNvSpPr/>
          <p:nvPr/>
        </p:nvSpPr>
        <p:spPr>
          <a:xfrm>
            <a:off x="6527251" y="4477078"/>
            <a:ext cx="335956" cy="610733"/>
          </a:xfrm>
          <a:prstGeom prst="rect">
            <a:avLst/>
          </a:prstGeom>
          <a:solidFill>
            <a:schemeClr val="bg1">
              <a:lumMod val="8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8" name="肘形连接符 47">
            <a:extLst>
              <a:ext uri="{FF2B5EF4-FFF2-40B4-BE49-F238E27FC236}">
                <a16:creationId xmlns:a16="http://schemas.microsoft.com/office/drawing/2014/main" id="{D862B0AC-B230-2BD7-C65B-01703DA6E3A2}"/>
              </a:ext>
            </a:extLst>
          </p:cNvPr>
          <p:cNvCxnSpPr/>
          <p:nvPr/>
        </p:nvCxnSpPr>
        <p:spPr>
          <a:xfrm>
            <a:off x="6053723" y="4920920"/>
            <a:ext cx="464209" cy="155444"/>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9571F24A-9EFE-BB95-900A-F1322891E2CA}"/>
              </a:ext>
            </a:extLst>
          </p:cNvPr>
          <p:cNvCxnSpPr>
            <a:cxnSpLocks/>
          </p:cNvCxnSpPr>
          <p:nvPr/>
        </p:nvCxnSpPr>
        <p:spPr>
          <a:xfrm>
            <a:off x="5266645" y="4791656"/>
            <a:ext cx="356704" cy="0"/>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BC23A37C-737C-7AE2-E6BA-FC634400D78F}"/>
              </a:ext>
            </a:extLst>
          </p:cNvPr>
          <p:cNvSpPr txBox="1"/>
          <p:nvPr/>
        </p:nvSpPr>
        <p:spPr>
          <a:xfrm>
            <a:off x="6105335" y="5025293"/>
            <a:ext cx="898019"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EPT02</a:t>
            </a:r>
            <a:endParaRPr kumimoji="1" lang="zh-CN" altLang="en-US" sz="1400" dirty="0">
              <a:latin typeface="Times New Roman" panose="02020603050405020304" pitchFamily="18" charset="0"/>
              <a:cs typeface="Times New Roman" panose="02020603050405020304" pitchFamily="18" charset="0"/>
            </a:endParaRPr>
          </a:p>
        </p:txBody>
      </p:sp>
      <p:sp>
        <p:nvSpPr>
          <p:cNvPr id="51" name="矩形 50">
            <a:extLst>
              <a:ext uri="{FF2B5EF4-FFF2-40B4-BE49-F238E27FC236}">
                <a16:creationId xmlns:a16="http://schemas.microsoft.com/office/drawing/2014/main" id="{03E76FF0-1478-DFFF-6860-0CC2F0D2BCE7}"/>
              </a:ext>
            </a:extLst>
          </p:cNvPr>
          <p:cNvSpPr/>
          <p:nvPr/>
        </p:nvSpPr>
        <p:spPr>
          <a:xfrm>
            <a:off x="4401683" y="4348719"/>
            <a:ext cx="2601671" cy="945509"/>
          </a:xfrm>
          <a:prstGeom prst="rect">
            <a:avLst/>
          </a:prstGeom>
          <a:noFill/>
          <a:ln w="2540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矩形 51">
            <a:extLst>
              <a:ext uri="{FF2B5EF4-FFF2-40B4-BE49-F238E27FC236}">
                <a16:creationId xmlns:a16="http://schemas.microsoft.com/office/drawing/2014/main" id="{5D5325B5-875C-E7D2-77ED-BFDB7FCE1BBD}"/>
              </a:ext>
            </a:extLst>
          </p:cNvPr>
          <p:cNvSpPr/>
          <p:nvPr/>
        </p:nvSpPr>
        <p:spPr>
          <a:xfrm>
            <a:off x="2613610" y="2872634"/>
            <a:ext cx="3714484" cy="1218512"/>
          </a:xfrm>
          <a:prstGeom prst="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3" name="文本框 52">
            <a:extLst>
              <a:ext uri="{FF2B5EF4-FFF2-40B4-BE49-F238E27FC236}">
                <a16:creationId xmlns:a16="http://schemas.microsoft.com/office/drawing/2014/main" id="{12F9E1E2-83DB-09AB-C8B8-AB4B9F3550C1}"/>
              </a:ext>
            </a:extLst>
          </p:cNvPr>
          <p:cNvSpPr txBox="1"/>
          <p:nvPr/>
        </p:nvSpPr>
        <p:spPr>
          <a:xfrm>
            <a:off x="2672952" y="2854083"/>
            <a:ext cx="1054343"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L1</a:t>
            </a:r>
            <a:endParaRPr kumimoji="1" lang="zh-CN" altLang="en-US" sz="1400" dirty="0">
              <a:latin typeface="Times New Roman" panose="02020603050405020304" pitchFamily="18" charset="0"/>
              <a:cs typeface="Times New Roman" panose="02020603050405020304" pitchFamily="18" charset="0"/>
            </a:endParaRPr>
          </a:p>
        </p:txBody>
      </p:sp>
      <p:sp>
        <p:nvSpPr>
          <p:cNvPr id="54" name="圆角矩形 53">
            <a:extLst>
              <a:ext uri="{FF2B5EF4-FFF2-40B4-BE49-F238E27FC236}">
                <a16:creationId xmlns:a16="http://schemas.microsoft.com/office/drawing/2014/main" id="{A677956C-4AC4-D99B-CDA8-F47DF34C470A}"/>
              </a:ext>
            </a:extLst>
          </p:cNvPr>
          <p:cNvSpPr/>
          <p:nvPr/>
        </p:nvSpPr>
        <p:spPr>
          <a:xfrm>
            <a:off x="3579585" y="3291655"/>
            <a:ext cx="795793" cy="378378"/>
          </a:xfrm>
          <a:prstGeom prst="roundRect">
            <a:avLst/>
          </a:prstGeom>
          <a:solidFill>
            <a:schemeClr val="bg1">
              <a:lumMod val="85000"/>
            </a:schemeClr>
          </a:solidFill>
          <a:ln w="25400">
            <a:solidFill>
              <a:schemeClr val="tx1"/>
            </a:solidFill>
            <a:prstDash val="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lgn="ctr"/>
            <a:r>
              <a:rPr kumimoji="1" lang="en-US" altLang="zh-CN" sz="1400" dirty="0">
                <a:solidFill>
                  <a:schemeClr val="tx1"/>
                </a:solidFill>
                <a:latin typeface="Times New Roman" panose="02020603050405020304" pitchFamily="18" charset="0"/>
                <a:cs typeface="Times New Roman" panose="02020603050405020304" pitchFamily="18" charset="0"/>
              </a:rPr>
              <a:t>VMCS12</a:t>
            </a: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55" name="矩形 54">
            <a:extLst>
              <a:ext uri="{FF2B5EF4-FFF2-40B4-BE49-F238E27FC236}">
                <a16:creationId xmlns:a16="http://schemas.microsoft.com/office/drawing/2014/main" id="{E6F9027D-F624-A652-DCF8-01BEB28F4339}"/>
              </a:ext>
            </a:extLst>
          </p:cNvPr>
          <p:cNvSpPr/>
          <p:nvPr/>
        </p:nvSpPr>
        <p:spPr>
          <a:xfrm>
            <a:off x="4749734" y="3192584"/>
            <a:ext cx="401152" cy="610733"/>
          </a:xfrm>
          <a:prstGeom prst="rect">
            <a:avLst/>
          </a:prstGeom>
          <a:solidFill>
            <a:schemeClr val="bg1">
              <a:lumMod val="85000"/>
            </a:schemeClr>
          </a:solid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6" name="直线连接符 55">
            <a:extLst>
              <a:ext uri="{FF2B5EF4-FFF2-40B4-BE49-F238E27FC236}">
                <a16:creationId xmlns:a16="http://schemas.microsoft.com/office/drawing/2014/main" id="{E3948469-370A-DFD2-F770-108522B8EE20}"/>
              </a:ext>
            </a:extLst>
          </p:cNvPr>
          <p:cNvCxnSpPr>
            <a:cxnSpLocks/>
          </p:cNvCxnSpPr>
          <p:nvPr/>
        </p:nvCxnSpPr>
        <p:spPr>
          <a:xfrm>
            <a:off x="4749733" y="3415431"/>
            <a:ext cx="418805" cy="0"/>
          </a:xfrm>
          <a:prstGeom prst="line">
            <a:avLst/>
          </a:prstGeom>
          <a:ln w="254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57" name="直线连接符 56">
            <a:extLst>
              <a:ext uri="{FF2B5EF4-FFF2-40B4-BE49-F238E27FC236}">
                <a16:creationId xmlns:a16="http://schemas.microsoft.com/office/drawing/2014/main" id="{3E7B5E1A-0FAF-30F2-D5D1-3BB1BE8900E6}"/>
              </a:ext>
            </a:extLst>
          </p:cNvPr>
          <p:cNvCxnSpPr>
            <a:cxnSpLocks/>
          </p:cNvCxnSpPr>
          <p:nvPr/>
        </p:nvCxnSpPr>
        <p:spPr>
          <a:xfrm>
            <a:off x="4732082" y="3636426"/>
            <a:ext cx="436456" cy="0"/>
          </a:xfrm>
          <a:prstGeom prst="line">
            <a:avLst/>
          </a:prstGeom>
          <a:ln w="254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C8C1F2C2-D7DE-D91F-2BA7-CA5A64D9CE9B}"/>
              </a:ext>
            </a:extLst>
          </p:cNvPr>
          <p:cNvSpPr/>
          <p:nvPr/>
        </p:nvSpPr>
        <p:spPr>
          <a:xfrm>
            <a:off x="5635984" y="3192584"/>
            <a:ext cx="335956" cy="610733"/>
          </a:xfrm>
          <a:prstGeom prst="rect">
            <a:avLst/>
          </a:prstGeom>
          <a:solidFill>
            <a:schemeClr val="bg1">
              <a:lumMod val="85000"/>
            </a:schemeClr>
          </a:solid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9" name="肘形连接符 58">
            <a:extLst>
              <a:ext uri="{FF2B5EF4-FFF2-40B4-BE49-F238E27FC236}">
                <a16:creationId xmlns:a16="http://schemas.microsoft.com/office/drawing/2014/main" id="{4A5D4AE0-4A5B-7531-7F91-8CD56828BD1E}"/>
              </a:ext>
            </a:extLst>
          </p:cNvPr>
          <p:cNvCxnSpPr/>
          <p:nvPr/>
        </p:nvCxnSpPr>
        <p:spPr>
          <a:xfrm>
            <a:off x="5162456" y="3636426"/>
            <a:ext cx="464209" cy="155444"/>
          </a:xfrm>
          <a:prstGeom prst="bentConnector3">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5A8AD43B-9BA8-DFC0-4CE1-56F0F8169E24}"/>
              </a:ext>
            </a:extLst>
          </p:cNvPr>
          <p:cNvCxnSpPr>
            <a:cxnSpLocks/>
          </p:cNvCxnSpPr>
          <p:nvPr/>
        </p:nvCxnSpPr>
        <p:spPr>
          <a:xfrm>
            <a:off x="4375378" y="3507162"/>
            <a:ext cx="356704" cy="0"/>
          </a:xfrm>
          <a:prstGeom prst="straightConnector1">
            <a:avLst/>
          </a:prstGeom>
          <a:ln w="635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821CD96D-4769-75D1-1DD3-35ED90C534BB}"/>
              </a:ext>
            </a:extLst>
          </p:cNvPr>
          <p:cNvSpPr txBox="1"/>
          <p:nvPr/>
        </p:nvSpPr>
        <p:spPr>
          <a:xfrm>
            <a:off x="5214068" y="3740799"/>
            <a:ext cx="898019"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EPT12</a:t>
            </a:r>
            <a:endParaRPr kumimoji="1" lang="zh-CN" altLang="en-US" sz="1400" dirty="0">
              <a:latin typeface="Times New Roman" panose="02020603050405020304" pitchFamily="18" charset="0"/>
              <a:cs typeface="Times New Roman" panose="02020603050405020304" pitchFamily="18" charset="0"/>
            </a:endParaRPr>
          </a:p>
        </p:txBody>
      </p:sp>
      <p:sp>
        <p:nvSpPr>
          <p:cNvPr id="62" name="矩形 61">
            <a:extLst>
              <a:ext uri="{FF2B5EF4-FFF2-40B4-BE49-F238E27FC236}">
                <a16:creationId xmlns:a16="http://schemas.microsoft.com/office/drawing/2014/main" id="{834AAEDB-71DC-88FF-8AE7-843F433DDFD7}"/>
              </a:ext>
            </a:extLst>
          </p:cNvPr>
          <p:cNvSpPr/>
          <p:nvPr/>
        </p:nvSpPr>
        <p:spPr>
          <a:xfrm>
            <a:off x="3526745" y="3064225"/>
            <a:ext cx="2601671" cy="945509"/>
          </a:xfrm>
          <a:prstGeom prst="rect">
            <a:avLst/>
          </a:prstGeom>
          <a:no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矩形 62">
            <a:extLst>
              <a:ext uri="{FF2B5EF4-FFF2-40B4-BE49-F238E27FC236}">
                <a16:creationId xmlns:a16="http://schemas.microsoft.com/office/drawing/2014/main" id="{0EA17255-5F3C-E738-BA00-3BA5DDAC14AE}"/>
              </a:ext>
            </a:extLst>
          </p:cNvPr>
          <p:cNvSpPr/>
          <p:nvPr/>
        </p:nvSpPr>
        <p:spPr>
          <a:xfrm>
            <a:off x="3794118" y="2410015"/>
            <a:ext cx="1955057" cy="526366"/>
          </a:xfrm>
          <a:prstGeom prst="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4" name="文本框 63">
            <a:extLst>
              <a:ext uri="{FF2B5EF4-FFF2-40B4-BE49-F238E27FC236}">
                <a16:creationId xmlns:a16="http://schemas.microsoft.com/office/drawing/2014/main" id="{59DC67AD-CE62-1344-A205-5D47570BFCDC}"/>
              </a:ext>
            </a:extLst>
          </p:cNvPr>
          <p:cNvSpPr txBox="1"/>
          <p:nvPr/>
        </p:nvSpPr>
        <p:spPr>
          <a:xfrm>
            <a:off x="3807821" y="2355184"/>
            <a:ext cx="1054343"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L2</a:t>
            </a:r>
            <a:endParaRPr kumimoji="1" lang="zh-CN" altLang="en-US" sz="1400" dirty="0">
              <a:latin typeface="Times New Roman" panose="02020603050405020304" pitchFamily="18" charset="0"/>
              <a:cs typeface="Times New Roman" panose="02020603050405020304" pitchFamily="18" charset="0"/>
            </a:endParaRPr>
          </a:p>
        </p:txBody>
      </p:sp>
      <p:sp>
        <p:nvSpPr>
          <p:cNvPr id="65" name="圆角矩形 64">
            <a:extLst>
              <a:ext uri="{FF2B5EF4-FFF2-40B4-BE49-F238E27FC236}">
                <a16:creationId xmlns:a16="http://schemas.microsoft.com/office/drawing/2014/main" id="{5A026880-6684-DEBE-2D5B-028E484BD178}"/>
              </a:ext>
            </a:extLst>
          </p:cNvPr>
          <p:cNvSpPr/>
          <p:nvPr/>
        </p:nvSpPr>
        <p:spPr>
          <a:xfrm>
            <a:off x="4245671" y="2528995"/>
            <a:ext cx="1108850" cy="281577"/>
          </a:xfrm>
          <a:prstGeom prst="roundRect">
            <a:avLst/>
          </a:prstGeom>
          <a:solidFill>
            <a:schemeClr val="accent1">
              <a:lumMod val="40000"/>
              <a:lumOff val="60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ctr"/>
          <a:lstStyle/>
          <a:p>
            <a:pPr algn="ctr"/>
            <a:r>
              <a:rPr kumimoji="1" lang="en-US" altLang="zh-CN" sz="1400" dirty="0">
                <a:solidFill>
                  <a:schemeClr val="tx1"/>
                </a:solidFill>
                <a:latin typeface="Times New Roman" panose="02020603050405020304" pitchFamily="18" charset="0"/>
                <a:cs typeface="Times New Roman" panose="02020603050405020304" pitchFamily="18" charset="0"/>
              </a:rPr>
              <a:t>Container</a:t>
            </a: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66" name="文本框 65">
            <a:extLst>
              <a:ext uri="{FF2B5EF4-FFF2-40B4-BE49-F238E27FC236}">
                <a16:creationId xmlns:a16="http://schemas.microsoft.com/office/drawing/2014/main" id="{C2FAEA15-620B-5F2C-D8CC-5B37929FA8AC}"/>
              </a:ext>
            </a:extLst>
          </p:cNvPr>
          <p:cNvSpPr txBox="1"/>
          <p:nvPr/>
        </p:nvSpPr>
        <p:spPr>
          <a:xfrm>
            <a:off x="4066449" y="2102212"/>
            <a:ext cx="1636069" cy="312413"/>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Secure Container</a:t>
            </a:r>
            <a:endParaRPr kumimoji="1" lang="zh-CN" altLang="en-US" sz="1400" dirty="0">
              <a:latin typeface="Times New Roman" panose="02020603050405020304" pitchFamily="18" charset="0"/>
              <a:cs typeface="Times New Roman" panose="02020603050405020304" pitchFamily="18" charset="0"/>
            </a:endParaRPr>
          </a:p>
        </p:txBody>
      </p:sp>
      <p:cxnSp>
        <p:nvCxnSpPr>
          <p:cNvPr id="69" name="肘形连接符 68">
            <a:extLst>
              <a:ext uri="{FF2B5EF4-FFF2-40B4-BE49-F238E27FC236}">
                <a16:creationId xmlns:a16="http://schemas.microsoft.com/office/drawing/2014/main" id="{312289D4-5477-8178-8516-FFCA3F671597}"/>
              </a:ext>
            </a:extLst>
          </p:cNvPr>
          <p:cNvCxnSpPr>
            <a:cxnSpLocks/>
          </p:cNvCxnSpPr>
          <p:nvPr/>
        </p:nvCxnSpPr>
        <p:spPr>
          <a:xfrm rot="16200000" flipH="1">
            <a:off x="5324402" y="3142521"/>
            <a:ext cx="2158513" cy="1199392"/>
          </a:xfrm>
          <a:prstGeom prst="bentConnector4">
            <a:avLst>
              <a:gd name="adj1" fmla="val -288"/>
              <a:gd name="adj2" fmla="val 119060"/>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线箭头连接符 71">
            <a:extLst>
              <a:ext uri="{FF2B5EF4-FFF2-40B4-BE49-F238E27FC236}">
                <a16:creationId xmlns:a16="http://schemas.microsoft.com/office/drawing/2014/main" id="{032A1997-46E3-A172-36D7-D3CFD9B3D72C}"/>
              </a:ext>
            </a:extLst>
          </p:cNvPr>
          <p:cNvCxnSpPr>
            <a:stCxn id="51" idx="1"/>
            <a:endCxn id="27" idx="3"/>
          </p:cNvCxnSpPr>
          <p:nvPr/>
        </p:nvCxnSpPr>
        <p:spPr>
          <a:xfrm flipH="1">
            <a:off x="4243128" y="4821474"/>
            <a:ext cx="158555"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线箭头连接符 73">
            <a:extLst>
              <a:ext uri="{FF2B5EF4-FFF2-40B4-BE49-F238E27FC236}">
                <a16:creationId xmlns:a16="http://schemas.microsoft.com/office/drawing/2014/main" id="{FA399429-A41B-A3A2-6BFE-9348CBA3EA3F}"/>
              </a:ext>
            </a:extLst>
          </p:cNvPr>
          <p:cNvCxnSpPr/>
          <p:nvPr/>
        </p:nvCxnSpPr>
        <p:spPr>
          <a:xfrm flipV="1">
            <a:off x="3345109" y="4048576"/>
            <a:ext cx="0" cy="300143"/>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4F18F778-2460-6CCB-A27C-86A51DDB9E96}"/>
              </a:ext>
            </a:extLst>
          </p:cNvPr>
          <p:cNvSpPr txBox="1"/>
          <p:nvPr/>
        </p:nvSpPr>
        <p:spPr>
          <a:xfrm>
            <a:off x="6473021" y="2635258"/>
            <a:ext cx="1636069" cy="312413"/>
          </a:xfrm>
          <a:prstGeom prst="rect">
            <a:avLst/>
          </a:prstGeom>
          <a:noFill/>
        </p:spPr>
        <p:txBody>
          <a:bodyPr wrap="square" rtlCol="0">
            <a:spAutoFit/>
          </a:bodyPr>
          <a:lstStyle/>
          <a:p>
            <a:r>
              <a:rPr kumimoji="1" lang="en-US" altLang="zh-CN" sz="1400" dirty="0">
                <a:solidFill>
                  <a:srgbClr val="002060"/>
                </a:solidFill>
                <a:latin typeface="Times New Roman" panose="02020603050405020304" pitchFamily="18" charset="0"/>
                <a:cs typeface="Times New Roman" panose="02020603050405020304" pitchFamily="18" charset="0"/>
              </a:rPr>
              <a:t>VM-Exit</a:t>
            </a:r>
            <a:endParaRPr kumimoji="1" lang="zh-CN" altLang="en-US" sz="1400" dirty="0">
              <a:solidFill>
                <a:srgbClr val="002060"/>
              </a:solidFill>
              <a:latin typeface="Times New Roman" panose="02020603050405020304" pitchFamily="18" charset="0"/>
              <a:cs typeface="Times New Roman" panose="02020603050405020304" pitchFamily="18" charset="0"/>
            </a:endParaRPr>
          </a:p>
        </p:txBody>
      </p:sp>
      <p:sp>
        <p:nvSpPr>
          <p:cNvPr id="76" name="文本框 75">
            <a:extLst>
              <a:ext uri="{FF2B5EF4-FFF2-40B4-BE49-F238E27FC236}">
                <a16:creationId xmlns:a16="http://schemas.microsoft.com/office/drawing/2014/main" id="{C1B29F5E-480E-73BD-479D-B6951EECCB45}"/>
              </a:ext>
            </a:extLst>
          </p:cNvPr>
          <p:cNvSpPr txBox="1"/>
          <p:nvPr/>
        </p:nvSpPr>
        <p:spPr>
          <a:xfrm>
            <a:off x="2412712" y="4081743"/>
            <a:ext cx="1080928" cy="307777"/>
          </a:xfrm>
          <a:prstGeom prst="rect">
            <a:avLst/>
          </a:prstGeom>
          <a:noFill/>
        </p:spPr>
        <p:txBody>
          <a:bodyPr wrap="square" rtlCol="0">
            <a:spAutoFit/>
          </a:bodyPr>
          <a:lstStyle/>
          <a:p>
            <a:r>
              <a:rPr kumimoji="1" lang="en-US" altLang="zh-CN" sz="1400" dirty="0">
                <a:solidFill>
                  <a:srgbClr val="002060"/>
                </a:solidFill>
                <a:latin typeface="Times New Roman" panose="02020603050405020304" pitchFamily="18" charset="0"/>
                <a:cs typeface="Times New Roman" panose="02020603050405020304" pitchFamily="18" charset="0"/>
              </a:rPr>
              <a:t>VM-Entry</a:t>
            </a:r>
            <a:endParaRPr kumimoji="1" lang="zh-CN" altLang="en-US" sz="1400" dirty="0">
              <a:solidFill>
                <a:srgbClr val="002060"/>
              </a:solidFill>
              <a:latin typeface="Times New Roman" panose="02020603050405020304" pitchFamily="18" charset="0"/>
              <a:cs typeface="Times New Roman" panose="02020603050405020304" pitchFamily="18" charset="0"/>
            </a:endParaRPr>
          </a:p>
        </p:txBody>
      </p:sp>
      <p:cxnSp>
        <p:nvCxnSpPr>
          <p:cNvPr id="78" name="肘形连接符 77">
            <a:extLst>
              <a:ext uri="{FF2B5EF4-FFF2-40B4-BE49-F238E27FC236}">
                <a16:creationId xmlns:a16="http://schemas.microsoft.com/office/drawing/2014/main" id="{AEFD6DFF-77F0-451C-396B-35D8F6DA127A}"/>
              </a:ext>
            </a:extLst>
          </p:cNvPr>
          <p:cNvCxnSpPr>
            <a:endCxn id="62" idx="1"/>
          </p:cNvCxnSpPr>
          <p:nvPr/>
        </p:nvCxnSpPr>
        <p:spPr>
          <a:xfrm rot="5400000" flipH="1" flipV="1">
            <a:off x="3180129" y="3701960"/>
            <a:ext cx="511596" cy="181636"/>
          </a:xfrm>
          <a:prstGeom prst="bentConnector2">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2BB2D5FA-6E66-0A3B-03D7-1215675DAEED}"/>
              </a:ext>
            </a:extLst>
          </p:cNvPr>
          <p:cNvSpPr txBox="1"/>
          <p:nvPr/>
        </p:nvSpPr>
        <p:spPr>
          <a:xfrm>
            <a:off x="2738222" y="3238228"/>
            <a:ext cx="956304" cy="307777"/>
          </a:xfrm>
          <a:prstGeom prst="rect">
            <a:avLst/>
          </a:prstGeom>
          <a:noFill/>
        </p:spPr>
        <p:txBody>
          <a:bodyPr wrap="square" rtlCol="0">
            <a:spAutoFit/>
          </a:bodyPr>
          <a:lstStyle/>
          <a:p>
            <a:r>
              <a:rPr kumimoji="1" lang="en-US" altLang="zh-CN" sz="1400" dirty="0" err="1">
                <a:solidFill>
                  <a:srgbClr val="002060"/>
                </a:solidFill>
                <a:latin typeface="Times New Roman" panose="02020603050405020304" pitchFamily="18" charset="0"/>
                <a:cs typeface="Times New Roman" panose="02020603050405020304" pitchFamily="18" charset="0"/>
              </a:rPr>
              <a:t>vm</a:t>
            </a:r>
            <a:r>
              <a:rPr kumimoji="1" lang="en-US" altLang="zh-CN" sz="1400" dirty="0">
                <a:solidFill>
                  <a:srgbClr val="002060"/>
                </a:solidFill>
                <a:latin typeface="Times New Roman" panose="02020603050405020304" pitchFamily="18" charset="0"/>
                <a:cs typeface="Times New Roman" panose="02020603050405020304" pitchFamily="18" charset="0"/>
              </a:rPr>
              <a:t>-entry</a:t>
            </a:r>
            <a:endParaRPr kumimoji="1" lang="zh-CN" altLang="en-US" sz="1400" dirty="0">
              <a:solidFill>
                <a:srgbClr val="002060"/>
              </a:solidFill>
              <a:latin typeface="Times New Roman" panose="02020603050405020304" pitchFamily="18" charset="0"/>
              <a:cs typeface="Times New Roman" panose="02020603050405020304" pitchFamily="18" charset="0"/>
            </a:endParaRPr>
          </a:p>
        </p:txBody>
      </p:sp>
      <p:cxnSp>
        <p:nvCxnSpPr>
          <p:cNvPr id="86" name="肘形连接符 85">
            <a:extLst>
              <a:ext uri="{FF2B5EF4-FFF2-40B4-BE49-F238E27FC236}">
                <a16:creationId xmlns:a16="http://schemas.microsoft.com/office/drawing/2014/main" id="{F7826DB0-F378-DA27-A8F1-5FA5D6CB8F8C}"/>
              </a:ext>
            </a:extLst>
          </p:cNvPr>
          <p:cNvCxnSpPr>
            <a:cxnSpLocks/>
          </p:cNvCxnSpPr>
          <p:nvPr/>
        </p:nvCxnSpPr>
        <p:spPr>
          <a:xfrm rot="10800000" flipV="1">
            <a:off x="4258244" y="3481428"/>
            <a:ext cx="1902746" cy="861350"/>
          </a:xfrm>
          <a:prstGeom prst="bentConnector3">
            <a:avLst>
              <a:gd name="adj1" fmla="val -14362"/>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4" name="文本框 93">
            <a:extLst>
              <a:ext uri="{FF2B5EF4-FFF2-40B4-BE49-F238E27FC236}">
                <a16:creationId xmlns:a16="http://schemas.microsoft.com/office/drawing/2014/main" id="{47B7B3E9-96F8-EC14-C79B-9A5E2540D549}"/>
              </a:ext>
            </a:extLst>
          </p:cNvPr>
          <p:cNvSpPr txBox="1"/>
          <p:nvPr/>
        </p:nvSpPr>
        <p:spPr>
          <a:xfrm>
            <a:off x="6105335" y="3129637"/>
            <a:ext cx="956304" cy="307777"/>
          </a:xfrm>
          <a:prstGeom prst="rect">
            <a:avLst/>
          </a:prstGeom>
          <a:noFill/>
        </p:spPr>
        <p:txBody>
          <a:bodyPr wrap="square" rtlCol="0">
            <a:spAutoFit/>
          </a:bodyPr>
          <a:lstStyle/>
          <a:p>
            <a:r>
              <a:rPr kumimoji="1" lang="en-US" altLang="zh-CN" sz="1400" dirty="0" err="1">
                <a:solidFill>
                  <a:srgbClr val="002060"/>
                </a:solidFill>
                <a:latin typeface="Times New Roman" panose="02020603050405020304" pitchFamily="18" charset="0"/>
                <a:cs typeface="Times New Roman" panose="02020603050405020304" pitchFamily="18" charset="0"/>
              </a:rPr>
              <a:t>vm</a:t>
            </a:r>
            <a:r>
              <a:rPr kumimoji="1" lang="en-US" altLang="zh-CN" sz="1400" dirty="0">
                <a:solidFill>
                  <a:srgbClr val="002060"/>
                </a:solidFill>
                <a:latin typeface="Times New Roman" panose="02020603050405020304" pitchFamily="18" charset="0"/>
                <a:cs typeface="Times New Roman" panose="02020603050405020304" pitchFamily="18" charset="0"/>
              </a:rPr>
              <a:t>-exit</a:t>
            </a:r>
            <a:endParaRPr kumimoji="1" lang="zh-CN" altLang="en-US" sz="1400" dirty="0">
              <a:solidFill>
                <a:srgbClr val="002060"/>
              </a:solidFill>
              <a:latin typeface="Times New Roman" panose="02020603050405020304" pitchFamily="18" charset="0"/>
              <a:cs typeface="Times New Roman" panose="02020603050405020304" pitchFamily="18" charset="0"/>
            </a:endParaRPr>
          </a:p>
        </p:txBody>
      </p:sp>
      <p:cxnSp>
        <p:nvCxnSpPr>
          <p:cNvPr id="96" name="直线箭头连接符 95">
            <a:extLst>
              <a:ext uri="{FF2B5EF4-FFF2-40B4-BE49-F238E27FC236}">
                <a16:creationId xmlns:a16="http://schemas.microsoft.com/office/drawing/2014/main" id="{105BB408-BC50-D3DE-79A5-8A5918F002EF}"/>
              </a:ext>
            </a:extLst>
          </p:cNvPr>
          <p:cNvCxnSpPr/>
          <p:nvPr/>
        </p:nvCxnSpPr>
        <p:spPr>
          <a:xfrm>
            <a:off x="4258243" y="5211839"/>
            <a:ext cx="143440"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肘形连接符 103">
            <a:extLst>
              <a:ext uri="{FF2B5EF4-FFF2-40B4-BE49-F238E27FC236}">
                <a16:creationId xmlns:a16="http://schemas.microsoft.com/office/drawing/2014/main" id="{57587BDA-6E98-BD26-03B6-A2EDDECAE552}"/>
              </a:ext>
            </a:extLst>
          </p:cNvPr>
          <p:cNvCxnSpPr>
            <a:cxnSpLocks/>
          </p:cNvCxnSpPr>
          <p:nvPr/>
        </p:nvCxnSpPr>
        <p:spPr>
          <a:xfrm rot="16200000" flipV="1">
            <a:off x="5485341" y="2841816"/>
            <a:ext cx="1784348" cy="1158704"/>
          </a:xfrm>
          <a:prstGeom prst="bentConnector3">
            <a:avLst>
              <a:gd name="adj1" fmla="val 99416"/>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09" name="文本框 108">
            <a:extLst>
              <a:ext uri="{FF2B5EF4-FFF2-40B4-BE49-F238E27FC236}">
                <a16:creationId xmlns:a16="http://schemas.microsoft.com/office/drawing/2014/main" id="{CAB90F6B-D4D2-CBA7-C9E1-932F1FC4808F}"/>
              </a:ext>
            </a:extLst>
          </p:cNvPr>
          <p:cNvSpPr txBox="1"/>
          <p:nvPr/>
        </p:nvSpPr>
        <p:spPr>
          <a:xfrm>
            <a:off x="5938616" y="2228412"/>
            <a:ext cx="1636069" cy="312413"/>
          </a:xfrm>
          <a:prstGeom prst="rect">
            <a:avLst/>
          </a:prstGeom>
          <a:noFill/>
        </p:spPr>
        <p:txBody>
          <a:bodyPr wrap="square" rtlCol="0">
            <a:spAutoFit/>
          </a:bodyPr>
          <a:lstStyle/>
          <a:p>
            <a:r>
              <a:rPr kumimoji="1" lang="en-US" altLang="zh-CN" sz="1400" dirty="0">
                <a:solidFill>
                  <a:srgbClr val="002060"/>
                </a:solidFill>
                <a:latin typeface="Times New Roman" panose="02020603050405020304" pitchFamily="18" charset="0"/>
                <a:cs typeface="Times New Roman" panose="02020603050405020304" pitchFamily="18" charset="0"/>
              </a:rPr>
              <a:t>VM-Entry</a:t>
            </a:r>
            <a:endParaRPr kumimoji="1" lang="zh-CN" altLang="en-US" sz="1400" dirty="0">
              <a:solidFill>
                <a:srgbClr val="002060"/>
              </a:solidFill>
              <a:latin typeface="Times New Roman" panose="02020603050405020304" pitchFamily="18" charset="0"/>
              <a:cs typeface="Times New Roman" panose="02020603050405020304" pitchFamily="18" charset="0"/>
            </a:endParaRPr>
          </a:p>
        </p:txBody>
      </p:sp>
      <p:cxnSp>
        <p:nvCxnSpPr>
          <p:cNvPr id="110" name="直线箭头连接符 109">
            <a:extLst>
              <a:ext uri="{FF2B5EF4-FFF2-40B4-BE49-F238E27FC236}">
                <a16:creationId xmlns:a16="http://schemas.microsoft.com/office/drawing/2014/main" id="{7DD2F8B8-9AD4-29BF-41A5-A5E9EA479890}"/>
              </a:ext>
            </a:extLst>
          </p:cNvPr>
          <p:cNvCxnSpPr>
            <a:cxnSpLocks/>
          </p:cNvCxnSpPr>
          <p:nvPr/>
        </p:nvCxnSpPr>
        <p:spPr>
          <a:xfrm flipV="1">
            <a:off x="5318424" y="4009734"/>
            <a:ext cx="0" cy="3797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15AB0B45-50BB-2F9C-BAAF-E8AEA2FA3ABB}"/>
              </a:ext>
            </a:extLst>
          </p:cNvPr>
          <p:cNvSpPr txBox="1"/>
          <p:nvPr/>
        </p:nvSpPr>
        <p:spPr>
          <a:xfrm>
            <a:off x="5387286" y="4033016"/>
            <a:ext cx="2069438" cy="369332"/>
          </a:xfrm>
          <a:prstGeom prst="rect">
            <a:avLst/>
          </a:prstGeom>
          <a:noFill/>
        </p:spPr>
        <p:txBody>
          <a:bodyPr wrap="square" rtlCol="0">
            <a:spAutoFit/>
          </a:bodyPr>
          <a:lstStyle/>
          <a:p>
            <a:r>
              <a:rPr kumimoji="1" lang="en-US" altLang="zh-CN" b="1" dirty="0">
                <a:solidFill>
                  <a:srgbClr val="002060"/>
                </a:solidFill>
                <a:latin typeface="Times New Roman" panose="02020603050405020304" pitchFamily="18" charset="0"/>
                <a:cs typeface="Times New Roman" panose="02020603050405020304" pitchFamily="18" charset="0"/>
              </a:rPr>
              <a:t>shadowing</a:t>
            </a:r>
            <a:endParaRPr kumimoji="1" lang="zh-CN" altLang="en-US"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69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1"/>
      <p:bldP spid="75" grpId="0"/>
      <p:bldP spid="76" grpId="0"/>
      <p:bldP spid="79" grpId="0"/>
      <p:bldP spid="94" grpId="0"/>
      <p:bldP spid="109" grpId="0"/>
      <p:bldP spid="1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F20779-DCC0-1531-2234-9D81B0BB4B8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Arial" panose="020B0604020202020204" pitchFamily="34" charset="0"/>
              </a:rPr>
              <a:t>N</a:t>
            </a:r>
            <a:r>
              <a:rPr lang="en" altLang="zh-CN" sz="3600" b="0" i="0" dirty="0">
                <a:effectLst/>
                <a:latin typeface="Arial" panose="020B0604020202020204" pitchFamily="34" charset="0"/>
              </a:rPr>
              <a:t>ested vs</a:t>
            </a:r>
            <a:r>
              <a:rPr lang="en" altLang="zh-CN" sz="3600" dirty="0">
                <a:latin typeface="Arial" panose="020B0604020202020204" pitchFamily="34" charset="0"/>
              </a:rPr>
              <a:t> Single-Level</a:t>
            </a:r>
            <a:endParaRPr kumimoji="1" lang="en-US" altLang="zh-CN" sz="3600" b="1"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1C5B6E9D-90E8-8F40-F793-3920BB008B39}"/>
              </a:ext>
            </a:extLst>
          </p:cNvPr>
          <p:cNvPicPr>
            <a:picLocks noChangeAspect="1"/>
          </p:cNvPicPr>
          <p:nvPr/>
        </p:nvPicPr>
        <p:blipFill>
          <a:blip r:embed="rId3"/>
          <a:stretch>
            <a:fillRect/>
          </a:stretch>
        </p:blipFill>
        <p:spPr>
          <a:xfrm>
            <a:off x="1163375" y="1987616"/>
            <a:ext cx="6242260" cy="3357268"/>
          </a:xfrm>
          <a:prstGeom prst="rect">
            <a:avLst/>
          </a:prstGeom>
        </p:spPr>
      </p:pic>
      <p:sp>
        <p:nvSpPr>
          <p:cNvPr id="9" name="文本框 8">
            <a:extLst>
              <a:ext uri="{FF2B5EF4-FFF2-40B4-BE49-F238E27FC236}">
                <a16:creationId xmlns:a16="http://schemas.microsoft.com/office/drawing/2014/main" id="{870C476F-3EAB-3C2A-3A3A-B93EE2CA4813}"/>
              </a:ext>
            </a:extLst>
          </p:cNvPr>
          <p:cNvSpPr txBox="1"/>
          <p:nvPr/>
        </p:nvSpPr>
        <p:spPr>
          <a:xfrm>
            <a:off x="458459" y="1218175"/>
            <a:ext cx="8029557" cy="769441"/>
          </a:xfrm>
          <a:prstGeom prst="rect">
            <a:avLst/>
          </a:prstGeom>
          <a:noFill/>
        </p:spPr>
        <p:txBody>
          <a:bodyPr wrap="square" rtlCol="0">
            <a:spAutoFit/>
          </a:bodyPr>
          <a:lstStyle/>
          <a:p>
            <a:r>
              <a:rPr lang="en" altLang="zh-CN" sz="2200" dirty="0">
                <a:solidFill>
                  <a:srgbClr val="002060"/>
                </a:solidFill>
                <a:latin typeface="Times New Roman" panose="02020603050405020304" pitchFamily="18" charset="0"/>
                <a:cs typeface="Times New Roman" panose="02020603050405020304" pitchFamily="18" charset="0"/>
              </a:rPr>
              <a:t>Nested virtualization remains expensive, especially for memory-intensive workloads</a:t>
            </a:r>
            <a:endParaRPr kumimoji="1" lang="zh-CN" altLang="en-US" sz="2200" dirty="0">
              <a:solidFill>
                <a:srgbClr val="002060"/>
              </a:solidFill>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BA41D9E4-A394-46D5-DD7B-0AF887E797D9}"/>
              </a:ext>
            </a:extLst>
          </p:cNvPr>
          <p:cNvSpPr txBox="1"/>
          <p:nvPr/>
        </p:nvSpPr>
        <p:spPr>
          <a:xfrm>
            <a:off x="1006970" y="5344884"/>
            <a:ext cx="6837538" cy="769441"/>
          </a:xfrm>
          <a:prstGeom prst="rect">
            <a:avLst/>
          </a:prstGeom>
          <a:noFill/>
        </p:spPr>
        <p:txBody>
          <a:bodyPr wrap="square" rtlCol="0">
            <a:spAutoFit/>
          </a:bodyPr>
          <a:lstStyle/>
          <a:p>
            <a:pPr algn="ctr"/>
            <a:r>
              <a:rPr lang="en" altLang="zh-CN" sz="2200" b="0" i="0" dirty="0">
                <a:solidFill>
                  <a:srgbClr val="C00000"/>
                </a:solidFill>
                <a:effectLst/>
                <a:latin typeface="Times New Roman" panose="02020603050405020304" pitchFamily="18" charset="0"/>
                <a:cs typeface="Times New Roman" panose="02020603050405020304" pitchFamily="18" charset="0"/>
              </a:rPr>
              <a:t>The performance slowdown is substantial, reaching up to two orders of magnitude.</a:t>
            </a:r>
            <a:endParaRPr kumimoji="1" lang="zh-CN" altLang="en-US" sz="2200" dirty="0">
              <a:solidFill>
                <a:srgbClr val="C00000"/>
              </a:solidFill>
              <a:latin typeface="Times New Roman" panose="02020603050405020304" pitchFamily="18" charset="0"/>
              <a:cs typeface="Times New Roman" panose="02020603050405020304" pitchFamily="18" charset="0"/>
            </a:endParaRPr>
          </a:p>
        </p:txBody>
      </p:sp>
      <p:sp>
        <p:nvSpPr>
          <p:cNvPr id="3" name="椭圆 2">
            <a:extLst>
              <a:ext uri="{FF2B5EF4-FFF2-40B4-BE49-F238E27FC236}">
                <a16:creationId xmlns:a16="http://schemas.microsoft.com/office/drawing/2014/main" id="{92FB86A8-371A-4E46-565D-AAFF6BE0D90C}"/>
              </a:ext>
            </a:extLst>
          </p:cNvPr>
          <p:cNvSpPr/>
          <p:nvPr/>
        </p:nvSpPr>
        <p:spPr>
          <a:xfrm>
            <a:off x="4035287" y="1785104"/>
            <a:ext cx="4452729" cy="1643896"/>
          </a:xfrm>
          <a:prstGeom prst="ellipse">
            <a:avLst/>
          </a:prstGeom>
          <a:noFill/>
          <a:ln w="3175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1860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F20779-DCC0-1531-2234-9D81B0BB4B8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N</a:t>
            </a:r>
            <a:r>
              <a:rPr lang="en" altLang="zh-CN" sz="3600" b="0" i="0" dirty="0">
                <a:effectLst/>
                <a:latin typeface="Times New Roman" panose="02020603050405020304" pitchFamily="18" charset="0"/>
                <a:cs typeface="Times New Roman" panose="02020603050405020304" pitchFamily="18" charset="0"/>
              </a:rPr>
              <a:t>ested </a:t>
            </a:r>
            <a:r>
              <a:rPr lang="en" altLang="zh-CN" sz="3600" dirty="0">
                <a:latin typeface="Times New Roman" panose="02020603050405020304" pitchFamily="18" charset="0"/>
                <a:cs typeface="Times New Roman" panose="02020603050405020304" pitchFamily="18" charset="0"/>
              </a:rPr>
              <a:t>M</a:t>
            </a:r>
            <a:r>
              <a:rPr lang="en" altLang="zh-CN" sz="3600" b="0" i="0" dirty="0">
                <a:effectLst/>
                <a:latin typeface="Times New Roman" panose="02020603050405020304" pitchFamily="18" charset="0"/>
                <a:cs typeface="Times New Roman" panose="02020603050405020304" pitchFamily="18" charset="0"/>
              </a:rPr>
              <a:t>emory </a:t>
            </a:r>
            <a:r>
              <a:rPr lang="en" altLang="zh-CN" sz="3600" dirty="0">
                <a:latin typeface="Times New Roman" panose="02020603050405020304" pitchFamily="18" charset="0"/>
                <a:cs typeface="Times New Roman" panose="02020603050405020304" pitchFamily="18" charset="0"/>
              </a:rPr>
              <a:t>V</a:t>
            </a:r>
            <a:r>
              <a:rPr lang="en" altLang="zh-CN" sz="3600" b="0" i="0" dirty="0">
                <a:effectLst/>
                <a:latin typeface="Times New Roman" panose="02020603050405020304" pitchFamily="18" charset="0"/>
                <a:cs typeface="Times New Roman" panose="02020603050405020304" pitchFamily="18" charset="0"/>
              </a:rPr>
              <a:t>irtualization (SPT-on-EPT)</a:t>
            </a:r>
            <a:endParaRPr kumimoji="1" lang="en-US" altLang="zh-CN" sz="36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3D3CCCAD-DA1D-2D0B-FE09-675F990BB822}"/>
              </a:ext>
            </a:extLst>
          </p:cNvPr>
          <p:cNvSpPr txBox="1"/>
          <p:nvPr/>
        </p:nvSpPr>
        <p:spPr>
          <a:xfrm>
            <a:off x="357809" y="1232452"/>
            <a:ext cx="8335617" cy="769441"/>
          </a:xfrm>
          <a:prstGeom prst="rect">
            <a:avLst/>
          </a:prstGeom>
          <a:noFill/>
        </p:spPr>
        <p:txBody>
          <a:bodyPr wrap="square" rtlCol="0">
            <a:spAutoFit/>
          </a:bodyPr>
          <a:lstStyle/>
          <a:p>
            <a:r>
              <a:rPr lang="en" altLang="zh-CN" sz="2200" b="0" i="0" dirty="0">
                <a:effectLst/>
                <a:latin typeface="Times New Roman" panose="02020603050405020304" pitchFamily="18" charset="0"/>
                <a:cs typeface="Times New Roman" panose="02020603050405020304" pitchFamily="18" charset="0"/>
              </a:rPr>
              <a:t>SPT-on-EPT:</a:t>
            </a:r>
            <a:r>
              <a:rPr kumimoji="1" lang="en-US" altLang="zh-CN" sz="2200" b="1" dirty="0">
                <a:latin typeface="Times New Roman" panose="02020603050405020304" pitchFamily="18" charset="0"/>
                <a:cs typeface="Times New Roman" panose="02020603050405020304" pitchFamily="18" charset="0"/>
              </a:rPr>
              <a:t> </a:t>
            </a:r>
            <a:r>
              <a:rPr kumimoji="1" lang="en" altLang="zh-CN" sz="2200" dirty="0">
                <a:latin typeface="Times New Roman" panose="02020603050405020304" pitchFamily="18" charset="0"/>
                <a:cs typeface="Times New Roman" panose="02020603050405020304" pitchFamily="18" charset="0"/>
              </a:rPr>
              <a:t>U</a:t>
            </a:r>
            <a:r>
              <a:rPr lang="en" altLang="zh-CN" sz="2200" b="0" i="0" dirty="0">
                <a:effectLst/>
                <a:latin typeface="Times New Roman" panose="02020603050405020304" pitchFamily="18" charset="0"/>
                <a:cs typeface="Times New Roman" panose="02020603050405020304" pitchFamily="18" charset="0"/>
              </a:rPr>
              <a:t>sing shadow page tables (SPT) in 𝐿1, while still allowing 𝐿0 to use the EPT hardware.</a:t>
            </a:r>
            <a:endParaRPr kumimoji="1" lang="zh-CN" altLang="en-US" sz="2200" dirty="0">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98A0A079-3D13-7DAC-052C-03C932087D62}"/>
              </a:ext>
            </a:extLst>
          </p:cNvPr>
          <p:cNvSpPr/>
          <p:nvPr/>
        </p:nvSpPr>
        <p:spPr>
          <a:xfrm>
            <a:off x="848189" y="2254251"/>
            <a:ext cx="2522875" cy="280300"/>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87B28B65-331B-D55A-CDD8-1E7935DE982C}"/>
              </a:ext>
            </a:extLst>
          </p:cNvPr>
          <p:cNvSpPr/>
          <p:nvPr/>
        </p:nvSpPr>
        <p:spPr>
          <a:xfrm>
            <a:off x="862477" y="4999859"/>
            <a:ext cx="5541428" cy="1397153"/>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9" name="文本框 18">
            <a:extLst>
              <a:ext uri="{FF2B5EF4-FFF2-40B4-BE49-F238E27FC236}">
                <a16:creationId xmlns:a16="http://schemas.microsoft.com/office/drawing/2014/main" id="{E943FE62-2BD5-28E1-4A1C-12DC59FA7896}"/>
              </a:ext>
            </a:extLst>
          </p:cNvPr>
          <p:cNvSpPr txBox="1"/>
          <p:nvPr/>
        </p:nvSpPr>
        <p:spPr>
          <a:xfrm>
            <a:off x="1716779" y="4598950"/>
            <a:ext cx="1021698"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EPT</a:t>
            </a:r>
            <a:endParaRPr kumimoji="1" lang="zh-CN" altLang="en-US" sz="1200" dirty="0">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193DEAE7-DC55-3D95-9B4A-B3F01C382751}"/>
              </a:ext>
            </a:extLst>
          </p:cNvPr>
          <p:cNvSpPr/>
          <p:nvPr/>
        </p:nvSpPr>
        <p:spPr>
          <a:xfrm>
            <a:off x="848189" y="2644779"/>
            <a:ext cx="2522875" cy="959699"/>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3D853F2F-6A49-A8E5-6EA6-7834813A14D2}"/>
              </a:ext>
            </a:extLst>
          </p:cNvPr>
          <p:cNvSpPr txBox="1"/>
          <p:nvPr/>
        </p:nvSpPr>
        <p:spPr>
          <a:xfrm>
            <a:off x="862474" y="4999860"/>
            <a:ext cx="2262087"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L0 (root mode ring0)</a:t>
            </a:r>
            <a:endParaRPr kumimoji="1" lang="zh-CN" altLang="en-US" sz="1400" dirty="0">
              <a:latin typeface="Times New Roman" panose="02020603050405020304" pitchFamily="18" charset="0"/>
              <a:cs typeface="Times New Roman" panose="02020603050405020304" pitchFamily="18" charset="0"/>
            </a:endParaRPr>
          </a:p>
        </p:txBody>
      </p:sp>
      <p:sp>
        <p:nvSpPr>
          <p:cNvPr id="30" name="文本框 29">
            <a:extLst>
              <a:ext uri="{FF2B5EF4-FFF2-40B4-BE49-F238E27FC236}">
                <a16:creationId xmlns:a16="http://schemas.microsoft.com/office/drawing/2014/main" id="{E0208537-5DC6-5563-27C2-E7171C045C40}"/>
              </a:ext>
            </a:extLst>
          </p:cNvPr>
          <p:cNvSpPr txBox="1"/>
          <p:nvPr/>
        </p:nvSpPr>
        <p:spPr>
          <a:xfrm>
            <a:off x="801184" y="2579609"/>
            <a:ext cx="2384665"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L2 (non-root mode ring0)</a:t>
            </a:r>
            <a:endParaRPr kumimoji="1" lang="zh-CN" altLang="en-US" sz="1400" dirty="0">
              <a:latin typeface="Times New Roman" panose="02020603050405020304" pitchFamily="18" charset="0"/>
              <a:cs typeface="Times New Roman" panose="02020603050405020304" pitchFamily="18" charset="0"/>
            </a:endParaRPr>
          </a:p>
        </p:txBody>
      </p:sp>
      <p:sp>
        <p:nvSpPr>
          <p:cNvPr id="32" name="文本框 31">
            <a:extLst>
              <a:ext uri="{FF2B5EF4-FFF2-40B4-BE49-F238E27FC236}">
                <a16:creationId xmlns:a16="http://schemas.microsoft.com/office/drawing/2014/main" id="{9023891E-5653-924B-7CAC-899EB7E833D1}"/>
              </a:ext>
            </a:extLst>
          </p:cNvPr>
          <p:cNvSpPr txBox="1"/>
          <p:nvPr/>
        </p:nvSpPr>
        <p:spPr>
          <a:xfrm>
            <a:off x="794610" y="2218682"/>
            <a:ext cx="2555828"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L2 (non-root mode ring3)</a:t>
            </a:r>
            <a:endParaRPr kumimoji="1" lang="zh-CN" altLang="en-US" sz="1400"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BFF00B52-FFDD-377C-2E3E-20A2793DC9F5}"/>
              </a:ext>
            </a:extLst>
          </p:cNvPr>
          <p:cNvSpPr txBox="1"/>
          <p:nvPr/>
        </p:nvSpPr>
        <p:spPr>
          <a:xfrm>
            <a:off x="1144300" y="3190304"/>
            <a:ext cx="1036694" cy="276999"/>
          </a:xfrm>
          <a:prstGeom prst="rect">
            <a:avLst/>
          </a:prstGeom>
          <a:noFill/>
          <a:ln w="19050">
            <a:solidFill>
              <a:schemeClr val="tx1"/>
            </a:solidFill>
          </a:ln>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PF Handler</a:t>
            </a:r>
            <a:endParaRPr kumimoji="1" lang="zh-CN" altLang="en-US" sz="1200" dirty="0">
              <a:latin typeface="Times New Roman" panose="02020603050405020304" pitchFamily="18" charset="0"/>
              <a:cs typeface="Times New Roman" panose="02020603050405020304" pitchFamily="18" charset="0"/>
            </a:endParaRPr>
          </a:p>
        </p:txBody>
      </p:sp>
      <p:sp>
        <p:nvSpPr>
          <p:cNvPr id="36" name="矩形 35">
            <a:extLst>
              <a:ext uri="{FF2B5EF4-FFF2-40B4-BE49-F238E27FC236}">
                <a16:creationId xmlns:a16="http://schemas.microsoft.com/office/drawing/2014/main" id="{6DD713E1-FFCA-EC7A-74BA-9BAAE8312E34}"/>
              </a:ext>
            </a:extLst>
          </p:cNvPr>
          <p:cNvSpPr/>
          <p:nvPr/>
        </p:nvSpPr>
        <p:spPr>
          <a:xfrm>
            <a:off x="1673313" y="4096052"/>
            <a:ext cx="607595" cy="478972"/>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37" name="直线连接符 36">
            <a:extLst>
              <a:ext uri="{FF2B5EF4-FFF2-40B4-BE49-F238E27FC236}">
                <a16:creationId xmlns:a16="http://schemas.microsoft.com/office/drawing/2014/main" id="{4D19CD1B-BA3F-5A6E-CC54-CDD9379C0171}"/>
              </a:ext>
            </a:extLst>
          </p:cNvPr>
          <p:cNvCxnSpPr>
            <a:cxnSpLocks/>
          </p:cNvCxnSpPr>
          <p:nvPr/>
        </p:nvCxnSpPr>
        <p:spPr>
          <a:xfrm>
            <a:off x="1673313" y="4413415"/>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E093AC6B-454B-15C5-4509-8FC26D1D6C8A}"/>
              </a:ext>
            </a:extLst>
          </p:cNvPr>
          <p:cNvSpPr/>
          <p:nvPr/>
        </p:nvSpPr>
        <p:spPr>
          <a:xfrm>
            <a:off x="3738807" y="4104848"/>
            <a:ext cx="607595" cy="478972"/>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40" name="直线连接符 39">
            <a:extLst>
              <a:ext uri="{FF2B5EF4-FFF2-40B4-BE49-F238E27FC236}">
                <a16:creationId xmlns:a16="http://schemas.microsoft.com/office/drawing/2014/main" id="{E0B46C60-1CE5-05CF-EF77-E00D94CC3EDE}"/>
              </a:ext>
            </a:extLst>
          </p:cNvPr>
          <p:cNvCxnSpPr>
            <a:cxnSpLocks/>
          </p:cNvCxnSpPr>
          <p:nvPr/>
        </p:nvCxnSpPr>
        <p:spPr>
          <a:xfrm>
            <a:off x="3738807" y="4422211"/>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47F7E2BF-4F01-DF44-3E95-C314FE70EDD0}"/>
              </a:ext>
            </a:extLst>
          </p:cNvPr>
          <p:cNvCxnSpPr/>
          <p:nvPr/>
        </p:nvCxnSpPr>
        <p:spPr>
          <a:xfrm>
            <a:off x="3738805" y="4269910"/>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C9209B1F-D702-77BF-AAD2-C082B8D24876}"/>
              </a:ext>
            </a:extLst>
          </p:cNvPr>
          <p:cNvSpPr txBox="1"/>
          <p:nvPr/>
        </p:nvSpPr>
        <p:spPr>
          <a:xfrm>
            <a:off x="3794861" y="4612261"/>
            <a:ext cx="802765" cy="276999"/>
          </a:xfrm>
          <a:prstGeom prst="rect">
            <a:avLst/>
          </a:prstGeom>
          <a:noFill/>
        </p:spPr>
        <p:txBody>
          <a:bodyPr wrap="square">
            <a:spAutoFit/>
          </a:bodyPr>
          <a:lstStyle/>
          <a:p>
            <a:r>
              <a:rPr kumimoji="1" lang="en-US" altLang="zh-CN" sz="1200" dirty="0">
                <a:latin typeface="Times New Roman" panose="02020603050405020304" pitchFamily="18" charset="0"/>
                <a:cs typeface="Times New Roman" panose="02020603050405020304" pitchFamily="18" charset="0"/>
              </a:rPr>
              <a:t>CR3</a:t>
            </a:r>
            <a:endParaRPr lang="zh-CN" altLang="en-US" sz="1200" dirty="0"/>
          </a:p>
        </p:txBody>
      </p:sp>
      <p:sp>
        <p:nvSpPr>
          <p:cNvPr id="45" name="矩形 44">
            <a:extLst>
              <a:ext uri="{FF2B5EF4-FFF2-40B4-BE49-F238E27FC236}">
                <a16:creationId xmlns:a16="http://schemas.microsoft.com/office/drawing/2014/main" id="{88EDECCB-ABF3-344B-3784-62F781FB6322}"/>
              </a:ext>
            </a:extLst>
          </p:cNvPr>
          <p:cNvSpPr/>
          <p:nvPr/>
        </p:nvSpPr>
        <p:spPr>
          <a:xfrm>
            <a:off x="3881030" y="2253202"/>
            <a:ext cx="2522875" cy="285786"/>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49" name="矩形 48">
            <a:extLst>
              <a:ext uri="{FF2B5EF4-FFF2-40B4-BE49-F238E27FC236}">
                <a16:creationId xmlns:a16="http://schemas.microsoft.com/office/drawing/2014/main" id="{45984FE3-7AFE-82CD-6252-9A045271D05C}"/>
              </a:ext>
            </a:extLst>
          </p:cNvPr>
          <p:cNvSpPr/>
          <p:nvPr/>
        </p:nvSpPr>
        <p:spPr>
          <a:xfrm>
            <a:off x="3881030" y="2613400"/>
            <a:ext cx="2522875" cy="1178213"/>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50" name="文本框 49">
            <a:extLst>
              <a:ext uri="{FF2B5EF4-FFF2-40B4-BE49-F238E27FC236}">
                <a16:creationId xmlns:a16="http://schemas.microsoft.com/office/drawing/2014/main" id="{7FEC9A71-C1ED-B4FB-A3B8-243483CC278A}"/>
              </a:ext>
            </a:extLst>
          </p:cNvPr>
          <p:cNvSpPr txBox="1"/>
          <p:nvPr/>
        </p:nvSpPr>
        <p:spPr>
          <a:xfrm>
            <a:off x="3856346" y="2568942"/>
            <a:ext cx="2384665"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L1 (non-root mode ring0)</a:t>
            </a:r>
            <a:endParaRPr kumimoji="1" lang="zh-CN" altLang="en-US" sz="1400" dirty="0">
              <a:latin typeface="Times New Roman" panose="02020603050405020304" pitchFamily="18" charset="0"/>
              <a:cs typeface="Times New Roman" panose="02020603050405020304" pitchFamily="18" charset="0"/>
            </a:endParaRPr>
          </a:p>
        </p:txBody>
      </p:sp>
      <p:sp>
        <p:nvSpPr>
          <p:cNvPr id="51" name="文本框 50">
            <a:extLst>
              <a:ext uri="{FF2B5EF4-FFF2-40B4-BE49-F238E27FC236}">
                <a16:creationId xmlns:a16="http://schemas.microsoft.com/office/drawing/2014/main" id="{0D1798DD-7D10-CC7B-F62B-110808995945}"/>
              </a:ext>
            </a:extLst>
          </p:cNvPr>
          <p:cNvSpPr txBox="1"/>
          <p:nvPr/>
        </p:nvSpPr>
        <p:spPr>
          <a:xfrm>
            <a:off x="3862365" y="2239495"/>
            <a:ext cx="2555828"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L1 (non-root mode ring3)</a:t>
            </a:r>
            <a:endParaRPr kumimoji="1" lang="zh-CN" altLang="en-US" sz="1400" dirty="0">
              <a:latin typeface="Times New Roman" panose="02020603050405020304" pitchFamily="18" charset="0"/>
              <a:cs typeface="Times New Roman" panose="02020603050405020304" pitchFamily="18" charset="0"/>
            </a:endParaRPr>
          </a:p>
        </p:txBody>
      </p:sp>
      <p:sp>
        <p:nvSpPr>
          <p:cNvPr id="52" name="文本框 51">
            <a:extLst>
              <a:ext uri="{FF2B5EF4-FFF2-40B4-BE49-F238E27FC236}">
                <a16:creationId xmlns:a16="http://schemas.microsoft.com/office/drawing/2014/main" id="{36B0CA36-05B8-0BA1-19B6-135DEAB4E53E}"/>
              </a:ext>
            </a:extLst>
          </p:cNvPr>
          <p:cNvSpPr txBox="1"/>
          <p:nvPr/>
        </p:nvSpPr>
        <p:spPr>
          <a:xfrm>
            <a:off x="3942723" y="2863596"/>
            <a:ext cx="1308792" cy="276999"/>
          </a:xfrm>
          <a:prstGeom prst="rect">
            <a:avLst/>
          </a:prstGeom>
          <a:noFill/>
          <a:ln w="19050">
            <a:solidFill>
              <a:schemeClr val="tx1"/>
            </a:solidFill>
          </a:ln>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KVM PF Handler</a:t>
            </a:r>
            <a:endParaRPr kumimoji="1" lang="zh-CN" altLang="en-US" sz="1200" dirty="0">
              <a:latin typeface="Times New Roman" panose="02020603050405020304" pitchFamily="18" charset="0"/>
              <a:cs typeface="Times New Roman" panose="02020603050405020304" pitchFamily="18" charset="0"/>
            </a:endParaRPr>
          </a:p>
        </p:txBody>
      </p:sp>
      <p:cxnSp>
        <p:nvCxnSpPr>
          <p:cNvPr id="53" name="肘形连接符 52">
            <a:extLst>
              <a:ext uri="{FF2B5EF4-FFF2-40B4-BE49-F238E27FC236}">
                <a16:creationId xmlns:a16="http://schemas.microsoft.com/office/drawing/2014/main" id="{AD830DEF-2269-2053-2743-9BFCE71FF88F}"/>
              </a:ext>
            </a:extLst>
          </p:cNvPr>
          <p:cNvCxnSpPr>
            <a:cxnSpLocks/>
          </p:cNvCxnSpPr>
          <p:nvPr/>
        </p:nvCxnSpPr>
        <p:spPr>
          <a:xfrm>
            <a:off x="3371220" y="2372571"/>
            <a:ext cx="154729" cy="2627287"/>
          </a:xfrm>
          <a:prstGeom prst="bentConnector2">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肘形连接符 53">
            <a:extLst>
              <a:ext uri="{FF2B5EF4-FFF2-40B4-BE49-F238E27FC236}">
                <a16:creationId xmlns:a16="http://schemas.microsoft.com/office/drawing/2014/main" id="{866ACDE7-0446-0C64-5914-14BD7F927797}"/>
              </a:ext>
            </a:extLst>
          </p:cNvPr>
          <p:cNvCxnSpPr>
            <a:cxnSpLocks/>
          </p:cNvCxnSpPr>
          <p:nvPr/>
        </p:nvCxnSpPr>
        <p:spPr>
          <a:xfrm rot="10800000" flipV="1">
            <a:off x="2496770" y="5002883"/>
            <a:ext cx="983686" cy="362488"/>
          </a:xfrm>
          <a:prstGeom prst="bentConnector3">
            <a:avLst>
              <a:gd name="adj1" fmla="val -492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23EFD355-070E-7722-62D2-7D26098A9809}"/>
              </a:ext>
            </a:extLst>
          </p:cNvPr>
          <p:cNvSpPr/>
          <p:nvPr/>
        </p:nvSpPr>
        <p:spPr>
          <a:xfrm>
            <a:off x="5719679" y="2981775"/>
            <a:ext cx="607595" cy="478972"/>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60" name="直线连接符 59">
            <a:extLst>
              <a:ext uri="{FF2B5EF4-FFF2-40B4-BE49-F238E27FC236}">
                <a16:creationId xmlns:a16="http://schemas.microsoft.com/office/drawing/2014/main" id="{64F88D61-3CE2-6338-9059-BAED18945B2D}"/>
              </a:ext>
            </a:extLst>
          </p:cNvPr>
          <p:cNvCxnSpPr/>
          <p:nvPr/>
        </p:nvCxnSpPr>
        <p:spPr>
          <a:xfrm>
            <a:off x="5719677" y="3146837"/>
            <a:ext cx="607595" cy="0"/>
          </a:xfrm>
          <a:prstGeom prst="line">
            <a:avLst/>
          </a:prstGeom>
          <a:ln w="1905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61" name="圆角矩形 60">
            <a:extLst>
              <a:ext uri="{FF2B5EF4-FFF2-40B4-BE49-F238E27FC236}">
                <a16:creationId xmlns:a16="http://schemas.microsoft.com/office/drawing/2014/main" id="{C0D4F8FC-AC19-9984-3C93-4231AE7DD186}"/>
              </a:ext>
            </a:extLst>
          </p:cNvPr>
          <p:cNvSpPr/>
          <p:nvPr/>
        </p:nvSpPr>
        <p:spPr>
          <a:xfrm>
            <a:off x="4400231" y="5310662"/>
            <a:ext cx="1236411" cy="632165"/>
          </a:xfrm>
          <a:prstGeom prst="roundRect">
            <a:avLst/>
          </a:prstGeom>
          <a:solidFill>
            <a:schemeClr val="bg1">
              <a:lumMod val="8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t" anchorCtr="0"/>
          <a:lstStyle/>
          <a:p>
            <a:pPr algn="ct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62" name="文本框 61">
            <a:extLst>
              <a:ext uri="{FF2B5EF4-FFF2-40B4-BE49-F238E27FC236}">
                <a16:creationId xmlns:a16="http://schemas.microsoft.com/office/drawing/2014/main" id="{30B7A377-E6AD-1A3D-D169-AC199974C505}"/>
              </a:ext>
            </a:extLst>
          </p:cNvPr>
          <p:cNvSpPr txBox="1"/>
          <p:nvPr/>
        </p:nvSpPr>
        <p:spPr>
          <a:xfrm>
            <a:off x="4347536" y="5307637"/>
            <a:ext cx="1314687" cy="646331"/>
          </a:xfrm>
          <a:prstGeom prst="rect">
            <a:avLst/>
          </a:prstGeom>
          <a:noFill/>
        </p:spPr>
        <p:txBody>
          <a:bodyPr wrap="square" rtlCol="0">
            <a:spAutoFit/>
          </a:bodyPr>
          <a:lstStyle/>
          <a:p>
            <a:pPr algn="ctr"/>
            <a:r>
              <a:rPr kumimoji="1" lang="en-US" altLang="zh-CN" sz="1200" dirty="0">
                <a:latin typeface="Times New Roman" panose="02020603050405020304" pitchFamily="18" charset="0"/>
                <a:cs typeface="Times New Roman" panose="02020603050405020304" pitchFamily="18" charset="0"/>
              </a:rPr>
              <a:t>VMCS01</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EPTP=</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EPT01</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CR3</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GPT1</a:t>
            </a:r>
            <a:endParaRPr kumimoji="1" lang="zh-CN" altLang="en-US" sz="1200" dirty="0">
              <a:latin typeface="Times New Roman" panose="02020603050405020304" pitchFamily="18" charset="0"/>
              <a:cs typeface="Times New Roman" panose="02020603050405020304" pitchFamily="18" charset="0"/>
            </a:endParaRPr>
          </a:p>
        </p:txBody>
      </p:sp>
      <p:sp>
        <p:nvSpPr>
          <p:cNvPr id="71" name="文本框 70">
            <a:extLst>
              <a:ext uri="{FF2B5EF4-FFF2-40B4-BE49-F238E27FC236}">
                <a16:creationId xmlns:a16="http://schemas.microsoft.com/office/drawing/2014/main" id="{08DA54D7-F8A1-5E2D-0054-CED0C01C95F6}"/>
              </a:ext>
            </a:extLst>
          </p:cNvPr>
          <p:cNvSpPr txBox="1"/>
          <p:nvPr/>
        </p:nvSpPr>
        <p:spPr>
          <a:xfrm>
            <a:off x="5758338" y="2743212"/>
            <a:ext cx="836504"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SPT12</a:t>
            </a:r>
            <a:endParaRPr kumimoji="1" lang="zh-CN" altLang="en-US" sz="1200" dirty="0">
              <a:latin typeface="Times New Roman" panose="02020603050405020304" pitchFamily="18" charset="0"/>
              <a:cs typeface="Times New Roman" panose="02020603050405020304" pitchFamily="18" charset="0"/>
            </a:endParaRPr>
          </a:p>
        </p:txBody>
      </p:sp>
      <p:cxnSp>
        <p:nvCxnSpPr>
          <p:cNvPr id="73" name="直线连接符 72">
            <a:extLst>
              <a:ext uri="{FF2B5EF4-FFF2-40B4-BE49-F238E27FC236}">
                <a16:creationId xmlns:a16="http://schemas.microsoft.com/office/drawing/2014/main" id="{7E92598D-1293-F476-2FEF-5B7B07699AE3}"/>
              </a:ext>
            </a:extLst>
          </p:cNvPr>
          <p:cNvCxnSpPr/>
          <p:nvPr/>
        </p:nvCxnSpPr>
        <p:spPr>
          <a:xfrm>
            <a:off x="1673313" y="4252177"/>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82223A50-7268-246E-0044-0000BE823905}"/>
              </a:ext>
            </a:extLst>
          </p:cNvPr>
          <p:cNvSpPr txBox="1"/>
          <p:nvPr/>
        </p:nvSpPr>
        <p:spPr>
          <a:xfrm>
            <a:off x="2722345" y="4701654"/>
            <a:ext cx="915485"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①/❶ </a:t>
            </a:r>
            <a:r>
              <a:rPr kumimoji="1" lang="en-US" altLang="zh-CN" sz="1200" b="1" dirty="0">
                <a:latin typeface="Times New Roman" panose="02020603050405020304" pitchFamily="18" charset="0"/>
                <a:cs typeface="Times New Roman" panose="02020603050405020304" pitchFamily="18" charset="0"/>
              </a:rPr>
              <a:t>#PF</a:t>
            </a:r>
            <a:endParaRPr kumimoji="1" lang="zh-CN" altLang="en-US" sz="1200" b="1" dirty="0">
              <a:latin typeface="Times New Roman" panose="02020603050405020304" pitchFamily="18" charset="0"/>
              <a:cs typeface="Times New Roman" panose="02020603050405020304" pitchFamily="18" charset="0"/>
            </a:endParaRPr>
          </a:p>
        </p:txBody>
      </p:sp>
      <p:cxnSp>
        <p:nvCxnSpPr>
          <p:cNvPr id="75" name="直线箭头连接符 74">
            <a:extLst>
              <a:ext uri="{FF2B5EF4-FFF2-40B4-BE49-F238E27FC236}">
                <a16:creationId xmlns:a16="http://schemas.microsoft.com/office/drawing/2014/main" id="{1A9CB78A-42FA-7FB8-F0FF-8723DA3AC603}"/>
              </a:ext>
            </a:extLst>
          </p:cNvPr>
          <p:cNvCxnSpPr>
            <a:cxnSpLocks/>
          </p:cNvCxnSpPr>
          <p:nvPr/>
        </p:nvCxnSpPr>
        <p:spPr>
          <a:xfrm flipV="1">
            <a:off x="2507478" y="5601850"/>
            <a:ext cx="1848512"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C99101D8-F813-16B4-637A-35CFB31D77BE}"/>
              </a:ext>
            </a:extLst>
          </p:cNvPr>
          <p:cNvSpPr txBox="1"/>
          <p:nvPr/>
        </p:nvSpPr>
        <p:spPr>
          <a:xfrm>
            <a:off x="2888813" y="5338177"/>
            <a:ext cx="1688733"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②/</a:t>
            </a:r>
            <a:r>
              <a:rPr kumimoji="1" lang="zh-CN" altLang="en-US" sz="1200" dirty="0">
                <a:latin typeface="Times New Roman" panose="02020603050405020304" pitchFamily="18" charset="0"/>
                <a:cs typeface="Times New Roman" panose="02020603050405020304" pitchFamily="18" charset="0"/>
              </a:rPr>
              <a:t>❷</a:t>
            </a:r>
            <a:r>
              <a:rPr kumimoji="1" lang="en-US" altLang="zh-CN" sz="1200" dirty="0">
                <a:latin typeface="Times New Roman" panose="02020603050405020304" pitchFamily="18" charset="0"/>
                <a:cs typeface="Times New Roman" panose="02020603050405020304" pitchFamily="18" charset="0"/>
              </a:rPr>
              <a:t> inject #PF</a:t>
            </a:r>
          </a:p>
        </p:txBody>
      </p:sp>
      <p:cxnSp>
        <p:nvCxnSpPr>
          <p:cNvPr id="77" name="肘形连接符 76">
            <a:extLst>
              <a:ext uri="{FF2B5EF4-FFF2-40B4-BE49-F238E27FC236}">
                <a16:creationId xmlns:a16="http://schemas.microsoft.com/office/drawing/2014/main" id="{1A38331A-22F2-0641-1A23-ADBDAF2A169F}"/>
              </a:ext>
            </a:extLst>
          </p:cNvPr>
          <p:cNvCxnSpPr>
            <a:cxnSpLocks/>
          </p:cNvCxnSpPr>
          <p:nvPr/>
        </p:nvCxnSpPr>
        <p:spPr>
          <a:xfrm rot="16200000" flipV="1">
            <a:off x="3564287" y="4007106"/>
            <a:ext cx="2164018" cy="43704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线连接符 77">
            <a:extLst>
              <a:ext uri="{FF2B5EF4-FFF2-40B4-BE49-F238E27FC236}">
                <a16:creationId xmlns:a16="http://schemas.microsoft.com/office/drawing/2014/main" id="{6BEFDBC3-9550-401F-42DE-51E3F0068ED8}"/>
              </a:ext>
            </a:extLst>
          </p:cNvPr>
          <p:cNvCxnSpPr/>
          <p:nvPr/>
        </p:nvCxnSpPr>
        <p:spPr>
          <a:xfrm>
            <a:off x="5726603" y="3299237"/>
            <a:ext cx="607595" cy="0"/>
          </a:xfrm>
          <a:prstGeom prst="line">
            <a:avLst/>
          </a:prstGeom>
          <a:ln w="1905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2BC7B0A9-6258-1F9B-690D-7F3E8006B82B}"/>
              </a:ext>
            </a:extLst>
          </p:cNvPr>
          <p:cNvSpPr txBox="1"/>
          <p:nvPr/>
        </p:nvSpPr>
        <p:spPr>
          <a:xfrm>
            <a:off x="3584043" y="5015206"/>
            <a:ext cx="1327911" cy="276999"/>
          </a:xfrm>
          <a:prstGeom prst="rect">
            <a:avLst/>
          </a:prstGeom>
          <a:noFill/>
        </p:spPr>
        <p:txBody>
          <a:bodyPr wrap="square" rtlCol="0">
            <a:spAutoFit/>
          </a:bodyPr>
          <a:lstStyle/>
          <a:p>
            <a:pPr algn="r"/>
            <a:r>
              <a:rPr kumimoji="1" lang="en-US" altLang="zh-CN" sz="1200" dirty="0">
                <a:latin typeface="Times New Roman" panose="02020603050405020304" pitchFamily="18" charset="0"/>
                <a:cs typeface="Times New Roman" panose="02020603050405020304" pitchFamily="18" charset="0"/>
              </a:rPr>
              <a:t>resume L1 ③/❸ </a:t>
            </a:r>
            <a:endParaRPr kumimoji="1" lang="zh-CN" altLang="en-US" sz="1200" dirty="0">
              <a:latin typeface="Times New Roman" panose="02020603050405020304" pitchFamily="18" charset="0"/>
              <a:cs typeface="Times New Roman" panose="02020603050405020304" pitchFamily="18" charset="0"/>
            </a:endParaRPr>
          </a:p>
        </p:txBody>
      </p:sp>
      <p:sp>
        <p:nvSpPr>
          <p:cNvPr id="81" name="圆角矩形 80">
            <a:extLst>
              <a:ext uri="{FF2B5EF4-FFF2-40B4-BE49-F238E27FC236}">
                <a16:creationId xmlns:a16="http://schemas.microsoft.com/office/drawing/2014/main" id="{CD51F6FB-74B3-D4E9-7EE5-2F8F01E54206}"/>
              </a:ext>
            </a:extLst>
          </p:cNvPr>
          <p:cNvSpPr/>
          <p:nvPr/>
        </p:nvSpPr>
        <p:spPr>
          <a:xfrm>
            <a:off x="4872522" y="3441376"/>
            <a:ext cx="781999" cy="276999"/>
          </a:xfrm>
          <a:prstGeom prst="roundRect">
            <a:avLst/>
          </a:prstGeom>
          <a:solidFill>
            <a:schemeClr val="bg1">
              <a:lumMod val="8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t" anchorCtr="0"/>
          <a:lstStyle/>
          <a:p>
            <a:pPr algn="ct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82" name="文本框 81">
            <a:extLst>
              <a:ext uri="{FF2B5EF4-FFF2-40B4-BE49-F238E27FC236}">
                <a16:creationId xmlns:a16="http://schemas.microsoft.com/office/drawing/2014/main" id="{D0E9D2AA-0BA1-ED83-DA9B-A0CBFBFEA3F5}"/>
              </a:ext>
            </a:extLst>
          </p:cNvPr>
          <p:cNvSpPr txBox="1"/>
          <p:nvPr/>
        </p:nvSpPr>
        <p:spPr>
          <a:xfrm>
            <a:off x="4843960" y="3447533"/>
            <a:ext cx="839121" cy="276999"/>
          </a:xfrm>
          <a:prstGeom prst="rect">
            <a:avLst/>
          </a:prstGeom>
          <a:noFill/>
        </p:spPr>
        <p:txBody>
          <a:bodyPr wrap="square" rtlCol="0">
            <a:spAutoFit/>
          </a:bodyPr>
          <a:lstStyle/>
          <a:p>
            <a:pPr algn="ctr"/>
            <a:r>
              <a:rPr kumimoji="1" lang="en-US" altLang="zh-CN" sz="1200" dirty="0">
                <a:latin typeface="Times New Roman" panose="02020603050405020304" pitchFamily="18" charset="0"/>
                <a:cs typeface="Times New Roman" panose="02020603050405020304" pitchFamily="18" charset="0"/>
              </a:rPr>
              <a:t>VMCS12</a:t>
            </a:r>
          </a:p>
        </p:txBody>
      </p:sp>
      <p:cxnSp>
        <p:nvCxnSpPr>
          <p:cNvPr id="83" name="肘形连接符 82">
            <a:extLst>
              <a:ext uri="{FF2B5EF4-FFF2-40B4-BE49-F238E27FC236}">
                <a16:creationId xmlns:a16="http://schemas.microsoft.com/office/drawing/2014/main" id="{C931CA9D-CF1F-D4EB-82A8-CB0CE1176E82}"/>
              </a:ext>
            </a:extLst>
          </p:cNvPr>
          <p:cNvCxnSpPr>
            <a:cxnSpLocks/>
            <a:stCxn id="52" idx="2"/>
            <a:endCxn id="82" idx="0"/>
          </p:cNvCxnSpPr>
          <p:nvPr/>
        </p:nvCxnSpPr>
        <p:spPr>
          <a:xfrm rot="16200000" flipH="1">
            <a:off x="4776851" y="2960863"/>
            <a:ext cx="306938" cy="666402"/>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DB572C79-AB9E-51FA-2594-120FBCB361DC}"/>
              </a:ext>
            </a:extLst>
          </p:cNvPr>
          <p:cNvSpPr txBox="1"/>
          <p:nvPr/>
        </p:nvSpPr>
        <p:spPr>
          <a:xfrm>
            <a:off x="4648900" y="3081846"/>
            <a:ext cx="1162090"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④ inject</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#PF</a:t>
            </a:r>
            <a:endParaRPr kumimoji="1" lang="zh-CN" altLang="en-US" sz="1200" dirty="0">
              <a:latin typeface="Times New Roman" panose="02020603050405020304" pitchFamily="18" charset="0"/>
              <a:cs typeface="Times New Roman" panose="02020603050405020304" pitchFamily="18" charset="0"/>
            </a:endParaRPr>
          </a:p>
        </p:txBody>
      </p:sp>
      <p:cxnSp>
        <p:nvCxnSpPr>
          <p:cNvPr id="85" name="肘形连接符 84">
            <a:extLst>
              <a:ext uri="{FF2B5EF4-FFF2-40B4-BE49-F238E27FC236}">
                <a16:creationId xmlns:a16="http://schemas.microsoft.com/office/drawing/2014/main" id="{75BA1D91-EBAF-66B1-692A-9557FF24F1DF}"/>
              </a:ext>
            </a:extLst>
          </p:cNvPr>
          <p:cNvCxnSpPr>
            <a:cxnSpLocks/>
            <a:endCxn id="62" idx="0"/>
          </p:cNvCxnSpPr>
          <p:nvPr/>
        </p:nvCxnSpPr>
        <p:spPr>
          <a:xfrm rot="16200000" flipH="1">
            <a:off x="3670412" y="3973169"/>
            <a:ext cx="2170696" cy="498240"/>
          </a:xfrm>
          <a:prstGeom prst="bentConnector3">
            <a:avLst>
              <a:gd name="adj1" fmla="val 4760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B1528244-4AB9-F80F-B78B-32F04C219318}"/>
              </a:ext>
            </a:extLst>
          </p:cNvPr>
          <p:cNvSpPr txBox="1"/>
          <p:nvPr/>
        </p:nvSpPr>
        <p:spPr>
          <a:xfrm>
            <a:off x="4444506" y="3923726"/>
            <a:ext cx="1366484"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⑤</a:t>
            </a:r>
            <a:r>
              <a:rPr kumimoji="1" lang="en-US" altLang="zh-CN" sz="1200" dirty="0">
                <a:latin typeface="Times New Roman" panose="02020603050405020304" pitchFamily="18" charset="0"/>
                <a:cs typeface="Times New Roman" panose="02020603050405020304" pitchFamily="18" charset="0"/>
              </a:rPr>
              <a:t>/</a:t>
            </a:r>
            <a:r>
              <a:rPr kumimoji="1" lang="zh-CN" altLang="en-US" sz="1200" dirty="0">
                <a:latin typeface="Times New Roman" panose="02020603050405020304" pitchFamily="18" charset="0"/>
                <a:cs typeface="Times New Roman" panose="02020603050405020304" pitchFamily="18" charset="0"/>
              </a:rPr>
              <a:t>❺</a:t>
            </a:r>
            <a:r>
              <a:rPr kumimoji="1" lang="en-US" altLang="zh-CN" sz="1200" dirty="0">
                <a:latin typeface="Times New Roman" panose="02020603050405020304" pitchFamily="18" charset="0"/>
                <a:cs typeface="Times New Roman" panose="02020603050405020304" pitchFamily="18" charset="0"/>
              </a:rPr>
              <a:t> resume L2</a:t>
            </a:r>
            <a:endParaRPr kumimoji="1" lang="zh-CN" altLang="en-US" sz="1200" dirty="0">
              <a:latin typeface="Times New Roman" panose="02020603050405020304" pitchFamily="18" charset="0"/>
              <a:cs typeface="Times New Roman" panose="02020603050405020304" pitchFamily="18" charset="0"/>
            </a:endParaRPr>
          </a:p>
        </p:txBody>
      </p:sp>
      <p:cxnSp>
        <p:nvCxnSpPr>
          <p:cNvPr id="87" name="直线箭头连接符 86">
            <a:extLst>
              <a:ext uri="{FF2B5EF4-FFF2-40B4-BE49-F238E27FC236}">
                <a16:creationId xmlns:a16="http://schemas.microsoft.com/office/drawing/2014/main" id="{0E7D0CAC-67E5-4485-DC07-0EA8E727C076}"/>
              </a:ext>
            </a:extLst>
          </p:cNvPr>
          <p:cNvCxnSpPr>
            <a:cxnSpLocks/>
          </p:cNvCxnSpPr>
          <p:nvPr/>
        </p:nvCxnSpPr>
        <p:spPr>
          <a:xfrm flipV="1">
            <a:off x="2496769" y="5837976"/>
            <a:ext cx="1848512" cy="1"/>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4D672223-A1E2-1162-86AC-EB3D6455DDED}"/>
              </a:ext>
            </a:extLst>
          </p:cNvPr>
          <p:cNvSpPr txBox="1"/>
          <p:nvPr/>
        </p:nvSpPr>
        <p:spPr>
          <a:xfrm>
            <a:off x="2345124" y="5872326"/>
            <a:ext cx="2270663"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⑥</a:t>
            </a:r>
            <a:r>
              <a:rPr kumimoji="1" lang="en-US" altLang="zh-CN" sz="1200" dirty="0">
                <a:latin typeface="Times New Roman" panose="02020603050405020304" pitchFamily="18" charset="0"/>
                <a:cs typeface="Times New Roman" panose="02020603050405020304" pitchFamily="18" charset="0"/>
              </a:rPr>
              <a:t>/</a:t>
            </a:r>
            <a:r>
              <a:rPr kumimoji="1" lang="zh-CN" altLang="en-US" sz="1200" dirty="0">
                <a:latin typeface="Times New Roman" panose="02020603050405020304" pitchFamily="18" charset="0"/>
                <a:cs typeface="Times New Roman" panose="02020603050405020304" pitchFamily="18" charset="0"/>
              </a:rPr>
              <a:t>❻</a:t>
            </a:r>
            <a:r>
              <a:rPr kumimoji="1" lang="en-US" altLang="zh-CN" sz="1200" dirty="0">
                <a:latin typeface="Times New Roman" panose="02020603050405020304" pitchFamily="18" charset="0"/>
                <a:cs typeface="Times New Roman" panose="02020603050405020304" pitchFamily="18" charset="0"/>
              </a:rPr>
              <a:t> update &amp; reload VMCS02</a:t>
            </a:r>
          </a:p>
        </p:txBody>
      </p:sp>
      <p:cxnSp>
        <p:nvCxnSpPr>
          <p:cNvPr id="89" name="肘形连接符 88">
            <a:extLst>
              <a:ext uri="{FF2B5EF4-FFF2-40B4-BE49-F238E27FC236}">
                <a16:creationId xmlns:a16="http://schemas.microsoft.com/office/drawing/2014/main" id="{70C0B033-C67A-7C01-8F6C-56A9B88C6832}"/>
              </a:ext>
            </a:extLst>
          </p:cNvPr>
          <p:cNvCxnSpPr>
            <a:cxnSpLocks/>
          </p:cNvCxnSpPr>
          <p:nvPr/>
        </p:nvCxnSpPr>
        <p:spPr>
          <a:xfrm rot="10800000">
            <a:off x="1144300" y="3422323"/>
            <a:ext cx="74072" cy="2315224"/>
          </a:xfrm>
          <a:prstGeom prst="bentConnector3">
            <a:avLst>
              <a:gd name="adj1" fmla="val 62772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文本框 89">
            <a:extLst>
              <a:ext uri="{FF2B5EF4-FFF2-40B4-BE49-F238E27FC236}">
                <a16:creationId xmlns:a16="http://schemas.microsoft.com/office/drawing/2014/main" id="{DABFC43A-2C80-8C3C-E62D-6423D35EA6D3}"/>
              </a:ext>
            </a:extLst>
          </p:cNvPr>
          <p:cNvSpPr txBox="1"/>
          <p:nvPr/>
        </p:nvSpPr>
        <p:spPr>
          <a:xfrm>
            <a:off x="684888" y="3670833"/>
            <a:ext cx="1496106" cy="461665"/>
          </a:xfrm>
          <a:prstGeom prst="rect">
            <a:avLst/>
          </a:prstGeom>
          <a:noFill/>
        </p:spPr>
        <p:txBody>
          <a:bodyPr wrap="square">
            <a:spAutoFit/>
          </a:bodyPr>
          <a:lstStyle/>
          <a:p>
            <a:r>
              <a:rPr kumimoji="1" lang="zh-CN" altLang="en-US" sz="1200" dirty="0">
                <a:latin typeface="Times New Roman" panose="02020603050405020304" pitchFamily="18" charset="0"/>
                <a:cs typeface="Times New Roman" panose="02020603050405020304" pitchFamily="18" charset="0"/>
              </a:rPr>
              <a:t>⑦ </a:t>
            </a:r>
            <a:r>
              <a:rPr kumimoji="1" lang="en-US" altLang="zh-CN" sz="1200" dirty="0" err="1">
                <a:latin typeface="Times New Roman" panose="02020603050405020304" pitchFamily="18" charset="0"/>
                <a:cs typeface="Times New Roman" panose="02020603050405020304" pitchFamily="18" charset="0"/>
              </a:rPr>
              <a:t>vm_resume</a:t>
            </a:r>
            <a:r>
              <a:rPr kumimoji="1" lang="en-US" altLang="zh-CN" sz="1200" dirty="0">
                <a:latin typeface="Times New Roman" panose="02020603050405020304" pitchFamily="18" charset="0"/>
                <a:cs typeface="Times New Roman" panose="02020603050405020304" pitchFamily="18" charset="0"/>
              </a:rPr>
              <a:t> L2</a:t>
            </a:r>
          </a:p>
          <a:p>
            <a:r>
              <a:rPr kumimoji="1" lang="en-US" altLang="zh-CN" sz="1200" dirty="0">
                <a:latin typeface="Times New Roman" panose="02020603050405020304" pitchFamily="18" charset="0"/>
                <a:cs typeface="Times New Roman" panose="02020603050405020304" pitchFamily="18" charset="0"/>
              </a:rPr>
              <a:t>      (real entry)</a:t>
            </a:r>
            <a:endParaRPr kumimoji="1" lang="zh-CN" altLang="en-US" sz="1200" dirty="0">
              <a:latin typeface="Times New Roman" panose="02020603050405020304" pitchFamily="18" charset="0"/>
              <a:cs typeface="Times New Roman" panose="02020603050405020304" pitchFamily="18" charset="0"/>
            </a:endParaRPr>
          </a:p>
        </p:txBody>
      </p:sp>
      <p:sp>
        <p:nvSpPr>
          <p:cNvPr id="91" name="矩形 90">
            <a:extLst>
              <a:ext uri="{FF2B5EF4-FFF2-40B4-BE49-F238E27FC236}">
                <a16:creationId xmlns:a16="http://schemas.microsoft.com/office/drawing/2014/main" id="{81E94927-5509-D0DF-0B29-F34F39B7D556}"/>
              </a:ext>
            </a:extLst>
          </p:cNvPr>
          <p:cNvSpPr/>
          <p:nvPr/>
        </p:nvSpPr>
        <p:spPr>
          <a:xfrm>
            <a:off x="2692495" y="3092282"/>
            <a:ext cx="607595" cy="478972"/>
          </a:xfrm>
          <a:prstGeom prst="rect">
            <a:avLst/>
          </a:prstGeom>
          <a:solidFill>
            <a:schemeClr val="bg1">
              <a:lumMod val="85000"/>
            </a:schemeClr>
          </a:solid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92" name="直线连接符 91">
            <a:extLst>
              <a:ext uri="{FF2B5EF4-FFF2-40B4-BE49-F238E27FC236}">
                <a16:creationId xmlns:a16="http://schemas.microsoft.com/office/drawing/2014/main" id="{8F470D25-C732-A1CE-4C68-55310AC97F57}"/>
              </a:ext>
            </a:extLst>
          </p:cNvPr>
          <p:cNvCxnSpPr/>
          <p:nvPr/>
        </p:nvCxnSpPr>
        <p:spPr>
          <a:xfrm>
            <a:off x="2692493" y="3257344"/>
            <a:ext cx="607595" cy="0"/>
          </a:xfrm>
          <a:prstGeom prst="line">
            <a:avLst/>
          </a:prstGeom>
          <a:ln w="19050">
            <a:solidFill>
              <a:srgbClr val="C0000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93" name="直线连接符 92">
            <a:extLst>
              <a:ext uri="{FF2B5EF4-FFF2-40B4-BE49-F238E27FC236}">
                <a16:creationId xmlns:a16="http://schemas.microsoft.com/office/drawing/2014/main" id="{BADC248B-218B-3D65-40D3-3F6F2A3029FF}"/>
              </a:ext>
            </a:extLst>
          </p:cNvPr>
          <p:cNvCxnSpPr/>
          <p:nvPr/>
        </p:nvCxnSpPr>
        <p:spPr>
          <a:xfrm>
            <a:off x="2699419" y="3409744"/>
            <a:ext cx="607595" cy="0"/>
          </a:xfrm>
          <a:prstGeom prst="line">
            <a:avLst/>
          </a:prstGeom>
          <a:ln w="19050">
            <a:solidFill>
              <a:srgbClr val="C00000"/>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94" name="直线箭头连接符 93">
            <a:extLst>
              <a:ext uri="{FF2B5EF4-FFF2-40B4-BE49-F238E27FC236}">
                <a16:creationId xmlns:a16="http://schemas.microsoft.com/office/drawing/2014/main" id="{5891802E-967D-DF92-A9B3-568C9A0015A7}"/>
              </a:ext>
            </a:extLst>
          </p:cNvPr>
          <p:cNvCxnSpPr>
            <a:cxnSpLocks/>
            <a:endCxn id="91" idx="1"/>
          </p:cNvCxnSpPr>
          <p:nvPr/>
        </p:nvCxnSpPr>
        <p:spPr>
          <a:xfrm>
            <a:off x="2205678" y="3331768"/>
            <a:ext cx="486817" cy="0"/>
          </a:xfrm>
          <a:prstGeom prst="straightConnector1">
            <a:avLst/>
          </a:prstGeom>
          <a:ln w="1905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4EEEAE03-D3C6-60C6-6FC2-8FB87082702A}"/>
              </a:ext>
            </a:extLst>
          </p:cNvPr>
          <p:cNvSpPr txBox="1"/>
          <p:nvPr/>
        </p:nvSpPr>
        <p:spPr>
          <a:xfrm>
            <a:off x="2137831" y="3097859"/>
            <a:ext cx="624295" cy="276999"/>
          </a:xfrm>
          <a:prstGeom prst="rect">
            <a:avLst/>
          </a:prstGeom>
          <a:noFill/>
        </p:spPr>
        <p:txBody>
          <a:bodyPr wrap="square">
            <a:spAutoFit/>
          </a:bodyPr>
          <a:lstStyle/>
          <a:p>
            <a:r>
              <a:rPr kumimoji="1" lang="zh-CN" altLang="en-US" sz="1200" dirty="0">
                <a:latin typeface="Times New Roman" panose="02020603050405020304" pitchFamily="18" charset="0"/>
                <a:cs typeface="Times New Roman" panose="02020603050405020304" pitchFamily="18" charset="0"/>
              </a:rPr>
              <a:t>⑧ </a:t>
            </a:r>
            <a:r>
              <a:rPr kumimoji="1" lang="en-US" altLang="zh-CN" sz="1200" dirty="0">
                <a:latin typeface="Times New Roman" panose="02020603050405020304" pitchFamily="18" charset="0"/>
                <a:cs typeface="Times New Roman" panose="02020603050405020304" pitchFamily="18" charset="0"/>
              </a:rPr>
              <a:t>fix</a:t>
            </a:r>
            <a:endParaRPr kumimoji="1" lang="zh-CN" altLang="en-US" sz="1200" dirty="0">
              <a:latin typeface="Times New Roman" panose="02020603050405020304" pitchFamily="18" charset="0"/>
              <a:cs typeface="Times New Roman" panose="02020603050405020304" pitchFamily="18" charset="0"/>
            </a:endParaRPr>
          </a:p>
        </p:txBody>
      </p:sp>
      <p:cxnSp>
        <p:nvCxnSpPr>
          <p:cNvPr id="96" name="肘形连接符 95">
            <a:extLst>
              <a:ext uri="{FF2B5EF4-FFF2-40B4-BE49-F238E27FC236}">
                <a16:creationId xmlns:a16="http://schemas.microsoft.com/office/drawing/2014/main" id="{26252134-77A1-E6D5-0148-72CCC7FB1872}"/>
              </a:ext>
            </a:extLst>
          </p:cNvPr>
          <p:cNvCxnSpPr>
            <a:cxnSpLocks/>
            <a:stCxn id="34" idx="1"/>
            <a:endCxn id="32" idx="1"/>
          </p:cNvCxnSpPr>
          <p:nvPr/>
        </p:nvCxnSpPr>
        <p:spPr>
          <a:xfrm rot="10800000">
            <a:off x="794610" y="2372572"/>
            <a:ext cx="349690" cy="956233"/>
          </a:xfrm>
          <a:prstGeom prst="bentConnector3">
            <a:avLst>
              <a:gd name="adj1" fmla="val 13329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文本框 96">
            <a:extLst>
              <a:ext uri="{FF2B5EF4-FFF2-40B4-BE49-F238E27FC236}">
                <a16:creationId xmlns:a16="http://schemas.microsoft.com/office/drawing/2014/main" id="{C3E02B41-D99E-8F37-02F3-07A532A340B7}"/>
              </a:ext>
            </a:extLst>
          </p:cNvPr>
          <p:cNvSpPr txBox="1"/>
          <p:nvPr/>
        </p:nvSpPr>
        <p:spPr>
          <a:xfrm>
            <a:off x="588067" y="3073012"/>
            <a:ext cx="1330329" cy="276999"/>
          </a:xfrm>
          <a:prstGeom prst="rect">
            <a:avLst/>
          </a:prstGeom>
          <a:noFill/>
        </p:spPr>
        <p:txBody>
          <a:bodyPr wrap="square">
            <a:spAutoFit/>
          </a:bodyPr>
          <a:lstStyle/>
          <a:p>
            <a:r>
              <a:rPr kumimoji="1" lang="zh-CN" altLang="en-US" sz="1200" dirty="0">
                <a:latin typeface="Times New Roman" panose="02020603050405020304" pitchFamily="18" charset="0"/>
                <a:cs typeface="Times New Roman" panose="02020603050405020304" pitchFamily="18" charset="0"/>
              </a:rPr>
              <a:t>⑨ </a:t>
            </a:r>
            <a:r>
              <a:rPr kumimoji="1" lang="en-US" altLang="zh-CN" sz="1200" dirty="0" err="1">
                <a:latin typeface="Times New Roman" panose="02020603050405020304" pitchFamily="18" charset="0"/>
                <a:cs typeface="Times New Roman" panose="02020603050405020304" pitchFamily="18" charset="0"/>
              </a:rPr>
              <a:t>iret</a:t>
            </a:r>
            <a:endParaRPr kumimoji="1" lang="zh-CN" altLang="en-US" sz="1200" dirty="0">
              <a:latin typeface="Times New Roman" panose="02020603050405020304" pitchFamily="18" charset="0"/>
              <a:cs typeface="Times New Roman" panose="02020603050405020304" pitchFamily="18" charset="0"/>
            </a:endParaRPr>
          </a:p>
        </p:txBody>
      </p:sp>
      <p:cxnSp>
        <p:nvCxnSpPr>
          <p:cNvPr id="98" name="肘形连接符 97">
            <a:extLst>
              <a:ext uri="{FF2B5EF4-FFF2-40B4-BE49-F238E27FC236}">
                <a16:creationId xmlns:a16="http://schemas.microsoft.com/office/drawing/2014/main" id="{892ED10B-C15F-9AEF-C990-26F61A990200}"/>
              </a:ext>
            </a:extLst>
          </p:cNvPr>
          <p:cNvCxnSpPr>
            <a:cxnSpLocks/>
            <a:stCxn id="52" idx="3"/>
          </p:cNvCxnSpPr>
          <p:nvPr/>
        </p:nvCxnSpPr>
        <p:spPr>
          <a:xfrm>
            <a:off x="5251515" y="3002096"/>
            <a:ext cx="443564" cy="12735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文本框 98">
            <a:extLst>
              <a:ext uri="{FF2B5EF4-FFF2-40B4-BE49-F238E27FC236}">
                <a16:creationId xmlns:a16="http://schemas.microsoft.com/office/drawing/2014/main" id="{CED627F1-4694-81AC-F6E5-1872EC9F020F}"/>
              </a:ext>
            </a:extLst>
          </p:cNvPr>
          <p:cNvSpPr txBox="1"/>
          <p:nvPr/>
        </p:nvSpPr>
        <p:spPr>
          <a:xfrm>
            <a:off x="5162577" y="2776482"/>
            <a:ext cx="633900" cy="276999"/>
          </a:xfrm>
          <a:prstGeom prst="rect">
            <a:avLst/>
          </a:prstGeom>
          <a:noFill/>
        </p:spPr>
        <p:txBody>
          <a:bodyPr wrap="square">
            <a:spAutoFit/>
          </a:bodyPr>
          <a:lstStyle/>
          <a:p>
            <a:r>
              <a:rPr kumimoji="1" lang="zh-CN" altLang="en-US" sz="1200" dirty="0">
                <a:latin typeface="Times New Roman" panose="02020603050405020304" pitchFamily="18" charset="0"/>
                <a:cs typeface="Times New Roman" panose="02020603050405020304" pitchFamily="18" charset="0"/>
              </a:rPr>
              <a:t>❹ </a:t>
            </a:r>
            <a:r>
              <a:rPr kumimoji="1" lang="en-US" altLang="zh-CN" sz="1200" dirty="0">
                <a:latin typeface="Times New Roman" panose="02020603050405020304" pitchFamily="18" charset="0"/>
                <a:cs typeface="Times New Roman" panose="02020603050405020304" pitchFamily="18" charset="0"/>
              </a:rPr>
              <a:t>fix</a:t>
            </a:r>
            <a:endParaRPr kumimoji="1" lang="zh-CN" altLang="en-US" sz="1200" dirty="0">
              <a:latin typeface="Times New Roman" panose="02020603050405020304" pitchFamily="18" charset="0"/>
              <a:cs typeface="Times New Roman" panose="02020603050405020304" pitchFamily="18" charset="0"/>
            </a:endParaRPr>
          </a:p>
        </p:txBody>
      </p:sp>
      <p:cxnSp>
        <p:nvCxnSpPr>
          <p:cNvPr id="100" name="肘形连接符 99">
            <a:extLst>
              <a:ext uri="{FF2B5EF4-FFF2-40B4-BE49-F238E27FC236}">
                <a16:creationId xmlns:a16="http://schemas.microsoft.com/office/drawing/2014/main" id="{720E048A-52C7-3AF0-9A41-A1E61C5BFB0E}"/>
              </a:ext>
            </a:extLst>
          </p:cNvPr>
          <p:cNvCxnSpPr>
            <a:cxnSpLocks/>
          </p:cNvCxnSpPr>
          <p:nvPr/>
        </p:nvCxnSpPr>
        <p:spPr>
          <a:xfrm rot="16200000" flipV="1">
            <a:off x="-737487" y="3842322"/>
            <a:ext cx="3527248" cy="463054"/>
          </a:xfrm>
          <a:prstGeom prst="bentConnector4">
            <a:avLst>
              <a:gd name="adj1" fmla="val 390"/>
              <a:gd name="adj2" fmla="val 13369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BC22D086-1A9F-9A94-54E2-73F0B2D3BFA0}"/>
              </a:ext>
            </a:extLst>
          </p:cNvPr>
          <p:cNvSpPr txBox="1"/>
          <p:nvPr/>
        </p:nvSpPr>
        <p:spPr>
          <a:xfrm>
            <a:off x="357809" y="4552313"/>
            <a:ext cx="1574593" cy="461665"/>
          </a:xfrm>
          <a:prstGeom prst="rect">
            <a:avLst/>
          </a:prstGeom>
          <a:noFill/>
        </p:spPr>
        <p:txBody>
          <a:bodyPr wrap="square">
            <a:spAutoFit/>
          </a:bodyPr>
          <a:lstStyle/>
          <a:p>
            <a:r>
              <a:rPr kumimoji="1" lang="zh-CN" altLang="en-US" sz="1200" dirty="0">
                <a:latin typeface="Times New Roman" panose="02020603050405020304" pitchFamily="18" charset="0"/>
                <a:cs typeface="Times New Roman" panose="02020603050405020304" pitchFamily="18" charset="0"/>
              </a:rPr>
              <a:t>❼ </a:t>
            </a:r>
            <a:r>
              <a:rPr kumimoji="1" lang="en-US" altLang="zh-CN" sz="1200" dirty="0">
                <a:latin typeface="Times New Roman" panose="02020603050405020304" pitchFamily="18" charset="0"/>
                <a:cs typeface="Times New Roman" panose="02020603050405020304" pitchFamily="18" charset="0"/>
              </a:rPr>
              <a:t>   </a:t>
            </a:r>
            <a:r>
              <a:rPr kumimoji="1" lang="en-US" altLang="zh-CN" sz="1200" dirty="0" err="1">
                <a:latin typeface="Times New Roman" panose="02020603050405020304" pitchFamily="18" charset="0"/>
                <a:cs typeface="Times New Roman" panose="02020603050405020304" pitchFamily="18" charset="0"/>
              </a:rPr>
              <a:t>vm_resume</a:t>
            </a:r>
            <a:r>
              <a:rPr kumimoji="1" lang="en-US" altLang="zh-CN" sz="1200" dirty="0">
                <a:latin typeface="Times New Roman" panose="02020603050405020304" pitchFamily="18" charset="0"/>
                <a:cs typeface="Times New Roman" panose="02020603050405020304" pitchFamily="18" charset="0"/>
              </a:rPr>
              <a:t> L2</a:t>
            </a:r>
          </a:p>
          <a:p>
            <a:r>
              <a:rPr kumimoji="1" lang="en-US" altLang="zh-CN" sz="1200" dirty="0">
                <a:latin typeface="Times New Roman" panose="02020603050405020304" pitchFamily="18" charset="0"/>
                <a:cs typeface="Times New Roman" panose="02020603050405020304" pitchFamily="18" charset="0"/>
              </a:rPr>
              <a:t>         (real entry)</a:t>
            </a:r>
            <a:endParaRPr kumimoji="1" lang="zh-CN" altLang="en-US" sz="1200" dirty="0">
              <a:latin typeface="Times New Roman" panose="02020603050405020304" pitchFamily="18" charset="0"/>
              <a:cs typeface="Times New Roman" panose="02020603050405020304" pitchFamily="18" charset="0"/>
            </a:endParaRPr>
          </a:p>
        </p:txBody>
      </p:sp>
      <p:sp>
        <p:nvSpPr>
          <p:cNvPr id="102" name="圆角矩形 101">
            <a:extLst>
              <a:ext uri="{FF2B5EF4-FFF2-40B4-BE49-F238E27FC236}">
                <a16:creationId xmlns:a16="http://schemas.microsoft.com/office/drawing/2014/main" id="{751646A4-6E79-6E22-B810-2F71E1DCC78E}"/>
              </a:ext>
            </a:extLst>
          </p:cNvPr>
          <p:cNvSpPr/>
          <p:nvPr/>
        </p:nvSpPr>
        <p:spPr>
          <a:xfrm>
            <a:off x="1024359" y="5323887"/>
            <a:ext cx="1483120" cy="632165"/>
          </a:xfrm>
          <a:prstGeom prst="roundRect">
            <a:avLst/>
          </a:prstGeom>
          <a:solidFill>
            <a:schemeClr val="bg1">
              <a:lumMod val="8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t" anchorCtr="0"/>
          <a:lstStyle/>
          <a:p>
            <a:pPr algn="ct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103" name="文本框 102">
            <a:extLst>
              <a:ext uri="{FF2B5EF4-FFF2-40B4-BE49-F238E27FC236}">
                <a16:creationId xmlns:a16="http://schemas.microsoft.com/office/drawing/2014/main" id="{E023A493-0E53-58B5-73A1-4FB9C0380695}"/>
              </a:ext>
            </a:extLst>
          </p:cNvPr>
          <p:cNvSpPr txBox="1"/>
          <p:nvPr/>
        </p:nvSpPr>
        <p:spPr>
          <a:xfrm>
            <a:off x="988478" y="5298737"/>
            <a:ext cx="1520105" cy="646331"/>
          </a:xfrm>
          <a:prstGeom prst="rect">
            <a:avLst/>
          </a:prstGeom>
          <a:noFill/>
        </p:spPr>
        <p:txBody>
          <a:bodyPr wrap="square" rtlCol="0">
            <a:spAutoFit/>
          </a:bodyPr>
          <a:lstStyle/>
          <a:p>
            <a:pPr algn="ctr"/>
            <a:r>
              <a:rPr kumimoji="1" lang="en-US" altLang="zh-CN" sz="1200" dirty="0">
                <a:latin typeface="Times New Roman" panose="02020603050405020304" pitchFamily="18" charset="0"/>
                <a:cs typeface="Times New Roman" panose="02020603050405020304" pitchFamily="18" charset="0"/>
              </a:rPr>
              <a:t>VMCS02</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EPTP=</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EPT01</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CR3</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SPT12</a:t>
            </a:r>
            <a:endParaRPr kumimoji="1" lang="zh-CN" altLang="en-US" sz="1200" dirty="0">
              <a:latin typeface="Times New Roman" panose="02020603050405020304" pitchFamily="18" charset="0"/>
              <a:cs typeface="Times New Roman" panose="02020603050405020304" pitchFamily="18" charset="0"/>
            </a:endParaRPr>
          </a:p>
        </p:txBody>
      </p:sp>
      <p:sp>
        <p:nvSpPr>
          <p:cNvPr id="104" name="文本框 103">
            <a:extLst>
              <a:ext uri="{FF2B5EF4-FFF2-40B4-BE49-F238E27FC236}">
                <a16:creationId xmlns:a16="http://schemas.microsoft.com/office/drawing/2014/main" id="{7476AD88-5A05-B427-E8C4-8F0FC2F88D1D}"/>
              </a:ext>
            </a:extLst>
          </p:cNvPr>
          <p:cNvSpPr txBox="1"/>
          <p:nvPr/>
        </p:nvSpPr>
        <p:spPr>
          <a:xfrm>
            <a:off x="6594842" y="3546635"/>
            <a:ext cx="2528180" cy="1446550"/>
          </a:xfrm>
          <a:prstGeom prst="rect">
            <a:avLst/>
          </a:prstGeom>
          <a:noFill/>
        </p:spPr>
        <p:txBody>
          <a:bodyPr wrap="square" rtlCol="0">
            <a:spAutoFit/>
          </a:bodyPr>
          <a:lstStyle/>
          <a:p>
            <a:r>
              <a:rPr lang="en" altLang="zh-CN" sz="2200" b="0" i="0" dirty="0">
                <a:solidFill>
                  <a:srgbClr val="C00000"/>
                </a:solidFill>
                <a:effectLst/>
                <a:latin typeface="Times New Roman" panose="02020603050405020304" pitchFamily="18" charset="0"/>
                <a:cs typeface="Times New Roman" panose="02020603050405020304" pitchFamily="18" charset="0"/>
              </a:rPr>
              <a:t>𝐿2 page fault can lead to 4n + 8 world switches and 2n + 4 exits to 𝐿0</a:t>
            </a:r>
            <a:endParaRPr kumimoji="1" lang="zh-CN" altLang="en-US" sz="22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73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9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6" grpId="0"/>
      <p:bldP spid="80" grpId="0"/>
      <p:bldP spid="84" grpId="0"/>
      <p:bldP spid="86" grpId="0"/>
      <p:bldP spid="88" grpId="0"/>
      <p:bldP spid="90" grpId="0"/>
      <p:bldP spid="95" grpId="0"/>
      <p:bldP spid="97" grpId="0"/>
      <p:bldP spid="99" grpId="0"/>
      <p:bldP spid="101" grpId="0"/>
      <p:bldP spid="10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F20779-DCC0-1531-2234-9D81B0BB4B8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N</a:t>
            </a:r>
            <a:r>
              <a:rPr lang="en" altLang="zh-CN" sz="3600" b="0" i="0" dirty="0">
                <a:effectLst/>
                <a:latin typeface="Times New Roman" panose="02020603050405020304" pitchFamily="18" charset="0"/>
                <a:cs typeface="Times New Roman" panose="02020603050405020304" pitchFamily="18" charset="0"/>
              </a:rPr>
              <a:t>ested </a:t>
            </a:r>
            <a:r>
              <a:rPr lang="en" altLang="zh-CN" sz="3600" dirty="0">
                <a:latin typeface="Times New Roman" panose="02020603050405020304" pitchFamily="18" charset="0"/>
                <a:cs typeface="Times New Roman" panose="02020603050405020304" pitchFamily="18" charset="0"/>
              </a:rPr>
              <a:t>M</a:t>
            </a:r>
            <a:r>
              <a:rPr lang="en" altLang="zh-CN" sz="3600" b="0" i="0" dirty="0">
                <a:effectLst/>
                <a:latin typeface="Times New Roman" panose="02020603050405020304" pitchFamily="18" charset="0"/>
                <a:cs typeface="Times New Roman" panose="02020603050405020304" pitchFamily="18" charset="0"/>
              </a:rPr>
              <a:t>emory </a:t>
            </a:r>
            <a:r>
              <a:rPr lang="en" altLang="zh-CN" sz="3600" dirty="0">
                <a:latin typeface="Times New Roman" panose="02020603050405020304" pitchFamily="18" charset="0"/>
                <a:cs typeface="Times New Roman" panose="02020603050405020304" pitchFamily="18" charset="0"/>
              </a:rPr>
              <a:t>V</a:t>
            </a:r>
            <a:r>
              <a:rPr lang="en" altLang="zh-CN" sz="3600" b="0" i="0" dirty="0">
                <a:effectLst/>
                <a:latin typeface="Times New Roman" panose="02020603050405020304" pitchFamily="18" charset="0"/>
                <a:cs typeface="Times New Roman" panose="02020603050405020304" pitchFamily="18" charset="0"/>
              </a:rPr>
              <a:t>irtualization (EPT-on-EPT)</a:t>
            </a:r>
            <a:endParaRPr kumimoji="1" lang="en-US" altLang="zh-CN" sz="36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3D3CCCAD-DA1D-2D0B-FE09-675F990BB822}"/>
              </a:ext>
            </a:extLst>
          </p:cNvPr>
          <p:cNvSpPr txBox="1"/>
          <p:nvPr/>
        </p:nvSpPr>
        <p:spPr>
          <a:xfrm>
            <a:off x="357809" y="1232452"/>
            <a:ext cx="8574156" cy="1107996"/>
          </a:xfrm>
          <a:prstGeom prst="rect">
            <a:avLst/>
          </a:prstGeom>
          <a:noFill/>
        </p:spPr>
        <p:txBody>
          <a:bodyPr wrap="square" rtlCol="0">
            <a:spAutoFit/>
          </a:bodyPr>
          <a:lstStyle/>
          <a:p>
            <a:r>
              <a:rPr lang="en" altLang="zh-CN" sz="2200" dirty="0">
                <a:latin typeface="Times New Roman" panose="02020603050405020304" pitchFamily="18" charset="0"/>
                <a:cs typeface="Times New Roman" panose="02020603050405020304" pitchFamily="18" charset="0"/>
              </a:rPr>
              <a:t>E</a:t>
            </a:r>
            <a:r>
              <a:rPr lang="en" altLang="zh-CN" sz="2200" b="0" i="0" dirty="0">
                <a:effectLst/>
                <a:latin typeface="Times New Roman" panose="02020603050405020304" pitchFamily="18" charset="0"/>
                <a:cs typeface="Times New Roman" panose="02020603050405020304" pitchFamily="18" charset="0"/>
              </a:rPr>
              <a:t>PT-on-EPT:</a:t>
            </a:r>
            <a:r>
              <a:rPr kumimoji="1" lang="en-US" altLang="zh-CN" sz="2200" b="1" dirty="0">
                <a:latin typeface="Times New Roman" panose="02020603050405020304" pitchFamily="18" charset="0"/>
                <a:cs typeface="Times New Roman" panose="02020603050405020304" pitchFamily="18" charset="0"/>
              </a:rPr>
              <a:t> </a:t>
            </a:r>
            <a:r>
              <a:rPr kumimoji="1" lang="en" altLang="zh-CN" sz="2200" dirty="0">
                <a:latin typeface="Times New Roman" panose="02020603050405020304" pitchFamily="18" charset="0"/>
                <a:cs typeface="Times New Roman" panose="02020603050405020304" pitchFamily="18" charset="0"/>
              </a:rPr>
              <a:t>The state-of-the-art nested memory virtualization approach for KVM leverages the architectural support for 2-dimensional page tables in EPT.</a:t>
            </a:r>
            <a:endParaRPr kumimoji="1" lang="zh-CN" altLang="en-US" sz="2200" dirty="0">
              <a:latin typeface="Times New Roman" panose="02020603050405020304" pitchFamily="18" charset="0"/>
              <a:cs typeface="Times New Roman" panose="02020603050405020304" pitchFamily="18" charset="0"/>
            </a:endParaRPr>
          </a:p>
        </p:txBody>
      </p:sp>
      <p:sp>
        <p:nvSpPr>
          <p:cNvPr id="104" name="文本框 103">
            <a:extLst>
              <a:ext uri="{FF2B5EF4-FFF2-40B4-BE49-F238E27FC236}">
                <a16:creationId xmlns:a16="http://schemas.microsoft.com/office/drawing/2014/main" id="{7476AD88-5A05-B427-E8C4-8F0FC2F88D1D}"/>
              </a:ext>
            </a:extLst>
          </p:cNvPr>
          <p:cNvSpPr txBox="1"/>
          <p:nvPr/>
        </p:nvSpPr>
        <p:spPr>
          <a:xfrm>
            <a:off x="6687846" y="3174611"/>
            <a:ext cx="2528180" cy="1477328"/>
          </a:xfrm>
          <a:prstGeom prst="rect">
            <a:avLst/>
          </a:prstGeom>
          <a:noFill/>
        </p:spPr>
        <p:txBody>
          <a:bodyPr wrap="square" rtlCol="0">
            <a:spAutoFit/>
          </a:bodyPr>
          <a:lstStyle/>
          <a:p>
            <a:r>
              <a:rPr lang="en" altLang="zh-CN" sz="2200" b="0" i="0" dirty="0">
                <a:solidFill>
                  <a:srgbClr val="C00000"/>
                </a:solidFill>
                <a:effectLst/>
                <a:latin typeface="Times New Roman" panose="02020603050405020304" pitchFamily="18" charset="0"/>
                <a:cs typeface="Times New Roman" panose="02020603050405020304" pitchFamily="18" charset="0"/>
              </a:rPr>
              <a:t>𝐿2 page fault can lead to </a:t>
            </a:r>
            <a:r>
              <a:rPr lang="en" altLang="zh-CN" sz="2200" b="1" i="0" dirty="0">
                <a:solidFill>
                  <a:srgbClr val="C00000"/>
                </a:solidFill>
                <a:effectLst/>
                <a:latin typeface="Times New Roman" panose="02020603050405020304" pitchFamily="18" charset="0"/>
                <a:cs typeface="Times New Roman" panose="02020603050405020304" pitchFamily="18" charset="0"/>
              </a:rPr>
              <a:t>2n</a:t>
            </a:r>
            <a:r>
              <a:rPr lang="en" altLang="zh-CN" sz="2200" b="0" i="0" dirty="0">
                <a:solidFill>
                  <a:srgbClr val="C00000"/>
                </a:solidFill>
                <a:effectLst/>
                <a:latin typeface="Times New Roman" panose="02020603050405020304" pitchFamily="18" charset="0"/>
                <a:cs typeface="Times New Roman" panose="02020603050405020304" pitchFamily="18" charset="0"/>
              </a:rPr>
              <a:t> + </a:t>
            </a:r>
            <a:r>
              <a:rPr lang="en" altLang="zh-CN" sz="2200" b="1" i="0" dirty="0">
                <a:solidFill>
                  <a:srgbClr val="C00000"/>
                </a:solidFill>
                <a:effectLst/>
                <a:latin typeface="Times New Roman" panose="02020603050405020304" pitchFamily="18" charset="0"/>
                <a:cs typeface="Times New Roman" panose="02020603050405020304" pitchFamily="18" charset="0"/>
              </a:rPr>
              <a:t>6</a:t>
            </a:r>
            <a:r>
              <a:rPr lang="en" altLang="zh-CN" sz="2200" b="0" i="0" dirty="0">
                <a:solidFill>
                  <a:srgbClr val="C00000"/>
                </a:solidFill>
                <a:effectLst/>
                <a:latin typeface="Times New Roman" panose="02020603050405020304" pitchFamily="18" charset="0"/>
                <a:cs typeface="Times New Roman" panose="02020603050405020304" pitchFamily="18" charset="0"/>
              </a:rPr>
              <a:t> world switches and n + 3 exits to 𝐿0</a:t>
            </a:r>
            <a:endParaRPr kumimoji="1" lang="zh-CN" altLang="en-US" sz="2200" dirty="0">
              <a:solidFill>
                <a:srgbClr val="C00000"/>
              </a:solidFill>
              <a:latin typeface="Times New Roman" panose="02020603050405020304" pitchFamily="18" charset="0"/>
              <a:cs typeface="Times New Roman" panose="02020603050405020304" pitchFamily="18" charset="0"/>
            </a:endParaRPr>
          </a:p>
        </p:txBody>
      </p:sp>
      <p:sp>
        <p:nvSpPr>
          <p:cNvPr id="126" name="矩形 125">
            <a:extLst>
              <a:ext uri="{FF2B5EF4-FFF2-40B4-BE49-F238E27FC236}">
                <a16:creationId xmlns:a16="http://schemas.microsoft.com/office/drawing/2014/main" id="{F5533A70-FB58-1668-EE40-1E70B217F7F5}"/>
              </a:ext>
            </a:extLst>
          </p:cNvPr>
          <p:cNvSpPr/>
          <p:nvPr/>
        </p:nvSpPr>
        <p:spPr>
          <a:xfrm>
            <a:off x="730449" y="2376017"/>
            <a:ext cx="2522875" cy="404582"/>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27" name="矩形 126">
            <a:extLst>
              <a:ext uri="{FF2B5EF4-FFF2-40B4-BE49-F238E27FC236}">
                <a16:creationId xmlns:a16="http://schemas.microsoft.com/office/drawing/2014/main" id="{B18542D2-2F54-64C4-4B77-841D4E284722}"/>
              </a:ext>
            </a:extLst>
          </p:cNvPr>
          <p:cNvSpPr/>
          <p:nvPr/>
        </p:nvSpPr>
        <p:spPr>
          <a:xfrm>
            <a:off x="744737" y="5121625"/>
            <a:ext cx="5541428" cy="1397153"/>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28" name="圆角矩形 127">
            <a:extLst>
              <a:ext uri="{FF2B5EF4-FFF2-40B4-BE49-F238E27FC236}">
                <a16:creationId xmlns:a16="http://schemas.microsoft.com/office/drawing/2014/main" id="{6E9E749A-44B7-E7D2-94BA-643B39050FF6}"/>
              </a:ext>
            </a:extLst>
          </p:cNvPr>
          <p:cNvSpPr/>
          <p:nvPr/>
        </p:nvSpPr>
        <p:spPr>
          <a:xfrm>
            <a:off x="1153327" y="5445653"/>
            <a:ext cx="1236411" cy="632165"/>
          </a:xfrm>
          <a:prstGeom prst="roundRect">
            <a:avLst/>
          </a:prstGeom>
          <a:solidFill>
            <a:schemeClr val="bg1">
              <a:lumMod val="8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t" anchorCtr="0"/>
          <a:lstStyle/>
          <a:p>
            <a:pPr algn="ct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129" name="文本框 128">
            <a:extLst>
              <a:ext uri="{FF2B5EF4-FFF2-40B4-BE49-F238E27FC236}">
                <a16:creationId xmlns:a16="http://schemas.microsoft.com/office/drawing/2014/main" id="{C059F19C-060C-11E6-18E1-D7A79FC0308A}"/>
              </a:ext>
            </a:extLst>
          </p:cNvPr>
          <p:cNvSpPr txBox="1"/>
          <p:nvPr/>
        </p:nvSpPr>
        <p:spPr>
          <a:xfrm>
            <a:off x="1755676" y="4622731"/>
            <a:ext cx="1021698"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EPT</a:t>
            </a:r>
            <a:endParaRPr kumimoji="1" lang="zh-CN" altLang="en-US" sz="1200" dirty="0">
              <a:latin typeface="Times New Roman" panose="02020603050405020304" pitchFamily="18" charset="0"/>
              <a:cs typeface="Times New Roman" panose="02020603050405020304" pitchFamily="18" charset="0"/>
            </a:endParaRPr>
          </a:p>
        </p:txBody>
      </p:sp>
      <p:sp>
        <p:nvSpPr>
          <p:cNvPr id="130" name="矩形 129">
            <a:extLst>
              <a:ext uri="{FF2B5EF4-FFF2-40B4-BE49-F238E27FC236}">
                <a16:creationId xmlns:a16="http://schemas.microsoft.com/office/drawing/2014/main" id="{858EFE43-5553-D009-C49D-22461CC957D6}"/>
              </a:ext>
            </a:extLst>
          </p:cNvPr>
          <p:cNvSpPr/>
          <p:nvPr/>
        </p:nvSpPr>
        <p:spPr>
          <a:xfrm>
            <a:off x="730449" y="2975712"/>
            <a:ext cx="2522875" cy="750532"/>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31" name="文本框 130">
            <a:extLst>
              <a:ext uri="{FF2B5EF4-FFF2-40B4-BE49-F238E27FC236}">
                <a16:creationId xmlns:a16="http://schemas.microsoft.com/office/drawing/2014/main" id="{65B44B77-5938-FADB-5192-676902D9EF0E}"/>
              </a:ext>
            </a:extLst>
          </p:cNvPr>
          <p:cNvSpPr txBox="1"/>
          <p:nvPr/>
        </p:nvSpPr>
        <p:spPr>
          <a:xfrm>
            <a:off x="744734" y="5121626"/>
            <a:ext cx="2262087"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L0 (root mode ring0)</a:t>
            </a:r>
            <a:endParaRPr kumimoji="1" lang="zh-CN" altLang="en-US" sz="1400" dirty="0">
              <a:latin typeface="Times New Roman" panose="02020603050405020304" pitchFamily="18" charset="0"/>
              <a:cs typeface="Times New Roman" panose="02020603050405020304" pitchFamily="18" charset="0"/>
            </a:endParaRPr>
          </a:p>
        </p:txBody>
      </p:sp>
      <p:sp>
        <p:nvSpPr>
          <p:cNvPr id="132" name="文本框 131">
            <a:extLst>
              <a:ext uri="{FF2B5EF4-FFF2-40B4-BE49-F238E27FC236}">
                <a16:creationId xmlns:a16="http://schemas.microsoft.com/office/drawing/2014/main" id="{81714E76-FB5B-EB3B-6F82-4EF2637643E8}"/>
              </a:ext>
            </a:extLst>
          </p:cNvPr>
          <p:cNvSpPr txBox="1"/>
          <p:nvPr/>
        </p:nvSpPr>
        <p:spPr>
          <a:xfrm>
            <a:off x="711784" y="2962134"/>
            <a:ext cx="2384665"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L2 (non-root mode ring0)</a:t>
            </a:r>
            <a:endParaRPr kumimoji="1" lang="zh-CN" altLang="en-US" sz="1400" dirty="0">
              <a:latin typeface="Times New Roman" panose="02020603050405020304" pitchFamily="18" charset="0"/>
              <a:cs typeface="Times New Roman" panose="02020603050405020304" pitchFamily="18" charset="0"/>
            </a:endParaRPr>
          </a:p>
        </p:txBody>
      </p:sp>
      <p:sp>
        <p:nvSpPr>
          <p:cNvPr id="133" name="文本框 132">
            <a:extLst>
              <a:ext uri="{FF2B5EF4-FFF2-40B4-BE49-F238E27FC236}">
                <a16:creationId xmlns:a16="http://schemas.microsoft.com/office/drawing/2014/main" id="{1039557D-D9A9-9DF9-2400-E1CC2035BAE7}"/>
              </a:ext>
            </a:extLst>
          </p:cNvPr>
          <p:cNvSpPr txBox="1"/>
          <p:nvPr/>
        </p:nvSpPr>
        <p:spPr>
          <a:xfrm>
            <a:off x="676870" y="2340448"/>
            <a:ext cx="2555828"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L2 (non-root mode ring3)</a:t>
            </a:r>
            <a:endParaRPr kumimoji="1" lang="zh-CN" altLang="en-US" sz="1400" dirty="0">
              <a:latin typeface="Times New Roman" panose="02020603050405020304" pitchFamily="18" charset="0"/>
              <a:cs typeface="Times New Roman" panose="02020603050405020304" pitchFamily="18" charset="0"/>
            </a:endParaRPr>
          </a:p>
        </p:txBody>
      </p:sp>
      <p:sp>
        <p:nvSpPr>
          <p:cNvPr id="134" name="文本框 133">
            <a:extLst>
              <a:ext uri="{FF2B5EF4-FFF2-40B4-BE49-F238E27FC236}">
                <a16:creationId xmlns:a16="http://schemas.microsoft.com/office/drawing/2014/main" id="{10C3B563-4122-929C-7A16-EDD3E9CC4384}"/>
              </a:ext>
            </a:extLst>
          </p:cNvPr>
          <p:cNvSpPr txBox="1"/>
          <p:nvPr/>
        </p:nvSpPr>
        <p:spPr>
          <a:xfrm>
            <a:off x="1378625" y="3291842"/>
            <a:ext cx="1036694" cy="276999"/>
          </a:xfrm>
          <a:prstGeom prst="rect">
            <a:avLst/>
          </a:prstGeom>
          <a:noFill/>
          <a:ln w="19050">
            <a:solidFill>
              <a:schemeClr val="tx1"/>
            </a:solidFill>
          </a:ln>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PF Handler</a:t>
            </a:r>
            <a:endParaRPr kumimoji="1" lang="zh-CN" altLang="en-US" sz="1200" dirty="0">
              <a:latin typeface="Times New Roman" panose="02020603050405020304" pitchFamily="18" charset="0"/>
              <a:cs typeface="Times New Roman" panose="02020603050405020304" pitchFamily="18" charset="0"/>
            </a:endParaRPr>
          </a:p>
        </p:txBody>
      </p:sp>
      <p:sp>
        <p:nvSpPr>
          <p:cNvPr id="135" name="矩形 134">
            <a:extLst>
              <a:ext uri="{FF2B5EF4-FFF2-40B4-BE49-F238E27FC236}">
                <a16:creationId xmlns:a16="http://schemas.microsoft.com/office/drawing/2014/main" id="{67D5F789-9923-4F16-E698-02B7B8304763}"/>
              </a:ext>
            </a:extLst>
          </p:cNvPr>
          <p:cNvSpPr/>
          <p:nvPr/>
        </p:nvSpPr>
        <p:spPr>
          <a:xfrm>
            <a:off x="1707091" y="4186700"/>
            <a:ext cx="607595" cy="478972"/>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136" name="直线连接符 135">
            <a:extLst>
              <a:ext uri="{FF2B5EF4-FFF2-40B4-BE49-F238E27FC236}">
                <a16:creationId xmlns:a16="http://schemas.microsoft.com/office/drawing/2014/main" id="{8F59B3C7-193D-6563-DB53-B54738AE6785}"/>
              </a:ext>
            </a:extLst>
          </p:cNvPr>
          <p:cNvCxnSpPr>
            <a:cxnSpLocks/>
          </p:cNvCxnSpPr>
          <p:nvPr/>
        </p:nvCxnSpPr>
        <p:spPr>
          <a:xfrm>
            <a:off x="1707091" y="4504063"/>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7" name="直线连接符 136">
            <a:extLst>
              <a:ext uri="{FF2B5EF4-FFF2-40B4-BE49-F238E27FC236}">
                <a16:creationId xmlns:a16="http://schemas.microsoft.com/office/drawing/2014/main" id="{2C93B4AA-C33A-5360-9474-7EE2722404EC}"/>
              </a:ext>
            </a:extLst>
          </p:cNvPr>
          <p:cNvCxnSpPr/>
          <p:nvPr/>
        </p:nvCxnSpPr>
        <p:spPr>
          <a:xfrm>
            <a:off x="1707089" y="4351762"/>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8" name="矩形 137">
            <a:extLst>
              <a:ext uri="{FF2B5EF4-FFF2-40B4-BE49-F238E27FC236}">
                <a16:creationId xmlns:a16="http://schemas.microsoft.com/office/drawing/2014/main" id="{D78CA8D9-542C-D378-3ABC-2AD22331F468}"/>
              </a:ext>
            </a:extLst>
          </p:cNvPr>
          <p:cNvSpPr/>
          <p:nvPr/>
        </p:nvSpPr>
        <p:spPr>
          <a:xfrm>
            <a:off x="4065611" y="4213357"/>
            <a:ext cx="607595" cy="478972"/>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139" name="直线连接符 138">
            <a:extLst>
              <a:ext uri="{FF2B5EF4-FFF2-40B4-BE49-F238E27FC236}">
                <a16:creationId xmlns:a16="http://schemas.microsoft.com/office/drawing/2014/main" id="{3FF3060C-8988-AB5B-D39E-6BEFE4C98832}"/>
              </a:ext>
            </a:extLst>
          </p:cNvPr>
          <p:cNvCxnSpPr>
            <a:cxnSpLocks/>
          </p:cNvCxnSpPr>
          <p:nvPr/>
        </p:nvCxnSpPr>
        <p:spPr>
          <a:xfrm>
            <a:off x="4065611" y="4530720"/>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0" name="直线连接符 139">
            <a:extLst>
              <a:ext uri="{FF2B5EF4-FFF2-40B4-BE49-F238E27FC236}">
                <a16:creationId xmlns:a16="http://schemas.microsoft.com/office/drawing/2014/main" id="{6597521D-7900-4E50-56A6-2D2C5D56AFDE}"/>
              </a:ext>
            </a:extLst>
          </p:cNvPr>
          <p:cNvCxnSpPr/>
          <p:nvPr/>
        </p:nvCxnSpPr>
        <p:spPr>
          <a:xfrm>
            <a:off x="4065609" y="4378419"/>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41" name="文本框 140">
            <a:extLst>
              <a:ext uri="{FF2B5EF4-FFF2-40B4-BE49-F238E27FC236}">
                <a16:creationId xmlns:a16="http://schemas.microsoft.com/office/drawing/2014/main" id="{066C2D67-D2EC-AF85-0637-8B884B67C19E}"/>
              </a:ext>
            </a:extLst>
          </p:cNvPr>
          <p:cNvSpPr txBox="1"/>
          <p:nvPr/>
        </p:nvSpPr>
        <p:spPr>
          <a:xfrm>
            <a:off x="4121665" y="4720770"/>
            <a:ext cx="802765" cy="276999"/>
          </a:xfrm>
          <a:prstGeom prst="rect">
            <a:avLst/>
          </a:prstGeom>
          <a:noFill/>
        </p:spPr>
        <p:txBody>
          <a:bodyPr wrap="square">
            <a:spAutoFit/>
          </a:bodyPr>
          <a:lstStyle/>
          <a:p>
            <a:r>
              <a:rPr kumimoji="1" lang="en-US" altLang="zh-CN" sz="1200" dirty="0">
                <a:latin typeface="Times New Roman" panose="02020603050405020304" pitchFamily="18" charset="0"/>
                <a:cs typeface="Times New Roman" panose="02020603050405020304" pitchFamily="18" charset="0"/>
              </a:rPr>
              <a:t>CR3</a:t>
            </a:r>
            <a:endParaRPr lang="zh-CN" altLang="en-US" sz="1200" dirty="0"/>
          </a:p>
        </p:txBody>
      </p:sp>
      <p:sp>
        <p:nvSpPr>
          <p:cNvPr id="142" name="矩形 141">
            <a:extLst>
              <a:ext uri="{FF2B5EF4-FFF2-40B4-BE49-F238E27FC236}">
                <a16:creationId xmlns:a16="http://schemas.microsoft.com/office/drawing/2014/main" id="{45EA8D01-B342-0F52-3B53-5771608AF515}"/>
              </a:ext>
            </a:extLst>
          </p:cNvPr>
          <p:cNvSpPr/>
          <p:nvPr/>
        </p:nvSpPr>
        <p:spPr>
          <a:xfrm>
            <a:off x="3763290" y="2374968"/>
            <a:ext cx="2522875" cy="404582"/>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43" name="矩形 142">
            <a:extLst>
              <a:ext uri="{FF2B5EF4-FFF2-40B4-BE49-F238E27FC236}">
                <a16:creationId xmlns:a16="http://schemas.microsoft.com/office/drawing/2014/main" id="{F363A0E9-26D7-4C67-67D2-FD33F2416ED5}"/>
              </a:ext>
            </a:extLst>
          </p:cNvPr>
          <p:cNvSpPr/>
          <p:nvPr/>
        </p:nvSpPr>
        <p:spPr>
          <a:xfrm>
            <a:off x="3763290" y="2974663"/>
            <a:ext cx="2522875" cy="938716"/>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44" name="文本框 143">
            <a:extLst>
              <a:ext uri="{FF2B5EF4-FFF2-40B4-BE49-F238E27FC236}">
                <a16:creationId xmlns:a16="http://schemas.microsoft.com/office/drawing/2014/main" id="{C8AC4C4C-74CD-F27B-26B0-0DBBD277BEA8}"/>
              </a:ext>
            </a:extLst>
          </p:cNvPr>
          <p:cNvSpPr txBox="1"/>
          <p:nvPr/>
        </p:nvSpPr>
        <p:spPr>
          <a:xfrm>
            <a:off x="3744625" y="2961085"/>
            <a:ext cx="2384665"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L1 (non-root mode ring0)</a:t>
            </a:r>
            <a:endParaRPr kumimoji="1" lang="zh-CN" altLang="en-US" sz="1400" dirty="0">
              <a:latin typeface="Times New Roman" panose="02020603050405020304" pitchFamily="18" charset="0"/>
              <a:cs typeface="Times New Roman" panose="02020603050405020304" pitchFamily="18" charset="0"/>
            </a:endParaRPr>
          </a:p>
        </p:txBody>
      </p:sp>
      <p:sp>
        <p:nvSpPr>
          <p:cNvPr id="145" name="文本框 144">
            <a:extLst>
              <a:ext uri="{FF2B5EF4-FFF2-40B4-BE49-F238E27FC236}">
                <a16:creationId xmlns:a16="http://schemas.microsoft.com/office/drawing/2014/main" id="{EA7ACDC3-084F-DD03-3493-3F7C1B280D64}"/>
              </a:ext>
            </a:extLst>
          </p:cNvPr>
          <p:cNvSpPr txBox="1"/>
          <p:nvPr/>
        </p:nvSpPr>
        <p:spPr>
          <a:xfrm>
            <a:off x="3744625" y="2361261"/>
            <a:ext cx="2555828"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L1 (non-root mode ring3)</a:t>
            </a:r>
            <a:endParaRPr kumimoji="1" lang="zh-CN" altLang="en-US" sz="1400" dirty="0">
              <a:latin typeface="Times New Roman" panose="02020603050405020304" pitchFamily="18" charset="0"/>
              <a:cs typeface="Times New Roman" panose="02020603050405020304" pitchFamily="18" charset="0"/>
            </a:endParaRPr>
          </a:p>
        </p:txBody>
      </p:sp>
      <p:sp>
        <p:nvSpPr>
          <p:cNvPr id="146" name="文本框 145">
            <a:extLst>
              <a:ext uri="{FF2B5EF4-FFF2-40B4-BE49-F238E27FC236}">
                <a16:creationId xmlns:a16="http://schemas.microsoft.com/office/drawing/2014/main" id="{C2E98815-395A-F2E4-5B29-BB703F056911}"/>
              </a:ext>
            </a:extLst>
          </p:cNvPr>
          <p:cNvSpPr txBox="1"/>
          <p:nvPr/>
        </p:nvSpPr>
        <p:spPr>
          <a:xfrm>
            <a:off x="3859335" y="3310866"/>
            <a:ext cx="1127690" cy="461665"/>
          </a:xfrm>
          <a:prstGeom prst="rect">
            <a:avLst/>
          </a:prstGeom>
          <a:noFill/>
          <a:ln w="19050">
            <a:solidFill>
              <a:schemeClr val="tx1"/>
            </a:solidFill>
          </a:ln>
        </p:spPr>
        <p:txBody>
          <a:bodyPr wrap="square" rtlCol="0">
            <a:spAutoFit/>
          </a:bodyPr>
          <a:lstStyle/>
          <a:p>
            <a:r>
              <a:rPr kumimoji="1" lang="en-US" altLang="zh-CN" sz="1200" dirty="0" err="1">
                <a:latin typeface="Times New Roman" panose="02020603050405020304" pitchFamily="18" charset="0"/>
                <a:cs typeface="Times New Roman" panose="02020603050405020304" pitchFamily="18" charset="0"/>
              </a:rPr>
              <a:t>EPT_violation</a:t>
            </a:r>
            <a:r>
              <a:rPr kumimoji="1" lang="en-US" altLang="zh-CN" sz="1200" dirty="0">
                <a:latin typeface="Times New Roman" panose="02020603050405020304" pitchFamily="18" charset="0"/>
                <a:cs typeface="Times New Roman" panose="02020603050405020304" pitchFamily="18" charset="0"/>
              </a:rPr>
              <a:t> Handler</a:t>
            </a:r>
            <a:endParaRPr kumimoji="1" lang="zh-CN" altLang="en-US" sz="1200" dirty="0">
              <a:latin typeface="Times New Roman" panose="02020603050405020304" pitchFamily="18" charset="0"/>
              <a:cs typeface="Times New Roman" panose="02020603050405020304" pitchFamily="18" charset="0"/>
            </a:endParaRPr>
          </a:p>
        </p:txBody>
      </p:sp>
      <p:cxnSp>
        <p:nvCxnSpPr>
          <p:cNvPr id="147" name="肘形连接符 146">
            <a:extLst>
              <a:ext uri="{FF2B5EF4-FFF2-40B4-BE49-F238E27FC236}">
                <a16:creationId xmlns:a16="http://schemas.microsoft.com/office/drawing/2014/main" id="{8D81D3F8-20BD-98B0-DB82-64B692DDDB86}"/>
              </a:ext>
            </a:extLst>
          </p:cNvPr>
          <p:cNvCxnSpPr>
            <a:cxnSpLocks/>
          </p:cNvCxnSpPr>
          <p:nvPr/>
        </p:nvCxnSpPr>
        <p:spPr>
          <a:xfrm flipH="1">
            <a:off x="2415319" y="2612641"/>
            <a:ext cx="852293" cy="823202"/>
          </a:xfrm>
          <a:prstGeom prst="bentConnector3">
            <a:avLst>
              <a:gd name="adj1" fmla="val -2682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文本框 147">
            <a:extLst>
              <a:ext uri="{FF2B5EF4-FFF2-40B4-BE49-F238E27FC236}">
                <a16:creationId xmlns:a16="http://schemas.microsoft.com/office/drawing/2014/main" id="{6FDBC22C-67DF-0A6F-7DF6-D2DA68B90568}"/>
              </a:ext>
            </a:extLst>
          </p:cNvPr>
          <p:cNvSpPr txBox="1"/>
          <p:nvPr/>
        </p:nvSpPr>
        <p:spPr>
          <a:xfrm>
            <a:off x="2347812" y="3195068"/>
            <a:ext cx="838005" cy="461665"/>
          </a:xfrm>
          <a:prstGeom prst="rect">
            <a:avLst/>
          </a:prstGeom>
          <a:noFill/>
        </p:spPr>
        <p:txBody>
          <a:bodyPr wrap="square" rtlCol="0">
            <a:spAutoFit/>
          </a:bodyPr>
          <a:lstStyle/>
          <a:p>
            <a:pPr algn="r"/>
            <a:r>
              <a:rPr kumimoji="1" lang="en-US" altLang="zh-CN" sz="1200" dirty="0">
                <a:latin typeface="Times New Roman" panose="02020603050405020304" pitchFamily="18" charset="0"/>
                <a:cs typeface="Times New Roman" panose="02020603050405020304" pitchFamily="18" charset="0"/>
              </a:rPr>
              <a:t>① GPT2</a:t>
            </a:r>
          </a:p>
          <a:p>
            <a:pPr algn="r"/>
            <a:r>
              <a:rPr kumimoji="1" lang="en-US" altLang="zh-CN" sz="1200" dirty="0">
                <a:latin typeface="Times New Roman" panose="02020603050405020304" pitchFamily="18" charset="0"/>
                <a:cs typeface="Times New Roman" panose="02020603050405020304" pitchFamily="18" charset="0"/>
              </a:rPr>
              <a:t>#PF</a:t>
            </a:r>
            <a:endParaRPr kumimoji="1" lang="zh-CN" altLang="en-US" sz="1200" dirty="0">
              <a:latin typeface="Times New Roman" panose="02020603050405020304" pitchFamily="18" charset="0"/>
              <a:cs typeface="Times New Roman" panose="02020603050405020304" pitchFamily="18" charset="0"/>
            </a:endParaRPr>
          </a:p>
        </p:txBody>
      </p:sp>
      <p:cxnSp>
        <p:nvCxnSpPr>
          <p:cNvPr id="149" name="肘形连接符 148">
            <a:extLst>
              <a:ext uri="{FF2B5EF4-FFF2-40B4-BE49-F238E27FC236}">
                <a16:creationId xmlns:a16="http://schemas.microsoft.com/office/drawing/2014/main" id="{CFAF9D47-2458-7784-67E1-39AEF11CF287}"/>
              </a:ext>
            </a:extLst>
          </p:cNvPr>
          <p:cNvCxnSpPr>
            <a:cxnSpLocks/>
          </p:cNvCxnSpPr>
          <p:nvPr/>
        </p:nvCxnSpPr>
        <p:spPr>
          <a:xfrm rot="10800000">
            <a:off x="730449" y="2570373"/>
            <a:ext cx="648176" cy="852034"/>
          </a:xfrm>
          <a:prstGeom prst="bentConnector3">
            <a:avLst>
              <a:gd name="adj1" fmla="val 13526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肘形连接符 149">
            <a:extLst>
              <a:ext uri="{FF2B5EF4-FFF2-40B4-BE49-F238E27FC236}">
                <a16:creationId xmlns:a16="http://schemas.microsoft.com/office/drawing/2014/main" id="{4B7B5E86-F98B-52E3-52E5-68E0851BCF6D}"/>
              </a:ext>
            </a:extLst>
          </p:cNvPr>
          <p:cNvCxnSpPr>
            <a:cxnSpLocks/>
          </p:cNvCxnSpPr>
          <p:nvPr/>
        </p:nvCxnSpPr>
        <p:spPr>
          <a:xfrm rot="16200000" flipH="1">
            <a:off x="2571939" y="2654880"/>
            <a:ext cx="644516" cy="2472437"/>
          </a:xfrm>
          <a:prstGeom prst="bentConnector3">
            <a:avLst>
              <a:gd name="adj1" fmla="val 7740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文本框 150">
            <a:extLst>
              <a:ext uri="{FF2B5EF4-FFF2-40B4-BE49-F238E27FC236}">
                <a16:creationId xmlns:a16="http://schemas.microsoft.com/office/drawing/2014/main" id="{1D228895-CEB6-978A-339D-B870EDF66907}"/>
              </a:ext>
            </a:extLst>
          </p:cNvPr>
          <p:cNvSpPr txBox="1"/>
          <p:nvPr/>
        </p:nvSpPr>
        <p:spPr>
          <a:xfrm>
            <a:off x="1539842" y="3812986"/>
            <a:ext cx="1020200" cy="276999"/>
          </a:xfrm>
          <a:prstGeom prst="rect">
            <a:avLst/>
          </a:prstGeom>
          <a:noFill/>
        </p:spPr>
        <p:txBody>
          <a:bodyPr wrap="square" rtlCol="0">
            <a:spAutoFit/>
          </a:bodyPr>
          <a:lstStyle/>
          <a:p>
            <a:pPr algn="r"/>
            <a:r>
              <a:rPr kumimoji="1" lang="en-US" altLang="zh-CN" sz="1200" dirty="0">
                <a:latin typeface="Times New Roman" panose="02020603050405020304" pitchFamily="18" charset="0"/>
                <a:cs typeface="Times New Roman" panose="02020603050405020304" pitchFamily="18" charset="0"/>
              </a:rPr>
              <a:t>② fix GPT2 </a:t>
            </a:r>
            <a:endParaRPr kumimoji="1" lang="zh-CN" altLang="en-US" sz="1200" dirty="0">
              <a:latin typeface="Times New Roman" panose="02020603050405020304" pitchFamily="18" charset="0"/>
              <a:cs typeface="Times New Roman" panose="02020603050405020304" pitchFamily="18" charset="0"/>
            </a:endParaRPr>
          </a:p>
        </p:txBody>
      </p:sp>
      <p:sp>
        <p:nvSpPr>
          <p:cNvPr id="152" name="文本框 151">
            <a:extLst>
              <a:ext uri="{FF2B5EF4-FFF2-40B4-BE49-F238E27FC236}">
                <a16:creationId xmlns:a16="http://schemas.microsoft.com/office/drawing/2014/main" id="{61BC0C39-6BBD-B468-A68D-901773A821BC}"/>
              </a:ext>
            </a:extLst>
          </p:cNvPr>
          <p:cNvSpPr txBox="1"/>
          <p:nvPr/>
        </p:nvSpPr>
        <p:spPr>
          <a:xfrm>
            <a:off x="486914" y="3188779"/>
            <a:ext cx="838005" cy="276999"/>
          </a:xfrm>
          <a:prstGeom prst="rect">
            <a:avLst/>
          </a:prstGeom>
          <a:noFill/>
        </p:spPr>
        <p:txBody>
          <a:bodyPr wrap="square" rtlCol="0">
            <a:spAutoFit/>
          </a:bodyPr>
          <a:lstStyle/>
          <a:p>
            <a:pPr algn="r"/>
            <a:r>
              <a:rPr kumimoji="1" lang="en-US" altLang="zh-CN" sz="1200" dirty="0">
                <a:latin typeface="Times New Roman" panose="02020603050405020304" pitchFamily="18" charset="0"/>
                <a:cs typeface="Times New Roman" panose="02020603050405020304" pitchFamily="18" charset="0"/>
              </a:rPr>
              <a:t>③ </a:t>
            </a:r>
            <a:r>
              <a:rPr kumimoji="1" lang="en-US" altLang="zh-CN" sz="1200" dirty="0" err="1">
                <a:latin typeface="Times New Roman" panose="02020603050405020304" pitchFamily="18" charset="0"/>
                <a:cs typeface="Times New Roman" panose="02020603050405020304" pitchFamily="18" charset="0"/>
              </a:rPr>
              <a:t>iret</a:t>
            </a:r>
            <a:endParaRPr kumimoji="1" lang="zh-CN" altLang="en-US" sz="1200" dirty="0">
              <a:latin typeface="Times New Roman" panose="02020603050405020304" pitchFamily="18" charset="0"/>
              <a:cs typeface="Times New Roman" panose="02020603050405020304" pitchFamily="18" charset="0"/>
            </a:endParaRPr>
          </a:p>
        </p:txBody>
      </p:sp>
      <p:sp>
        <p:nvSpPr>
          <p:cNvPr id="153" name="文本框 152">
            <a:extLst>
              <a:ext uri="{FF2B5EF4-FFF2-40B4-BE49-F238E27FC236}">
                <a16:creationId xmlns:a16="http://schemas.microsoft.com/office/drawing/2014/main" id="{CF94AE17-26C4-39AB-33BF-E2080336214B}"/>
              </a:ext>
            </a:extLst>
          </p:cNvPr>
          <p:cNvSpPr txBox="1"/>
          <p:nvPr/>
        </p:nvSpPr>
        <p:spPr>
          <a:xfrm>
            <a:off x="3585943" y="4668898"/>
            <a:ext cx="1288972" cy="461665"/>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❶ </a:t>
            </a:r>
          </a:p>
          <a:p>
            <a:r>
              <a:rPr kumimoji="1" lang="en-US" altLang="zh-CN" sz="1200" b="1" dirty="0">
                <a:solidFill>
                  <a:srgbClr val="C00000"/>
                </a:solidFill>
                <a:latin typeface="Times New Roman" panose="02020603050405020304" pitchFamily="18" charset="0"/>
                <a:cs typeface="Times New Roman" panose="02020603050405020304" pitchFamily="18" charset="0"/>
              </a:rPr>
              <a:t>EPT</a:t>
            </a:r>
            <a:r>
              <a:rPr kumimoji="1" lang="en" altLang="zh-CN" sz="1200" b="1" dirty="0">
                <a:solidFill>
                  <a:srgbClr val="C00000"/>
                </a:solidFill>
                <a:latin typeface="Times New Roman" panose="02020603050405020304" pitchFamily="18" charset="0"/>
                <a:cs typeface="Times New Roman" panose="02020603050405020304" pitchFamily="18" charset="0"/>
              </a:rPr>
              <a:t> violation</a:t>
            </a:r>
            <a:endParaRPr kumimoji="1" lang="zh-CN" altLang="en-US" sz="1200" b="1" dirty="0">
              <a:solidFill>
                <a:srgbClr val="C00000"/>
              </a:solidFill>
              <a:latin typeface="Times New Roman" panose="02020603050405020304" pitchFamily="18" charset="0"/>
              <a:cs typeface="Times New Roman" panose="02020603050405020304" pitchFamily="18" charset="0"/>
            </a:endParaRPr>
          </a:p>
        </p:txBody>
      </p:sp>
      <p:cxnSp>
        <p:nvCxnSpPr>
          <p:cNvPr id="154" name="肘形连接符 153">
            <a:extLst>
              <a:ext uri="{FF2B5EF4-FFF2-40B4-BE49-F238E27FC236}">
                <a16:creationId xmlns:a16="http://schemas.microsoft.com/office/drawing/2014/main" id="{4C3DA00A-B263-7C5C-0266-0604B6377B8D}"/>
              </a:ext>
            </a:extLst>
          </p:cNvPr>
          <p:cNvCxnSpPr>
            <a:cxnSpLocks/>
          </p:cNvCxnSpPr>
          <p:nvPr/>
        </p:nvCxnSpPr>
        <p:spPr>
          <a:xfrm>
            <a:off x="3249324" y="2494337"/>
            <a:ext cx="387890" cy="2639048"/>
          </a:xfrm>
          <a:prstGeom prst="bentConnector2">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5" name="肘形连接符 154">
            <a:extLst>
              <a:ext uri="{FF2B5EF4-FFF2-40B4-BE49-F238E27FC236}">
                <a16:creationId xmlns:a16="http://schemas.microsoft.com/office/drawing/2014/main" id="{D0F5F705-FB29-C5BC-A11D-BDFCD27D0C6C}"/>
              </a:ext>
            </a:extLst>
          </p:cNvPr>
          <p:cNvCxnSpPr>
            <a:cxnSpLocks/>
          </p:cNvCxnSpPr>
          <p:nvPr/>
        </p:nvCxnSpPr>
        <p:spPr>
          <a:xfrm rot="10800000" flipV="1">
            <a:off x="2387342" y="5047591"/>
            <a:ext cx="1247365" cy="439546"/>
          </a:xfrm>
          <a:prstGeom prst="bentConnector3">
            <a:avLst>
              <a:gd name="adj1" fmla="val 1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矩形 155">
            <a:extLst>
              <a:ext uri="{FF2B5EF4-FFF2-40B4-BE49-F238E27FC236}">
                <a16:creationId xmlns:a16="http://schemas.microsoft.com/office/drawing/2014/main" id="{68F0DF39-798D-CB20-C5BE-F4C9A503863C}"/>
              </a:ext>
            </a:extLst>
          </p:cNvPr>
          <p:cNvSpPr/>
          <p:nvPr/>
        </p:nvSpPr>
        <p:spPr>
          <a:xfrm>
            <a:off x="5560156" y="3395752"/>
            <a:ext cx="607595" cy="478972"/>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157" name="直线连接符 156">
            <a:extLst>
              <a:ext uri="{FF2B5EF4-FFF2-40B4-BE49-F238E27FC236}">
                <a16:creationId xmlns:a16="http://schemas.microsoft.com/office/drawing/2014/main" id="{B886A13C-6728-EFBD-7774-8458BDA37D4A}"/>
              </a:ext>
            </a:extLst>
          </p:cNvPr>
          <p:cNvCxnSpPr>
            <a:cxnSpLocks/>
          </p:cNvCxnSpPr>
          <p:nvPr/>
        </p:nvCxnSpPr>
        <p:spPr>
          <a:xfrm>
            <a:off x="5560156" y="3713115"/>
            <a:ext cx="607595" cy="0"/>
          </a:xfrm>
          <a:prstGeom prst="line">
            <a:avLst/>
          </a:prstGeom>
          <a:ln w="1905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58" name="直线连接符 157">
            <a:extLst>
              <a:ext uri="{FF2B5EF4-FFF2-40B4-BE49-F238E27FC236}">
                <a16:creationId xmlns:a16="http://schemas.microsoft.com/office/drawing/2014/main" id="{CA8DA5C3-141A-D68E-56AB-BDAE1A63D7C5}"/>
              </a:ext>
            </a:extLst>
          </p:cNvPr>
          <p:cNvCxnSpPr/>
          <p:nvPr/>
        </p:nvCxnSpPr>
        <p:spPr>
          <a:xfrm>
            <a:off x="5560154" y="3560814"/>
            <a:ext cx="607595" cy="0"/>
          </a:xfrm>
          <a:prstGeom prst="line">
            <a:avLst/>
          </a:prstGeom>
          <a:ln w="1905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59" name="直线箭头连接符 158">
            <a:extLst>
              <a:ext uri="{FF2B5EF4-FFF2-40B4-BE49-F238E27FC236}">
                <a16:creationId xmlns:a16="http://schemas.microsoft.com/office/drawing/2014/main" id="{5CAA1C01-68E5-3287-3E6E-F4CFFBFC5B86}"/>
              </a:ext>
            </a:extLst>
          </p:cNvPr>
          <p:cNvCxnSpPr>
            <a:cxnSpLocks/>
          </p:cNvCxnSpPr>
          <p:nvPr/>
        </p:nvCxnSpPr>
        <p:spPr>
          <a:xfrm flipV="1">
            <a:off x="2389738" y="5779727"/>
            <a:ext cx="1848512"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0" name="文本框 159">
            <a:extLst>
              <a:ext uri="{FF2B5EF4-FFF2-40B4-BE49-F238E27FC236}">
                <a16:creationId xmlns:a16="http://schemas.microsoft.com/office/drawing/2014/main" id="{9DB76C0C-7AF4-CD94-5C7A-49CBAC9901A2}"/>
              </a:ext>
            </a:extLst>
          </p:cNvPr>
          <p:cNvSpPr txBox="1"/>
          <p:nvPr/>
        </p:nvSpPr>
        <p:spPr>
          <a:xfrm>
            <a:off x="2501986" y="5533968"/>
            <a:ext cx="1688733"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❷ </a:t>
            </a:r>
            <a:r>
              <a:rPr kumimoji="1" lang="en-US" altLang="zh-CN" sz="1200" dirty="0">
                <a:latin typeface="Times New Roman" panose="02020603050405020304" pitchFamily="18" charset="0"/>
                <a:cs typeface="Times New Roman" panose="02020603050405020304" pitchFamily="18" charset="0"/>
              </a:rPr>
              <a:t>inject</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EPT</a:t>
            </a:r>
            <a:r>
              <a:rPr kumimoji="1" lang="zh-CN" altLang="en-US" sz="1200" dirty="0">
                <a:latin typeface="Times New Roman" panose="02020603050405020304" pitchFamily="18" charset="0"/>
                <a:cs typeface="Times New Roman" panose="02020603050405020304" pitchFamily="18" charset="0"/>
              </a:rPr>
              <a:t> </a:t>
            </a:r>
            <a:r>
              <a:rPr kumimoji="1" lang="en" altLang="zh-CN" sz="1200" dirty="0">
                <a:latin typeface="Times New Roman" panose="02020603050405020304" pitchFamily="18" charset="0"/>
                <a:cs typeface="Times New Roman" panose="02020603050405020304" pitchFamily="18" charset="0"/>
              </a:rPr>
              <a:t>violation</a:t>
            </a:r>
            <a:endParaRPr kumimoji="1" lang="en-US" altLang="zh-CN" sz="1200" dirty="0">
              <a:latin typeface="Times New Roman" panose="02020603050405020304" pitchFamily="18" charset="0"/>
              <a:cs typeface="Times New Roman" panose="02020603050405020304" pitchFamily="18" charset="0"/>
            </a:endParaRPr>
          </a:p>
        </p:txBody>
      </p:sp>
      <p:sp>
        <p:nvSpPr>
          <p:cNvPr id="161" name="文本框 160">
            <a:extLst>
              <a:ext uri="{FF2B5EF4-FFF2-40B4-BE49-F238E27FC236}">
                <a16:creationId xmlns:a16="http://schemas.microsoft.com/office/drawing/2014/main" id="{5D22427B-B253-ABDC-ECA8-3A6ACCC07930}"/>
              </a:ext>
            </a:extLst>
          </p:cNvPr>
          <p:cNvSpPr txBox="1"/>
          <p:nvPr/>
        </p:nvSpPr>
        <p:spPr>
          <a:xfrm>
            <a:off x="1100632" y="5442628"/>
            <a:ext cx="1314687" cy="646331"/>
          </a:xfrm>
          <a:prstGeom prst="rect">
            <a:avLst/>
          </a:prstGeom>
          <a:noFill/>
        </p:spPr>
        <p:txBody>
          <a:bodyPr wrap="square" rtlCol="0">
            <a:spAutoFit/>
          </a:bodyPr>
          <a:lstStyle/>
          <a:p>
            <a:pPr algn="ctr"/>
            <a:r>
              <a:rPr kumimoji="1" lang="en-US" altLang="zh-CN" sz="1200" dirty="0">
                <a:latin typeface="Times New Roman" panose="02020603050405020304" pitchFamily="18" charset="0"/>
                <a:cs typeface="Times New Roman" panose="02020603050405020304" pitchFamily="18" charset="0"/>
              </a:rPr>
              <a:t>VMCS02</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EPTP=</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EPT02</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CR3</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GPT2</a:t>
            </a:r>
            <a:endParaRPr kumimoji="1" lang="zh-CN" altLang="en-US" sz="1200" dirty="0">
              <a:latin typeface="Times New Roman" panose="02020603050405020304" pitchFamily="18" charset="0"/>
              <a:cs typeface="Times New Roman" panose="02020603050405020304" pitchFamily="18" charset="0"/>
            </a:endParaRPr>
          </a:p>
        </p:txBody>
      </p:sp>
      <p:sp>
        <p:nvSpPr>
          <p:cNvPr id="162" name="圆角矩形 161">
            <a:extLst>
              <a:ext uri="{FF2B5EF4-FFF2-40B4-BE49-F238E27FC236}">
                <a16:creationId xmlns:a16="http://schemas.microsoft.com/office/drawing/2014/main" id="{67260D90-6BB1-9879-3508-AEB5FA2EA272}"/>
              </a:ext>
            </a:extLst>
          </p:cNvPr>
          <p:cNvSpPr/>
          <p:nvPr/>
        </p:nvSpPr>
        <p:spPr>
          <a:xfrm>
            <a:off x="4215987" y="5432428"/>
            <a:ext cx="1236411" cy="632165"/>
          </a:xfrm>
          <a:prstGeom prst="roundRect">
            <a:avLst/>
          </a:prstGeom>
          <a:solidFill>
            <a:schemeClr val="bg1">
              <a:lumMod val="8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t" anchorCtr="0"/>
          <a:lstStyle/>
          <a:p>
            <a:pPr algn="ct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163" name="文本框 162">
            <a:extLst>
              <a:ext uri="{FF2B5EF4-FFF2-40B4-BE49-F238E27FC236}">
                <a16:creationId xmlns:a16="http://schemas.microsoft.com/office/drawing/2014/main" id="{F732147A-3C82-EA5B-CE85-2639FA9B431D}"/>
              </a:ext>
            </a:extLst>
          </p:cNvPr>
          <p:cNvSpPr txBox="1"/>
          <p:nvPr/>
        </p:nvSpPr>
        <p:spPr>
          <a:xfrm>
            <a:off x="4179918" y="5429403"/>
            <a:ext cx="1314687" cy="646331"/>
          </a:xfrm>
          <a:prstGeom prst="rect">
            <a:avLst/>
          </a:prstGeom>
          <a:noFill/>
        </p:spPr>
        <p:txBody>
          <a:bodyPr wrap="square" rtlCol="0">
            <a:spAutoFit/>
          </a:bodyPr>
          <a:lstStyle/>
          <a:p>
            <a:pPr algn="ctr"/>
            <a:r>
              <a:rPr kumimoji="1" lang="en-US" altLang="zh-CN" sz="1200" dirty="0">
                <a:latin typeface="Times New Roman" panose="02020603050405020304" pitchFamily="18" charset="0"/>
                <a:cs typeface="Times New Roman" panose="02020603050405020304" pitchFamily="18" charset="0"/>
              </a:rPr>
              <a:t>VMCS01</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EPTP=</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EPT01</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CR3</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GPT1</a:t>
            </a:r>
            <a:endParaRPr kumimoji="1" lang="zh-CN" altLang="en-US" sz="1200" dirty="0">
              <a:latin typeface="Times New Roman" panose="02020603050405020304" pitchFamily="18" charset="0"/>
              <a:cs typeface="Times New Roman" panose="02020603050405020304" pitchFamily="18" charset="0"/>
            </a:endParaRPr>
          </a:p>
        </p:txBody>
      </p:sp>
      <p:sp>
        <p:nvSpPr>
          <p:cNvPr id="164" name="文本框 163">
            <a:extLst>
              <a:ext uri="{FF2B5EF4-FFF2-40B4-BE49-F238E27FC236}">
                <a16:creationId xmlns:a16="http://schemas.microsoft.com/office/drawing/2014/main" id="{314C8DC5-2DFD-6A43-FC3E-BE61AC753302}"/>
              </a:ext>
            </a:extLst>
          </p:cNvPr>
          <p:cNvSpPr txBox="1"/>
          <p:nvPr/>
        </p:nvSpPr>
        <p:spPr>
          <a:xfrm>
            <a:off x="5412807" y="3158055"/>
            <a:ext cx="1080167"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EPT12 (RO)</a:t>
            </a:r>
            <a:endParaRPr kumimoji="1" lang="zh-CN" altLang="en-US" sz="1200" dirty="0">
              <a:latin typeface="Times New Roman" panose="02020603050405020304" pitchFamily="18" charset="0"/>
              <a:cs typeface="Times New Roman" panose="02020603050405020304" pitchFamily="18" charset="0"/>
            </a:endParaRPr>
          </a:p>
        </p:txBody>
      </p:sp>
      <p:cxnSp>
        <p:nvCxnSpPr>
          <p:cNvPr id="165" name="肘形连接符 164">
            <a:extLst>
              <a:ext uri="{FF2B5EF4-FFF2-40B4-BE49-F238E27FC236}">
                <a16:creationId xmlns:a16="http://schemas.microsoft.com/office/drawing/2014/main" id="{912B7A9D-C016-0F84-AF31-1B6B91F3ECBF}"/>
              </a:ext>
            </a:extLst>
          </p:cNvPr>
          <p:cNvCxnSpPr>
            <a:cxnSpLocks/>
          </p:cNvCxnSpPr>
          <p:nvPr/>
        </p:nvCxnSpPr>
        <p:spPr>
          <a:xfrm rot="16200000" flipV="1">
            <a:off x="3686517" y="4363721"/>
            <a:ext cx="1659897" cy="477517"/>
          </a:xfrm>
          <a:prstGeom prst="bentConnector3">
            <a:avLst>
              <a:gd name="adj1" fmla="val 7879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6" name="文本框 165">
            <a:extLst>
              <a:ext uri="{FF2B5EF4-FFF2-40B4-BE49-F238E27FC236}">
                <a16:creationId xmlns:a16="http://schemas.microsoft.com/office/drawing/2014/main" id="{06F0DE79-F4A4-C518-E67F-FDE4476E2578}"/>
              </a:ext>
            </a:extLst>
          </p:cNvPr>
          <p:cNvSpPr txBox="1"/>
          <p:nvPr/>
        </p:nvSpPr>
        <p:spPr>
          <a:xfrm>
            <a:off x="3661196" y="5121581"/>
            <a:ext cx="1162090" cy="276999"/>
          </a:xfrm>
          <a:prstGeom prst="rect">
            <a:avLst/>
          </a:prstGeom>
          <a:noFill/>
        </p:spPr>
        <p:txBody>
          <a:bodyPr wrap="square" rtlCol="0">
            <a:spAutoFit/>
          </a:bodyPr>
          <a:lstStyle/>
          <a:p>
            <a:pPr algn="r"/>
            <a:r>
              <a:rPr kumimoji="1" lang="en-US" altLang="zh-CN" sz="1200" b="1" dirty="0">
                <a:solidFill>
                  <a:srgbClr val="C00000"/>
                </a:solidFill>
                <a:latin typeface="Times New Roman" panose="02020603050405020304" pitchFamily="18" charset="0"/>
                <a:cs typeface="Times New Roman" panose="02020603050405020304" pitchFamily="18" charset="0"/>
              </a:rPr>
              <a:t>resume L1 </a:t>
            </a:r>
            <a:r>
              <a:rPr kumimoji="1" lang="en-US" altLang="zh-CN" sz="1200" dirty="0">
                <a:latin typeface="Times New Roman" panose="02020603050405020304" pitchFamily="18" charset="0"/>
                <a:cs typeface="Times New Roman" panose="02020603050405020304" pitchFamily="18" charset="0"/>
              </a:rPr>
              <a:t>❸ </a:t>
            </a:r>
            <a:endParaRPr kumimoji="1" lang="zh-CN" altLang="en-US" sz="1200" dirty="0">
              <a:latin typeface="Times New Roman" panose="02020603050405020304" pitchFamily="18" charset="0"/>
              <a:cs typeface="Times New Roman" panose="02020603050405020304" pitchFamily="18" charset="0"/>
            </a:endParaRPr>
          </a:p>
        </p:txBody>
      </p:sp>
      <p:cxnSp>
        <p:nvCxnSpPr>
          <p:cNvPr id="167" name="肘形连接符 166">
            <a:extLst>
              <a:ext uri="{FF2B5EF4-FFF2-40B4-BE49-F238E27FC236}">
                <a16:creationId xmlns:a16="http://schemas.microsoft.com/office/drawing/2014/main" id="{D0CA879F-D5A8-821D-E106-688B23EF00AD}"/>
              </a:ext>
            </a:extLst>
          </p:cNvPr>
          <p:cNvCxnSpPr>
            <a:cxnSpLocks/>
            <a:endCxn id="156" idx="1"/>
          </p:cNvCxnSpPr>
          <p:nvPr/>
        </p:nvCxnSpPr>
        <p:spPr>
          <a:xfrm>
            <a:off x="4987025" y="3469810"/>
            <a:ext cx="573131" cy="16542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8" name="文本框 167">
            <a:extLst>
              <a:ext uri="{FF2B5EF4-FFF2-40B4-BE49-F238E27FC236}">
                <a16:creationId xmlns:a16="http://schemas.microsoft.com/office/drawing/2014/main" id="{785F0FFD-7110-74FD-D5AE-760007CBDFEC}"/>
              </a:ext>
            </a:extLst>
          </p:cNvPr>
          <p:cNvSpPr txBox="1"/>
          <p:nvPr/>
        </p:nvSpPr>
        <p:spPr>
          <a:xfrm>
            <a:off x="4970700" y="3603295"/>
            <a:ext cx="1162090"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❹ fix</a:t>
            </a:r>
            <a:endParaRPr kumimoji="1" lang="zh-CN" altLang="en-US" sz="1200" dirty="0">
              <a:latin typeface="Times New Roman" panose="02020603050405020304" pitchFamily="18" charset="0"/>
              <a:cs typeface="Times New Roman" panose="02020603050405020304" pitchFamily="18" charset="0"/>
            </a:endParaRPr>
          </a:p>
        </p:txBody>
      </p:sp>
      <p:cxnSp>
        <p:nvCxnSpPr>
          <p:cNvPr id="169" name="肘形连接符 168">
            <a:extLst>
              <a:ext uri="{FF2B5EF4-FFF2-40B4-BE49-F238E27FC236}">
                <a16:creationId xmlns:a16="http://schemas.microsoft.com/office/drawing/2014/main" id="{E5471264-0F5D-972A-E99D-86D74FB5CE5F}"/>
              </a:ext>
            </a:extLst>
          </p:cNvPr>
          <p:cNvCxnSpPr>
            <a:cxnSpLocks/>
          </p:cNvCxnSpPr>
          <p:nvPr/>
        </p:nvCxnSpPr>
        <p:spPr>
          <a:xfrm rot="5400000">
            <a:off x="4852352" y="4365846"/>
            <a:ext cx="1554679" cy="605686"/>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0" name="文本框 169">
            <a:extLst>
              <a:ext uri="{FF2B5EF4-FFF2-40B4-BE49-F238E27FC236}">
                <a16:creationId xmlns:a16="http://schemas.microsoft.com/office/drawing/2014/main" id="{7B8A85BA-C954-8077-6BA1-DB08FA760274}"/>
              </a:ext>
            </a:extLst>
          </p:cNvPr>
          <p:cNvSpPr txBox="1"/>
          <p:nvPr/>
        </p:nvSpPr>
        <p:spPr>
          <a:xfrm>
            <a:off x="4717979" y="4252734"/>
            <a:ext cx="1288972" cy="461665"/>
          </a:xfrm>
          <a:prstGeom prst="rect">
            <a:avLst/>
          </a:prstGeom>
          <a:noFill/>
        </p:spPr>
        <p:txBody>
          <a:bodyPr wrap="square" rtlCol="0">
            <a:spAutoFit/>
          </a:bodyPr>
          <a:lstStyle/>
          <a:p>
            <a:pPr algn="r"/>
            <a:r>
              <a:rPr kumimoji="1" lang="en-US" altLang="zh-CN" sz="1200" dirty="0">
                <a:latin typeface="Times New Roman" panose="02020603050405020304" pitchFamily="18" charset="0"/>
                <a:cs typeface="Times New Roman" panose="02020603050405020304" pitchFamily="18" charset="0"/>
              </a:rPr>
              <a:t>❺</a:t>
            </a:r>
          </a:p>
          <a:p>
            <a:pPr algn="r"/>
            <a:r>
              <a:rPr kumimoji="1" lang="en-US" altLang="zh-CN" sz="1200" b="1" dirty="0">
                <a:solidFill>
                  <a:srgbClr val="C00000"/>
                </a:solidFill>
                <a:latin typeface="Times New Roman" panose="02020603050405020304" pitchFamily="18" charset="0"/>
                <a:cs typeface="Times New Roman" panose="02020603050405020304" pitchFamily="18" charset="0"/>
              </a:rPr>
              <a:t>EPT</a:t>
            </a:r>
            <a:r>
              <a:rPr kumimoji="1" lang="en" altLang="zh-CN" sz="1200" b="1" dirty="0">
                <a:solidFill>
                  <a:srgbClr val="C00000"/>
                </a:solidFill>
                <a:latin typeface="Times New Roman" panose="02020603050405020304" pitchFamily="18" charset="0"/>
                <a:cs typeface="Times New Roman" panose="02020603050405020304" pitchFamily="18" charset="0"/>
              </a:rPr>
              <a:t> violation</a:t>
            </a:r>
            <a:endParaRPr kumimoji="1" lang="zh-CN" altLang="en-US" sz="1200" b="1" dirty="0">
              <a:solidFill>
                <a:srgbClr val="C00000"/>
              </a:solidFill>
              <a:latin typeface="Times New Roman" panose="02020603050405020304" pitchFamily="18" charset="0"/>
              <a:cs typeface="Times New Roman" panose="02020603050405020304" pitchFamily="18" charset="0"/>
            </a:endParaRPr>
          </a:p>
        </p:txBody>
      </p:sp>
      <p:sp>
        <p:nvSpPr>
          <p:cNvPr id="171" name="文本框 170">
            <a:extLst>
              <a:ext uri="{FF2B5EF4-FFF2-40B4-BE49-F238E27FC236}">
                <a16:creationId xmlns:a16="http://schemas.microsoft.com/office/drawing/2014/main" id="{5E390E4A-904A-131E-6BE7-E4956C08C88F}"/>
              </a:ext>
            </a:extLst>
          </p:cNvPr>
          <p:cNvSpPr txBox="1"/>
          <p:nvPr/>
        </p:nvSpPr>
        <p:spPr>
          <a:xfrm>
            <a:off x="5364349" y="5728871"/>
            <a:ext cx="1034051"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❻</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emulation</a:t>
            </a:r>
          </a:p>
        </p:txBody>
      </p:sp>
      <p:cxnSp>
        <p:nvCxnSpPr>
          <p:cNvPr id="172" name="肘形连接符 171">
            <a:extLst>
              <a:ext uri="{FF2B5EF4-FFF2-40B4-BE49-F238E27FC236}">
                <a16:creationId xmlns:a16="http://schemas.microsoft.com/office/drawing/2014/main" id="{4B00C43B-33C1-6A58-EE65-ADACFD857218}"/>
              </a:ext>
            </a:extLst>
          </p:cNvPr>
          <p:cNvCxnSpPr>
            <a:cxnSpLocks/>
          </p:cNvCxnSpPr>
          <p:nvPr/>
        </p:nvCxnSpPr>
        <p:spPr>
          <a:xfrm rot="5400000" flipH="1" flipV="1">
            <a:off x="4916792" y="4343432"/>
            <a:ext cx="1538307" cy="617014"/>
          </a:xfrm>
          <a:prstGeom prst="bentConnector3">
            <a:avLst>
              <a:gd name="adj1" fmla="val 4324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3" name="文本框 172">
            <a:extLst>
              <a:ext uri="{FF2B5EF4-FFF2-40B4-BE49-F238E27FC236}">
                <a16:creationId xmlns:a16="http://schemas.microsoft.com/office/drawing/2014/main" id="{68D74E8F-F74E-8F10-D082-3601AB5A9A8E}"/>
              </a:ext>
            </a:extLst>
          </p:cNvPr>
          <p:cNvSpPr txBox="1"/>
          <p:nvPr/>
        </p:nvSpPr>
        <p:spPr>
          <a:xfrm>
            <a:off x="5326848" y="4717338"/>
            <a:ext cx="1288972" cy="461665"/>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❼ </a:t>
            </a:r>
          </a:p>
          <a:p>
            <a:r>
              <a:rPr kumimoji="1" lang="en-US" altLang="zh-CN" sz="1200" b="1" dirty="0">
                <a:solidFill>
                  <a:srgbClr val="C00000"/>
                </a:solidFill>
                <a:latin typeface="Times New Roman" panose="02020603050405020304" pitchFamily="18" charset="0"/>
                <a:cs typeface="Times New Roman" panose="02020603050405020304" pitchFamily="18" charset="0"/>
              </a:rPr>
              <a:t>resume L1 </a:t>
            </a:r>
            <a:endParaRPr kumimoji="1" lang="zh-CN" altLang="en-US" sz="1200" b="1" dirty="0">
              <a:solidFill>
                <a:srgbClr val="C00000"/>
              </a:solidFill>
              <a:latin typeface="Times New Roman" panose="02020603050405020304" pitchFamily="18" charset="0"/>
              <a:cs typeface="Times New Roman" panose="02020603050405020304" pitchFamily="18" charset="0"/>
            </a:endParaRPr>
          </a:p>
        </p:txBody>
      </p:sp>
      <p:cxnSp>
        <p:nvCxnSpPr>
          <p:cNvPr id="174" name="肘形连接符 173">
            <a:extLst>
              <a:ext uri="{FF2B5EF4-FFF2-40B4-BE49-F238E27FC236}">
                <a16:creationId xmlns:a16="http://schemas.microsoft.com/office/drawing/2014/main" id="{9F84E191-395B-2C28-C321-31C71E4EDD4E}"/>
              </a:ext>
            </a:extLst>
          </p:cNvPr>
          <p:cNvCxnSpPr>
            <a:cxnSpLocks/>
          </p:cNvCxnSpPr>
          <p:nvPr/>
        </p:nvCxnSpPr>
        <p:spPr>
          <a:xfrm rot="16200000" flipH="1">
            <a:off x="3831477" y="4375579"/>
            <a:ext cx="1645876" cy="461769"/>
          </a:xfrm>
          <a:prstGeom prst="bentConnector3">
            <a:avLst>
              <a:gd name="adj1" fmla="val 1527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5" name="文本框 174">
            <a:extLst>
              <a:ext uri="{FF2B5EF4-FFF2-40B4-BE49-F238E27FC236}">
                <a16:creationId xmlns:a16="http://schemas.microsoft.com/office/drawing/2014/main" id="{742CABD1-5AA3-DB14-0342-1673E0BF63CC}"/>
              </a:ext>
            </a:extLst>
          </p:cNvPr>
          <p:cNvSpPr txBox="1"/>
          <p:nvPr/>
        </p:nvSpPr>
        <p:spPr>
          <a:xfrm>
            <a:off x="4837460" y="3969364"/>
            <a:ext cx="1162090" cy="461665"/>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❽ </a:t>
            </a:r>
          </a:p>
          <a:p>
            <a:r>
              <a:rPr kumimoji="1" lang="en-US" altLang="zh-CN" sz="1200" b="1" dirty="0">
                <a:solidFill>
                  <a:srgbClr val="C00000"/>
                </a:solidFill>
                <a:latin typeface="Times New Roman" panose="02020603050405020304" pitchFamily="18" charset="0"/>
                <a:cs typeface="Times New Roman" panose="02020603050405020304" pitchFamily="18" charset="0"/>
              </a:rPr>
              <a:t>resume L2</a:t>
            </a:r>
            <a:endParaRPr kumimoji="1" lang="zh-CN" altLang="en-US" sz="1200" b="1" dirty="0">
              <a:solidFill>
                <a:srgbClr val="C00000"/>
              </a:solidFill>
              <a:latin typeface="Times New Roman" panose="02020603050405020304" pitchFamily="18" charset="0"/>
              <a:cs typeface="Times New Roman" panose="02020603050405020304" pitchFamily="18" charset="0"/>
            </a:endParaRPr>
          </a:p>
        </p:txBody>
      </p:sp>
      <p:cxnSp>
        <p:nvCxnSpPr>
          <p:cNvPr id="176" name="肘形连接符 175">
            <a:extLst>
              <a:ext uri="{FF2B5EF4-FFF2-40B4-BE49-F238E27FC236}">
                <a16:creationId xmlns:a16="http://schemas.microsoft.com/office/drawing/2014/main" id="{00BDFD8B-3CA1-A9FB-3925-5E6EB4DAF30E}"/>
              </a:ext>
            </a:extLst>
          </p:cNvPr>
          <p:cNvCxnSpPr>
            <a:cxnSpLocks/>
            <a:stCxn id="163" idx="2"/>
            <a:endCxn id="161" idx="2"/>
          </p:cNvCxnSpPr>
          <p:nvPr/>
        </p:nvCxnSpPr>
        <p:spPr>
          <a:xfrm rot="5400000">
            <a:off x="3291007" y="4542703"/>
            <a:ext cx="13225" cy="3079286"/>
          </a:xfrm>
          <a:prstGeom prst="bentConnector3">
            <a:avLst>
              <a:gd name="adj1" fmla="val 1074284"/>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7" name="文本框 176">
            <a:extLst>
              <a:ext uri="{FF2B5EF4-FFF2-40B4-BE49-F238E27FC236}">
                <a16:creationId xmlns:a16="http://schemas.microsoft.com/office/drawing/2014/main" id="{2E93F01F-C823-9F5B-4ED9-B9867362CA67}"/>
              </a:ext>
            </a:extLst>
          </p:cNvPr>
          <p:cNvSpPr txBox="1"/>
          <p:nvPr/>
        </p:nvSpPr>
        <p:spPr>
          <a:xfrm>
            <a:off x="2501986" y="6178810"/>
            <a:ext cx="2132017"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❾</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update</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&amp;</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reload VMCS02</a:t>
            </a:r>
          </a:p>
        </p:txBody>
      </p:sp>
      <p:cxnSp>
        <p:nvCxnSpPr>
          <p:cNvPr id="178" name="肘形连接符 177">
            <a:extLst>
              <a:ext uri="{FF2B5EF4-FFF2-40B4-BE49-F238E27FC236}">
                <a16:creationId xmlns:a16="http://schemas.microsoft.com/office/drawing/2014/main" id="{BCF1BE9C-D064-7FE1-8261-C119A794F9FC}"/>
              </a:ext>
            </a:extLst>
          </p:cNvPr>
          <p:cNvCxnSpPr>
            <a:cxnSpLocks/>
            <a:endCxn id="133" idx="1"/>
          </p:cNvCxnSpPr>
          <p:nvPr/>
        </p:nvCxnSpPr>
        <p:spPr>
          <a:xfrm rot="16200000" flipV="1">
            <a:off x="-724115" y="3895323"/>
            <a:ext cx="3240283" cy="438312"/>
          </a:xfrm>
          <a:prstGeom prst="bentConnector4">
            <a:avLst>
              <a:gd name="adj1" fmla="val 164"/>
              <a:gd name="adj2" fmla="val 15215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9" name="文本框 178">
            <a:extLst>
              <a:ext uri="{FF2B5EF4-FFF2-40B4-BE49-F238E27FC236}">
                <a16:creationId xmlns:a16="http://schemas.microsoft.com/office/drawing/2014/main" id="{6F430F82-4BA9-28E7-CC8D-2754F882AD92}"/>
              </a:ext>
            </a:extLst>
          </p:cNvPr>
          <p:cNvSpPr txBox="1"/>
          <p:nvPr/>
        </p:nvSpPr>
        <p:spPr>
          <a:xfrm>
            <a:off x="384420" y="4192064"/>
            <a:ext cx="1373555" cy="461665"/>
          </a:xfrm>
          <a:prstGeom prst="rect">
            <a:avLst/>
          </a:prstGeom>
          <a:noFill/>
        </p:spPr>
        <p:txBody>
          <a:bodyPr wrap="square">
            <a:spAutoFit/>
          </a:bodyPr>
          <a:lstStyle/>
          <a:p>
            <a:r>
              <a:rPr kumimoji="1" lang="en-US" altLang="zh-CN" sz="1200" dirty="0">
                <a:latin typeface="Times New Roman" panose="02020603050405020304" pitchFamily="18" charset="0"/>
                <a:cs typeface="Times New Roman" panose="02020603050405020304" pitchFamily="18" charset="0"/>
              </a:rPr>
              <a:t>❿ </a:t>
            </a:r>
            <a:r>
              <a:rPr kumimoji="1" lang="en-US" altLang="zh-CN" sz="1200" b="1" dirty="0" err="1">
                <a:solidFill>
                  <a:srgbClr val="C00000"/>
                </a:solidFill>
                <a:latin typeface="Times New Roman" panose="02020603050405020304" pitchFamily="18" charset="0"/>
                <a:cs typeface="Times New Roman" panose="02020603050405020304" pitchFamily="18" charset="0"/>
              </a:rPr>
              <a:t>vm_resume</a:t>
            </a:r>
            <a:r>
              <a:rPr kumimoji="1" lang="en-US" altLang="zh-CN" sz="1200" b="1" dirty="0">
                <a:solidFill>
                  <a:srgbClr val="C00000"/>
                </a:solidFill>
                <a:latin typeface="Times New Roman" panose="02020603050405020304" pitchFamily="18" charset="0"/>
                <a:cs typeface="Times New Roman" panose="02020603050405020304" pitchFamily="18" charset="0"/>
              </a:rPr>
              <a:t> L2</a:t>
            </a:r>
          </a:p>
          <a:p>
            <a:r>
              <a:rPr kumimoji="1" lang="en-US" altLang="zh-CN" sz="1200" b="1" dirty="0">
                <a:solidFill>
                  <a:srgbClr val="C00000"/>
                </a:solidFill>
                <a:latin typeface="Times New Roman" panose="02020603050405020304" pitchFamily="18" charset="0"/>
                <a:cs typeface="Times New Roman" panose="02020603050405020304" pitchFamily="18" charset="0"/>
              </a:rPr>
              <a:t>      (real entry)</a:t>
            </a:r>
            <a:endParaRPr kumimoji="1" lang="zh-CN" altLang="en-US" sz="1200" b="1" dirty="0">
              <a:solidFill>
                <a:srgbClr val="C00000"/>
              </a:solidFill>
              <a:latin typeface="Times New Roman" panose="02020603050405020304" pitchFamily="18" charset="0"/>
              <a:cs typeface="Times New Roman" panose="02020603050405020304" pitchFamily="18" charset="0"/>
            </a:endParaRPr>
          </a:p>
        </p:txBody>
      </p:sp>
      <p:cxnSp>
        <p:nvCxnSpPr>
          <p:cNvPr id="121" name="肘形连接符 120">
            <a:extLst>
              <a:ext uri="{FF2B5EF4-FFF2-40B4-BE49-F238E27FC236}">
                <a16:creationId xmlns:a16="http://schemas.microsoft.com/office/drawing/2014/main" id="{8922CEE6-F21B-B6A4-8AC6-FDA0F51A6ADE}"/>
              </a:ext>
            </a:extLst>
          </p:cNvPr>
          <p:cNvCxnSpPr>
            <a:cxnSpLocks/>
            <a:stCxn id="163" idx="3"/>
          </p:cNvCxnSpPr>
          <p:nvPr/>
        </p:nvCxnSpPr>
        <p:spPr>
          <a:xfrm flipV="1">
            <a:off x="5494605" y="3917204"/>
            <a:ext cx="655560" cy="1835365"/>
          </a:xfrm>
          <a:prstGeom prst="bentConnector2">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2" name="文本框 121">
            <a:extLst>
              <a:ext uri="{FF2B5EF4-FFF2-40B4-BE49-F238E27FC236}">
                <a16:creationId xmlns:a16="http://schemas.microsoft.com/office/drawing/2014/main" id="{065F4975-7FDC-199A-4274-BBA383499BDE}"/>
              </a:ext>
            </a:extLst>
          </p:cNvPr>
          <p:cNvSpPr txBox="1"/>
          <p:nvPr/>
        </p:nvSpPr>
        <p:spPr>
          <a:xfrm>
            <a:off x="1962554" y="4600992"/>
            <a:ext cx="1688733" cy="461665"/>
          </a:xfrm>
          <a:prstGeom prst="rect">
            <a:avLst/>
          </a:prstGeom>
          <a:noFill/>
        </p:spPr>
        <p:txBody>
          <a:bodyPr wrap="square" rtlCol="0">
            <a:spAutoFit/>
          </a:bodyPr>
          <a:lstStyle/>
          <a:p>
            <a:pPr algn="r"/>
            <a:r>
              <a:rPr kumimoji="1" lang="zh-CN" altLang="en-US" sz="1200" dirty="0">
                <a:latin typeface="Times New Roman" panose="02020603050405020304" pitchFamily="18" charset="0"/>
                <a:cs typeface="Times New Roman" panose="02020603050405020304" pitchFamily="18" charset="0"/>
              </a:rPr>
              <a:t>⓫ </a:t>
            </a:r>
            <a:endParaRPr kumimoji="1" lang="en-US" altLang="zh-CN" sz="1200" dirty="0">
              <a:latin typeface="Times New Roman" panose="02020603050405020304" pitchFamily="18" charset="0"/>
              <a:cs typeface="Times New Roman" panose="02020603050405020304" pitchFamily="18" charset="0"/>
            </a:endParaRPr>
          </a:p>
          <a:p>
            <a:pPr algn="r"/>
            <a:r>
              <a:rPr kumimoji="1" lang="en-US" altLang="zh-CN" sz="1200" b="1" dirty="0">
                <a:solidFill>
                  <a:srgbClr val="C00000"/>
                </a:solidFill>
                <a:latin typeface="Times New Roman" panose="02020603050405020304" pitchFamily="18" charset="0"/>
                <a:cs typeface="Times New Roman" panose="02020603050405020304" pitchFamily="18" charset="0"/>
              </a:rPr>
              <a:t>EPT</a:t>
            </a:r>
            <a:r>
              <a:rPr kumimoji="1" lang="zh-CN" altLang="en-US" sz="1200" b="1" dirty="0">
                <a:solidFill>
                  <a:srgbClr val="C00000"/>
                </a:solidFill>
                <a:latin typeface="Times New Roman" panose="02020603050405020304" pitchFamily="18" charset="0"/>
                <a:cs typeface="Times New Roman" panose="02020603050405020304" pitchFamily="18" charset="0"/>
              </a:rPr>
              <a:t> </a:t>
            </a:r>
            <a:r>
              <a:rPr kumimoji="1" lang="en" altLang="zh-CN" sz="1200" b="1" dirty="0">
                <a:solidFill>
                  <a:srgbClr val="C00000"/>
                </a:solidFill>
                <a:latin typeface="Times New Roman" panose="02020603050405020304" pitchFamily="18" charset="0"/>
                <a:cs typeface="Times New Roman" panose="02020603050405020304" pitchFamily="18" charset="0"/>
              </a:rPr>
              <a:t>violation</a:t>
            </a:r>
            <a:r>
              <a:rPr kumimoji="1" lang="zh-CN" altLang="en-US" sz="1200" b="1" dirty="0">
                <a:solidFill>
                  <a:srgbClr val="C00000"/>
                </a:solidFill>
                <a:latin typeface="Times New Roman" panose="02020603050405020304" pitchFamily="18" charset="0"/>
                <a:cs typeface="Times New Roman" panose="02020603050405020304" pitchFamily="18" charset="0"/>
              </a:rPr>
              <a:t> </a:t>
            </a:r>
            <a:r>
              <a:rPr kumimoji="1" lang="en-US" altLang="zh-CN" sz="1200" b="1" dirty="0">
                <a:solidFill>
                  <a:srgbClr val="C00000"/>
                </a:solidFill>
                <a:latin typeface="Times New Roman" panose="02020603050405020304" pitchFamily="18" charset="0"/>
                <a:cs typeface="Times New Roman" panose="02020603050405020304" pitchFamily="18" charset="0"/>
              </a:rPr>
              <a:t>again</a:t>
            </a:r>
          </a:p>
        </p:txBody>
      </p:sp>
      <p:cxnSp>
        <p:nvCxnSpPr>
          <p:cNvPr id="123" name="肘形连接符 122">
            <a:extLst>
              <a:ext uri="{FF2B5EF4-FFF2-40B4-BE49-F238E27FC236}">
                <a16:creationId xmlns:a16="http://schemas.microsoft.com/office/drawing/2014/main" id="{3C3FE4C7-637B-1854-917B-2244EA8AD16B}"/>
              </a:ext>
            </a:extLst>
          </p:cNvPr>
          <p:cNvCxnSpPr>
            <a:cxnSpLocks/>
          </p:cNvCxnSpPr>
          <p:nvPr/>
        </p:nvCxnSpPr>
        <p:spPr>
          <a:xfrm rot="16200000" flipV="1">
            <a:off x="1822475" y="4944778"/>
            <a:ext cx="665737" cy="365721"/>
          </a:xfrm>
          <a:prstGeom prst="bentConnector3">
            <a:avLst>
              <a:gd name="adj1" fmla="val 6748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文本框 123">
            <a:extLst>
              <a:ext uri="{FF2B5EF4-FFF2-40B4-BE49-F238E27FC236}">
                <a16:creationId xmlns:a16="http://schemas.microsoft.com/office/drawing/2014/main" id="{E0AE090F-BA20-0152-CDB6-A9D78F15AE62}"/>
              </a:ext>
            </a:extLst>
          </p:cNvPr>
          <p:cNvSpPr txBox="1"/>
          <p:nvPr/>
        </p:nvSpPr>
        <p:spPr>
          <a:xfrm>
            <a:off x="2270756" y="5177394"/>
            <a:ext cx="1688733"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⓬ </a:t>
            </a:r>
            <a:r>
              <a:rPr kumimoji="1" lang="en-US" altLang="zh-CN" sz="1200" dirty="0">
                <a:latin typeface="Times New Roman" panose="02020603050405020304" pitchFamily="18" charset="0"/>
                <a:cs typeface="Times New Roman" panose="02020603050405020304" pitchFamily="18" charset="0"/>
              </a:rPr>
              <a:t>fix</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EPT02</a:t>
            </a:r>
          </a:p>
        </p:txBody>
      </p:sp>
      <p:sp>
        <p:nvSpPr>
          <p:cNvPr id="125" name="文本框 124">
            <a:extLst>
              <a:ext uri="{FF2B5EF4-FFF2-40B4-BE49-F238E27FC236}">
                <a16:creationId xmlns:a16="http://schemas.microsoft.com/office/drawing/2014/main" id="{E7D61598-90C3-E5AB-222F-FC2E9A274FD1}"/>
              </a:ext>
            </a:extLst>
          </p:cNvPr>
          <p:cNvSpPr txBox="1"/>
          <p:nvPr/>
        </p:nvSpPr>
        <p:spPr>
          <a:xfrm>
            <a:off x="395406" y="4663372"/>
            <a:ext cx="1688733" cy="461665"/>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⓭ </a:t>
            </a:r>
            <a:r>
              <a:rPr kumimoji="1" lang="en-US" altLang="zh-CN" sz="1200" b="1" dirty="0" err="1">
                <a:solidFill>
                  <a:srgbClr val="C00000"/>
                </a:solidFill>
                <a:latin typeface="Times New Roman" panose="02020603050405020304" pitchFamily="18" charset="0"/>
                <a:cs typeface="Times New Roman" panose="02020603050405020304" pitchFamily="18" charset="0"/>
              </a:rPr>
              <a:t>vm_resume</a:t>
            </a:r>
            <a:r>
              <a:rPr kumimoji="1" lang="en-US" altLang="zh-CN" sz="1200" b="1" dirty="0">
                <a:solidFill>
                  <a:srgbClr val="C00000"/>
                </a:solidFill>
                <a:latin typeface="Times New Roman" panose="02020603050405020304" pitchFamily="18" charset="0"/>
                <a:cs typeface="Times New Roman" panose="02020603050405020304" pitchFamily="18" charset="0"/>
              </a:rPr>
              <a:t> L2</a:t>
            </a:r>
          </a:p>
          <a:p>
            <a:r>
              <a:rPr kumimoji="1" lang="en-US" altLang="zh-CN" sz="1200" b="1" dirty="0">
                <a:solidFill>
                  <a:srgbClr val="C00000"/>
                </a:solidFill>
                <a:latin typeface="Times New Roman" panose="02020603050405020304" pitchFamily="18" charset="0"/>
                <a:cs typeface="Times New Roman" panose="02020603050405020304" pitchFamily="18" charset="0"/>
              </a:rPr>
              <a:t>      (real entry) again</a:t>
            </a:r>
            <a:endParaRPr kumimoji="1" lang="zh-CN" altLang="en-US" sz="1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75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7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5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2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2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48" grpId="0"/>
      <p:bldP spid="151" grpId="0"/>
      <p:bldP spid="152" grpId="0"/>
      <p:bldP spid="153" grpId="0"/>
      <p:bldP spid="160" grpId="0"/>
      <p:bldP spid="166" grpId="0"/>
      <p:bldP spid="168" grpId="0"/>
      <p:bldP spid="170" grpId="0"/>
      <p:bldP spid="171" grpId="0"/>
      <p:bldP spid="173" grpId="0"/>
      <p:bldP spid="175" grpId="0"/>
      <p:bldP spid="177" grpId="0"/>
      <p:bldP spid="179" grpId="0"/>
      <p:bldP spid="122" grpId="0"/>
      <p:bldP spid="124" grpId="0"/>
      <p:bldP spid="1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F20779-DCC0-1531-2234-9D81B0BB4B8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b="0" i="0" dirty="0">
                <a:effectLst/>
                <a:latin typeface="Times New Roman" panose="02020603050405020304" pitchFamily="18" charset="0"/>
                <a:cs typeface="Times New Roman" panose="02020603050405020304" pitchFamily="18" charset="0"/>
              </a:rPr>
              <a:t>EPT-on-SPT vs EPT-on-EPT</a:t>
            </a:r>
            <a:endParaRPr kumimoji="1" lang="en-US" altLang="zh-CN" sz="3600" b="1"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67BEC687-51E3-1E48-5260-1BDD20C72303}"/>
              </a:ext>
            </a:extLst>
          </p:cNvPr>
          <p:cNvPicPr>
            <a:picLocks noChangeAspect="1"/>
          </p:cNvPicPr>
          <p:nvPr/>
        </p:nvPicPr>
        <p:blipFill>
          <a:blip r:embed="rId3"/>
          <a:stretch>
            <a:fillRect/>
          </a:stretch>
        </p:blipFill>
        <p:spPr>
          <a:xfrm>
            <a:off x="862263" y="2010243"/>
            <a:ext cx="6757737" cy="3224280"/>
          </a:xfrm>
          <a:prstGeom prst="rect">
            <a:avLst/>
          </a:prstGeom>
        </p:spPr>
      </p:pic>
      <p:sp>
        <p:nvSpPr>
          <p:cNvPr id="6" name="文本框 5">
            <a:extLst>
              <a:ext uri="{FF2B5EF4-FFF2-40B4-BE49-F238E27FC236}">
                <a16:creationId xmlns:a16="http://schemas.microsoft.com/office/drawing/2014/main" id="{1A0D84B2-A2B3-553C-1AA3-4E2D6854D4D5}"/>
              </a:ext>
            </a:extLst>
          </p:cNvPr>
          <p:cNvSpPr txBox="1"/>
          <p:nvPr/>
        </p:nvSpPr>
        <p:spPr>
          <a:xfrm>
            <a:off x="630525" y="1240802"/>
            <a:ext cx="8208675" cy="769441"/>
          </a:xfrm>
          <a:prstGeom prst="rect">
            <a:avLst/>
          </a:prstGeom>
          <a:noFill/>
        </p:spPr>
        <p:txBody>
          <a:bodyPr wrap="square" rtlCol="0">
            <a:spAutoFit/>
          </a:bodyPr>
          <a:lstStyle/>
          <a:p>
            <a:r>
              <a:rPr kumimoji="1" lang="en" altLang="zh-CN" sz="2200" dirty="0">
                <a:latin typeface="Times New Roman" panose="02020603050405020304" pitchFamily="18" charset="0"/>
                <a:cs typeface="Times New Roman" panose="02020603050405020304" pitchFamily="18" charset="0"/>
              </a:rPr>
              <a:t>EPT-on-EPT is more efficient </a:t>
            </a:r>
            <a:r>
              <a:rPr kumimoji="1" lang="en" altLang="zh-CN" sz="2200" dirty="0" err="1">
                <a:latin typeface="Times New Roman" panose="02020603050405020304" pitchFamily="18" charset="0"/>
                <a:cs typeface="Times New Roman" panose="02020603050405020304" pitchFamily="18" charset="0"/>
              </a:rPr>
              <a:t>interms</a:t>
            </a:r>
            <a:r>
              <a:rPr kumimoji="1" lang="en" altLang="zh-CN" sz="2200" dirty="0">
                <a:latin typeface="Times New Roman" panose="02020603050405020304" pitchFamily="18" charset="0"/>
                <a:cs typeface="Times New Roman" panose="02020603050405020304" pitchFamily="18" charset="0"/>
              </a:rPr>
              <a:t> of fewer number of world switches and 𝐿0 traps</a:t>
            </a:r>
            <a:endParaRPr kumimoji="1" lang="zh-CN" altLang="en-US" sz="22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3929AEC1-EC18-02A8-AB5C-242ABF24BBA2}"/>
              </a:ext>
            </a:extLst>
          </p:cNvPr>
          <p:cNvSpPr txBox="1"/>
          <p:nvPr/>
        </p:nvSpPr>
        <p:spPr>
          <a:xfrm>
            <a:off x="1547162" y="5236646"/>
            <a:ext cx="6049675" cy="1107996"/>
          </a:xfrm>
          <a:prstGeom prst="rect">
            <a:avLst/>
          </a:prstGeom>
          <a:noFill/>
        </p:spPr>
        <p:txBody>
          <a:bodyPr wrap="square" rtlCol="0">
            <a:spAutoFit/>
          </a:bodyPr>
          <a:lstStyle/>
          <a:p>
            <a:pPr algn="ctr"/>
            <a:r>
              <a:rPr lang="en" altLang="zh-CN" sz="2200" b="0" i="0" dirty="0">
                <a:solidFill>
                  <a:srgbClr val="C00000"/>
                </a:solidFill>
                <a:effectLst/>
                <a:latin typeface="Times New Roman" panose="02020603050405020304" pitchFamily="18" charset="0"/>
                <a:cs typeface="Times New Roman" panose="02020603050405020304" pitchFamily="18" charset="0"/>
              </a:rPr>
              <a:t>world switches in nested virtualization (1.3 </a:t>
            </a:r>
            <a:r>
              <a:rPr lang="el-GR" altLang="zh-CN" sz="2200" b="0" i="0" dirty="0">
                <a:solidFill>
                  <a:srgbClr val="C00000"/>
                </a:solidFill>
                <a:effectLst/>
                <a:latin typeface="Times New Roman" panose="02020603050405020304" pitchFamily="18" charset="0"/>
                <a:cs typeface="Times New Roman" panose="02020603050405020304" pitchFamily="18" charset="0"/>
              </a:rPr>
              <a:t>μ</a:t>
            </a:r>
            <a:r>
              <a:rPr lang="en" altLang="zh-CN" sz="2200" b="0" i="0" dirty="0">
                <a:solidFill>
                  <a:srgbClr val="C00000"/>
                </a:solidFill>
                <a:effectLst/>
                <a:latin typeface="Times New Roman" panose="02020603050405020304" pitchFamily="18" charset="0"/>
                <a:cs typeface="Times New Roman" panose="02020603050405020304" pitchFamily="18" charset="0"/>
              </a:rPr>
              <a:t>s) is an order of magnitude more expensive than those in single-level virtualization (0.105 </a:t>
            </a:r>
            <a:r>
              <a:rPr lang="el-GR" altLang="zh-CN" sz="2200" b="0" i="0" dirty="0">
                <a:solidFill>
                  <a:srgbClr val="C00000"/>
                </a:solidFill>
                <a:effectLst/>
                <a:latin typeface="Times New Roman" panose="02020603050405020304" pitchFamily="18" charset="0"/>
                <a:cs typeface="Times New Roman" panose="02020603050405020304" pitchFamily="18" charset="0"/>
              </a:rPr>
              <a:t>μ</a:t>
            </a:r>
            <a:r>
              <a:rPr lang="en" altLang="zh-CN" sz="2200" b="0" i="0" dirty="0">
                <a:solidFill>
                  <a:srgbClr val="C00000"/>
                </a:solidFill>
                <a:effectLst/>
                <a:latin typeface="Times New Roman" panose="02020603050405020304" pitchFamily="18" charset="0"/>
                <a:cs typeface="Times New Roman" panose="02020603050405020304" pitchFamily="18" charset="0"/>
              </a:rPr>
              <a:t>s)</a:t>
            </a:r>
            <a:endParaRPr kumimoji="1" lang="zh-CN" altLang="en-US" sz="22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277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0F20779-DCC0-1531-2234-9D81B0BB4B8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Challenges and Opportunities</a:t>
            </a:r>
            <a:endParaRPr kumimoji="1" lang="en-US" altLang="zh-CN" sz="36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713106ED-9687-DD56-F9FF-4A012F7CE777}"/>
              </a:ext>
            </a:extLst>
          </p:cNvPr>
          <p:cNvSpPr txBox="1"/>
          <p:nvPr/>
        </p:nvSpPr>
        <p:spPr>
          <a:xfrm>
            <a:off x="682487" y="1457739"/>
            <a:ext cx="7779026" cy="4154984"/>
          </a:xfrm>
          <a:prstGeom prst="rect">
            <a:avLst/>
          </a:prstGeom>
          <a:noFill/>
        </p:spPr>
        <p:txBody>
          <a:bodyPr wrap="square" rtlCol="0">
            <a:spAutoFit/>
          </a:bodyPr>
          <a:lstStyle/>
          <a:p>
            <a:pPr marL="342900" indent="-342900">
              <a:buFont typeface="Arial" panose="020B0604020202020204" pitchFamily="34" charset="0"/>
              <a:buChar char="•"/>
            </a:pPr>
            <a:r>
              <a:rPr lang="en" altLang="zh-CN" sz="2200" dirty="0">
                <a:latin typeface="Times New Roman" panose="02020603050405020304" pitchFamily="18" charset="0"/>
                <a:cs typeface="Times New Roman" panose="02020603050405020304" pitchFamily="18" charset="0"/>
              </a:rPr>
              <a:t>Performance: </a:t>
            </a:r>
          </a:p>
          <a:p>
            <a:r>
              <a:rPr lang="en" altLang="zh-CN" sz="2200" dirty="0">
                <a:latin typeface="Times New Roman" panose="02020603050405020304" pitchFamily="18" charset="0"/>
                <a:cs typeface="Times New Roman" panose="02020603050405020304" pitchFamily="18" charset="0"/>
              </a:rPr>
              <a:t>	EPT</a:t>
            </a:r>
            <a:r>
              <a:rPr lang="en-US" altLang="zh-CN" sz="2200" dirty="0">
                <a:latin typeface="Times New Roman" panose="02020603050405020304" pitchFamily="18" charset="0"/>
                <a:cs typeface="Times New Roman" panose="02020603050405020304" pitchFamily="18" charset="0"/>
              </a:rPr>
              <a:t>-on-EPT</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still</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brings</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many</a:t>
            </a:r>
            <a:r>
              <a:rPr lang="zh-CN" altLang="en-US" sz="2200" dirty="0">
                <a:latin typeface="Times New Roman" panose="02020603050405020304" pitchFamily="18" charset="0"/>
                <a:cs typeface="Times New Roman" panose="02020603050405020304" pitchFamily="18" charset="0"/>
              </a:rPr>
              <a:t> </a:t>
            </a:r>
            <a:r>
              <a:rPr lang="en" altLang="zh-CN" sz="2200" b="0" i="0" dirty="0">
                <a:effectLst/>
                <a:latin typeface="Times New Roman" panose="02020603050405020304" pitchFamily="18" charset="0"/>
                <a:cs typeface="Times New Roman" panose="02020603050405020304" pitchFamily="18" charset="0"/>
              </a:rPr>
              <a:t>costly world switches, leading to high overhead.</a:t>
            </a:r>
          </a:p>
          <a:p>
            <a:endParaRPr kumimoji="1" lang="en-US" altLang="zh-C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Security:</a:t>
            </a:r>
          </a:p>
          <a:p>
            <a:r>
              <a:rPr kumimoji="1" lang="en-US" altLang="zh-CN" sz="2200" dirty="0">
                <a:latin typeface="Times New Roman" panose="02020603050405020304" pitchFamily="18" charset="0"/>
                <a:cs typeface="Times New Roman" panose="02020603050405020304" pitchFamily="18" charset="0"/>
              </a:rPr>
              <a:t>	The</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modification</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to</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L0</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hypervisor</a:t>
            </a:r>
            <a:r>
              <a:rPr kumimoji="1" lang="zh-CN" altLang="en-US" sz="2200" dirty="0">
                <a:latin typeface="Times New Roman" panose="02020603050405020304" pitchFamily="18" charset="0"/>
                <a:cs typeface="Times New Roman" panose="02020603050405020304" pitchFamily="18" charset="0"/>
              </a:rPr>
              <a:t> </a:t>
            </a:r>
            <a:r>
              <a:rPr kumimoji="1" lang="en-US" altLang="zh-CN" sz="2200" dirty="0">
                <a:latin typeface="Times New Roman" panose="02020603050405020304" pitchFamily="18" charset="0"/>
                <a:cs typeface="Times New Roman" panose="02020603050405020304" pitchFamily="18" charset="0"/>
              </a:rPr>
              <a:t>expand the attack surface, thereby posing potentially security risks to all L1 hypervisors and L2 guests.</a:t>
            </a:r>
          </a:p>
          <a:p>
            <a:endParaRPr kumimoji="1" lang="en-US" altLang="zh-C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kumimoji="1" lang="en" altLang="zh-CN" sz="2200" dirty="0">
                <a:latin typeface="Times New Roman" panose="02020603050405020304" pitchFamily="18" charset="0"/>
                <a:cs typeface="Times New Roman" panose="02020603050405020304" pitchFamily="18" charset="0"/>
              </a:rPr>
              <a:t>Compatibility:</a:t>
            </a:r>
          </a:p>
          <a:p>
            <a:r>
              <a:rPr kumimoji="1" lang="en" altLang="zh-CN" sz="2200" dirty="0">
                <a:latin typeface="Times New Roman" panose="02020603050405020304" pitchFamily="18" charset="0"/>
                <a:cs typeface="Times New Roman" panose="02020603050405020304" pitchFamily="18" charset="0"/>
              </a:rPr>
              <a:t>	Existing nested virtualization is incompatible with emerging technologies such as AMD SEV and Intel TDX.</a:t>
            </a:r>
            <a:endParaRPr kumimoji="1" lang="zh-CN"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507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618870-723F-9EEB-EA59-2793D616EC41}"/>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PVM - </a:t>
            </a:r>
            <a:r>
              <a:rPr lang="en" altLang="zh-CN" sz="3600" b="0" i="0" dirty="0">
                <a:effectLst/>
                <a:latin typeface="Arial" panose="020B0604020202020204" pitchFamily="34" charset="0"/>
              </a:rPr>
              <a:t>Architecture Overview</a:t>
            </a:r>
            <a:r>
              <a:rPr lang="en" altLang="zh-CN" sz="3600" dirty="0">
                <a:latin typeface="Times New Roman" panose="02020603050405020304" pitchFamily="18" charset="0"/>
                <a:cs typeface="Times New Roman" panose="02020603050405020304" pitchFamily="18" charset="0"/>
              </a:rPr>
              <a:t> </a:t>
            </a:r>
            <a:endParaRPr kumimoji="1" lang="en-US" altLang="zh-CN" sz="3600"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62F706A0-9405-E92E-1FAA-ABF3D539071C}"/>
              </a:ext>
            </a:extLst>
          </p:cNvPr>
          <p:cNvSpPr txBox="1"/>
          <p:nvPr/>
        </p:nvSpPr>
        <p:spPr>
          <a:xfrm>
            <a:off x="0" y="1379057"/>
            <a:ext cx="9143999" cy="707886"/>
          </a:xfrm>
          <a:prstGeom prst="rect">
            <a:avLst/>
          </a:prstGeom>
          <a:solidFill>
            <a:schemeClr val="tx2">
              <a:lumMod val="20000"/>
              <a:lumOff val="80000"/>
            </a:schemeClr>
          </a:solidFill>
        </p:spPr>
        <p:txBody>
          <a:bodyPr wrap="square" rtlCol="0">
            <a:spAutoFit/>
          </a:bodyPr>
          <a:lstStyle/>
          <a:p>
            <a:pPr algn="ctr"/>
            <a:r>
              <a:rPr lang="en-US" altLang="zh-CN" sz="2000" dirty="0">
                <a:latin typeface="Times New Roman" panose="02020603050405020304" pitchFamily="18" charset="0"/>
                <a:ea typeface="Helvetica Neue Light" panose="02000403000000020004" pitchFamily="2" charset="0"/>
                <a:cs typeface="Times New Roman" panose="02020603050405020304" pitchFamily="18" charset="0"/>
              </a:rPr>
              <a:t>A high-performance, </a:t>
            </a:r>
            <a:r>
              <a:rPr lang="en-US" altLang="zh-CN" sz="2000" dirty="0" err="1">
                <a:latin typeface="Times New Roman" panose="02020603050405020304" pitchFamily="18" charset="0"/>
                <a:ea typeface="Helvetica Neue Light" panose="02000403000000020004" pitchFamily="2" charset="0"/>
                <a:cs typeface="Times New Roman" panose="02020603050405020304" pitchFamily="18" charset="0"/>
              </a:rPr>
              <a:t>pagetable</a:t>
            </a:r>
            <a:r>
              <a:rPr lang="en-US" altLang="zh-CN" sz="2000" dirty="0">
                <a:latin typeface="Times New Roman" panose="02020603050405020304" pitchFamily="18" charset="0"/>
                <a:ea typeface="Helvetica Neue Light" panose="02000403000000020004" pitchFamily="2" charset="0"/>
                <a:cs typeface="Times New Roman" panose="02020603050405020304" pitchFamily="18" charset="0"/>
              </a:rPr>
              <a:t>-based nested virtualization framework</a:t>
            </a:r>
          </a:p>
          <a:p>
            <a:pPr algn="ctr"/>
            <a:r>
              <a:rPr lang="en-US" altLang="zh-CN" sz="2000" dirty="0">
                <a:latin typeface="Times New Roman" panose="02020603050405020304" pitchFamily="18" charset="0"/>
                <a:ea typeface="Helvetica Neue Light" panose="02000403000000020004" pitchFamily="2" charset="0"/>
                <a:cs typeface="Times New Roman" panose="02020603050405020304" pitchFamily="18" charset="0"/>
              </a:rPr>
              <a:t>built upon the KVM hypervisor: </a:t>
            </a:r>
            <a:r>
              <a:rPr lang="en-US" altLang="zh-CN" dirty="0">
                <a:latin typeface="Times New Roman" panose="02020603050405020304" pitchFamily="18" charset="0"/>
                <a:ea typeface="Helvetica Neue Light" panose="02000403000000020004" pitchFamily="2" charset="0"/>
                <a:cs typeface="Times New Roman" panose="02020603050405020304" pitchFamily="18" charset="0"/>
              </a:rPr>
              <a:t>the  L2 guest, the switcher, and the L1 guest hypervisor.</a:t>
            </a:r>
            <a:endParaRPr lang="zh-CN" altLang="en-US" dirty="0">
              <a:latin typeface="Times New Roman" panose="02020603050405020304" pitchFamily="18" charset="0"/>
              <a:cs typeface="Times New Roman" panose="02020603050405020304" pitchFamily="18" charset="0"/>
            </a:endParaRPr>
          </a:p>
        </p:txBody>
      </p:sp>
      <p:pic>
        <p:nvPicPr>
          <p:cNvPr id="33" name="图片 32">
            <a:extLst>
              <a:ext uri="{FF2B5EF4-FFF2-40B4-BE49-F238E27FC236}">
                <a16:creationId xmlns:a16="http://schemas.microsoft.com/office/drawing/2014/main" id="{9E0498B8-C124-6CA6-B790-2FD985900AB9}"/>
              </a:ext>
            </a:extLst>
          </p:cNvPr>
          <p:cNvPicPr>
            <a:picLocks noChangeAspect="1"/>
          </p:cNvPicPr>
          <p:nvPr/>
        </p:nvPicPr>
        <p:blipFill>
          <a:blip r:embed="rId3"/>
          <a:stretch>
            <a:fillRect/>
          </a:stretch>
        </p:blipFill>
        <p:spPr>
          <a:xfrm>
            <a:off x="3333750" y="2351159"/>
            <a:ext cx="5048250" cy="3956948"/>
          </a:xfrm>
          <a:prstGeom prst="rect">
            <a:avLst/>
          </a:prstGeom>
        </p:spPr>
      </p:pic>
      <p:sp>
        <p:nvSpPr>
          <p:cNvPr id="34" name="文本框 33">
            <a:extLst>
              <a:ext uri="{FF2B5EF4-FFF2-40B4-BE49-F238E27FC236}">
                <a16:creationId xmlns:a16="http://schemas.microsoft.com/office/drawing/2014/main" id="{0996F851-ECAF-EBDA-F2F9-1C5AA7B7B3BD}"/>
              </a:ext>
            </a:extLst>
          </p:cNvPr>
          <p:cNvSpPr txBox="1"/>
          <p:nvPr/>
        </p:nvSpPr>
        <p:spPr>
          <a:xfrm>
            <a:off x="447675" y="2792038"/>
            <a:ext cx="3771899" cy="646331"/>
          </a:xfrm>
          <a:prstGeom prst="rect">
            <a:avLst/>
          </a:prstGeom>
          <a:noFill/>
        </p:spPr>
        <p:txBody>
          <a:bodyPr wrap="square" rtlCol="0">
            <a:spAutoFit/>
          </a:bodyPr>
          <a:lstStyle/>
          <a:p>
            <a:r>
              <a:rPr lang="en" altLang="zh-CN" dirty="0">
                <a:latin typeface="Times New Roman" panose="02020603050405020304" pitchFamily="18" charset="0"/>
                <a:cs typeface="Times New Roman" panose="02020603050405020304" pitchFamily="18" charset="0"/>
              </a:rPr>
              <a:t>L2 G</a:t>
            </a:r>
            <a:r>
              <a:rPr lang="en" altLang="zh-CN" b="0" i="0" dirty="0">
                <a:effectLst/>
                <a:latin typeface="Times New Roman" panose="02020603050405020304" pitchFamily="18" charset="0"/>
                <a:cs typeface="Times New Roman" panose="02020603050405020304" pitchFamily="18" charset="0"/>
              </a:rPr>
              <a:t>uest: features secure containers</a:t>
            </a:r>
            <a:r>
              <a:rPr lang="zh-CN" altLang="en-US" b="0" i="0" dirty="0">
                <a:effectLst/>
                <a:latin typeface="Times New Roman" panose="02020603050405020304" pitchFamily="18" charset="0"/>
                <a:cs typeface="Times New Roman" panose="02020603050405020304" pitchFamily="18" charset="0"/>
              </a:rPr>
              <a:t> </a:t>
            </a:r>
            <a:r>
              <a:rPr lang="en" altLang="zh-CN" b="0" i="0" dirty="0">
                <a:effectLst/>
                <a:latin typeface="Times New Roman" panose="02020603050405020304" pitchFamily="18" charset="0"/>
                <a:cs typeface="Times New Roman" panose="02020603050405020304" pitchFamily="18" charset="0"/>
              </a:rPr>
              <a:t>and the para-virtualized kernel.</a:t>
            </a:r>
            <a:endParaRPr kumimoji="1" lang="zh-CN" altLang="en-US"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7B374F12-1B4B-0E85-20E9-5DBA7461FE69}"/>
              </a:ext>
            </a:extLst>
          </p:cNvPr>
          <p:cNvSpPr txBox="1"/>
          <p:nvPr/>
        </p:nvSpPr>
        <p:spPr>
          <a:xfrm>
            <a:off x="447675" y="4143464"/>
            <a:ext cx="3429000" cy="369332"/>
          </a:xfrm>
          <a:prstGeom prst="rect">
            <a:avLst/>
          </a:prstGeom>
          <a:noFill/>
        </p:spPr>
        <p:txBody>
          <a:bodyPr wrap="square">
            <a:spAutoFit/>
          </a:bodyPr>
          <a:lstStyle/>
          <a:p>
            <a:r>
              <a:rPr lang="en" altLang="zh-CN" b="0" i="0" dirty="0">
                <a:effectLst/>
                <a:latin typeface="Times New Roman" panose="02020603050405020304" pitchFamily="18" charset="0"/>
                <a:cs typeface="Times New Roman" panose="02020603050405020304" pitchFamily="18" charset="0"/>
              </a:rPr>
              <a:t>Switcher: “switching” the worlds.</a:t>
            </a:r>
            <a:endParaRPr lang="zh-CN" altLang="en-US" dirty="0">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C2C10907-C1AC-2A13-46A1-01420F766344}"/>
              </a:ext>
            </a:extLst>
          </p:cNvPr>
          <p:cNvSpPr txBox="1"/>
          <p:nvPr/>
        </p:nvSpPr>
        <p:spPr>
          <a:xfrm>
            <a:off x="103307" y="5269970"/>
            <a:ext cx="4124326" cy="369332"/>
          </a:xfrm>
          <a:prstGeom prst="rect">
            <a:avLst/>
          </a:prstGeom>
          <a:noFill/>
        </p:spPr>
        <p:txBody>
          <a:bodyPr wrap="square">
            <a:spAutoFit/>
          </a:bodyPr>
          <a:lstStyle/>
          <a:p>
            <a:r>
              <a:rPr lang="en" altLang="zh-CN" b="0" i="0" dirty="0">
                <a:effectLst/>
                <a:latin typeface="Times New Roman" panose="02020603050405020304" pitchFamily="18" charset="0"/>
                <a:cs typeface="Times New Roman" panose="02020603050405020304" pitchFamily="18" charset="0"/>
              </a:rPr>
              <a:t>L1 Hypervisor: customize virtualization.</a:t>
            </a:r>
          </a:p>
        </p:txBody>
      </p:sp>
    </p:spTree>
    <p:extLst>
      <p:ext uri="{BB962C8B-B14F-4D97-AF65-F5344CB8AC3E}">
        <p14:creationId xmlns:p14="http://schemas.microsoft.com/office/powerpoint/2010/main" val="387000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P spid="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618870-723F-9EEB-EA59-2793D616EC41}"/>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PVM - Switcher</a:t>
            </a:r>
            <a:endParaRPr kumimoji="1" lang="en-US" altLang="zh-CN" sz="3600"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CBD3EF55-89E6-9076-6238-89597631BB7D}"/>
              </a:ext>
            </a:extLst>
          </p:cNvPr>
          <p:cNvSpPr txBox="1"/>
          <p:nvPr/>
        </p:nvSpPr>
        <p:spPr>
          <a:xfrm>
            <a:off x="365900" y="1103402"/>
            <a:ext cx="8229600" cy="1107996"/>
          </a:xfrm>
          <a:prstGeom prst="rect">
            <a:avLst/>
          </a:prstGeom>
          <a:noFill/>
        </p:spPr>
        <p:txBody>
          <a:bodyPr wrap="square">
            <a:spAutoFit/>
          </a:bodyPr>
          <a:lstStyle/>
          <a:p>
            <a:r>
              <a:rPr lang="zh-CN" altLang="en-US" sz="2200" dirty="0">
                <a:latin typeface="Times New Roman" panose="02020603050405020304" pitchFamily="18" charset="0"/>
                <a:cs typeface="Times New Roman" panose="02020603050405020304" pitchFamily="18" charset="0"/>
              </a:rPr>
              <a:t>The Switcher comprises efficient and concise assembly code and data structures that map to identical addresses within the </a:t>
            </a:r>
            <a:r>
              <a:rPr lang="en-US" altLang="zh-CN" sz="2200" dirty="0">
                <a:latin typeface="Times New Roman" panose="02020603050405020304" pitchFamily="18" charset="0"/>
                <a:cs typeface="Times New Roman" panose="02020603050405020304" pitchFamily="18" charset="0"/>
              </a:rPr>
              <a:t>L1 </a:t>
            </a:r>
            <a:r>
              <a:rPr lang="zh-CN" altLang="en-US" sz="2200" dirty="0">
                <a:latin typeface="Times New Roman" panose="02020603050405020304" pitchFamily="18" charset="0"/>
                <a:cs typeface="Times New Roman" panose="02020603050405020304" pitchFamily="18" charset="0"/>
              </a:rPr>
              <a:t>hypervisor, </a:t>
            </a:r>
            <a:r>
              <a:rPr lang="en-US" altLang="zh-CN" sz="2200" dirty="0">
                <a:latin typeface="Times New Roman" panose="02020603050405020304" pitchFamily="18" charset="0"/>
                <a:cs typeface="Times New Roman" panose="02020603050405020304" pitchFamily="18" charset="0"/>
              </a:rPr>
              <a:t>L2 guest </a:t>
            </a:r>
            <a:r>
              <a:rPr lang="zh-CN" altLang="en-US" sz="2200" dirty="0">
                <a:latin typeface="Times New Roman" panose="02020603050405020304" pitchFamily="18" charset="0"/>
                <a:cs typeface="Times New Roman" panose="02020603050405020304" pitchFamily="18" charset="0"/>
              </a:rPr>
              <a:t>user, and </a:t>
            </a:r>
            <a:r>
              <a:rPr lang="en-US" altLang="zh-CN" sz="2200" dirty="0">
                <a:latin typeface="Times New Roman" panose="02020603050405020304" pitchFamily="18" charset="0"/>
                <a:cs typeface="Times New Roman" panose="02020603050405020304" pitchFamily="18" charset="0"/>
              </a:rPr>
              <a:t>L2 guest </a:t>
            </a:r>
            <a:r>
              <a:rPr lang="zh-CN" altLang="en-US" sz="2200" dirty="0">
                <a:latin typeface="Times New Roman" panose="02020603050405020304" pitchFamily="18" charset="0"/>
                <a:cs typeface="Times New Roman" panose="02020603050405020304" pitchFamily="18" charset="0"/>
              </a:rPr>
              <a:t>kernel address spaces.</a:t>
            </a:r>
          </a:p>
        </p:txBody>
      </p:sp>
      <p:sp>
        <p:nvSpPr>
          <p:cNvPr id="47" name="圆角矩形 46">
            <a:extLst>
              <a:ext uri="{FF2B5EF4-FFF2-40B4-BE49-F238E27FC236}">
                <a16:creationId xmlns:a16="http://schemas.microsoft.com/office/drawing/2014/main" id="{02D4CD19-CA65-C3F8-3742-AE5DB49FB3C0}"/>
              </a:ext>
            </a:extLst>
          </p:cNvPr>
          <p:cNvSpPr/>
          <p:nvPr/>
        </p:nvSpPr>
        <p:spPr>
          <a:xfrm>
            <a:off x="6124646" y="2848384"/>
            <a:ext cx="1620000" cy="540000"/>
          </a:xfrm>
          <a:prstGeom prst="round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solidFill>
                  <a:schemeClr val="tx1"/>
                </a:solidFill>
              </a:rPr>
              <a:t>Guest</a:t>
            </a:r>
            <a:endParaRPr kumimoji="1" lang="zh-CN" altLang="en-US" sz="2000" dirty="0">
              <a:solidFill>
                <a:schemeClr val="tx1"/>
              </a:solidFill>
            </a:endParaRPr>
          </a:p>
        </p:txBody>
      </p:sp>
      <p:cxnSp>
        <p:nvCxnSpPr>
          <p:cNvPr id="48" name="直线连接符 47">
            <a:extLst>
              <a:ext uri="{FF2B5EF4-FFF2-40B4-BE49-F238E27FC236}">
                <a16:creationId xmlns:a16="http://schemas.microsoft.com/office/drawing/2014/main" id="{2423EF60-C679-854A-7EB3-B9B80E266FDE}"/>
              </a:ext>
            </a:extLst>
          </p:cNvPr>
          <p:cNvCxnSpPr>
            <a:cxnSpLocks/>
          </p:cNvCxnSpPr>
          <p:nvPr/>
        </p:nvCxnSpPr>
        <p:spPr>
          <a:xfrm>
            <a:off x="4879340" y="3700799"/>
            <a:ext cx="3960000"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47F089A5-7142-340A-658E-D138D6DA6436}"/>
              </a:ext>
            </a:extLst>
          </p:cNvPr>
          <p:cNvSpPr/>
          <p:nvPr/>
        </p:nvSpPr>
        <p:spPr>
          <a:xfrm>
            <a:off x="5849457" y="4259907"/>
            <a:ext cx="2207941" cy="153528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文本框 49">
            <a:extLst>
              <a:ext uri="{FF2B5EF4-FFF2-40B4-BE49-F238E27FC236}">
                <a16:creationId xmlns:a16="http://schemas.microsoft.com/office/drawing/2014/main" id="{45783ED2-2B77-BF00-8058-91855DF65FCE}"/>
              </a:ext>
            </a:extLst>
          </p:cNvPr>
          <p:cNvSpPr txBox="1"/>
          <p:nvPr/>
        </p:nvSpPr>
        <p:spPr>
          <a:xfrm>
            <a:off x="6412167" y="5476285"/>
            <a:ext cx="1284337" cy="369332"/>
          </a:xfrm>
          <a:prstGeom prst="rect">
            <a:avLst/>
          </a:prstGeom>
          <a:noFill/>
        </p:spPr>
        <p:txBody>
          <a:bodyPr wrap="square" rtlCol="0">
            <a:spAutoFit/>
          </a:bodyPr>
          <a:lstStyle/>
          <a:p>
            <a:r>
              <a:rPr kumimoji="1" lang="en-US" altLang="zh-CN" b="1" dirty="0"/>
              <a:t>switcher</a:t>
            </a:r>
            <a:endParaRPr kumimoji="1" lang="zh-CN" altLang="en-US" b="1" dirty="0"/>
          </a:p>
        </p:txBody>
      </p:sp>
      <p:sp>
        <p:nvSpPr>
          <p:cNvPr id="51" name="矩形 50">
            <a:extLst>
              <a:ext uri="{FF2B5EF4-FFF2-40B4-BE49-F238E27FC236}">
                <a16:creationId xmlns:a16="http://schemas.microsoft.com/office/drawing/2014/main" id="{A3312F09-6205-7B48-8177-88AC55002B79}"/>
              </a:ext>
            </a:extLst>
          </p:cNvPr>
          <p:cNvSpPr/>
          <p:nvPr/>
        </p:nvSpPr>
        <p:spPr>
          <a:xfrm>
            <a:off x="6124646" y="4287792"/>
            <a:ext cx="1605776" cy="28993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rPr>
              <a:t>syscall</a:t>
            </a:r>
            <a:r>
              <a:rPr kumimoji="1" lang="en-US" altLang="zh-CN" dirty="0">
                <a:solidFill>
                  <a:schemeClr val="tx1"/>
                </a:solidFill>
              </a:rPr>
              <a:t> entry</a:t>
            </a:r>
            <a:endParaRPr kumimoji="1" lang="zh-CN" altLang="en-US" dirty="0">
              <a:solidFill>
                <a:schemeClr val="tx1"/>
              </a:solidFill>
            </a:endParaRPr>
          </a:p>
        </p:txBody>
      </p:sp>
      <p:sp>
        <p:nvSpPr>
          <p:cNvPr id="52" name="矩形 51">
            <a:extLst>
              <a:ext uri="{FF2B5EF4-FFF2-40B4-BE49-F238E27FC236}">
                <a16:creationId xmlns:a16="http://schemas.microsoft.com/office/drawing/2014/main" id="{F135CAB7-D99E-E2DB-E901-A3FAF9151492}"/>
              </a:ext>
            </a:extLst>
          </p:cNvPr>
          <p:cNvSpPr/>
          <p:nvPr/>
        </p:nvSpPr>
        <p:spPr>
          <a:xfrm>
            <a:off x="6129787" y="4605161"/>
            <a:ext cx="1605776" cy="28993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rPr>
              <a:t>idt</a:t>
            </a:r>
            <a:r>
              <a:rPr kumimoji="1" lang="en-US" altLang="zh-CN" dirty="0">
                <a:solidFill>
                  <a:schemeClr val="tx1"/>
                </a:solidFill>
              </a:rPr>
              <a:t> entries</a:t>
            </a:r>
            <a:endParaRPr kumimoji="1" lang="zh-CN" altLang="en-US" dirty="0">
              <a:solidFill>
                <a:schemeClr val="tx1"/>
              </a:solidFill>
            </a:endParaRPr>
          </a:p>
        </p:txBody>
      </p:sp>
      <p:sp>
        <p:nvSpPr>
          <p:cNvPr id="53" name="圆角矩形 52">
            <a:extLst>
              <a:ext uri="{FF2B5EF4-FFF2-40B4-BE49-F238E27FC236}">
                <a16:creationId xmlns:a16="http://schemas.microsoft.com/office/drawing/2014/main" id="{C6280EEF-4D74-37FC-784B-97FC01B82499}"/>
              </a:ext>
            </a:extLst>
          </p:cNvPr>
          <p:cNvSpPr/>
          <p:nvPr/>
        </p:nvSpPr>
        <p:spPr>
          <a:xfrm>
            <a:off x="6054022" y="6210754"/>
            <a:ext cx="1620000" cy="540000"/>
          </a:xfrm>
          <a:prstGeom prst="round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solidFill>
                  <a:schemeClr val="tx1"/>
                </a:solidFill>
              </a:rPr>
              <a:t>Hypervisor</a:t>
            </a:r>
            <a:endParaRPr kumimoji="1" lang="zh-CN" altLang="en-US" sz="2000" dirty="0">
              <a:solidFill>
                <a:schemeClr val="tx1"/>
              </a:solidFill>
            </a:endParaRPr>
          </a:p>
        </p:txBody>
      </p:sp>
      <p:sp>
        <p:nvSpPr>
          <p:cNvPr id="54" name="文本框 53">
            <a:extLst>
              <a:ext uri="{FF2B5EF4-FFF2-40B4-BE49-F238E27FC236}">
                <a16:creationId xmlns:a16="http://schemas.microsoft.com/office/drawing/2014/main" id="{154AD003-E4F7-4C01-8C89-B303F16BE904}"/>
              </a:ext>
            </a:extLst>
          </p:cNvPr>
          <p:cNvSpPr txBox="1"/>
          <p:nvPr/>
        </p:nvSpPr>
        <p:spPr>
          <a:xfrm>
            <a:off x="5362832" y="5852049"/>
            <a:ext cx="1565451" cy="338554"/>
          </a:xfrm>
          <a:prstGeom prst="rect">
            <a:avLst/>
          </a:prstGeom>
          <a:noFill/>
        </p:spPr>
        <p:txBody>
          <a:bodyPr wrap="square" rtlCol="0">
            <a:spAutoFit/>
          </a:bodyPr>
          <a:lstStyle/>
          <a:p>
            <a:r>
              <a:rPr kumimoji="1" lang="en-US" altLang="zh-CN" sz="1600" dirty="0"/>
              <a:t>① function call</a:t>
            </a:r>
          </a:p>
        </p:txBody>
      </p:sp>
      <p:sp>
        <p:nvSpPr>
          <p:cNvPr id="55" name="矩形 54">
            <a:extLst>
              <a:ext uri="{FF2B5EF4-FFF2-40B4-BE49-F238E27FC236}">
                <a16:creationId xmlns:a16="http://schemas.microsoft.com/office/drawing/2014/main" id="{FD65A718-6A5A-50B2-A2D6-BCA8E9A09F76}"/>
              </a:ext>
            </a:extLst>
          </p:cNvPr>
          <p:cNvSpPr/>
          <p:nvPr/>
        </p:nvSpPr>
        <p:spPr>
          <a:xfrm>
            <a:off x="6135342" y="5243024"/>
            <a:ext cx="1605776" cy="28993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rPr>
              <a:t>to_hypervisor</a:t>
            </a:r>
            <a:endParaRPr kumimoji="1" lang="zh-CN" altLang="en-US" dirty="0">
              <a:solidFill>
                <a:schemeClr val="tx1"/>
              </a:solidFill>
            </a:endParaRPr>
          </a:p>
        </p:txBody>
      </p:sp>
      <p:sp>
        <p:nvSpPr>
          <p:cNvPr id="56" name="矩形 55">
            <a:extLst>
              <a:ext uri="{FF2B5EF4-FFF2-40B4-BE49-F238E27FC236}">
                <a16:creationId xmlns:a16="http://schemas.microsoft.com/office/drawing/2014/main" id="{14463021-FF0E-7067-A320-1A9F112BB3E5}"/>
              </a:ext>
            </a:extLst>
          </p:cNvPr>
          <p:cNvSpPr/>
          <p:nvPr/>
        </p:nvSpPr>
        <p:spPr>
          <a:xfrm>
            <a:off x="6129993" y="4924785"/>
            <a:ext cx="1605776" cy="28993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rPr>
              <a:t>enter_guest</a:t>
            </a:r>
            <a:endParaRPr kumimoji="1" lang="zh-CN" altLang="en-US" dirty="0">
              <a:solidFill>
                <a:schemeClr val="tx1"/>
              </a:solidFill>
            </a:endParaRPr>
          </a:p>
        </p:txBody>
      </p:sp>
      <p:cxnSp>
        <p:nvCxnSpPr>
          <p:cNvPr id="57" name="肘形连接符 56">
            <a:extLst>
              <a:ext uri="{FF2B5EF4-FFF2-40B4-BE49-F238E27FC236}">
                <a16:creationId xmlns:a16="http://schemas.microsoft.com/office/drawing/2014/main" id="{27AE5802-242A-DA73-4B84-4C6266D7922B}"/>
              </a:ext>
            </a:extLst>
          </p:cNvPr>
          <p:cNvCxnSpPr>
            <a:stCxn id="53" idx="0"/>
            <a:endCxn id="56" idx="1"/>
          </p:cNvCxnSpPr>
          <p:nvPr/>
        </p:nvCxnSpPr>
        <p:spPr>
          <a:xfrm rot="16200000" flipV="1">
            <a:off x="5926507" y="5273238"/>
            <a:ext cx="1141003" cy="734029"/>
          </a:xfrm>
          <a:prstGeom prst="bentConnector4">
            <a:avLst>
              <a:gd name="adj1" fmla="val 24566"/>
              <a:gd name="adj2" fmla="val 203779"/>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肘形连接符 57">
            <a:extLst>
              <a:ext uri="{FF2B5EF4-FFF2-40B4-BE49-F238E27FC236}">
                <a16:creationId xmlns:a16="http://schemas.microsoft.com/office/drawing/2014/main" id="{9D133B88-CA60-139B-DECB-C4FB1EF7D43F}"/>
              </a:ext>
            </a:extLst>
          </p:cNvPr>
          <p:cNvCxnSpPr>
            <a:cxnSpLocks/>
            <a:stCxn id="56" idx="3"/>
            <a:endCxn id="47" idx="2"/>
          </p:cNvCxnSpPr>
          <p:nvPr/>
        </p:nvCxnSpPr>
        <p:spPr>
          <a:xfrm flipH="1" flipV="1">
            <a:off x="6934646" y="3388384"/>
            <a:ext cx="801123" cy="1681367"/>
          </a:xfrm>
          <a:prstGeom prst="bentConnector4">
            <a:avLst>
              <a:gd name="adj1" fmla="val -28535"/>
              <a:gd name="adj2" fmla="val 5431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606F096F-62FA-A6F1-00F9-310CAA16D5A1}"/>
              </a:ext>
            </a:extLst>
          </p:cNvPr>
          <p:cNvSpPr txBox="1"/>
          <p:nvPr/>
        </p:nvSpPr>
        <p:spPr>
          <a:xfrm>
            <a:off x="6916828" y="3658468"/>
            <a:ext cx="1565451" cy="338554"/>
          </a:xfrm>
          <a:prstGeom prst="rect">
            <a:avLst/>
          </a:prstGeom>
          <a:noFill/>
        </p:spPr>
        <p:txBody>
          <a:bodyPr wrap="square" rtlCol="0">
            <a:spAutoFit/>
          </a:bodyPr>
          <a:lstStyle/>
          <a:p>
            <a:r>
              <a:rPr kumimoji="1" lang="en-US" altLang="zh-CN" sz="1600" dirty="0"/>
              <a:t>② </a:t>
            </a:r>
            <a:r>
              <a:rPr kumimoji="1" lang="en-US" altLang="zh-CN" sz="1600" dirty="0" err="1"/>
              <a:t>iret</a:t>
            </a:r>
            <a:endParaRPr kumimoji="1" lang="en-US" altLang="zh-CN" sz="1600" dirty="0"/>
          </a:p>
        </p:txBody>
      </p:sp>
      <p:sp>
        <p:nvSpPr>
          <p:cNvPr id="82" name="文本框 81">
            <a:extLst>
              <a:ext uri="{FF2B5EF4-FFF2-40B4-BE49-F238E27FC236}">
                <a16:creationId xmlns:a16="http://schemas.microsoft.com/office/drawing/2014/main" id="{D678D987-88B3-67E9-1D4A-73C018B94C0B}"/>
              </a:ext>
            </a:extLst>
          </p:cNvPr>
          <p:cNvSpPr txBox="1"/>
          <p:nvPr/>
        </p:nvSpPr>
        <p:spPr>
          <a:xfrm>
            <a:off x="5178573" y="2231549"/>
            <a:ext cx="3520713" cy="430887"/>
          </a:xfrm>
          <a:prstGeom prst="rect">
            <a:avLst/>
          </a:prstGeom>
          <a:noFill/>
        </p:spPr>
        <p:txBody>
          <a:bodyPr wrap="square" rtlCol="0">
            <a:spAutoFit/>
          </a:bodyPr>
          <a:lstStyle/>
          <a:p>
            <a:r>
              <a:rPr kumimoji="1" lang="en-US" altLang="zh-CN" sz="2200" b="1" dirty="0">
                <a:solidFill>
                  <a:srgbClr val="002060"/>
                </a:solidFill>
                <a:latin typeface="Times New Roman" panose="02020603050405020304" pitchFamily="18" charset="0"/>
                <a:cs typeface="Times New Roman" panose="02020603050405020304" pitchFamily="18" charset="0"/>
              </a:rPr>
              <a:t>world switching: VM-Entry</a:t>
            </a:r>
            <a:endParaRPr kumimoji="1" lang="zh-CN" altLang="en-US" sz="2200" b="1" dirty="0">
              <a:solidFill>
                <a:srgbClr val="002060"/>
              </a:solidFill>
              <a:latin typeface="Times New Roman" panose="02020603050405020304" pitchFamily="18" charset="0"/>
              <a:cs typeface="Times New Roman" panose="02020603050405020304" pitchFamily="18" charset="0"/>
            </a:endParaRPr>
          </a:p>
        </p:txBody>
      </p:sp>
      <p:cxnSp>
        <p:nvCxnSpPr>
          <p:cNvPr id="4" name="直线连接符 3">
            <a:extLst>
              <a:ext uri="{FF2B5EF4-FFF2-40B4-BE49-F238E27FC236}">
                <a16:creationId xmlns:a16="http://schemas.microsoft.com/office/drawing/2014/main" id="{39D2621B-14F2-3E08-3F99-F678EB480378}"/>
              </a:ext>
            </a:extLst>
          </p:cNvPr>
          <p:cNvCxnSpPr>
            <a:cxnSpLocks/>
          </p:cNvCxnSpPr>
          <p:nvPr/>
        </p:nvCxnSpPr>
        <p:spPr>
          <a:xfrm>
            <a:off x="548898" y="3703980"/>
            <a:ext cx="3960000"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线箭头连接符 4">
            <a:extLst>
              <a:ext uri="{FF2B5EF4-FFF2-40B4-BE49-F238E27FC236}">
                <a16:creationId xmlns:a16="http://schemas.microsoft.com/office/drawing/2014/main" id="{0DDD98FC-0B16-5048-581D-8A4E73E98E57}"/>
              </a:ext>
            </a:extLst>
          </p:cNvPr>
          <p:cNvCxnSpPr>
            <a:cxnSpLocks/>
          </p:cNvCxnSpPr>
          <p:nvPr/>
        </p:nvCxnSpPr>
        <p:spPr>
          <a:xfrm>
            <a:off x="2280906" y="3128983"/>
            <a:ext cx="0" cy="65890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 name="直线箭头连接符 5">
            <a:extLst>
              <a:ext uri="{FF2B5EF4-FFF2-40B4-BE49-F238E27FC236}">
                <a16:creationId xmlns:a16="http://schemas.microsoft.com/office/drawing/2014/main" id="{85C3AFA6-5A2E-C43B-15F5-6137A20F6DBE}"/>
              </a:ext>
            </a:extLst>
          </p:cNvPr>
          <p:cNvCxnSpPr>
            <a:cxnSpLocks/>
          </p:cNvCxnSpPr>
          <p:nvPr/>
        </p:nvCxnSpPr>
        <p:spPr>
          <a:xfrm>
            <a:off x="2811630" y="3098247"/>
            <a:ext cx="0" cy="689636"/>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BE41AB22-58C2-15BC-3EDA-FE1733130C08}"/>
              </a:ext>
            </a:extLst>
          </p:cNvPr>
          <p:cNvSpPr/>
          <p:nvPr/>
        </p:nvSpPr>
        <p:spPr>
          <a:xfrm>
            <a:off x="1165953" y="3795314"/>
            <a:ext cx="1180628" cy="418170"/>
          </a:xfrm>
          <a:prstGeom prst="rect">
            <a:avLst/>
          </a:prstGeom>
          <a:solidFill>
            <a:schemeClr val="accent1">
              <a:lumMod val="20000"/>
              <a:lumOff val="80000"/>
            </a:schemeClr>
          </a:solidFill>
          <a:ln w="25400">
            <a:solidFill>
              <a:schemeClr val="tx1"/>
            </a:solidFill>
            <a:prstDash val="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altLang="zh-CN" dirty="0" err="1">
                <a:solidFill>
                  <a:schemeClr val="tx1"/>
                </a:solidFill>
              </a:rPr>
              <a:t>msr_lstar</a:t>
            </a:r>
            <a:endParaRPr kumimoji="1" lang="zh-CN" altLang="en-US" dirty="0">
              <a:solidFill>
                <a:schemeClr val="tx1"/>
              </a:solidFill>
            </a:endParaRPr>
          </a:p>
        </p:txBody>
      </p:sp>
      <p:sp>
        <p:nvSpPr>
          <p:cNvPr id="8" name="矩形 7">
            <a:extLst>
              <a:ext uri="{FF2B5EF4-FFF2-40B4-BE49-F238E27FC236}">
                <a16:creationId xmlns:a16="http://schemas.microsoft.com/office/drawing/2014/main" id="{C93875B6-FBD1-6BAE-4A2E-B43D9D87BEA1}"/>
              </a:ext>
            </a:extLst>
          </p:cNvPr>
          <p:cNvSpPr/>
          <p:nvPr/>
        </p:nvSpPr>
        <p:spPr>
          <a:xfrm>
            <a:off x="2748570" y="3787883"/>
            <a:ext cx="1180628" cy="418170"/>
          </a:xfrm>
          <a:prstGeom prst="rect">
            <a:avLst/>
          </a:prstGeom>
          <a:solidFill>
            <a:schemeClr val="accent1">
              <a:lumMod val="20000"/>
              <a:lumOff val="80000"/>
            </a:schemeClr>
          </a:solidFill>
          <a:ln w="25400">
            <a:solidFill>
              <a:schemeClr val="tx1"/>
            </a:solidFill>
            <a:prstDash val="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 altLang="zh-CN" dirty="0" err="1">
                <a:solidFill>
                  <a:schemeClr val="tx1"/>
                </a:solidFill>
              </a:rPr>
              <a:t>idtr</a:t>
            </a:r>
            <a:endParaRPr kumimoji="1" lang="zh-CN" altLang="en-US" dirty="0">
              <a:solidFill>
                <a:schemeClr val="tx1"/>
              </a:solidFill>
            </a:endParaRPr>
          </a:p>
        </p:txBody>
      </p:sp>
      <p:sp>
        <p:nvSpPr>
          <p:cNvPr id="9" name="文本框 8">
            <a:extLst>
              <a:ext uri="{FF2B5EF4-FFF2-40B4-BE49-F238E27FC236}">
                <a16:creationId xmlns:a16="http://schemas.microsoft.com/office/drawing/2014/main" id="{99C93B75-56A5-42AA-229F-A2DE409FA7DB}"/>
              </a:ext>
            </a:extLst>
          </p:cNvPr>
          <p:cNvSpPr txBox="1"/>
          <p:nvPr/>
        </p:nvSpPr>
        <p:spPr>
          <a:xfrm>
            <a:off x="2106401" y="5590991"/>
            <a:ext cx="1284337" cy="369332"/>
          </a:xfrm>
          <a:prstGeom prst="rect">
            <a:avLst/>
          </a:prstGeom>
          <a:noFill/>
        </p:spPr>
        <p:txBody>
          <a:bodyPr wrap="square" rtlCol="0">
            <a:spAutoFit/>
          </a:bodyPr>
          <a:lstStyle/>
          <a:p>
            <a:r>
              <a:rPr kumimoji="1" lang="en-US" altLang="zh-CN" b="1" dirty="0"/>
              <a:t>Switcher</a:t>
            </a:r>
            <a:endParaRPr kumimoji="1" lang="zh-CN" altLang="en-US" b="1" dirty="0"/>
          </a:p>
        </p:txBody>
      </p:sp>
      <p:sp>
        <p:nvSpPr>
          <p:cNvPr id="10" name="文本框 9">
            <a:extLst>
              <a:ext uri="{FF2B5EF4-FFF2-40B4-BE49-F238E27FC236}">
                <a16:creationId xmlns:a16="http://schemas.microsoft.com/office/drawing/2014/main" id="{8F005E80-800D-C3D8-32D9-9123EF2CE808}"/>
              </a:ext>
            </a:extLst>
          </p:cNvPr>
          <p:cNvSpPr txBox="1"/>
          <p:nvPr/>
        </p:nvSpPr>
        <p:spPr>
          <a:xfrm>
            <a:off x="1165952" y="3162655"/>
            <a:ext cx="1529448" cy="584775"/>
          </a:xfrm>
          <a:prstGeom prst="rect">
            <a:avLst/>
          </a:prstGeom>
          <a:noFill/>
        </p:spPr>
        <p:txBody>
          <a:bodyPr wrap="square" rtlCol="0">
            <a:spAutoFit/>
          </a:bodyPr>
          <a:lstStyle/>
          <a:p>
            <a:r>
              <a:rPr kumimoji="1" lang="zh-CN" altLang="en-US" sz="1600" dirty="0"/>
              <a:t>❶</a:t>
            </a:r>
            <a:r>
              <a:rPr kumimoji="1" lang="en-US" altLang="zh-CN" sz="1600" dirty="0" err="1"/>
              <a:t>syscall</a:t>
            </a:r>
            <a:r>
              <a:rPr kumimoji="1" lang="en-US" altLang="zh-CN" sz="1600" dirty="0"/>
              <a:t>/</a:t>
            </a:r>
          </a:p>
          <a:p>
            <a:r>
              <a:rPr kumimoji="1" lang="zh-CN" altLang="en-US" sz="1600" dirty="0"/>
              <a:t>    </a:t>
            </a:r>
            <a:r>
              <a:rPr kumimoji="1" lang="en-US" altLang="zh-CN" sz="1600" dirty="0" err="1"/>
              <a:t>hypercall</a:t>
            </a:r>
            <a:endParaRPr kumimoji="1" lang="zh-CN" altLang="en-US" sz="1600" dirty="0"/>
          </a:p>
        </p:txBody>
      </p:sp>
      <p:sp>
        <p:nvSpPr>
          <p:cNvPr id="11" name="文本框 10">
            <a:extLst>
              <a:ext uri="{FF2B5EF4-FFF2-40B4-BE49-F238E27FC236}">
                <a16:creationId xmlns:a16="http://schemas.microsoft.com/office/drawing/2014/main" id="{3C16FC3A-B6D1-5374-F3CF-BD53438BC4D2}"/>
              </a:ext>
            </a:extLst>
          </p:cNvPr>
          <p:cNvSpPr txBox="1"/>
          <p:nvPr/>
        </p:nvSpPr>
        <p:spPr>
          <a:xfrm>
            <a:off x="2771521" y="3203419"/>
            <a:ext cx="1529447" cy="584775"/>
          </a:xfrm>
          <a:prstGeom prst="rect">
            <a:avLst/>
          </a:prstGeom>
          <a:noFill/>
        </p:spPr>
        <p:txBody>
          <a:bodyPr wrap="square" rtlCol="0">
            <a:spAutoFit/>
          </a:bodyPr>
          <a:lstStyle/>
          <a:p>
            <a:r>
              <a:rPr kumimoji="1" lang="zh-CN" altLang="en-US" sz="1600" dirty="0"/>
              <a:t>①</a:t>
            </a:r>
            <a:r>
              <a:rPr kumimoji="1" lang="en-US" altLang="zh-CN" sz="1600" dirty="0"/>
              <a:t>interrupt/</a:t>
            </a:r>
          </a:p>
          <a:p>
            <a:r>
              <a:rPr kumimoji="1" lang="zh-CN" altLang="en-US" sz="1600" dirty="0"/>
              <a:t>   </a:t>
            </a:r>
            <a:r>
              <a:rPr kumimoji="1" lang="en-US" altLang="zh-CN" sz="1600" dirty="0"/>
              <a:t>exception</a:t>
            </a:r>
            <a:endParaRPr kumimoji="1" lang="zh-CN" altLang="en-US" sz="1600" dirty="0"/>
          </a:p>
        </p:txBody>
      </p:sp>
      <p:sp>
        <p:nvSpPr>
          <p:cNvPr id="12" name="圆角矩形 11">
            <a:extLst>
              <a:ext uri="{FF2B5EF4-FFF2-40B4-BE49-F238E27FC236}">
                <a16:creationId xmlns:a16="http://schemas.microsoft.com/office/drawing/2014/main" id="{977083FA-6806-A8A3-78EA-DD210D4D3559}"/>
              </a:ext>
            </a:extLst>
          </p:cNvPr>
          <p:cNvSpPr/>
          <p:nvPr/>
        </p:nvSpPr>
        <p:spPr>
          <a:xfrm>
            <a:off x="1756267" y="6190637"/>
            <a:ext cx="1620000" cy="540000"/>
          </a:xfrm>
          <a:prstGeom prst="round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solidFill>
                  <a:schemeClr val="tx1"/>
                </a:solidFill>
              </a:rPr>
              <a:t>Hypervisor</a:t>
            </a:r>
            <a:endParaRPr kumimoji="1" lang="zh-CN" altLang="en-US" sz="2000" dirty="0">
              <a:solidFill>
                <a:schemeClr val="tx1"/>
              </a:solidFill>
            </a:endParaRPr>
          </a:p>
        </p:txBody>
      </p:sp>
      <p:sp>
        <p:nvSpPr>
          <p:cNvPr id="13" name="文本框 12">
            <a:extLst>
              <a:ext uri="{FF2B5EF4-FFF2-40B4-BE49-F238E27FC236}">
                <a16:creationId xmlns:a16="http://schemas.microsoft.com/office/drawing/2014/main" id="{EDB3A7FC-30D5-655D-0F12-5FA6758C8C85}"/>
              </a:ext>
            </a:extLst>
          </p:cNvPr>
          <p:cNvSpPr txBox="1"/>
          <p:nvPr/>
        </p:nvSpPr>
        <p:spPr>
          <a:xfrm>
            <a:off x="3350692" y="6121460"/>
            <a:ext cx="1180628" cy="338554"/>
          </a:xfrm>
          <a:prstGeom prst="rect">
            <a:avLst/>
          </a:prstGeom>
          <a:noFill/>
        </p:spPr>
        <p:txBody>
          <a:bodyPr wrap="square" rtlCol="0">
            <a:spAutoFit/>
          </a:bodyPr>
          <a:lstStyle/>
          <a:p>
            <a:r>
              <a:rPr kumimoji="1" lang="en-US" altLang="zh-CN" sz="1600" dirty="0"/>
              <a:t>②/❷ ret</a:t>
            </a:r>
          </a:p>
        </p:txBody>
      </p:sp>
      <p:sp>
        <p:nvSpPr>
          <p:cNvPr id="14" name="矩形 13">
            <a:extLst>
              <a:ext uri="{FF2B5EF4-FFF2-40B4-BE49-F238E27FC236}">
                <a16:creationId xmlns:a16="http://schemas.microsoft.com/office/drawing/2014/main" id="{43FAB60B-AD87-909D-A82A-047FC1980E71}"/>
              </a:ext>
            </a:extLst>
          </p:cNvPr>
          <p:cNvSpPr/>
          <p:nvPr/>
        </p:nvSpPr>
        <p:spPr>
          <a:xfrm>
            <a:off x="1440171" y="4475044"/>
            <a:ext cx="2207941" cy="1535284"/>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341C2D7F-B24B-4761-82D7-2FB805BA389F}"/>
              </a:ext>
            </a:extLst>
          </p:cNvPr>
          <p:cNvSpPr txBox="1"/>
          <p:nvPr/>
        </p:nvSpPr>
        <p:spPr>
          <a:xfrm>
            <a:off x="2002881" y="5691422"/>
            <a:ext cx="1284337" cy="369332"/>
          </a:xfrm>
          <a:prstGeom prst="rect">
            <a:avLst/>
          </a:prstGeom>
          <a:noFill/>
        </p:spPr>
        <p:txBody>
          <a:bodyPr wrap="square" rtlCol="0">
            <a:spAutoFit/>
          </a:bodyPr>
          <a:lstStyle/>
          <a:p>
            <a:r>
              <a:rPr kumimoji="1" lang="en-US" altLang="zh-CN" b="1" dirty="0"/>
              <a:t>switcher</a:t>
            </a:r>
            <a:endParaRPr kumimoji="1" lang="zh-CN" altLang="en-US" b="1" dirty="0"/>
          </a:p>
        </p:txBody>
      </p:sp>
      <p:sp>
        <p:nvSpPr>
          <p:cNvPr id="16" name="矩形 15">
            <a:extLst>
              <a:ext uri="{FF2B5EF4-FFF2-40B4-BE49-F238E27FC236}">
                <a16:creationId xmlns:a16="http://schemas.microsoft.com/office/drawing/2014/main" id="{9640751E-CE43-806B-937E-B3C4756999DA}"/>
              </a:ext>
            </a:extLst>
          </p:cNvPr>
          <p:cNvSpPr/>
          <p:nvPr/>
        </p:nvSpPr>
        <p:spPr>
          <a:xfrm>
            <a:off x="1715360" y="4502929"/>
            <a:ext cx="1605776" cy="28993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rPr>
              <a:t>syscall</a:t>
            </a:r>
            <a:r>
              <a:rPr kumimoji="1" lang="en-US" altLang="zh-CN" dirty="0">
                <a:solidFill>
                  <a:schemeClr val="tx1"/>
                </a:solidFill>
              </a:rPr>
              <a:t> entry</a:t>
            </a:r>
            <a:endParaRPr kumimoji="1" lang="zh-CN" altLang="en-US" dirty="0">
              <a:solidFill>
                <a:schemeClr val="tx1"/>
              </a:solidFill>
            </a:endParaRPr>
          </a:p>
        </p:txBody>
      </p:sp>
      <p:sp>
        <p:nvSpPr>
          <p:cNvPr id="17" name="矩形 16">
            <a:extLst>
              <a:ext uri="{FF2B5EF4-FFF2-40B4-BE49-F238E27FC236}">
                <a16:creationId xmlns:a16="http://schemas.microsoft.com/office/drawing/2014/main" id="{BECAAD2F-B029-E688-172C-55CA8CC55D18}"/>
              </a:ext>
            </a:extLst>
          </p:cNvPr>
          <p:cNvSpPr/>
          <p:nvPr/>
        </p:nvSpPr>
        <p:spPr>
          <a:xfrm>
            <a:off x="1720501" y="4820298"/>
            <a:ext cx="1605776" cy="28993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rPr>
              <a:t>idt</a:t>
            </a:r>
            <a:r>
              <a:rPr kumimoji="1" lang="en-US" altLang="zh-CN" dirty="0">
                <a:solidFill>
                  <a:schemeClr val="tx1"/>
                </a:solidFill>
              </a:rPr>
              <a:t> entries</a:t>
            </a:r>
            <a:endParaRPr kumimoji="1" lang="zh-CN" altLang="en-US" dirty="0">
              <a:solidFill>
                <a:schemeClr val="tx1"/>
              </a:solidFill>
            </a:endParaRPr>
          </a:p>
        </p:txBody>
      </p:sp>
      <p:sp>
        <p:nvSpPr>
          <p:cNvPr id="18" name="矩形 17">
            <a:extLst>
              <a:ext uri="{FF2B5EF4-FFF2-40B4-BE49-F238E27FC236}">
                <a16:creationId xmlns:a16="http://schemas.microsoft.com/office/drawing/2014/main" id="{CD473A10-EB29-597A-7C66-2EBD93C7D643}"/>
              </a:ext>
            </a:extLst>
          </p:cNvPr>
          <p:cNvSpPr/>
          <p:nvPr/>
        </p:nvSpPr>
        <p:spPr>
          <a:xfrm>
            <a:off x="1726056" y="5458161"/>
            <a:ext cx="1605776" cy="28993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rPr>
              <a:t>to_hypervisor</a:t>
            </a:r>
            <a:endParaRPr kumimoji="1" lang="zh-CN" altLang="en-US" dirty="0">
              <a:solidFill>
                <a:schemeClr val="tx1"/>
              </a:solidFill>
            </a:endParaRPr>
          </a:p>
        </p:txBody>
      </p:sp>
      <p:sp>
        <p:nvSpPr>
          <p:cNvPr id="19" name="矩形 18">
            <a:extLst>
              <a:ext uri="{FF2B5EF4-FFF2-40B4-BE49-F238E27FC236}">
                <a16:creationId xmlns:a16="http://schemas.microsoft.com/office/drawing/2014/main" id="{D009F0C7-F2B1-9291-C44B-744671021F0A}"/>
              </a:ext>
            </a:extLst>
          </p:cNvPr>
          <p:cNvSpPr/>
          <p:nvPr/>
        </p:nvSpPr>
        <p:spPr>
          <a:xfrm>
            <a:off x="1720707" y="5139922"/>
            <a:ext cx="1605776" cy="289932"/>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rPr>
              <a:t>enter_guest</a:t>
            </a:r>
            <a:endParaRPr kumimoji="1" lang="zh-CN" altLang="en-US" dirty="0">
              <a:solidFill>
                <a:schemeClr val="tx1"/>
              </a:solidFill>
            </a:endParaRPr>
          </a:p>
        </p:txBody>
      </p:sp>
      <p:cxnSp>
        <p:nvCxnSpPr>
          <p:cNvPr id="20" name="肘形连接符 19">
            <a:extLst>
              <a:ext uri="{FF2B5EF4-FFF2-40B4-BE49-F238E27FC236}">
                <a16:creationId xmlns:a16="http://schemas.microsoft.com/office/drawing/2014/main" id="{9C31F942-E465-B445-9691-AA5238515B60}"/>
              </a:ext>
            </a:extLst>
          </p:cNvPr>
          <p:cNvCxnSpPr>
            <a:cxnSpLocks/>
            <a:stCxn id="7" idx="1"/>
            <a:endCxn id="16" idx="1"/>
          </p:cNvCxnSpPr>
          <p:nvPr/>
        </p:nvCxnSpPr>
        <p:spPr>
          <a:xfrm rot="10800000" flipH="1" flipV="1">
            <a:off x="1165952" y="4004399"/>
            <a:ext cx="549407" cy="643496"/>
          </a:xfrm>
          <a:prstGeom prst="bentConnector3">
            <a:avLst>
              <a:gd name="adj1" fmla="val -41608"/>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肘形连接符 20">
            <a:extLst>
              <a:ext uri="{FF2B5EF4-FFF2-40B4-BE49-F238E27FC236}">
                <a16:creationId xmlns:a16="http://schemas.microsoft.com/office/drawing/2014/main" id="{51DEBF91-5ACA-5662-C288-5FC2AF24803A}"/>
              </a:ext>
            </a:extLst>
          </p:cNvPr>
          <p:cNvCxnSpPr>
            <a:cxnSpLocks/>
            <a:stCxn id="8" idx="3"/>
            <a:endCxn id="17" idx="3"/>
          </p:cNvCxnSpPr>
          <p:nvPr/>
        </p:nvCxnSpPr>
        <p:spPr>
          <a:xfrm flipH="1">
            <a:off x="3326277" y="3996968"/>
            <a:ext cx="602921" cy="968296"/>
          </a:xfrm>
          <a:prstGeom prst="bentConnector3">
            <a:avLst>
              <a:gd name="adj1" fmla="val -37915"/>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肘形连接符 21">
            <a:extLst>
              <a:ext uri="{FF2B5EF4-FFF2-40B4-BE49-F238E27FC236}">
                <a16:creationId xmlns:a16="http://schemas.microsoft.com/office/drawing/2014/main" id="{D5F25BE6-434D-D2A9-9715-6CF7D07DD214}"/>
              </a:ext>
            </a:extLst>
          </p:cNvPr>
          <p:cNvCxnSpPr>
            <a:cxnSpLocks/>
            <a:stCxn id="18" idx="3"/>
            <a:endCxn id="12" idx="3"/>
          </p:cNvCxnSpPr>
          <p:nvPr/>
        </p:nvCxnSpPr>
        <p:spPr>
          <a:xfrm>
            <a:off x="3331832" y="5603127"/>
            <a:ext cx="44435" cy="857510"/>
          </a:xfrm>
          <a:prstGeom prst="bentConnector3">
            <a:avLst>
              <a:gd name="adj1" fmla="val 2157837"/>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圆角矩形 22">
            <a:extLst>
              <a:ext uri="{FF2B5EF4-FFF2-40B4-BE49-F238E27FC236}">
                <a16:creationId xmlns:a16="http://schemas.microsoft.com/office/drawing/2014/main" id="{FE2BDEE2-A697-6E5B-4326-26A285BE1E62}"/>
              </a:ext>
            </a:extLst>
          </p:cNvPr>
          <p:cNvSpPr/>
          <p:nvPr/>
        </p:nvSpPr>
        <p:spPr>
          <a:xfrm>
            <a:off x="1738756" y="2706117"/>
            <a:ext cx="1620000" cy="540000"/>
          </a:xfrm>
          <a:prstGeom prst="roundRect">
            <a:avLst/>
          </a:prstGeom>
          <a:solidFill>
            <a:schemeClr val="bg1"/>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solidFill>
                  <a:schemeClr val="tx1"/>
                </a:solidFill>
              </a:rPr>
              <a:t>Guest</a:t>
            </a:r>
            <a:endParaRPr kumimoji="1" lang="zh-CN" altLang="en-US" sz="2000" dirty="0">
              <a:solidFill>
                <a:schemeClr val="tx1"/>
              </a:solidFill>
            </a:endParaRPr>
          </a:p>
        </p:txBody>
      </p:sp>
      <p:sp>
        <p:nvSpPr>
          <p:cNvPr id="24" name="文本框 23">
            <a:extLst>
              <a:ext uri="{FF2B5EF4-FFF2-40B4-BE49-F238E27FC236}">
                <a16:creationId xmlns:a16="http://schemas.microsoft.com/office/drawing/2014/main" id="{7B83F305-9B16-B579-F36B-90ED694D5948}"/>
              </a:ext>
            </a:extLst>
          </p:cNvPr>
          <p:cNvSpPr txBox="1"/>
          <p:nvPr/>
        </p:nvSpPr>
        <p:spPr>
          <a:xfrm>
            <a:off x="779994" y="2231529"/>
            <a:ext cx="3476508" cy="430887"/>
          </a:xfrm>
          <a:prstGeom prst="rect">
            <a:avLst/>
          </a:prstGeom>
          <a:noFill/>
        </p:spPr>
        <p:txBody>
          <a:bodyPr wrap="square" rtlCol="0">
            <a:spAutoFit/>
          </a:bodyPr>
          <a:lstStyle/>
          <a:p>
            <a:r>
              <a:rPr kumimoji="1" lang="en-US" altLang="zh-CN" sz="2200" b="1" dirty="0">
                <a:solidFill>
                  <a:srgbClr val="002060"/>
                </a:solidFill>
                <a:latin typeface="Times New Roman" panose="02020603050405020304" pitchFamily="18" charset="0"/>
                <a:cs typeface="Times New Roman" panose="02020603050405020304" pitchFamily="18" charset="0"/>
              </a:rPr>
              <a:t>world switching: VM-Exit</a:t>
            </a:r>
            <a:endParaRPr kumimoji="1" lang="zh-CN" altLang="en-US" sz="22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471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9" grpId="0"/>
      <p:bldP spid="7" grpId="0" animBg="1"/>
      <p:bldP spid="8" grpId="0" animBg="1"/>
      <p:bldP spid="10" grpId="0"/>
      <p:bldP spid="11"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618870-723F-9EEB-EA59-2793D616EC41}"/>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PVM – Direct switch</a:t>
            </a:r>
            <a:endParaRPr kumimoji="1" lang="en-US" altLang="zh-CN" sz="3600"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CBD3EF55-89E6-9076-6238-89597631BB7D}"/>
              </a:ext>
            </a:extLst>
          </p:cNvPr>
          <p:cNvSpPr txBox="1"/>
          <p:nvPr/>
        </p:nvSpPr>
        <p:spPr>
          <a:xfrm>
            <a:off x="365900" y="1103402"/>
            <a:ext cx="8493091" cy="769441"/>
          </a:xfrm>
          <a:prstGeom prst="rect">
            <a:avLst/>
          </a:prstGeom>
          <a:noFill/>
        </p:spPr>
        <p:txBody>
          <a:bodyPr wrap="square">
            <a:spAutoFit/>
          </a:bodyPr>
          <a:lstStyle/>
          <a:p>
            <a:r>
              <a:rPr lang="en" altLang="zh-CN" sz="2200" dirty="0">
                <a:latin typeface="Times New Roman" panose="02020603050405020304" pitchFamily="18" charset="0"/>
                <a:cs typeface="Times New Roman" panose="02020603050405020304" pitchFamily="18" charset="0"/>
              </a:rPr>
              <a:t>This direct switch mechanism allows guests to achieve fast user/kernel switches due to </a:t>
            </a:r>
            <a:r>
              <a:rPr lang="en" altLang="zh-CN" sz="2200" dirty="0" err="1">
                <a:latin typeface="Times New Roman" panose="02020603050405020304" pitchFamily="18" charset="0"/>
                <a:cs typeface="Times New Roman" panose="02020603050405020304" pitchFamily="18" charset="0"/>
              </a:rPr>
              <a:t>syscalls</a:t>
            </a:r>
            <a:r>
              <a:rPr lang="en" altLang="zh-CN" sz="2200" dirty="0">
                <a:latin typeface="Times New Roman" panose="02020603050405020304" pitchFamily="18" charset="0"/>
                <a:cs typeface="Times New Roman" panose="02020603050405020304" pitchFamily="18" charset="0"/>
              </a:rPr>
              <a:t> without hypervisor inter</a:t>
            </a:r>
            <a:endParaRPr lang="zh-CN" altLang="en-US" sz="2200" dirty="0">
              <a:latin typeface="Times New Roman" panose="02020603050405020304" pitchFamily="18" charset="0"/>
              <a:cs typeface="Times New Roman" panose="02020603050405020304" pitchFamily="18" charset="0"/>
            </a:endParaRPr>
          </a:p>
        </p:txBody>
      </p:sp>
      <p:pic>
        <p:nvPicPr>
          <p:cNvPr id="40" name="图片 39">
            <a:extLst>
              <a:ext uri="{FF2B5EF4-FFF2-40B4-BE49-F238E27FC236}">
                <a16:creationId xmlns:a16="http://schemas.microsoft.com/office/drawing/2014/main" id="{7282A01F-E88D-BB20-CADE-8EE3B33AB6D0}"/>
              </a:ext>
            </a:extLst>
          </p:cNvPr>
          <p:cNvPicPr>
            <a:picLocks noChangeAspect="1"/>
          </p:cNvPicPr>
          <p:nvPr/>
        </p:nvPicPr>
        <p:blipFill>
          <a:blip r:embed="rId3"/>
          <a:stretch>
            <a:fillRect/>
          </a:stretch>
        </p:blipFill>
        <p:spPr>
          <a:xfrm>
            <a:off x="1067989" y="2150036"/>
            <a:ext cx="6520343" cy="3322774"/>
          </a:xfrm>
          <a:prstGeom prst="rect">
            <a:avLst/>
          </a:prstGeom>
        </p:spPr>
      </p:pic>
      <p:sp>
        <p:nvSpPr>
          <p:cNvPr id="41" name="文本框 40">
            <a:extLst>
              <a:ext uri="{FF2B5EF4-FFF2-40B4-BE49-F238E27FC236}">
                <a16:creationId xmlns:a16="http://schemas.microsoft.com/office/drawing/2014/main" id="{B05FB447-4946-89CC-4FF6-3169AFE863E7}"/>
              </a:ext>
            </a:extLst>
          </p:cNvPr>
          <p:cNvSpPr txBox="1"/>
          <p:nvPr/>
        </p:nvSpPr>
        <p:spPr>
          <a:xfrm>
            <a:off x="1311828" y="5764224"/>
            <a:ext cx="6520343" cy="430887"/>
          </a:xfrm>
          <a:prstGeom prst="rect">
            <a:avLst/>
          </a:prstGeom>
          <a:noFill/>
        </p:spPr>
        <p:txBody>
          <a:bodyPr wrap="square" rtlCol="0">
            <a:spAutoFit/>
          </a:bodyPr>
          <a:lstStyle/>
          <a:p>
            <a:r>
              <a:rPr kumimoji="1" lang="en-US" altLang="zh-CN" sz="2200" dirty="0">
                <a:solidFill>
                  <a:srgbClr val="002060"/>
                </a:solidFill>
                <a:latin typeface="Times New Roman" panose="02020603050405020304" pitchFamily="18" charset="0"/>
                <a:cs typeface="Times New Roman" panose="02020603050405020304" pitchFamily="18" charset="0"/>
              </a:rPr>
              <a:t>Save one world switch (to hypervisor) per </a:t>
            </a:r>
            <a:r>
              <a:rPr kumimoji="1" lang="en-US" altLang="zh-CN" sz="2200" dirty="0" err="1">
                <a:solidFill>
                  <a:srgbClr val="002060"/>
                </a:solidFill>
                <a:latin typeface="Times New Roman" panose="02020603050405020304" pitchFamily="18" charset="0"/>
                <a:cs typeface="Times New Roman" panose="02020603050405020304" pitchFamily="18" charset="0"/>
              </a:rPr>
              <a:t>syscall</a:t>
            </a:r>
            <a:r>
              <a:rPr kumimoji="1" lang="en-US" altLang="zh-CN" sz="2200" dirty="0">
                <a:solidFill>
                  <a:srgbClr val="002060"/>
                </a:solidFill>
                <a:latin typeface="Times New Roman" panose="02020603050405020304" pitchFamily="18" charset="0"/>
                <a:cs typeface="Times New Roman" panose="02020603050405020304" pitchFamily="18" charset="0"/>
              </a:rPr>
              <a:t>/</a:t>
            </a:r>
            <a:r>
              <a:rPr kumimoji="1" lang="en-US" altLang="zh-CN" sz="2200" dirty="0" err="1">
                <a:solidFill>
                  <a:srgbClr val="002060"/>
                </a:solidFill>
                <a:latin typeface="Times New Roman" panose="02020603050405020304" pitchFamily="18" charset="0"/>
                <a:cs typeface="Times New Roman" panose="02020603050405020304" pitchFamily="18" charset="0"/>
              </a:rPr>
              <a:t>sysret</a:t>
            </a:r>
            <a:r>
              <a:rPr kumimoji="1" lang="en-US" altLang="zh-CN" sz="2200" dirty="0">
                <a:solidFill>
                  <a:srgbClr val="002060"/>
                </a:solidFill>
                <a:latin typeface="Times New Roman" panose="02020603050405020304" pitchFamily="18" charset="0"/>
                <a:cs typeface="Times New Roman" panose="02020603050405020304" pitchFamily="18" charset="0"/>
              </a:rPr>
              <a:t> </a:t>
            </a:r>
            <a:endParaRPr kumimoji="1" lang="zh-CN" altLang="en-US"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841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618870-723F-9EEB-EA59-2793D616EC41}"/>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PVM – CPU Virtualization</a:t>
            </a:r>
            <a:endParaRPr kumimoji="1" lang="en-US" altLang="zh-CN" sz="3600" b="1" dirty="0">
              <a:latin typeface="Times New Roman" panose="02020603050405020304" pitchFamily="18" charset="0"/>
              <a:cs typeface="Times New Roman" panose="02020603050405020304" pitchFamily="18" charset="0"/>
            </a:endParaRPr>
          </a:p>
        </p:txBody>
      </p:sp>
      <p:sp>
        <p:nvSpPr>
          <p:cNvPr id="45" name="文本框 44">
            <a:extLst>
              <a:ext uri="{FF2B5EF4-FFF2-40B4-BE49-F238E27FC236}">
                <a16:creationId xmlns:a16="http://schemas.microsoft.com/office/drawing/2014/main" id="{CBD3EF55-89E6-9076-6238-89597631BB7D}"/>
              </a:ext>
            </a:extLst>
          </p:cNvPr>
          <p:cNvSpPr txBox="1"/>
          <p:nvPr/>
        </p:nvSpPr>
        <p:spPr>
          <a:xfrm>
            <a:off x="365900" y="1115277"/>
            <a:ext cx="8778100" cy="1446550"/>
          </a:xfrm>
          <a:prstGeom prst="rect">
            <a:avLst/>
          </a:prstGeom>
          <a:noFill/>
        </p:spPr>
        <p:txBody>
          <a:bodyPr wrap="square">
            <a:spAutoFit/>
          </a:bodyPr>
          <a:lstStyle/>
          <a:p>
            <a:pPr marL="342900" indent="-342900">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PVM supports 64-bit mode with paging mode enabled, while emulates for other modes via KVM.</a:t>
            </a:r>
          </a:p>
          <a:p>
            <a:pPr marL="342900" indent="-342900">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PVM manages virtual privileged register for the guest, e.g. CR0~4 </a:t>
            </a:r>
          </a:p>
          <a:p>
            <a:pPr marL="342900" indent="-342900">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Trap and emulate all sensitive instructions and privileged instructions.</a:t>
            </a:r>
          </a:p>
        </p:txBody>
      </p:sp>
      <p:sp>
        <p:nvSpPr>
          <p:cNvPr id="4" name="圆角矩形 3">
            <a:extLst>
              <a:ext uri="{FF2B5EF4-FFF2-40B4-BE49-F238E27FC236}">
                <a16:creationId xmlns:a16="http://schemas.microsoft.com/office/drawing/2014/main" id="{7F5470DB-CA56-5B79-C115-F5B40DB34B8D}"/>
              </a:ext>
            </a:extLst>
          </p:cNvPr>
          <p:cNvSpPr/>
          <p:nvPr/>
        </p:nvSpPr>
        <p:spPr>
          <a:xfrm>
            <a:off x="1792491" y="2859214"/>
            <a:ext cx="1398494" cy="38727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Guest</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5" name="圆角矩形 4">
            <a:extLst>
              <a:ext uri="{FF2B5EF4-FFF2-40B4-BE49-F238E27FC236}">
                <a16:creationId xmlns:a16="http://schemas.microsoft.com/office/drawing/2014/main" id="{48A3A552-394D-88BD-3984-F3F571B72AA9}"/>
              </a:ext>
            </a:extLst>
          </p:cNvPr>
          <p:cNvSpPr/>
          <p:nvPr/>
        </p:nvSpPr>
        <p:spPr>
          <a:xfrm>
            <a:off x="5883987" y="3709837"/>
            <a:ext cx="1054695" cy="38727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err="1">
                <a:solidFill>
                  <a:schemeClr val="tx1"/>
                </a:solidFill>
                <a:latin typeface="Times New Roman" panose="02020603050405020304" pitchFamily="18" charset="0"/>
                <a:cs typeface="Times New Roman" panose="02020603050405020304" pitchFamily="18" charset="0"/>
              </a:rPr>
              <a:t>pv_ops</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7" name="直线连接符 6">
            <a:extLst>
              <a:ext uri="{FF2B5EF4-FFF2-40B4-BE49-F238E27FC236}">
                <a16:creationId xmlns:a16="http://schemas.microsoft.com/office/drawing/2014/main" id="{1077BE80-A891-1CDA-6B32-0E5D2D117518}"/>
              </a:ext>
            </a:extLst>
          </p:cNvPr>
          <p:cNvCxnSpPr>
            <a:cxnSpLocks/>
          </p:cNvCxnSpPr>
          <p:nvPr/>
        </p:nvCxnSpPr>
        <p:spPr>
          <a:xfrm>
            <a:off x="883920" y="4367604"/>
            <a:ext cx="66356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62C0D53D-EAAA-6CEE-2A2F-00FEBBB50097}"/>
              </a:ext>
            </a:extLst>
          </p:cNvPr>
          <p:cNvSpPr/>
          <p:nvPr/>
        </p:nvSpPr>
        <p:spPr>
          <a:xfrm>
            <a:off x="1493067" y="4656907"/>
            <a:ext cx="2014370" cy="46187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switcher</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9" name="圆角矩形 8">
            <a:extLst>
              <a:ext uri="{FF2B5EF4-FFF2-40B4-BE49-F238E27FC236}">
                <a16:creationId xmlns:a16="http://schemas.microsoft.com/office/drawing/2014/main" id="{CA460A96-2E2D-57CB-016A-714975440544}"/>
              </a:ext>
            </a:extLst>
          </p:cNvPr>
          <p:cNvSpPr/>
          <p:nvPr/>
        </p:nvSpPr>
        <p:spPr>
          <a:xfrm>
            <a:off x="1721224" y="5425148"/>
            <a:ext cx="1545067" cy="56125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PVM hypervisor</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0" name="圆角矩形 9">
            <a:extLst>
              <a:ext uri="{FF2B5EF4-FFF2-40B4-BE49-F238E27FC236}">
                <a16:creationId xmlns:a16="http://schemas.microsoft.com/office/drawing/2014/main" id="{02991C8A-0563-497B-D486-B2E5F968C3F4}"/>
              </a:ext>
            </a:extLst>
          </p:cNvPr>
          <p:cNvSpPr/>
          <p:nvPr/>
        </p:nvSpPr>
        <p:spPr>
          <a:xfrm>
            <a:off x="5576495" y="5425147"/>
            <a:ext cx="1545067" cy="56125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KVM </a:t>
            </a:r>
            <a:r>
              <a:rPr kumimoji="1" lang="en-US" altLang="zh-CN" dirty="0" err="1">
                <a:solidFill>
                  <a:schemeClr val="tx1"/>
                </a:solidFill>
                <a:latin typeface="Times New Roman" panose="02020603050405020304" pitchFamily="18" charset="0"/>
                <a:cs typeface="Times New Roman" panose="02020603050405020304" pitchFamily="18" charset="0"/>
              </a:rPr>
              <a:t>inst</a:t>
            </a:r>
            <a:endParaRPr kumimoji="1" lang="en-US" altLang="zh-CN" dirty="0">
              <a:solidFill>
                <a:schemeClr val="tx1"/>
              </a:solidFill>
              <a:latin typeface="Times New Roman" panose="02020603050405020304" pitchFamily="18" charset="0"/>
              <a:cs typeface="Times New Roman" panose="02020603050405020304" pitchFamily="18" charset="0"/>
            </a:endParaRPr>
          </a:p>
          <a:p>
            <a:pPr algn="ctr"/>
            <a:r>
              <a:rPr kumimoji="1" lang="en-US" altLang="zh-CN" dirty="0">
                <a:solidFill>
                  <a:schemeClr val="tx1"/>
                </a:solidFill>
                <a:latin typeface="Times New Roman" panose="02020603050405020304" pitchFamily="18" charset="0"/>
                <a:cs typeface="Times New Roman" panose="02020603050405020304" pitchFamily="18" charset="0"/>
              </a:rPr>
              <a:t>emulator</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1" name="决策 10">
            <a:extLst>
              <a:ext uri="{FF2B5EF4-FFF2-40B4-BE49-F238E27FC236}">
                <a16:creationId xmlns:a16="http://schemas.microsoft.com/office/drawing/2014/main" id="{DB38A91E-9316-4EA3-54B8-5F770562824B}"/>
              </a:ext>
            </a:extLst>
          </p:cNvPr>
          <p:cNvSpPr/>
          <p:nvPr/>
        </p:nvSpPr>
        <p:spPr>
          <a:xfrm>
            <a:off x="1792491" y="3586110"/>
            <a:ext cx="1398494" cy="627784"/>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 tIns="10800" rIns="18000" bIns="10800" rtlCol="0" anchor="ctr"/>
          <a:lstStyle/>
          <a:p>
            <a:pPr algn="ctr"/>
            <a:r>
              <a:rPr kumimoji="1" lang="en-US" altLang="zh-CN" sz="1200" dirty="0">
                <a:solidFill>
                  <a:schemeClr val="tx1"/>
                </a:solidFill>
                <a:latin typeface="Times New Roman" panose="02020603050405020304" pitchFamily="18" charset="0"/>
                <a:cs typeface="Times New Roman" panose="02020603050405020304" pitchFamily="18" charset="0"/>
              </a:rPr>
              <a:t>privileged</a:t>
            </a:r>
          </a:p>
          <a:p>
            <a:pPr algn="ctr"/>
            <a:r>
              <a:rPr kumimoji="1" lang="en-US" altLang="zh-CN" sz="1200" dirty="0">
                <a:solidFill>
                  <a:schemeClr val="tx1"/>
                </a:solidFill>
                <a:latin typeface="Times New Roman" panose="02020603050405020304" pitchFamily="18" charset="0"/>
                <a:cs typeface="Times New Roman" panose="02020603050405020304" pitchFamily="18" charset="0"/>
              </a:rPr>
              <a:t>instruction</a:t>
            </a:r>
            <a:endParaRPr kumimoji="1" lang="zh-CN" altLang="en-US" sz="1200" dirty="0">
              <a:solidFill>
                <a:schemeClr val="tx1"/>
              </a:solidFill>
              <a:latin typeface="Times New Roman" panose="02020603050405020304" pitchFamily="18" charset="0"/>
              <a:cs typeface="Times New Roman" panose="02020603050405020304" pitchFamily="18" charset="0"/>
            </a:endParaRPr>
          </a:p>
        </p:txBody>
      </p:sp>
      <p:cxnSp>
        <p:nvCxnSpPr>
          <p:cNvPr id="14" name="直线箭头连接符 13">
            <a:extLst>
              <a:ext uri="{FF2B5EF4-FFF2-40B4-BE49-F238E27FC236}">
                <a16:creationId xmlns:a16="http://schemas.microsoft.com/office/drawing/2014/main" id="{7A998CE0-9513-8FFA-FA78-D5BE6755797A}"/>
              </a:ext>
            </a:extLst>
          </p:cNvPr>
          <p:cNvCxnSpPr>
            <a:cxnSpLocks/>
            <a:stCxn id="4" idx="2"/>
            <a:endCxn id="11" idx="0"/>
          </p:cNvCxnSpPr>
          <p:nvPr/>
        </p:nvCxnSpPr>
        <p:spPr>
          <a:xfrm>
            <a:off x="2491738" y="3246489"/>
            <a:ext cx="0" cy="33962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决策 20">
            <a:extLst>
              <a:ext uri="{FF2B5EF4-FFF2-40B4-BE49-F238E27FC236}">
                <a16:creationId xmlns:a16="http://schemas.microsoft.com/office/drawing/2014/main" id="{9E3163DF-D9C6-5783-3541-5C607D3DE7E3}"/>
              </a:ext>
            </a:extLst>
          </p:cNvPr>
          <p:cNvSpPr/>
          <p:nvPr/>
        </p:nvSpPr>
        <p:spPr>
          <a:xfrm>
            <a:off x="3838239" y="3586110"/>
            <a:ext cx="1398494" cy="627784"/>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8000" tIns="10800" rIns="18000" bIns="10800" rtlCol="0" anchor="ctr"/>
          <a:lstStyle/>
          <a:p>
            <a:pPr algn="ctr"/>
            <a:r>
              <a:rPr kumimoji="1" lang="en-US" altLang="zh-CN" sz="1200" dirty="0">
                <a:solidFill>
                  <a:schemeClr val="tx1"/>
                </a:solidFill>
                <a:latin typeface="Times New Roman" panose="02020603050405020304" pitchFamily="18" charset="0"/>
                <a:cs typeface="Times New Roman" panose="02020603050405020304" pitchFamily="18" charset="0"/>
              </a:rPr>
              <a:t>sensitive</a:t>
            </a:r>
          </a:p>
          <a:p>
            <a:pPr algn="ctr"/>
            <a:r>
              <a:rPr kumimoji="1" lang="en-US" altLang="zh-CN" sz="1200" dirty="0">
                <a:solidFill>
                  <a:schemeClr val="tx1"/>
                </a:solidFill>
                <a:latin typeface="Times New Roman" panose="02020603050405020304" pitchFamily="18" charset="0"/>
                <a:cs typeface="Times New Roman" panose="02020603050405020304" pitchFamily="18" charset="0"/>
              </a:rPr>
              <a:t>instruction</a:t>
            </a:r>
            <a:endParaRPr kumimoji="1" lang="zh-CN" altLang="en-US" sz="1200" dirty="0">
              <a:solidFill>
                <a:schemeClr val="tx1"/>
              </a:solidFill>
              <a:latin typeface="Times New Roman" panose="02020603050405020304" pitchFamily="18" charset="0"/>
              <a:cs typeface="Times New Roman" panose="02020603050405020304" pitchFamily="18" charset="0"/>
            </a:endParaRPr>
          </a:p>
        </p:txBody>
      </p:sp>
      <p:cxnSp>
        <p:nvCxnSpPr>
          <p:cNvPr id="22" name="直线箭头连接符 21">
            <a:extLst>
              <a:ext uri="{FF2B5EF4-FFF2-40B4-BE49-F238E27FC236}">
                <a16:creationId xmlns:a16="http://schemas.microsoft.com/office/drawing/2014/main" id="{941DCF68-78FC-4911-0F6C-D5F214D236B9}"/>
              </a:ext>
            </a:extLst>
          </p:cNvPr>
          <p:cNvCxnSpPr>
            <a:cxnSpLocks/>
            <a:endCxn id="8" idx="0"/>
          </p:cNvCxnSpPr>
          <p:nvPr/>
        </p:nvCxnSpPr>
        <p:spPr>
          <a:xfrm>
            <a:off x="2500252" y="4213894"/>
            <a:ext cx="0" cy="44301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a:extLst>
              <a:ext uri="{FF2B5EF4-FFF2-40B4-BE49-F238E27FC236}">
                <a16:creationId xmlns:a16="http://schemas.microsoft.com/office/drawing/2014/main" id="{3AC14759-9C59-0C78-5584-5CD0E5F60EE7}"/>
              </a:ext>
            </a:extLst>
          </p:cNvPr>
          <p:cNvCxnSpPr>
            <a:cxnSpLocks/>
            <a:stCxn id="21" idx="3"/>
            <a:endCxn id="5" idx="1"/>
          </p:cNvCxnSpPr>
          <p:nvPr/>
        </p:nvCxnSpPr>
        <p:spPr>
          <a:xfrm>
            <a:off x="5236733" y="3900002"/>
            <a:ext cx="647254" cy="347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线箭头连接符 29">
            <a:extLst>
              <a:ext uri="{FF2B5EF4-FFF2-40B4-BE49-F238E27FC236}">
                <a16:creationId xmlns:a16="http://schemas.microsoft.com/office/drawing/2014/main" id="{9D56AEEC-90F1-471C-ABB1-7A2F69776A2D}"/>
              </a:ext>
            </a:extLst>
          </p:cNvPr>
          <p:cNvCxnSpPr>
            <a:cxnSpLocks/>
            <a:stCxn id="8" idx="2"/>
            <a:endCxn id="9" idx="0"/>
          </p:cNvCxnSpPr>
          <p:nvPr/>
        </p:nvCxnSpPr>
        <p:spPr>
          <a:xfrm flipH="1">
            <a:off x="2493758" y="5118778"/>
            <a:ext cx="6494" cy="30637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线箭头连接符 33">
            <a:extLst>
              <a:ext uri="{FF2B5EF4-FFF2-40B4-BE49-F238E27FC236}">
                <a16:creationId xmlns:a16="http://schemas.microsoft.com/office/drawing/2014/main" id="{EA23DD15-0643-EDF1-103D-B2326D962780}"/>
              </a:ext>
            </a:extLst>
          </p:cNvPr>
          <p:cNvCxnSpPr>
            <a:stCxn id="9" idx="3"/>
            <a:endCxn id="10" idx="1"/>
          </p:cNvCxnSpPr>
          <p:nvPr/>
        </p:nvCxnSpPr>
        <p:spPr>
          <a:xfrm flipV="1">
            <a:off x="3266291" y="5705776"/>
            <a:ext cx="2310204" cy="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肘形连接符 35">
            <a:extLst>
              <a:ext uri="{FF2B5EF4-FFF2-40B4-BE49-F238E27FC236}">
                <a16:creationId xmlns:a16="http://schemas.microsoft.com/office/drawing/2014/main" id="{19C06458-F7D2-3060-BD00-FD3E851DC688}"/>
              </a:ext>
            </a:extLst>
          </p:cNvPr>
          <p:cNvCxnSpPr>
            <a:stCxn id="4" idx="3"/>
            <a:endCxn id="21" idx="0"/>
          </p:cNvCxnSpPr>
          <p:nvPr/>
        </p:nvCxnSpPr>
        <p:spPr>
          <a:xfrm>
            <a:off x="3190985" y="3052852"/>
            <a:ext cx="1346501" cy="533258"/>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肘形连接符 37">
            <a:extLst>
              <a:ext uri="{FF2B5EF4-FFF2-40B4-BE49-F238E27FC236}">
                <a16:creationId xmlns:a16="http://schemas.microsoft.com/office/drawing/2014/main" id="{1D89C94B-FAB7-D591-D22F-FC30EE221DCD}"/>
              </a:ext>
            </a:extLst>
          </p:cNvPr>
          <p:cNvCxnSpPr>
            <a:stCxn id="5" idx="2"/>
            <a:endCxn id="8" idx="3"/>
          </p:cNvCxnSpPr>
          <p:nvPr/>
        </p:nvCxnSpPr>
        <p:spPr>
          <a:xfrm rot="5400000">
            <a:off x="4564021" y="3040528"/>
            <a:ext cx="790731" cy="2903898"/>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75F16B45-5E9A-B8B4-374D-397857CC40DE}"/>
              </a:ext>
            </a:extLst>
          </p:cNvPr>
          <p:cNvSpPr txBox="1"/>
          <p:nvPr/>
        </p:nvSpPr>
        <p:spPr>
          <a:xfrm>
            <a:off x="2489498" y="4328658"/>
            <a:ext cx="1346502" cy="307777"/>
          </a:xfrm>
          <a:prstGeom prst="rect">
            <a:avLst/>
          </a:prstGeom>
          <a:noFill/>
        </p:spPr>
        <p:txBody>
          <a:bodyPr wrap="square" rtlCol="0">
            <a:spAutoFit/>
          </a:bodyPr>
          <a:lstStyle/>
          <a:p>
            <a:r>
              <a:rPr kumimoji="1" lang="en-US" altLang="zh-CN" sz="1400" dirty="0">
                <a:solidFill>
                  <a:srgbClr val="C00000"/>
                </a:solidFill>
                <a:latin typeface="Times New Roman" panose="02020603050405020304" pitchFamily="18" charset="0"/>
                <a:cs typeface="Times New Roman" panose="02020603050405020304" pitchFamily="18" charset="0"/>
              </a:rPr>
              <a:t>#GP exception</a:t>
            </a:r>
            <a:endParaRPr kumimoji="1" lang="zh-CN" altLang="en-US" sz="1400" dirty="0">
              <a:solidFill>
                <a:srgbClr val="C00000"/>
              </a:solidFill>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98A078EC-821F-1263-D12D-08CA6A0C6348}"/>
              </a:ext>
            </a:extLst>
          </p:cNvPr>
          <p:cNvSpPr txBox="1"/>
          <p:nvPr/>
        </p:nvSpPr>
        <p:spPr>
          <a:xfrm>
            <a:off x="6411334" y="4349130"/>
            <a:ext cx="1346502" cy="307777"/>
          </a:xfrm>
          <a:prstGeom prst="rect">
            <a:avLst/>
          </a:prstGeom>
          <a:noFill/>
        </p:spPr>
        <p:txBody>
          <a:bodyPr wrap="square" rtlCol="0">
            <a:spAutoFit/>
          </a:bodyPr>
          <a:lstStyle/>
          <a:p>
            <a:r>
              <a:rPr kumimoji="1" lang="en-US" altLang="zh-CN" sz="1400" dirty="0" err="1">
                <a:solidFill>
                  <a:srgbClr val="C00000"/>
                </a:solidFill>
                <a:latin typeface="Times New Roman" panose="02020603050405020304" pitchFamily="18" charset="0"/>
                <a:cs typeface="Times New Roman" panose="02020603050405020304" pitchFamily="18" charset="0"/>
              </a:rPr>
              <a:t>hypercall</a:t>
            </a:r>
            <a:endParaRPr kumimoji="1" lang="zh-CN" altLang="en-US" sz="1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8963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618870-723F-9EEB-EA59-2793D616EC41}"/>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PVM – Memory Virtualization</a:t>
            </a:r>
            <a:endParaRPr kumimoji="1" lang="en-US" altLang="zh-CN" sz="3600" b="1"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D7A4E69D-F616-B28E-CDC6-691718360434}"/>
              </a:ext>
            </a:extLst>
          </p:cNvPr>
          <p:cNvSpPr/>
          <p:nvPr/>
        </p:nvSpPr>
        <p:spPr>
          <a:xfrm>
            <a:off x="2509884" y="2817787"/>
            <a:ext cx="767608" cy="7052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7" name="直线连接符 6">
            <a:extLst>
              <a:ext uri="{FF2B5EF4-FFF2-40B4-BE49-F238E27FC236}">
                <a16:creationId xmlns:a16="http://schemas.microsoft.com/office/drawing/2014/main" id="{B8E0019A-366F-8B24-E7F7-D6C1B3C566A9}"/>
              </a:ext>
            </a:extLst>
          </p:cNvPr>
          <p:cNvCxnSpPr/>
          <p:nvPr/>
        </p:nvCxnSpPr>
        <p:spPr>
          <a:xfrm>
            <a:off x="2509884" y="3059087"/>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5805CBC6-6586-CEB2-67D2-213A9CA8BF69}"/>
              </a:ext>
            </a:extLst>
          </p:cNvPr>
          <p:cNvCxnSpPr/>
          <p:nvPr/>
        </p:nvCxnSpPr>
        <p:spPr>
          <a:xfrm>
            <a:off x="2519038" y="3351187"/>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06DDD429-13FD-5B27-F8FF-8BC5575AE246}"/>
              </a:ext>
            </a:extLst>
          </p:cNvPr>
          <p:cNvSpPr/>
          <p:nvPr/>
        </p:nvSpPr>
        <p:spPr>
          <a:xfrm>
            <a:off x="3745330" y="2817787"/>
            <a:ext cx="767608" cy="7052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10" name="直线连接符 9">
            <a:extLst>
              <a:ext uri="{FF2B5EF4-FFF2-40B4-BE49-F238E27FC236}">
                <a16:creationId xmlns:a16="http://schemas.microsoft.com/office/drawing/2014/main" id="{597444D8-9D0D-192E-AE5E-066DF73FC125}"/>
              </a:ext>
            </a:extLst>
          </p:cNvPr>
          <p:cNvCxnSpPr/>
          <p:nvPr/>
        </p:nvCxnSpPr>
        <p:spPr>
          <a:xfrm>
            <a:off x="3745330" y="3059087"/>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线连接符 10">
            <a:extLst>
              <a:ext uri="{FF2B5EF4-FFF2-40B4-BE49-F238E27FC236}">
                <a16:creationId xmlns:a16="http://schemas.microsoft.com/office/drawing/2014/main" id="{591CBEDA-F51B-1249-FFAA-1630330F7D7B}"/>
              </a:ext>
            </a:extLst>
          </p:cNvPr>
          <p:cNvCxnSpPr/>
          <p:nvPr/>
        </p:nvCxnSpPr>
        <p:spPr>
          <a:xfrm>
            <a:off x="3754484" y="3351187"/>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96956DC2-DE4B-1553-BE75-103304DAB71C}"/>
              </a:ext>
            </a:extLst>
          </p:cNvPr>
          <p:cNvSpPr/>
          <p:nvPr/>
        </p:nvSpPr>
        <p:spPr>
          <a:xfrm>
            <a:off x="4962468" y="2817787"/>
            <a:ext cx="767608" cy="7052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13" name="直线连接符 12">
            <a:extLst>
              <a:ext uri="{FF2B5EF4-FFF2-40B4-BE49-F238E27FC236}">
                <a16:creationId xmlns:a16="http://schemas.microsoft.com/office/drawing/2014/main" id="{D2BD6629-41E4-F272-DD50-4A0AA3B0F02E}"/>
              </a:ext>
            </a:extLst>
          </p:cNvPr>
          <p:cNvCxnSpPr/>
          <p:nvPr/>
        </p:nvCxnSpPr>
        <p:spPr>
          <a:xfrm>
            <a:off x="4962468" y="3059087"/>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7F50795-CA16-76F6-26AB-04103C44418A}"/>
              </a:ext>
            </a:extLst>
          </p:cNvPr>
          <p:cNvCxnSpPr/>
          <p:nvPr/>
        </p:nvCxnSpPr>
        <p:spPr>
          <a:xfrm>
            <a:off x="4971622" y="3351187"/>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6A03FF32-2C39-E59C-7E17-63FD89626BD1}"/>
              </a:ext>
            </a:extLst>
          </p:cNvPr>
          <p:cNvSpPr/>
          <p:nvPr/>
        </p:nvSpPr>
        <p:spPr>
          <a:xfrm>
            <a:off x="6161298" y="2817787"/>
            <a:ext cx="767608" cy="7052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16" name="直线连接符 15">
            <a:extLst>
              <a:ext uri="{FF2B5EF4-FFF2-40B4-BE49-F238E27FC236}">
                <a16:creationId xmlns:a16="http://schemas.microsoft.com/office/drawing/2014/main" id="{6AE56FE1-7EB2-69A3-4883-D0344C40AD2A}"/>
              </a:ext>
            </a:extLst>
          </p:cNvPr>
          <p:cNvCxnSpPr/>
          <p:nvPr/>
        </p:nvCxnSpPr>
        <p:spPr>
          <a:xfrm>
            <a:off x="6161298" y="3059087"/>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263DC7AD-5C3C-288D-C97C-8CDEF0DDEE1E}"/>
              </a:ext>
            </a:extLst>
          </p:cNvPr>
          <p:cNvCxnSpPr/>
          <p:nvPr/>
        </p:nvCxnSpPr>
        <p:spPr>
          <a:xfrm>
            <a:off x="6170452" y="3351187"/>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肘形连接符 18">
            <a:extLst>
              <a:ext uri="{FF2B5EF4-FFF2-40B4-BE49-F238E27FC236}">
                <a16:creationId xmlns:a16="http://schemas.microsoft.com/office/drawing/2014/main" id="{D5E1D829-1F60-10D6-1DF7-9024904B9083}"/>
              </a:ext>
            </a:extLst>
          </p:cNvPr>
          <p:cNvCxnSpPr/>
          <p:nvPr/>
        </p:nvCxnSpPr>
        <p:spPr>
          <a:xfrm>
            <a:off x="3286646" y="3097188"/>
            <a:ext cx="467838" cy="406400"/>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肘形连接符 19">
            <a:extLst>
              <a:ext uri="{FF2B5EF4-FFF2-40B4-BE49-F238E27FC236}">
                <a16:creationId xmlns:a16="http://schemas.microsoft.com/office/drawing/2014/main" id="{E43119FA-554A-CE96-8ACE-63A7EFE07ABE}"/>
              </a:ext>
            </a:extLst>
          </p:cNvPr>
          <p:cNvCxnSpPr/>
          <p:nvPr/>
        </p:nvCxnSpPr>
        <p:spPr>
          <a:xfrm>
            <a:off x="4501722" y="3097188"/>
            <a:ext cx="467838" cy="406400"/>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肘形连接符 20">
            <a:extLst>
              <a:ext uri="{FF2B5EF4-FFF2-40B4-BE49-F238E27FC236}">
                <a16:creationId xmlns:a16="http://schemas.microsoft.com/office/drawing/2014/main" id="{B5B49AFD-AB9F-C198-488E-6BE65FE3BA00}"/>
              </a:ext>
            </a:extLst>
          </p:cNvPr>
          <p:cNvCxnSpPr/>
          <p:nvPr/>
        </p:nvCxnSpPr>
        <p:spPr>
          <a:xfrm>
            <a:off x="5720922" y="3116649"/>
            <a:ext cx="467838" cy="406400"/>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肘形连接符 21">
            <a:extLst>
              <a:ext uri="{FF2B5EF4-FFF2-40B4-BE49-F238E27FC236}">
                <a16:creationId xmlns:a16="http://schemas.microsoft.com/office/drawing/2014/main" id="{59165733-3494-C0EA-8ECA-2CEF991F4AD7}"/>
              </a:ext>
            </a:extLst>
          </p:cNvPr>
          <p:cNvCxnSpPr/>
          <p:nvPr/>
        </p:nvCxnSpPr>
        <p:spPr>
          <a:xfrm>
            <a:off x="6938060" y="3116649"/>
            <a:ext cx="467838" cy="406400"/>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8824E6B7-25A1-5F42-DA4B-E6C81E1170BA}"/>
              </a:ext>
            </a:extLst>
          </p:cNvPr>
          <p:cNvSpPr txBox="1"/>
          <p:nvPr/>
        </p:nvSpPr>
        <p:spPr>
          <a:xfrm>
            <a:off x="2436490" y="2117785"/>
            <a:ext cx="923553" cy="769441"/>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Guest</a:t>
            </a:r>
          </a:p>
          <a:p>
            <a:pPr algn="ctr"/>
            <a:r>
              <a:rPr kumimoji="1" lang="en-US" altLang="zh-CN" sz="2200" dirty="0">
                <a:latin typeface="Times New Roman" panose="02020603050405020304" pitchFamily="18" charset="0"/>
                <a:cs typeface="Times New Roman" panose="02020603050405020304" pitchFamily="18" charset="0"/>
              </a:rPr>
              <a:t>L4</a:t>
            </a:r>
            <a:endParaRPr kumimoji="1" lang="zh-CN" altLang="en-US" sz="2200"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67522A1D-3746-C9EB-B375-02099F388DBE}"/>
              </a:ext>
            </a:extLst>
          </p:cNvPr>
          <p:cNvSpPr txBox="1"/>
          <p:nvPr/>
        </p:nvSpPr>
        <p:spPr>
          <a:xfrm>
            <a:off x="3658203" y="2117785"/>
            <a:ext cx="923553" cy="769441"/>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Guest</a:t>
            </a:r>
          </a:p>
          <a:p>
            <a:pPr algn="ctr"/>
            <a:r>
              <a:rPr kumimoji="1" lang="en-US" altLang="zh-CN" sz="2200" dirty="0">
                <a:latin typeface="Times New Roman" panose="02020603050405020304" pitchFamily="18" charset="0"/>
                <a:cs typeface="Times New Roman" panose="02020603050405020304" pitchFamily="18" charset="0"/>
              </a:rPr>
              <a:t>L3</a:t>
            </a:r>
            <a:endParaRPr kumimoji="1" lang="zh-CN" altLang="en-US" sz="2200"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BC0428ED-9E36-A602-1FCC-3A4AA8FB0456}"/>
              </a:ext>
            </a:extLst>
          </p:cNvPr>
          <p:cNvSpPr txBox="1"/>
          <p:nvPr/>
        </p:nvSpPr>
        <p:spPr>
          <a:xfrm>
            <a:off x="4875341" y="2117785"/>
            <a:ext cx="923553" cy="769441"/>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Guest</a:t>
            </a:r>
          </a:p>
          <a:p>
            <a:pPr algn="ctr"/>
            <a:r>
              <a:rPr kumimoji="1" lang="en-US" altLang="zh-CN" sz="2200" dirty="0">
                <a:latin typeface="Times New Roman" panose="02020603050405020304" pitchFamily="18" charset="0"/>
                <a:cs typeface="Times New Roman" panose="02020603050405020304" pitchFamily="18" charset="0"/>
              </a:rPr>
              <a:t>L2</a:t>
            </a:r>
            <a:endParaRPr kumimoji="1" lang="zh-CN" altLang="en-US" sz="2200" dirty="0">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ED48C111-03FA-00A9-1CCA-B3801C4B0926}"/>
              </a:ext>
            </a:extLst>
          </p:cNvPr>
          <p:cNvSpPr txBox="1"/>
          <p:nvPr/>
        </p:nvSpPr>
        <p:spPr>
          <a:xfrm>
            <a:off x="6150083" y="2117784"/>
            <a:ext cx="923553" cy="769441"/>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Guest</a:t>
            </a:r>
          </a:p>
          <a:p>
            <a:pPr algn="ctr"/>
            <a:r>
              <a:rPr kumimoji="1" lang="en-US" altLang="zh-CN" sz="2200" dirty="0">
                <a:latin typeface="Times New Roman" panose="02020603050405020304" pitchFamily="18" charset="0"/>
                <a:cs typeface="Times New Roman" panose="02020603050405020304" pitchFamily="18" charset="0"/>
              </a:rPr>
              <a:t>L1</a:t>
            </a:r>
            <a:endParaRPr kumimoji="1" lang="zh-CN" altLang="en-US" sz="2200" dirty="0">
              <a:latin typeface="Times New Roman" panose="02020603050405020304" pitchFamily="18" charset="0"/>
              <a:cs typeface="Times New Roman" panose="02020603050405020304" pitchFamily="18" charset="0"/>
            </a:endParaRPr>
          </a:p>
        </p:txBody>
      </p:sp>
      <p:sp>
        <p:nvSpPr>
          <p:cNvPr id="27" name="矩形 26">
            <a:extLst>
              <a:ext uri="{FF2B5EF4-FFF2-40B4-BE49-F238E27FC236}">
                <a16:creationId xmlns:a16="http://schemas.microsoft.com/office/drawing/2014/main" id="{DD6C7F1A-DD06-4588-FDB9-F9466243952F}"/>
              </a:ext>
            </a:extLst>
          </p:cNvPr>
          <p:cNvSpPr/>
          <p:nvPr/>
        </p:nvSpPr>
        <p:spPr>
          <a:xfrm>
            <a:off x="7436040" y="2899925"/>
            <a:ext cx="767608" cy="63582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Guest</a:t>
            </a:r>
          </a:p>
          <a:p>
            <a:pPr algn="ctr"/>
            <a:r>
              <a:rPr kumimoji="1" lang="en-US" altLang="zh-CN" dirty="0">
                <a:solidFill>
                  <a:schemeClr val="tx1"/>
                </a:solidFill>
              </a:rPr>
              <a:t>Page</a:t>
            </a:r>
            <a:endParaRPr kumimoji="1" lang="zh-CN" altLang="en-US" dirty="0">
              <a:solidFill>
                <a:schemeClr val="tx1"/>
              </a:solidFill>
            </a:endParaRPr>
          </a:p>
        </p:txBody>
      </p:sp>
      <p:sp>
        <p:nvSpPr>
          <p:cNvPr id="28" name="矩形 27">
            <a:extLst>
              <a:ext uri="{FF2B5EF4-FFF2-40B4-BE49-F238E27FC236}">
                <a16:creationId xmlns:a16="http://schemas.microsoft.com/office/drawing/2014/main" id="{43944559-5D4E-E03D-7629-635C3BE9A88C}"/>
              </a:ext>
            </a:extLst>
          </p:cNvPr>
          <p:cNvSpPr/>
          <p:nvPr/>
        </p:nvSpPr>
        <p:spPr>
          <a:xfrm>
            <a:off x="2512853" y="4513649"/>
            <a:ext cx="767608" cy="70526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29" name="直线连接符 28">
            <a:extLst>
              <a:ext uri="{FF2B5EF4-FFF2-40B4-BE49-F238E27FC236}">
                <a16:creationId xmlns:a16="http://schemas.microsoft.com/office/drawing/2014/main" id="{5A278B51-720C-8530-E2E2-B98AAB77B65F}"/>
              </a:ext>
            </a:extLst>
          </p:cNvPr>
          <p:cNvCxnSpPr/>
          <p:nvPr/>
        </p:nvCxnSpPr>
        <p:spPr>
          <a:xfrm>
            <a:off x="2512853" y="4754949"/>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线连接符 29">
            <a:extLst>
              <a:ext uri="{FF2B5EF4-FFF2-40B4-BE49-F238E27FC236}">
                <a16:creationId xmlns:a16="http://schemas.microsoft.com/office/drawing/2014/main" id="{47AFDF78-D233-2496-F5F0-D5D74E9A31DF}"/>
              </a:ext>
            </a:extLst>
          </p:cNvPr>
          <p:cNvCxnSpPr/>
          <p:nvPr/>
        </p:nvCxnSpPr>
        <p:spPr>
          <a:xfrm>
            <a:off x="2522007" y="5047049"/>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85882483-2DD7-F799-B384-4336DF478C68}"/>
              </a:ext>
            </a:extLst>
          </p:cNvPr>
          <p:cNvSpPr/>
          <p:nvPr/>
        </p:nvSpPr>
        <p:spPr>
          <a:xfrm>
            <a:off x="3748299" y="4513649"/>
            <a:ext cx="767608" cy="70526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2" name="直线连接符 31">
            <a:extLst>
              <a:ext uri="{FF2B5EF4-FFF2-40B4-BE49-F238E27FC236}">
                <a16:creationId xmlns:a16="http://schemas.microsoft.com/office/drawing/2014/main" id="{64AE886A-B849-881D-7C58-7A03C9E4964B}"/>
              </a:ext>
            </a:extLst>
          </p:cNvPr>
          <p:cNvCxnSpPr/>
          <p:nvPr/>
        </p:nvCxnSpPr>
        <p:spPr>
          <a:xfrm>
            <a:off x="3748299" y="4754949"/>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D0102A85-519A-B7B6-1C51-6600206A8CFC}"/>
              </a:ext>
            </a:extLst>
          </p:cNvPr>
          <p:cNvCxnSpPr/>
          <p:nvPr/>
        </p:nvCxnSpPr>
        <p:spPr>
          <a:xfrm>
            <a:off x="3757453" y="5047049"/>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EBDD60FC-3D6E-EB5E-5550-4D0DAB36129F}"/>
              </a:ext>
            </a:extLst>
          </p:cNvPr>
          <p:cNvSpPr/>
          <p:nvPr/>
        </p:nvSpPr>
        <p:spPr>
          <a:xfrm>
            <a:off x="4965437" y="4513649"/>
            <a:ext cx="767608" cy="70526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5" name="直线连接符 34">
            <a:extLst>
              <a:ext uri="{FF2B5EF4-FFF2-40B4-BE49-F238E27FC236}">
                <a16:creationId xmlns:a16="http://schemas.microsoft.com/office/drawing/2014/main" id="{184931B4-D008-A13C-97DC-D36D2CBAA903}"/>
              </a:ext>
            </a:extLst>
          </p:cNvPr>
          <p:cNvCxnSpPr/>
          <p:nvPr/>
        </p:nvCxnSpPr>
        <p:spPr>
          <a:xfrm>
            <a:off x="4965437" y="4754949"/>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线连接符 35">
            <a:extLst>
              <a:ext uri="{FF2B5EF4-FFF2-40B4-BE49-F238E27FC236}">
                <a16:creationId xmlns:a16="http://schemas.microsoft.com/office/drawing/2014/main" id="{E97395A6-5A61-16F4-6035-8149E6BAAE68}"/>
              </a:ext>
            </a:extLst>
          </p:cNvPr>
          <p:cNvCxnSpPr/>
          <p:nvPr/>
        </p:nvCxnSpPr>
        <p:spPr>
          <a:xfrm>
            <a:off x="4974591" y="5047049"/>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884FF6E2-752E-B36C-1543-B566BBCC69A6}"/>
              </a:ext>
            </a:extLst>
          </p:cNvPr>
          <p:cNvSpPr/>
          <p:nvPr/>
        </p:nvSpPr>
        <p:spPr>
          <a:xfrm>
            <a:off x="6164267" y="4513649"/>
            <a:ext cx="767608" cy="70526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cxnSp>
        <p:nvCxnSpPr>
          <p:cNvPr id="38" name="直线连接符 37">
            <a:extLst>
              <a:ext uri="{FF2B5EF4-FFF2-40B4-BE49-F238E27FC236}">
                <a16:creationId xmlns:a16="http://schemas.microsoft.com/office/drawing/2014/main" id="{1281E968-F1E3-3B42-3527-9D007BFB610A}"/>
              </a:ext>
            </a:extLst>
          </p:cNvPr>
          <p:cNvCxnSpPr/>
          <p:nvPr/>
        </p:nvCxnSpPr>
        <p:spPr>
          <a:xfrm>
            <a:off x="6164267" y="4754949"/>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C6E0529E-B81F-F8C3-3241-21BF88569E49}"/>
              </a:ext>
            </a:extLst>
          </p:cNvPr>
          <p:cNvCxnSpPr/>
          <p:nvPr/>
        </p:nvCxnSpPr>
        <p:spPr>
          <a:xfrm>
            <a:off x="6173421" y="5047049"/>
            <a:ext cx="7493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肘形连接符 39">
            <a:extLst>
              <a:ext uri="{FF2B5EF4-FFF2-40B4-BE49-F238E27FC236}">
                <a16:creationId xmlns:a16="http://schemas.microsoft.com/office/drawing/2014/main" id="{824F09D7-9660-7189-D21A-4C6C3551AE52}"/>
              </a:ext>
            </a:extLst>
          </p:cNvPr>
          <p:cNvCxnSpPr/>
          <p:nvPr/>
        </p:nvCxnSpPr>
        <p:spPr>
          <a:xfrm>
            <a:off x="3289615" y="4793050"/>
            <a:ext cx="467838" cy="406400"/>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肘形连接符 40">
            <a:extLst>
              <a:ext uri="{FF2B5EF4-FFF2-40B4-BE49-F238E27FC236}">
                <a16:creationId xmlns:a16="http://schemas.microsoft.com/office/drawing/2014/main" id="{813F7B85-AADC-F10B-F9B4-003874C1A1D3}"/>
              </a:ext>
            </a:extLst>
          </p:cNvPr>
          <p:cNvCxnSpPr/>
          <p:nvPr/>
        </p:nvCxnSpPr>
        <p:spPr>
          <a:xfrm>
            <a:off x="4504691" y="4793050"/>
            <a:ext cx="467838" cy="406400"/>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肘形连接符 41">
            <a:extLst>
              <a:ext uri="{FF2B5EF4-FFF2-40B4-BE49-F238E27FC236}">
                <a16:creationId xmlns:a16="http://schemas.microsoft.com/office/drawing/2014/main" id="{5C402168-23A5-9195-078B-3BEB19A38FC0}"/>
              </a:ext>
            </a:extLst>
          </p:cNvPr>
          <p:cNvCxnSpPr/>
          <p:nvPr/>
        </p:nvCxnSpPr>
        <p:spPr>
          <a:xfrm>
            <a:off x="5723891" y="4812511"/>
            <a:ext cx="467838" cy="406400"/>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肘形连接符 42">
            <a:extLst>
              <a:ext uri="{FF2B5EF4-FFF2-40B4-BE49-F238E27FC236}">
                <a16:creationId xmlns:a16="http://schemas.microsoft.com/office/drawing/2014/main" id="{B483D83C-6672-454D-3F76-42FFFBD59EFE}"/>
              </a:ext>
            </a:extLst>
          </p:cNvPr>
          <p:cNvCxnSpPr/>
          <p:nvPr/>
        </p:nvCxnSpPr>
        <p:spPr>
          <a:xfrm>
            <a:off x="6941029" y="4812511"/>
            <a:ext cx="467838" cy="406400"/>
          </a:xfrm>
          <a:prstGeom prst="bentConnector3">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ED18E103-14C8-A33A-5331-2713D106D01B}"/>
              </a:ext>
            </a:extLst>
          </p:cNvPr>
          <p:cNvSpPr txBox="1"/>
          <p:nvPr/>
        </p:nvSpPr>
        <p:spPr>
          <a:xfrm>
            <a:off x="2350559" y="5261447"/>
            <a:ext cx="1090449" cy="769441"/>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L4</a:t>
            </a:r>
          </a:p>
          <a:p>
            <a:pPr algn="ctr"/>
            <a:r>
              <a:rPr kumimoji="1" lang="en-US" altLang="zh-CN" sz="2200" dirty="0">
                <a:latin typeface="Times New Roman" panose="02020603050405020304" pitchFamily="18" charset="0"/>
                <a:cs typeface="Times New Roman" panose="02020603050405020304" pitchFamily="18" charset="0"/>
              </a:rPr>
              <a:t>Shadow</a:t>
            </a:r>
          </a:p>
        </p:txBody>
      </p:sp>
      <p:sp>
        <p:nvSpPr>
          <p:cNvPr id="46" name="文本框 45">
            <a:extLst>
              <a:ext uri="{FF2B5EF4-FFF2-40B4-BE49-F238E27FC236}">
                <a16:creationId xmlns:a16="http://schemas.microsoft.com/office/drawing/2014/main" id="{DA9165D0-0B4F-8A71-D350-AC3379779E57}"/>
              </a:ext>
            </a:extLst>
          </p:cNvPr>
          <p:cNvSpPr txBox="1"/>
          <p:nvPr/>
        </p:nvSpPr>
        <p:spPr>
          <a:xfrm>
            <a:off x="3610372" y="5261447"/>
            <a:ext cx="1090449" cy="769441"/>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L3</a:t>
            </a:r>
          </a:p>
          <a:p>
            <a:pPr algn="ctr"/>
            <a:r>
              <a:rPr kumimoji="1" lang="en-US" altLang="zh-CN" sz="2200" dirty="0">
                <a:latin typeface="Times New Roman" panose="02020603050405020304" pitchFamily="18" charset="0"/>
                <a:cs typeface="Times New Roman" panose="02020603050405020304" pitchFamily="18" charset="0"/>
              </a:rPr>
              <a:t>Shadow</a:t>
            </a:r>
          </a:p>
        </p:txBody>
      </p:sp>
      <p:sp>
        <p:nvSpPr>
          <p:cNvPr id="47" name="文本框 46">
            <a:extLst>
              <a:ext uri="{FF2B5EF4-FFF2-40B4-BE49-F238E27FC236}">
                <a16:creationId xmlns:a16="http://schemas.microsoft.com/office/drawing/2014/main" id="{3AFC36C2-7FDB-A823-E88B-E35CDAF75AFA}"/>
              </a:ext>
            </a:extLst>
          </p:cNvPr>
          <p:cNvSpPr txBox="1"/>
          <p:nvPr/>
        </p:nvSpPr>
        <p:spPr>
          <a:xfrm>
            <a:off x="4802110" y="5261447"/>
            <a:ext cx="1090449" cy="769441"/>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L2</a:t>
            </a:r>
          </a:p>
          <a:p>
            <a:pPr algn="ctr"/>
            <a:r>
              <a:rPr kumimoji="1" lang="en-US" altLang="zh-CN" sz="2200" dirty="0">
                <a:latin typeface="Times New Roman" panose="02020603050405020304" pitchFamily="18" charset="0"/>
                <a:cs typeface="Times New Roman" panose="02020603050405020304" pitchFamily="18" charset="0"/>
              </a:rPr>
              <a:t>Shadow</a:t>
            </a:r>
          </a:p>
        </p:txBody>
      </p:sp>
      <p:sp>
        <p:nvSpPr>
          <p:cNvPr id="48" name="文本框 47">
            <a:extLst>
              <a:ext uri="{FF2B5EF4-FFF2-40B4-BE49-F238E27FC236}">
                <a16:creationId xmlns:a16="http://schemas.microsoft.com/office/drawing/2014/main" id="{208C039B-59DD-EE36-39B4-F535140A168A}"/>
              </a:ext>
            </a:extLst>
          </p:cNvPr>
          <p:cNvSpPr txBox="1"/>
          <p:nvPr/>
        </p:nvSpPr>
        <p:spPr>
          <a:xfrm>
            <a:off x="6051452" y="5261446"/>
            <a:ext cx="1090449" cy="769441"/>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L1</a:t>
            </a:r>
          </a:p>
          <a:p>
            <a:pPr algn="ctr"/>
            <a:r>
              <a:rPr kumimoji="1" lang="en-US" altLang="zh-CN" sz="2200" dirty="0">
                <a:latin typeface="Times New Roman" panose="02020603050405020304" pitchFamily="18" charset="0"/>
                <a:cs typeface="Times New Roman" panose="02020603050405020304" pitchFamily="18" charset="0"/>
              </a:rPr>
              <a:t>Shadow</a:t>
            </a:r>
          </a:p>
        </p:txBody>
      </p:sp>
      <p:sp>
        <p:nvSpPr>
          <p:cNvPr id="49" name="矩形 48">
            <a:extLst>
              <a:ext uri="{FF2B5EF4-FFF2-40B4-BE49-F238E27FC236}">
                <a16:creationId xmlns:a16="http://schemas.microsoft.com/office/drawing/2014/main" id="{0B6CBA1C-4678-3CFF-F98A-56AE1B5240F4}"/>
              </a:ext>
            </a:extLst>
          </p:cNvPr>
          <p:cNvSpPr/>
          <p:nvPr/>
        </p:nvSpPr>
        <p:spPr>
          <a:xfrm>
            <a:off x="7439009" y="4595787"/>
            <a:ext cx="767608" cy="63582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Host</a:t>
            </a:r>
          </a:p>
          <a:p>
            <a:pPr algn="ctr"/>
            <a:r>
              <a:rPr kumimoji="1" lang="en-US" altLang="zh-CN" dirty="0">
                <a:solidFill>
                  <a:schemeClr val="tx1"/>
                </a:solidFill>
              </a:rPr>
              <a:t>Page</a:t>
            </a:r>
            <a:endParaRPr kumimoji="1" lang="zh-CN" altLang="en-US" dirty="0">
              <a:solidFill>
                <a:schemeClr val="tx1"/>
              </a:solidFill>
            </a:endParaRPr>
          </a:p>
        </p:txBody>
      </p:sp>
      <p:cxnSp>
        <p:nvCxnSpPr>
          <p:cNvPr id="51" name="直线连接符 50">
            <a:extLst>
              <a:ext uri="{FF2B5EF4-FFF2-40B4-BE49-F238E27FC236}">
                <a16:creationId xmlns:a16="http://schemas.microsoft.com/office/drawing/2014/main" id="{59D940B2-16D6-8310-0B53-9DB75A9C69EA}"/>
              </a:ext>
            </a:extLst>
          </p:cNvPr>
          <p:cNvCxnSpPr>
            <a:cxnSpLocks/>
          </p:cNvCxnSpPr>
          <p:nvPr/>
        </p:nvCxnSpPr>
        <p:spPr>
          <a:xfrm>
            <a:off x="521591" y="4113187"/>
            <a:ext cx="79121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线箭头连接符 53">
            <a:extLst>
              <a:ext uri="{FF2B5EF4-FFF2-40B4-BE49-F238E27FC236}">
                <a16:creationId xmlns:a16="http://schemas.microsoft.com/office/drawing/2014/main" id="{1C4D8B23-A1BB-146C-532E-4912D977F5F1}"/>
              </a:ext>
            </a:extLst>
          </p:cNvPr>
          <p:cNvCxnSpPr>
            <a:stCxn id="5" idx="2"/>
            <a:endCxn id="28" idx="0"/>
          </p:cNvCxnSpPr>
          <p:nvPr/>
        </p:nvCxnSpPr>
        <p:spPr>
          <a:xfrm>
            <a:off x="2893688" y="3523049"/>
            <a:ext cx="2969" cy="990600"/>
          </a:xfrm>
          <a:prstGeom prst="straightConnector1">
            <a:avLst/>
          </a:prstGeom>
          <a:ln w="952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5" name="直线箭头连接符 54">
            <a:extLst>
              <a:ext uri="{FF2B5EF4-FFF2-40B4-BE49-F238E27FC236}">
                <a16:creationId xmlns:a16="http://schemas.microsoft.com/office/drawing/2014/main" id="{D7A05DD2-A1F4-952D-612B-7DEE29E1D1C0}"/>
              </a:ext>
            </a:extLst>
          </p:cNvPr>
          <p:cNvCxnSpPr/>
          <p:nvPr/>
        </p:nvCxnSpPr>
        <p:spPr>
          <a:xfrm>
            <a:off x="4145608" y="3523049"/>
            <a:ext cx="2969" cy="990600"/>
          </a:xfrm>
          <a:prstGeom prst="straightConnector1">
            <a:avLst/>
          </a:prstGeom>
          <a:ln w="952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6" name="直线箭头连接符 55">
            <a:extLst>
              <a:ext uri="{FF2B5EF4-FFF2-40B4-BE49-F238E27FC236}">
                <a16:creationId xmlns:a16="http://schemas.microsoft.com/office/drawing/2014/main" id="{DA9D874C-9778-76F0-D7F9-23CB80F3FC30}"/>
              </a:ext>
            </a:extLst>
          </p:cNvPr>
          <p:cNvCxnSpPr/>
          <p:nvPr/>
        </p:nvCxnSpPr>
        <p:spPr>
          <a:xfrm>
            <a:off x="5400403" y="3523049"/>
            <a:ext cx="2969" cy="990600"/>
          </a:xfrm>
          <a:prstGeom prst="straightConnector1">
            <a:avLst/>
          </a:prstGeom>
          <a:ln w="952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56">
            <a:extLst>
              <a:ext uri="{FF2B5EF4-FFF2-40B4-BE49-F238E27FC236}">
                <a16:creationId xmlns:a16="http://schemas.microsoft.com/office/drawing/2014/main" id="{758258C5-BDB2-785A-1ED3-D1DAAA2A5BD1}"/>
              </a:ext>
            </a:extLst>
          </p:cNvPr>
          <p:cNvCxnSpPr/>
          <p:nvPr/>
        </p:nvCxnSpPr>
        <p:spPr>
          <a:xfrm>
            <a:off x="6566045" y="3523049"/>
            <a:ext cx="2969" cy="990600"/>
          </a:xfrm>
          <a:prstGeom prst="straightConnector1">
            <a:avLst/>
          </a:prstGeom>
          <a:ln w="952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4337F1AB-2A2F-CE07-53D6-C8A519333EE9}"/>
              </a:ext>
            </a:extLst>
          </p:cNvPr>
          <p:cNvSpPr txBox="1"/>
          <p:nvPr/>
        </p:nvSpPr>
        <p:spPr>
          <a:xfrm>
            <a:off x="203200" y="3719631"/>
            <a:ext cx="2913617" cy="769441"/>
          </a:xfrm>
          <a:prstGeom prst="rect">
            <a:avLst/>
          </a:prstGeom>
          <a:noFill/>
        </p:spPr>
        <p:txBody>
          <a:bodyPr wrap="square" rtlCol="0">
            <a:spAutoFit/>
          </a:bodyPr>
          <a:lstStyle/>
          <a:p>
            <a:pPr algn="ctr"/>
            <a:r>
              <a:rPr kumimoji="1" lang="en-US" altLang="zh-CN" sz="2200" dirty="0">
                <a:solidFill>
                  <a:srgbClr val="C00000"/>
                </a:solidFill>
                <a:latin typeface="Times New Roman" panose="02020603050405020304" pitchFamily="18" charset="0"/>
                <a:cs typeface="Times New Roman" panose="02020603050405020304" pitchFamily="18" charset="0"/>
              </a:rPr>
              <a:t>write-protect</a:t>
            </a:r>
          </a:p>
          <a:p>
            <a:pPr algn="ctr"/>
            <a:r>
              <a:rPr kumimoji="1" lang="en-US" altLang="zh-CN" sz="2200" dirty="0">
                <a:solidFill>
                  <a:srgbClr val="C00000"/>
                </a:solidFill>
                <a:latin typeface="Times New Roman" panose="02020603050405020304" pitchFamily="18" charset="0"/>
                <a:cs typeface="Times New Roman" panose="02020603050405020304" pitchFamily="18" charset="0"/>
              </a:rPr>
              <a:t>(level, access, </a:t>
            </a:r>
            <a:r>
              <a:rPr kumimoji="1" lang="en-US" altLang="zh-CN" sz="2200" dirty="0" err="1">
                <a:solidFill>
                  <a:srgbClr val="C00000"/>
                </a:solidFill>
                <a:latin typeface="Times New Roman" panose="02020603050405020304" pitchFamily="18" charset="0"/>
                <a:cs typeface="Times New Roman" panose="02020603050405020304" pitchFamily="18" charset="0"/>
              </a:rPr>
              <a:t>gfn</a:t>
            </a:r>
            <a:r>
              <a:rPr kumimoji="1" lang="en-US" altLang="zh-CN" sz="2200" dirty="0">
                <a:solidFill>
                  <a:srgbClr val="C00000"/>
                </a:solidFill>
                <a:latin typeface="Times New Roman" panose="02020603050405020304" pitchFamily="18" charset="0"/>
                <a:cs typeface="Times New Roman" panose="02020603050405020304" pitchFamily="18" charset="0"/>
              </a:rPr>
              <a:t> …)</a:t>
            </a:r>
            <a:endParaRPr kumimoji="1" lang="zh-CN" altLang="en-US" sz="2200" dirty="0">
              <a:solidFill>
                <a:srgbClr val="C00000"/>
              </a:solidFill>
              <a:latin typeface="Times New Roman" panose="02020603050405020304" pitchFamily="18" charset="0"/>
              <a:cs typeface="Times New Roman" panose="02020603050405020304" pitchFamily="18" charset="0"/>
            </a:endParaRPr>
          </a:p>
        </p:txBody>
      </p:sp>
      <p:cxnSp>
        <p:nvCxnSpPr>
          <p:cNvPr id="63" name="直线箭头连接符 62">
            <a:extLst>
              <a:ext uri="{FF2B5EF4-FFF2-40B4-BE49-F238E27FC236}">
                <a16:creationId xmlns:a16="http://schemas.microsoft.com/office/drawing/2014/main" id="{72F8F687-6101-8F7F-E935-9B0E51F8C9DC}"/>
              </a:ext>
            </a:extLst>
          </p:cNvPr>
          <p:cNvCxnSpPr/>
          <p:nvPr/>
        </p:nvCxnSpPr>
        <p:spPr>
          <a:xfrm>
            <a:off x="7848128" y="3592487"/>
            <a:ext cx="2969" cy="990600"/>
          </a:xfrm>
          <a:prstGeom prst="straightConnector1">
            <a:avLst/>
          </a:prstGeom>
          <a:ln w="952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64" name="矩形 63">
            <a:extLst>
              <a:ext uri="{FF2B5EF4-FFF2-40B4-BE49-F238E27FC236}">
                <a16:creationId xmlns:a16="http://schemas.microsoft.com/office/drawing/2014/main" id="{ED5A7AC9-4DF3-18DB-7B8C-43964A9735FE}"/>
              </a:ext>
            </a:extLst>
          </p:cNvPr>
          <p:cNvSpPr/>
          <p:nvPr/>
        </p:nvSpPr>
        <p:spPr>
          <a:xfrm>
            <a:off x="1173951" y="3322067"/>
            <a:ext cx="824797" cy="298717"/>
          </a:xfrm>
          <a:prstGeom prst="rect">
            <a:avLst/>
          </a:prstGeom>
          <a:solidFill>
            <a:schemeClr val="bg1">
              <a:lumMod val="85000"/>
            </a:schemeClr>
          </a:solid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CR3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66" name="直线箭头连接符 65">
            <a:extLst>
              <a:ext uri="{FF2B5EF4-FFF2-40B4-BE49-F238E27FC236}">
                <a16:creationId xmlns:a16="http://schemas.microsoft.com/office/drawing/2014/main" id="{C52AC037-CD8C-7425-F58E-27AC553E365D}"/>
              </a:ext>
            </a:extLst>
          </p:cNvPr>
          <p:cNvCxnSpPr/>
          <p:nvPr/>
        </p:nvCxnSpPr>
        <p:spPr>
          <a:xfrm>
            <a:off x="1999779" y="3523049"/>
            <a:ext cx="519259" cy="0"/>
          </a:xfrm>
          <a:prstGeom prst="straightConnector1">
            <a:avLst/>
          </a:prstGeom>
          <a:ln w="952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3D647A9B-BBB9-3BE2-9090-6B9A891C4416}"/>
              </a:ext>
            </a:extLst>
          </p:cNvPr>
          <p:cNvSpPr txBox="1"/>
          <p:nvPr/>
        </p:nvSpPr>
        <p:spPr>
          <a:xfrm>
            <a:off x="1136801" y="2920300"/>
            <a:ext cx="923553" cy="430887"/>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Guest</a:t>
            </a:r>
          </a:p>
        </p:txBody>
      </p:sp>
      <p:sp>
        <p:nvSpPr>
          <p:cNvPr id="68" name="矩形 67">
            <a:extLst>
              <a:ext uri="{FF2B5EF4-FFF2-40B4-BE49-F238E27FC236}">
                <a16:creationId xmlns:a16="http://schemas.microsoft.com/office/drawing/2014/main" id="{24D1A1E7-B7C1-4354-9834-FAC285AA0EBA}"/>
              </a:ext>
            </a:extLst>
          </p:cNvPr>
          <p:cNvSpPr/>
          <p:nvPr/>
        </p:nvSpPr>
        <p:spPr>
          <a:xfrm>
            <a:off x="1222466" y="4989830"/>
            <a:ext cx="739115" cy="323273"/>
          </a:xfrm>
          <a:prstGeom prst="rect">
            <a:avLst/>
          </a:prstGeom>
          <a:solidFill>
            <a:schemeClr val="bg1">
              <a:lumMod val="85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latin typeface="Times New Roman" panose="02020603050405020304" pitchFamily="18" charset="0"/>
                <a:cs typeface="Times New Roman" panose="02020603050405020304" pitchFamily="18" charset="0"/>
              </a:rPr>
              <a:t>CR3</a:t>
            </a:r>
            <a:endParaRPr kumimoji="1" lang="zh-CN" altLang="en-US" dirty="0">
              <a:solidFill>
                <a:schemeClr val="tx1"/>
              </a:solidFill>
              <a:latin typeface="Times New Roman" panose="02020603050405020304" pitchFamily="18" charset="0"/>
              <a:cs typeface="Times New Roman" panose="02020603050405020304" pitchFamily="18" charset="0"/>
            </a:endParaRPr>
          </a:p>
        </p:txBody>
      </p:sp>
      <p:cxnSp>
        <p:nvCxnSpPr>
          <p:cNvPr id="69" name="直线箭头连接符 68">
            <a:extLst>
              <a:ext uri="{FF2B5EF4-FFF2-40B4-BE49-F238E27FC236}">
                <a16:creationId xmlns:a16="http://schemas.microsoft.com/office/drawing/2014/main" id="{56ACF937-F4C9-6266-08AA-30A669C3CC12}"/>
              </a:ext>
            </a:extLst>
          </p:cNvPr>
          <p:cNvCxnSpPr/>
          <p:nvPr/>
        </p:nvCxnSpPr>
        <p:spPr>
          <a:xfrm>
            <a:off x="1962612" y="5190812"/>
            <a:ext cx="519259" cy="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9A828909-48CC-4DAA-752E-12F2D6F839A3}"/>
              </a:ext>
            </a:extLst>
          </p:cNvPr>
          <p:cNvSpPr txBox="1"/>
          <p:nvPr/>
        </p:nvSpPr>
        <p:spPr>
          <a:xfrm>
            <a:off x="1099634" y="4588063"/>
            <a:ext cx="923553" cy="430887"/>
          </a:xfrm>
          <a:prstGeom prst="rect">
            <a:avLst/>
          </a:prstGeom>
          <a:noFill/>
        </p:spPr>
        <p:txBody>
          <a:bodyPr wrap="square" rtlCol="0">
            <a:spAutoFit/>
          </a:bodyPr>
          <a:lstStyle/>
          <a:p>
            <a:pPr algn="ctr"/>
            <a:r>
              <a:rPr kumimoji="1" lang="en-US" altLang="zh-CN" sz="2200" dirty="0">
                <a:latin typeface="Times New Roman" panose="02020603050405020304" pitchFamily="18" charset="0"/>
                <a:cs typeface="Times New Roman" panose="02020603050405020304" pitchFamily="18" charset="0"/>
              </a:rPr>
              <a:t>Host</a:t>
            </a:r>
          </a:p>
        </p:txBody>
      </p:sp>
      <p:sp>
        <p:nvSpPr>
          <p:cNvPr id="71" name="文本框 70">
            <a:extLst>
              <a:ext uri="{FF2B5EF4-FFF2-40B4-BE49-F238E27FC236}">
                <a16:creationId xmlns:a16="http://schemas.microsoft.com/office/drawing/2014/main" id="{5B84659E-5CF4-24DA-A1C9-2BA272F95EF8}"/>
              </a:ext>
            </a:extLst>
          </p:cNvPr>
          <p:cNvSpPr txBox="1"/>
          <p:nvPr/>
        </p:nvSpPr>
        <p:spPr>
          <a:xfrm>
            <a:off x="417641" y="1257864"/>
            <a:ext cx="8509000" cy="769441"/>
          </a:xfrm>
          <a:prstGeom prst="rect">
            <a:avLst/>
          </a:prstGeom>
          <a:noFill/>
        </p:spPr>
        <p:txBody>
          <a:bodyPr wrap="square" rtlCol="0">
            <a:spAutoFit/>
          </a:bodyPr>
          <a:lstStyle/>
          <a:p>
            <a:r>
              <a:rPr lang="en" altLang="zh-CN" sz="2200" b="0" i="0" dirty="0">
                <a:effectLst/>
                <a:latin typeface="Times New Roman" panose="02020603050405020304" pitchFamily="18" charset="0"/>
                <a:cs typeface="Times New Roman" panose="02020603050405020304" pitchFamily="18" charset="0"/>
              </a:rPr>
              <a:t>PVM uses separate shadow page tables for the guest user and kernel, preventing any access from the guest user to the guest kernel address.</a:t>
            </a:r>
            <a:endParaRPr kumimoji="1" lang="zh-CN" altLang="en-US" sz="2200" dirty="0">
              <a:latin typeface="Times New Roman" panose="02020603050405020304" pitchFamily="18" charset="0"/>
              <a:cs typeface="Times New Roman" panose="02020603050405020304" pitchFamily="18" charset="0"/>
            </a:endParaRPr>
          </a:p>
        </p:txBody>
      </p:sp>
      <p:sp>
        <p:nvSpPr>
          <p:cNvPr id="72" name="文本框 71">
            <a:extLst>
              <a:ext uri="{FF2B5EF4-FFF2-40B4-BE49-F238E27FC236}">
                <a16:creationId xmlns:a16="http://schemas.microsoft.com/office/drawing/2014/main" id="{398B8C73-94DE-C90D-5ADB-79D99563DE19}"/>
              </a:ext>
            </a:extLst>
          </p:cNvPr>
          <p:cNvSpPr txBox="1"/>
          <p:nvPr/>
        </p:nvSpPr>
        <p:spPr>
          <a:xfrm>
            <a:off x="2350558" y="6195308"/>
            <a:ext cx="4418541" cy="430887"/>
          </a:xfrm>
          <a:prstGeom prst="rect">
            <a:avLst/>
          </a:prstGeom>
          <a:noFill/>
        </p:spPr>
        <p:txBody>
          <a:bodyPr wrap="square" rtlCol="0">
            <a:spAutoFit/>
          </a:bodyPr>
          <a:lstStyle/>
          <a:p>
            <a:r>
              <a:rPr lang="en" altLang="zh-CN" sz="2200" dirty="0">
                <a:solidFill>
                  <a:srgbClr val="002060"/>
                </a:solidFill>
                <a:latin typeface="Times New Roman" panose="02020603050405020304" pitchFamily="18" charset="0"/>
                <a:cs typeface="Times New Roman" panose="02020603050405020304" pitchFamily="18" charset="0"/>
              </a:rPr>
              <a:t>Translate GVA to the specified HPA</a:t>
            </a:r>
            <a:endParaRPr kumimoji="1" lang="zh-CN" altLang="en-US"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974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618870-723F-9EEB-EA59-2793D616EC41}"/>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PVM – Memory Virtualization</a:t>
            </a:r>
            <a:endParaRPr kumimoji="1" lang="en-US" altLang="zh-CN" sz="3600" b="1"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7EA04BDF-9D8A-5B11-F5BD-9DE5E80E706C}"/>
              </a:ext>
            </a:extLst>
          </p:cNvPr>
          <p:cNvSpPr/>
          <p:nvPr/>
        </p:nvSpPr>
        <p:spPr>
          <a:xfrm>
            <a:off x="420126" y="5593832"/>
            <a:ext cx="5871601" cy="748386"/>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0A8DA29D-68F3-47D8-BC22-EAE5507EBC20}"/>
              </a:ext>
            </a:extLst>
          </p:cNvPr>
          <p:cNvSpPr txBox="1"/>
          <p:nvPr/>
        </p:nvSpPr>
        <p:spPr>
          <a:xfrm>
            <a:off x="1292871" y="5338291"/>
            <a:ext cx="1021698"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EPT</a:t>
            </a:r>
            <a:endParaRPr kumimoji="1" lang="zh-CN" altLang="en-US" sz="12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C4EED780-0F2A-783C-C699-2CDE1B9FF648}"/>
              </a:ext>
            </a:extLst>
          </p:cNvPr>
          <p:cNvSpPr txBox="1"/>
          <p:nvPr/>
        </p:nvSpPr>
        <p:spPr>
          <a:xfrm>
            <a:off x="394815" y="5576099"/>
            <a:ext cx="2262087"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L0 (root mode ring0)</a:t>
            </a:r>
            <a:endParaRPr kumimoji="1" lang="zh-CN" altLang="en-US" sz="1400"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52CBEAB4-B46A-07D6-4A54-A6114C79042F}"/>
              </a:ext>
            </a:extLst>
          </p:cNvPr>
          <p:cNvSpPr/>
          <p:nvPr/>
        </p:nvSpPr>
        <p:spPr>
          <a:xfrm>
            <a:off x="1249405" y="4904966"/>
            <a:ext cx="607595" cy="478972"/>
          </a:xfrm>
          <a:prstGeom prst="rect">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45" name="直线连接符 44">
            <a:extLst>
              <a:ext uri="{FF2B5EF4-FFF2-40B4-BE49-F238E27FC236}">
                <a16:creationId xmlns:a16="http://schemas.microsoft.com/office/drawing/2014/main" id="{AF01007A-3218-72D5-E213-EB75C2B39BBA}"/>
              </a:ext>
            </a:extLst>
          </p:cNvPr>
          <p:cNvCxnSpPr>
            <a:cxnSpLocks/>
          </p:cNvCxnSpPr>
          <p:nvPr/>
        </p:nvCxnSpPr>
        <p:spPr>
          <a:xfrm>
            <a:off x="1249405" y="5222329"/>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096460F7-977D-AA22-8C7C-701D9C02142C}"/>
              </a:ext>
            </a:extLst>
          </p:cNvPr>
          <p:cNvSpPr/>
          <p:nvPr/>
        </p:nvSpPr>
        <p:spPr>
          <a:xfrm>
            <a:off x="2826522" y="4913762"/>
            <a:ext cx="607595" cy="478972"/>
          </a:xfrm>
          <a:prstGeom prst="rect">
            <a:avLst/>
          </a:prstGeom>
          <a:solidFill>
            <a:schemeClr val="accent1">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52" name="直线连接符 51">
            <a:extLst>
              <a:ext uri="{FF2B5EF4-FFF2-40B4-BE49-F238E27FC236}">
                <a16:creationId xmlns:a16="http://schemas.microsoft.com/office/drawing/2014/main" id="{DD98A4F4-7B28-39B6-1AE8-C6EBBFC62328}"/>
              </a:ext>
            </a:extLst>
          </p:cNvPr>
          <p:cNvCxnSpPr>
            <a:cxnSpLocks/>
          </p:cNvCxnSpPr>
          <p:nvPr/>
        </p:nvCxnSpPr>
        <p:spPr>
          <a:xfrm>
            <a:off x="2826522" y="5231125"/>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直线连接符 52">
            <a:extLst>
              <a:ext uri="{FF2B5EF4-FFF2-40B4-BE49-F238E27FC236}">
                <a16:creationId xmlns:a16="http://schemas.microsoft.com/office/drawing/2014/main" id="{6013A25E-DD2D-EFFD-9A3A-DE2DB16104C9}"/>
              </a:ext>
            </a:extLst>
          </p:cNvPr>
          <p:cNvCxnSpPr>
            <a:cxnSpLocks/>
          </p:cNvCxnSpPr>
          <p:nvPr/>
        </p:nvCxnSpPr>
        <p:spPr>
          <a:xfrm>
            <a:off x="2826520" y="5078824"/>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818B939E-0165-220B-BF3E-C1183A03C3A1}"/>
              </a:ext>
            </a:extLst>
          </p:cNvPr>
          <p:cNvSpPr/>
          <p:nvPr/>
        </p:nvSpPr>
        <p:spPr>
          <a:xfrm>
            <a:off x="420126" y="2201415"/>
            <a:ext cx="5871602" cy="1340633"/>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60" name="矩形 59">
            <a:extLst>
              <a:ext uri="{FF2B5EF4-FFF2-40B4-BE49-F238E27FC236}">
                <a16:creationId xmlns:a16="http://schemas.microsoft.com/office/drawing/2014/main" id="{A2FC62C2-16E7-A229-32B3-28671F2A65F6}"/>
              </a:ext>
            </a:extLst>
          </p:cNvPr>
          <p:cNvSpPr/>
          <p:nvPr/>
        </p:nvSpPr>
        <p:spPr>
          <a:xfrm>
            <a:off x="420126" y="3632152"/>
            <a:ext cx="5871601" cy="1224214"/>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61" name="文本框 60">
            <a:extLst>
              <a:ext uri="{FF2B5EF4-FFF2-40B4-BE49-F238E27FC236}">
                <a16:creationId xmlns:a16="http://schemas.microsoft.com/office/drawing/2014/main" id="{EFB8AB44-EAB2-FD76-20A7-2047827C7547}"/>
              </a:ext>
            </a:extLst>
          </p:cNvPr>
          <p:cNvSpPr txBox="1"/>
          <p:nvPr/>
        </p:nvSpPr>
        <p:spPr>
          <a:xfrm>
            <a:off x="402259" y="3616472"/>
            <a:ext cx="2384665"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L1 (non-root mode ring0)</a:t>
            </a:r>
            <a:endParaRPr kumimoji="1" lang="zh-CN" altLang="en-US" sz="1400" dirty="0">
              <a:latin typeface="Times New Roman" panose="02020603050405020304" pitchFamily="18" charset="0"/>
              <a:cs typeface="Times New Roman" panose="02020603050405020304" pitchFamily="18" charset="0"/>
            </a:endParaRPr>
          </a:p>
        </p:txBody>
      </p:sp>
      <p:sp>
        <p:nvSpPr>
          <p:cNvPr id="62" name="文本框 61">
            <a:extLst>
              <a:ext uri="{FF2B5EF4-FFF2-40B4-BE49-F238E27FC236}">
                <a16:creationId xmlns:a16="http://schemas.microsoft.com/office/drawing/2014/main" id="{CBF46A5C-505B-7E6F-1661-243B19727F58}"/>
              </a:ext>
            </a:extLst>
          </p:cNvPr>
          <p:cNvSpPr txBox="1"/>
          <p:nvPr/>
        </p:nvSpPr>
        <p:spPr>
          <a:xfrm>
            <a:off x="412317" y="2180174"/>
            <a:ext cx="2555828"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L1 (non-root mode ring3)</a:t>
            </a:r>
            <a:endParaRPr kumimoji="1" lang="zh-CN" altLang="en-US" sz="1400" dirty="0">
              <a:latin typeface="Times New Roman" panose="02020603050405020304" pitchFamily="18" charset="0"/>
              <a:cs typeface="Times New Roman" panose="02020603050405020304" pitchFamily="18" charset="0"/>
            </a:endParaRPr>
          </a:p>
        </p:txBody>
      </p:sp>
      <p:sp>
        <p:nvSpPr>
          <p:cNvPr id="65" name="圆角矩形 64">
            <a:extLst>
              <a:ext uri="{FF2B5EF4-FFF2-40B4-BE49-F238E27FC236}">
                <a16:creationId xmlns:a16="http://schemas.microsoft.com/office/drawing/2014/main" id="{365895E5-600B-2280-4D35-FB2844AD1782}"/>
              </a:ext>
            </a:extLst>
          </p:cNvPr>
          <p:cNvSpPr/>
          <p:nvPr/>
        </p:nvSpPr>
        <p:spPr>
          <a:xfrm>
            <a:off x="3804829" y="5654268"/>
            <a:ext cx="1866954" cy="632165"/>
          </a:xfrm>
          <a:prstGeom prst="roundRect">
            <a:avLst/>
          </a:prstGeom>
          <a:solidFill>
            <a:schemeClr val="bg1">
              <a:lumMod val="85000"/>
            </a:schemeClr>
          </a:solidFill>
          <a:ln w="2540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 rIns="18000" rtlCol="0" anchor="t" anchorCtr="0"/>
          <a:lstStyle/>
          <a:p>
            <a:pPr algn="ct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73" name="文本框 72">
            <a:extLst>
              <a:ext uri="{FF2B5EF4-FFF2-40B4-BE49-F238E27FC236}">
                <a16:creationId xmlns:a16="http://schemas.microsoft.com/office/drawing/2014/main" id="{2F66EEFA-0904-76BC-44EF-D65284629788}"/>
              </a:ext>
            </a:extLst>
          </p:cNvPr>
          <p:cNvSpPr txBox="1"/>
          <p:nvPr/>
        </p:nvSpPr>
        <p:spPr>
          <a:xfrm>
            <a:off x="3793573" y="5647184"/>
            <a:ext cx="1655134" cy="646331"/>
          </a:xfrm>
          <a:prstGeom prst="rect">
            <a:avLst/>
          </a:prstGeom>
          <a:noFill/>
        </p:spPr>
        <p:txBody>
          <a:bodyPr wrap="square" rtlCol="0">
            <a:spAutoFit/>
          </a:bodyPr>
          <a:lstStyle/>
          <a:p>
            <a:pPr algn="ctr"/>
            <a:r>
              <a:rPr kumimoji="1" lang="en-US" altLang="zh-CN" sz="1200" dirty="0">
                <a:latin typeface="Times New Roman" panose="02020603050405020304" pitchFamily="18" charset="0"/>
                <a:cs typeface="Times New Roman" panose="02020603050405020304" pitchFamily="18" charset="0"/>
              </a:rPr>
              <a:t>VMCS01</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EPTP=</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EPT01</a:t>
            </a:r>
          </a:p>
          <a:p>
            <a:pPr marL="171450" indent="-171450">
              <a:buFont typeface="Arial" panose="020B0604020202020204" pitchFamily="34" charset="0"/>
              <a:buChar char="•"/>
            </a:pPr>
            <a:r>
              <a:rPr kumimoji="1" lang="en-US" altLang="zh-CN" sz="1200" dirty="0">
                <a:latin typeface="Times New Roman" panose="02020603050405020304" pitchFamily="18" charset="0"/>
                <a:cs typeface="Times New Roman" panose="02020603050405020304" pitchFamily="18" charset="0"/>
              </a:rPr>
              <a:t>CR3</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GPT1/SPT12</a:t>
            </a:r>
            <a:endParaRPr kumimoji="1" lang="zh-CN" altLang="en-US" sz="1200" dirty="0">
              <a:latin typeface="Times New Roman" panose="02020603050405020304" pitchFamily="18" charset="0"/>
              <a:cs typeface="Times New Roman" panose="02020603050405020304" pitchFamily="18" charset="0"/>
            </a:endParaRPr>
          </a:p>
        </p:txBody>
      </p:sp>
      <p:cxnSp>
        <p:nvCxnSpPr>
          <p:cNvPr id="74" name="直线连接符 73">
            <a:extLst>
              <a:ext uri="{FF2B5EF4-FFF2-40B4-BE49-F238E27FC236}">
                <a16:creationId xmlns:a16="http://schemas.microsoft.com/office/drawing/2014/main" id="{ED717DF6-5A24-DCE5-E207-23138127AE11}"/>
              </a:ext>
            </a:extLst>
          </p:cNvPr>
          <p:cNvCxnSpPr/>
          <p:nvPr/>
        </p:nvCxnSpPr>
        <p:spPr>
          <a:xfrm>
            <a:off x="1249405" y="5061091"/>
            <a:ext cx="607595"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FC25C3FB-855A-8765-3B3E-58108465B236}"/>
              </a:ext>
            </a:extLst>
          </p:cNvPr>
          <p:cNvSpPr txBox="1"/>
          <p:nvPr/>
        </p:nvSpPr>
        <p:spPr>
          <a:xfrm>
            <a:off x="2882576" y="5351602"/>
            <a:ext cx="802765" cy="276999"/>
          </a:xfrm>
          <a:prstGeom prst="rect">
            <a:avLst/>
          </a:prstGeom>
          <a:noFill/>
        </p:spPr>
        <p:txBody>
          <a:bodyPr wrap="square">
            <a:spAutoFit/>
          </a:bodyPr>
          <a:lstStyle/>
          <a:p>
            <a:r>
              <a:rPr kumimoji="1" lang="en-US" altLang="zh-CN" sz="1200" dirty="0">
                <a:latin typeface="Times New Roman" panose="02020603050405020304" pitchFamily="18" charset="0"/>
                <a:cs typeface="Times New Roman" panose="02020603050405020304" pitchFamily="18" charset="0"/>
              </a:rPr>
              <a:t>CR3</a:t>
            </a:r>
            <a:endParaRPr lang="zh-CN" altLang="en-US" sz="1200" dirty="0"/>
          </a:p>
        </p:txBody>
      </p:sp>
      <p:sp>
        <p:nvSpPr>
          <p:cNvPr id="76" name="矩形 75">
            <a:extLst>
              <a:ext uri="{FF2B5EF4-FFF2-40B4-BE49-F238E27FC236}">
                <a16:creationId xmlns:a16="http://schemas.microsoft.com/office/drawing/2014/main" id="{9A880247-EA02-EC94-B3BC-1AD8D11B610A}"/>
              </a:ext>
            </a:extLst>
          </p:cNvPr>
          <p:cNvSpPr/>
          <p:nvPr/>
        </p:nvSpPr>
        <p:spPr>
          <a:xfrm>
            <a:off x="3359703" y="2254739"/>
            <a:ext cx="2705940" cy="280300"/>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77" name="矩形 76">
            <a:extLst>
              <a:ext uri="{FF2B5EF4-FFF2-40B4-BE49-F238E27FC236}">
                <a16:creationId xmlns:a16="http://schemas.microsoft.com/office/drawing/2014/main" id="{ACFD8631-53B7-D2D3-C28E-6DA2B845303F}"/>
              </a:ext>
            </a:extLst>
          </p:cNvPr>
          <p:cNvSpPr/>
          <p:nvPr/>
        </p:nvSpPr>
        <p:spPr>
          <a:xfrm>
            <a:off x="3359703" y="2604923"/>
            <a:ext cx="2705940" cy="778127"/>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78" name="文本框 77">
            <a:extLst>
              <a:ext uri="{FF2B5EF4-FFF2-40B4-BE49-F238E27FC236}">
                <a16:creationId xmlns:a16="http://schemas.microsoft.com/office/drawing/2014/main" id="{7A825E93-A0C8-F739-C23F-E6F5B8C4834F}"/>
              </a:ext>
            </a:extLst>
          </p:cNvPr>
          <p:cNvSpPr txBox="1"/>
          <p:nvPr/>
        </p:nvSpPr>
        <p:spPr>
          <a:xfrm>
            <a:off x="3312698" y="2526757"/>
            <a:ext cx="2384665"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v_ring0</a:t>
            </a:r>
            <a:endParaRPr kumimoji="1" lang="zh-CN" altLang="en-US" sz="1400" dirty="0">
              <a:latin typeface="Times New Roman" panose="02020603050405020304" pitchFamily="18" charset="0"/>
              <a:cs typeface="Times New Roman" panose="02020603050405020304" pitchFamily="18" charset="0"/>
            </a:endParaRPr>
          </a:p>
        </p:txBody>
      </p:sp>
      <p:sp>
        <p:nvSpPr>
          <p:cNvPr id="79" name="文本框 78">
            <a:extLst>
              <a:ext uri="{FF2B5EF4-FFF2-40B4-BE49-F238E27FC236}">
                <a16:creationId xmlns:a16="http://schemas.microsoft.com/office/drawing/2014/main" id="{B8F952EF-6005-D7F8-B722-E5CEAC5D0406}"/>
              </a:ext>
            </a:extLst>
          </p:cNvPr>
          <p:cNvSpPr txBox="1"/>
          <p:nvPr/>
        </p:nvSpPr>
        <p:spPr>
          <a:xfrm>
            <a:off x="3306124" y="2219170"/>
            <a:ext cx="2555828" cy="307777"/>
          </a:xfrm>
          <a:prstGeom prst="rect">
            <a:avLst/>
          </a:prstGeom>
          <a:noFill/>
        </p:spPr>
        <p:txBody>
          <a:bodyPr wrap="square" rtlCol="0">
            <a:spAutoFit/>
          </a:bodyPr>
          <a:lstStyle/>
          <a:p>
            <a:r>
              <a:rPr kumimoji="1" lang="en-US" altLang="zh-CN" sz="1400" dirty="0">
                <a:latin typeface="Times New Roman" panose="02020603050405020304" pitchFamily="18" charset="0"/>
                <a:cs typeface="Times New Roman" panose="02020603050405020304" pitchFamily="18" charset="0"/>
              </a:rPr>
              <a:t>v_ring3</a:t>
            </a:r>
            <a:endParaRPr kumimoji="1" lang="zh-CN" altLang="en-US" sz="1400" dirty="0">
              <a:latin typeface="Times New Roman" panose="02020603050405020304" pitchFamily="18" charset="0"/>
              <a:cs typeface="Times New Roman" panose="02020603050405020304" pitchFamily="18" charset="0"/>
            </a:endParaRPr>
          </a:p>
        </p:txBody>
      </p:sp>
      <p:sp>
        <p:nvSpPr>
          <p:cNvPr id="80" name="文本框 79">
            <a:extLst>
              <a:ext uri="{FF2B5EF4-FFF2-40B4-BE49-F238E27FC236}">
                <a16:creationId xmlns:a16="http://schemas.microsoft.com/office/drawing/2014/main" id="{3C27DCFE-A2B2-97BA-1A0A-19F2DA74E6ED}"/>
              </a:ext>
            </a:extLst>
          </p:cNvPr>
          <p:cNvSpPr txBox="1"/>
          <p:nvPr/>
        </p:nvSpPr>
        <p:spPr>
          <a:xfrm>
            <a:off x="3903132" y="2763649"/>
            <a:ext cx="1036694" cy="276999"/>
          </a:xfrm>
          <a:prstGeom prst="rect">
            <a:avLst/>
          </a:prstGeom>
          <a:noFill/>
          <a:ln w="19050">
            <a:solidFill>
              <a:schemeClr val="tx1"/>
            </a:solidFill>
          </a:ln>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PF Handler</a:t>
            </a:r>
            <a:endParaRPr kumimoji="1" lang="zh-CN" altLang="en-US" sz="1200" dirty="0">
              <a:latin typeface="Times New Roman" panose="02020603050405020304" pitchFamily="18" charset="0"/>
              <a:cs typeface="Times New Roman" panose="02020603050405020304" pitchFamily="18" charset="0"/>
            </a:endParaRPr>
          </a:p>
        </p:txBody>
      </p:sp>
      <p:sp>
        <p:nvSpPr>
          <p:cNvPr id="81" name="文本框 80">
            <a:extLst>
              <a:ext uri="{FF2B5EF4-FFF2-40B4-BE49-F238E27FC236}">
                <a16:creationId xmlns:a16="http://schemas.microsoft.com/office/drawing/2014/main" id="{C86041AF-9FCC-A84E-31B9-EE75EFF961CA}"/>
              </a:ext>
            </a:extLst>
          </p:cNvPr>
          <p:cNvSpPr txBox="1"/>
          <p:nvPr/>
        </p:nvSpPr>
        <p:spPr>
          <a:xfrm>
            <a:off x="2935769" y="3806791"/>
            <a:ext cx="740709" cy="276999"/>
          </a:xfrm>
          <a:prstGeom prst="rect">
            <a:avLst/>
          </a:prstGeom>
          <a:noFill/>
          <a:ln w="19050">
            <a:solidFill>
              <a:schemeClr val="tx1"/>
            </a:solidFill>
          </a:ln>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switcher</a:t>
            </a:r>
            <a:endParaRPr kumimoji="1" lang="zh-CN" altLang="en-US" sz="1200" dirty="0">
              <a:latin typeface="Times New Roman" panose="02020603050405020304" pitchFamily="18" charset="0"/>
              <a:cs typeface="Times New Roman" panose="02020603050405020304" pitchFamily="18" charset="0"/>
            </a:endParaRPr>
          </a:p>
        </p:txBody>
      </p:sp>
      <p:cxnSp>
        <p:nvCxnSpPr>
          <p:cNvPr id="82" name="肘形连接符 81">
            <a:extLst>
              <a:ext uri="{FF2B5EF4-FFF2-40B4-BE49-F238E27FC236}">
                <a16:creationId xmlns:a16="http://schemas.microsoft.com/office/drawing/2014/main" id="{4800C808-F845-D427-3790-93D9684E6ACF}"/>
              </a:ext>
            </a:extLst>
          </p:cNvPr>
          <p:cNvCxnSpPr>
            <a:cxnSpLocks/>
            <a:stCxn id="79" idx="1"/>
          </p:cNvCxnSpPr>
          <p:nvPr/>
        </p:nvCxnSpPr>
        <p:spPr>
          <a:xfrm rot="10800000" flipV="1">
            <a:off x="3169802" y="2373058"/>
            <a:ext cx="136322" cy="1430389"/>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A9AE6FC2-F33A-88B0-092E-4128E4559540}"/>
              </a:ext>
            </a:extLst>
          </p:cNvPr>
          <p:cNvSpPr txBox="1"/>
          <p:nvPr/>
        </p:nvSpPr>
        <p:spPr>
          <a:xfrm>
            <a:off x="3106536" y="3137899"/>
            <a:ext cx="915485" cy="461665"/>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①/❶ </a:t>
            </a:r>
          </a:p>
          <a:p>
            <a:r>
              <a:rPr kumimoji="1" lang="en-US" altLang="zh-CN" sz="1200" dirty="0">
                <a:latin typeface="Times New Roman" panose="02020603050405020304" pitchFamily="18" charset="0"/>
                <a:cs typeface="Times New Roman" panose="02020603050405020304" pitchFamily="18" charset="0"/>
              </a:rPr>
              <a:t>#PF</a:t>
            </a:r>
            <a:endParaRPr kumimoji="1" lang="zh-CN" altLang="en-US" sz="1200" dirty="0">
              <a:latin typeface="Times New Roman" panose="02020603050405020304" pitchFamily="18" charset="0"/>
              <a:cs typeface="Times New Roman" panose="02020603050405020304" pitchFamily="18" charset="0"/>
            </a:endParaRPr>
          </a:p>
        </p:txBody>
      </p:sp>
      <p:sp>
        <p:nvSpPr>
          <p:cNvPr id="84" name="文本框 83">
            <a:extLst>
              <a:ext uri="{FF2B5EF4-FFF2-40B4-BE49-F238E27FC236}">
                <a16:creationId xmlns:a16="http://schemas.microsoft.com/office/drawing/2014/main" id="{2FDB37F9-3C8A-68D4-3BB3-D512D7A0994D}"/>
              </a:ext>
            </a:extLst>
          </p:cNvPr>
          <p:cNvSpPr txBox="1"/>
          <p:nvPr/>
        </p:nvSpPr>
        <p:spPr>
          <a:xfrm>
            <a:off x="1317507" y="4331041"/>
            <a:ext cx="1308792" cy="276999"/>
          </a:xfrm>
          <a:prstGeom prst="rect">
            <a:avLst/>
          </a:prstGeom>
          <a:noFill/>
          <a:ln w="19050">
            <a:solidFill>
              <a:schemeClr val="tx1"/>
            </a:solidFill>
          </a:ln>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PVM PF Handler</a:t>
            </a:r>
            <a:endParaRPr kumimoji="1" lang="zh-CN" altLang="en-US" sz="1200" dirty="0">
              <a:latin typeface="Times New Roman" panose="02020603050405020304" pitchFamily="18" charset="0"/>
              <a:cs typeface="Times New Roman" panose="02020603050405020304" pitchFamily="18" charset="0"/>
            </a:endParaRPr>
          </a:p>
        </p:txBody>
      </p:sp>
      <p:cxnSp>
        <p:nvCxnSpPr>
          <p:cNvPr id="85" name="肘形连接符 84">
            <a:extLst>
              <a:ext uri="{FF2B5EF4-FFF2-40B4-BE49-F238E27FC236}">
                <a16:creationId xmlns:a16="http://schemas.microsoft.com/office/drawing/2014/main" id="{15A7359C-5BBA-1079-9977-7A20D9E0E322}"/>
              </a:ext>
            </a:extLst>
          </p:cNvPr>
          <p:cNvCxnSpPr>
            <a:cxnSpLocks/>
            <a:stCxn id="81" idx="1"/>
            <a:endCxn id="84" idx="0"/>
          </p:cNvCxnSpPr>
          <p:nvPr/>
        </p:nvCxnSpPr>
        <p:spPr>
          <a:xfrm rot="10800000" flipV="1">
            <a:off x="1971903" y="3945291"/>
            <a:ext cx="963866" cy="38575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EB08EBBF-9B00-1889-D036-81E3B20447BD}"/>
              </a:ext>
            </a:extLst>
          </p:cNvPr>
          <p:cNvSpPr txBox="1"/>
          <p:nvPr/>
        </p:nvSpPr>
        <p:spPr>
          <a:xfrm>
            <a:off x="1934994" y="3902375"/>
            <a:ext cx="1201231"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②</a:t>
            </a:r>
            <a:r>
              <a:rPr kumimoji="1" lang="en-US" altLang="zh-CN" sz="1200" dirty="0">
                <a:latin typeface="Times New Roman" panose="02020603050405020304" pitchFamily="18" charset="0"/>
                <a:cs typeface="Times New Roman" panose="02020603050405020304" pitchFamily="18" charset="0"/>
              </a:rPr>
              <a:t>/</a:t>
            </a:r>
            <a:r>
              <a:rPr kumimoji="1" lang="zh-CN" altLang="en-US" sz="1200" dirty="0">
                <a:latin typeface="Times New Roman" panose="02020603050405020304" pitchFamily="18" charset="0"/>
                <a:cs typeface="Times New Roman" panose="02020603050405020304" pitchFamily="18" charset="0"/>
              </a:rPr>
              <a:t>❷ </a:t>
            </a:r>
            <a:r>
              <a:rPr kumimoji="1" lang="en-US" altLang="zh-CN" sz="1200" dirty="0" err="1">
                <a:latin typeface="Times New Roman" panose="02020603050405020304" pitchFamily="18" charset="0"/>
                <a:cs typeface="Times New Roman" panose="02020603050405020304" pitchFamily="18" charset="0"/>
              </a:rPr>
              <a:t>vm</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exit</a:t>
            </a:r>
            <a:endParaRPr kumimoji="1" lang="zh-CN" altLang="en-US" sz="1200" dirty="0">
              <a:latin typeface="Times New Roman" panose="02020603050405020304" pitchFamily="18" charset="0"/>
              <a:cs typeface="Times New Roman" panose="02020603050405020304" pitchFamily="18" charset="0"/>
            </a:endParaRPr>
          </a:p>
        </p:txBody>
      </p:sp>
      <p:cxnSp>
        <p:nvCxnSpPr>
          <p:cNvPr id="87" name="肘形连接符 86">
            <a:extLst>
              <a:ext uri="{FF2B5EF4-FFF2-40B4-BE49-F238E27FC236}">
                <a16:creationId xmlns:a16="http://schemas.microsoft.com/office/drawing/2014/main" id="{88F2AE24-BDBF-7CA0-D93F-0DCF2709F22C}"/>
              </a:ext>
            </a:extLst>
          </p:cNvPr>
          <p:cNvCxnSpPr>
            <a:cxnSpLocks/>
            <a:stCxn id="84" idx="1"/>
            <a:endCxn id="77" idx="1"/>
          </p:cNvCxnSpPr>
          <p:nvPr/>
        </p:nvCxnSpPr>
        <p:spPr>
          <a:xfrm rot="10800000" flipH="1">
            <a:off x="1317507" y="2993987"/>
            <a:ext cx="2042196" cy="1475554"/>
          </a:xfrm>
          <a:prstGeom prst="bentConnector3">
            <a:avLst>
              <a:gd name="adj1" fmla="val -11194"/>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C8BEE982-FE2C-4DDD-499A-7E08B997DAB2}"/>
              </a:ext>
            </a:extLst>
          </p:cNvPr>
          <p:cNvSpPr txBox="1"/>
          <p:nvPr/>
        </p:nvSpPr>
        <p:spPr>
          <a:xfrm>
            <a:off x="1011891" y="3978639"/>
            <a:ext cx="1201231"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③ </a:t>
            </a:r>
            <a:r>
              <a:rPr kumimoji="1" lang="en-US" altLang="zh-CN" sz="1200" dirty="0">
                <a:latin typeface="Times New Roman" panose="02020603050405020304" pitchFamily="18" charset="0"/>
                <a:cs typeface="Times New Roman" panose="02020603050405020304" pitchFamily="18" charset="0"/>
              </a:rPr>
              <a:t>inject</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#PF</a:t>
            </a:r>
            <a:endParaRPr kumimoji="1" lang="zh-CN" altLang="en-US" sz="1200" dirty="0">
              <a:latin typeface="Times New Roman" panose="02020603050405020304" pitchFamily="18" charset="0"/>
              <a:cs typeface="Times New Roman" panose="02020603050405020304" pitchFamily="18" charset="0"/>
            </a:endParaRPr>
          </a:p>
        </p:txBody>
      </p:sp>
      <p:cxnSp>
        <p:nvCxnSpPr>
          <p:cNvPr id="89" name="肘形连接符 88">
            <a:extLst>
              <a:ext uri="{FF2B5EF4-FFF2-40B4-BE49-F238E27FC236}">
                <a16:creationId xmlns:a16="http://schemas.microsoft.com/office/drawing/2014/main" id="{CFC013CE-FDA1-990C-39D3-4EB7AED502A1}"/>
              </a:ext>
            </a:extLst>
          </p:cNvPr>
          <p:cNvCxnSpPr>
            <a:cxnSpLocks/>
            <a:endCxn id="81" idx="2"/>
          </p:cNvCxnSpPr>
          <p:nvPr/>
        </p:nvCxnSpPr>
        <p:spPr>
          <a:xfrm flipV="1">
            <a:off x="2619517" y="4083790"/>
            <a:ext cx="686607" cy="284219"/>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肘形连接符 89">
            <a:extLst>
              <a:ext uri="{FF2B5EF4-FFF2-40B4-BE49-F238E27FC236}">
                <a16:creationId xmlns:a16="http://schemas.microsoft.com/office/drawing/2014/main" id="{EBEA3680-CAF0-8079-9F7B-3A9651CD691D}"/>
              </a:ext>
            </a:extLst>
          </p:cNvPr>
          <p:cNvCxnSpPr>
            <a:cxnSpLocks/>
          </p:cNvCxnSpPr>
          <p:nvPr/>
        </p:nvCxnSpPr>
        <p:spPr>
          <a:xfrm rot="5400000" flipH="1" flipV="1">
            <a:off x="3297260" y="3190733"/>
            <a:ext cx="924936" cy="28680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文本框 90">
            <a:extLst>
              <a:ext uri="{FF2B5EF4-FFF2-40B4-BE49-F238E27FC236}">
                <a16:creationId xmlns:a16="http://schemas.microsoft.com/office/drawing/2014/main" id="{B8965D75-913E-5F8C-F896-BF7637BA67EC}"/>
              </a:ext>
            </a:extLst>
          </p:cNvPr>
          <p:cNvSpPr txBox="1"/>
          <p:nvPr/>
        </p:nvSpPr>
        <p:spPr>
          <a:xfrm>
            <a:off x="2560029" y="4323202"/>
            <a:ext cx="1201231"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④</a:t>
            </a:r>
            <a:r>
              <a:rPr kumimoji="1" lang="en-US" altLang="zh-CN" sz="1200" dirty="0">
                <a:latin typeface="Times New Roman" panose="02020603050405020304" pitchFamily="18" charset="0"/>
                <a:cs typeface="Times New Roman" panose="02020603050405020304" pitchFamily="18" charset="0"/>
              </a:rPr>
              <a:t>/❹</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err="1">
                <a:latin typeface="Times New Roman" panose="02020603050405020304" pitchFamily="18" charset="0"/>
                <a:cs typeface="Times New Roman" panose="02020603050405020304" pitchFamily="18" charset="0"/>
              </a:rPr>
              <a:t>vm_entry</a:t>
            </a:r>
            <a:endParaRPr kumimoji="1" lang="zh-CN" altLang="en-US" sz="1200" dirty="0">
              <a:latin typeface="Times New Roman" panose="02020603050405020304" pitchFamily="18" charset="0"/>
              <a:cs typeface="Times New Roman" panose="02020603050405020304" pitchFamily="18" charset="0"/>
            </a:endParaRPr>
          </a:p>
        </p:txBody>
      </p:sp>
      <p:cxnSp>
        <p:nvCxnSpPr>
          <p:cNvPr id="92" name="肘形连接符 91">
            <a:extLst>
              <a:ext uri="{FF2B5EF4-FFF2-40B4-BE49-F238E27FC236}">
                <a16:creationId xmlns:a16="http://schemas.microsoft.com/office/drawing/2014/main" id="{4ABF83DB-5A7D-1DC7-9CB5-57811FCE9EF3}"/>
              </a:ext>
            </a:extLst>
          </p:cNvPr>
          <p:cNvCxnSpPr>
            <a:cxnSpLocks/>
          </p:cNvCxnSpPr>
          <p:nvPr/>
        </p:nvCxnSpPr>
        <p:spPr>
          <a:xfrm rot="16200000" flipH="1">
            <a:off x="4532530" y="3075297"/>
            <a:ext cx="596390" cy="559304"/>
          </a:xfrm>
          <a:prstGeom prst="bentConnector3">
            <a:avLst>
              <a:gd name="adj1" fmla="val 37223"/>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3" name="文本框 92">
            <a:extLst>
              <a:ext uri="{FF2B5EF4-FFF2-40B4-BE49-F238E27FC236}">
                <a16:creationId xmlns:a16="http://schemas.microsoft.com/office/drawing/2014/main" id="{6BFF775C-A9C3-6199-D7AB-D7FB77A8E4B3}"/>
              </a:ext>
            </a:extLst>
          </p:cNvPr>
          <p:cNvSpPr txBox="1"/>
          <p:nvPr/>
        </p:nvSpPr>
        <p:spPr>
          <a:xfrm>
            <a:off x="3425835" y="2973841"/>
            <a:ext cx="1201231" cy="461665"/>
          </a:xfrm>
          <a:prstGeom prst="rect">
            <a:avLst/>
          </a:prstGeom>
          <a:noFill/>
        </p:spPr>
        <p:txBody>
          <a:bodyPr wrap="square" rtlCol="0">
            <a:spAutoFit/>
          </a:bodyPr>
          <a:lstStyle/>
          <a:p>
            <a:pPr algn="r"/>
            <a:r>
              <a:rPr kumimoji="1" lang="zh-CN" altLang="en-US" sz="1200" dirty="0">
                <a:latin typeface="Times New Roman" panose="02020603050405020304" pitchFamily="18" charset="0"/>
                <a:cs typeface="Times New Roman" panose="02020603050405020304" pitchFamily="18" charset="0"/>
              </a:rPr>
              <a:t>⑦</a:t>
            </a:r>
            <a:endParaRPr kumimoji="1" lang="en-US" altLang="zh-CN" sz="1200" dirty="0">
              <a:latin typeface="Times New Roman" panose="02020603050405020304" pitchFamily="18" charset="0"/>
              <a:cs typeface="Times New Roman" panose="02020603050405020304" pitchFamily="18" charset="0"/>
            </a:endParaRPr>
          </a:p>
          <a:p>
            <a:pPr algn="r"/>
            <a:r>
              <a:rPr kumimoji="1" lang="en-US" altLang="zh-CN" sz="1200" dirty="0" err="1">
                <a:latin typeface="Times New Roman" panose="02020603050405020304" pitchFamily="18" charset="0"/>
                <a:cs typeface="Times New Roman" panose="02020603050405020304" pitchFamily="18" charset="0"/>
              </a:rPr>
              <a:t>iret</a:t>
            </a:r>
            <a:r>
              <a:rPr kumimoji="1" lang="en-US" altLang="zh-CN" sz="1200" dirty="0">
                <a:latin typeface="Times New Roman" panose="02020603050405020304" pitchFamily="18" charset="0"/>
                <a:cs typeface="Times New Roman" panose="02020603050405020304" pitchFamily="18" charset="0"/>
              </a:rPr>
              <a:t> </a:t>
            </a:r>
            <a:r>
              <a:rPr kumimoji="1" lang="en-US" altLang="zh-CN" sz="1200" dirty="0" err="1">
                <a:latin typeface="Times New Roman" panose="02020603050405020304" pitchFamily="18" charset="0"/>
                <a:cs typeface="Times New Roman" panose="02020603050405020304" pitchFamily="18" charset="0"/>
              </a:rPr>
              <a:t>hypercall</a:t>
            </a:r>
            <a:endParaRPr kumimoji="1" lang="zh-CN" altLang="en-US" sz="1200" dirty="0">
              <a:latin typeface="Times New Roman" panose="02020603050405020304" pitchFamily="18" charset="0"/>
              <a:cs typeface="Times New Roman" panose="02020603050405020304" pitchFamily="18" charset="0"/>
            </a:endParaRPr>
          </a:p>
        </p:txBody>
      </p:sp>
      <p:cxnSp>
        <p:nvCxnSpPr>
          <p:cNvPr id="94" name="肘形连接符 93">
            <a:extLst>
              <a:ext uri="{FF2B5EF4-FFF2-40B4-BE49-F238E27FC236}">
                <a16:creationId xmlns:a16="http://schemas.microsoft.com/office/drawing/2014/main" id="{2848F949-7C67-F976-3F04-770E91BFD6C5}"/>
              </a:ext>
            </a:extLst>
          </p:cNvPr>
          <p:cNvCxnSpPr>
            <a:cxnSpLocks/>
            <a:endCxn id="81" idx="3"/>
          </p:cNvCxnSpPr>
          <p:nvPr/>
        </p:nvCxnSpPr>
        <p:spPr>
          <a:xfrm rot="10800000" flipV="1">
            <a:off x="3676478" y="3643809"/>
            <a:ext cx="1431272" cy="301482"/>
          </a:xfrm>
          <a:prstGeom prst="bentConnector3">
            <a:avLst>
              <a:gd name="adj1" fmla="val -704"/>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FE872A8C-7986-EEE1-3598-D0130CDA2CA5}"/>
              </a:ext>
            </a:extLst>
          </p:cNvPr>
          <p:cNvSpPr txBox="1"/>
          <p:nvPr/>
        </p:nvSpPr>
        <p:spPr>
          <a:xfrm>
            <a:off x="4726112" y="4075134"/>
            <a:ext cx="1339531" cy="276999"/>
          </a:xfrm>
          <a:prstGeom prst="rect">
            <a:avLst/>
          </a:prstGeom>
          <a:noFill/>
          <a:ln w="19050">
            <a:solidFill>
              <a:schemeClr val="tx1"/>
            </a:solidFill>
          </a:ln>
        </p:spPr>
        <p:txBody>
          <a:bodyPr wrap="square" rtlCol="0">
            <a:spAutoFit/>
          </a:bodyPr>
          <a:lstStyle/>
          <a:p>
            <a:r>
              <a:rPr kumimoji="1" lang="en-US" altLang="zh-CN" sz="1200" dirty="0" err="1">
                <a:latin typeface="Times New Roman" panose="02020603050405020304" pitchFamily="18" charset="0"/>
                <a:cs typeface="Times New Roman" panose="02020603050405020304" pitchFamily="18" charset="0"/>
              </a:rPr>
              <a:t>Hypercall</a:t>
            </a:r>
            <a:r>
              <a:rPr kumimoji="1" lang="en-US" altLang="zh-CN" sz="1200" dirty="0">
                <a:latin typeface="Times New Roman" panose="02020603050405020304" pitchFamily="18" charset="0"/>
                <a:cs typeface="Times New Roman" panose="02020603050405020304" pitchFamily="18" charset="0"/>
              </a:rPr>
              <a:t> Handler</a:t>
            </a:r>
            <a:endParaRPr kumimoji="1" lang="zh-CN" altLang="en-US" sz="1200" dirty="0">
              <a:latin typeface="Times New Roman" panose="02020603050405020304" pitchFamily="18" charset="0"/>
              <a:cs typeface="Times New Roman" panose="02020603050405020304" pitchFamily="18" charset="0"/>
            </a:endParaRPr>
          </a:p>
        </p:txBody>
      </p:sp>
      <p:sp>
        <p:nvSpPr>
          <p:cNvPr id="96" name="文本框 95">
            <a:extLst>
              <a:ext uri="{FF2B5EF4-FFF2-40B4-BE49-F238E27FC236}">
                <a16:creationId xmlns:a16="http://schemas.microsoft.com/office/drawing/2014/main" id="{A240A612-3AC1-62B5-F165-1F341D735CD9}"/>
              </a:ext>
            </a:extLst>
          </p:cNvPr>
          <p:cNvSpPr txBox="1"/>
          <p:nvPr/>
        </p:nvSpPr>
        <p:spPr>
          <a:xfrm>
            <a:off x="3735398" y="3970376"/>
            <a:ext cx="1201231"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⑧ </a:t>
            </a:r>
            <a:r>
              <a:rPr kumimoji="1" lang="en-US" altLang="zh-CN" sz="1200" dirty="0">
                <a:latin typeface="Times New Roman" panose="02020603050405020304" pitchFamily="18" charset="0"/>
                <a:cs typeface="Times New Roman" panose="02020603050405020304" pitchFamily="18" charset="0"/>
              </a:rPr>
              <a:t>handle </a:t>
            </a:r>
            <a:r>
              <a:rPr kumimoji="1" lang="en-US" altLang="zh-CN" sz="1200" dirty="0" err="1">
                <a:latin typeface="Times New Roman" panose="02020603050405020304" pitchFamily="18" charset="0"/>
                <a:cs typeface="Times New Roman" panose="02020603050405020304" pitchFamily="18" charset="0"/>
              </a:rPr>
              <a:t>iret</a:t>
            </a:r>
            <a:endParaRPr kumimoji="1" lang="zh-CN" altLang="en-US" sz="1200" dirty="0">
              <a:latin typeface="Times New Roman" panose="02020603050405020304" pitchFamily="18" charset="0"/>
              <a:cs typeface="Times New Roman" panose="02020603050405020304" pitchFamily="18" charset="0"/>
            </a:endParaRPr>
          </a:p>
        </p:txBody>
      </p:sp>
      <p:cxnSp>
        <p:nvCxnSpPr>
          <p:cNvPr id="97" name="肘形连接符 96">
            <a:extLst>
              <a:ext uri="{FF2B5EF4-FFF2-40B4-BE49-F238E27FC236}">
                <a16:creationId xmlns:a16="http://schemas.microsoft.com/office/drawing/2014/main" id="{27B5EB5B-8F56-BA09-6F14-74560B245AC2}"/>
              </a:ext>
            </a:extLst>
          </p:cNvPr>
          <p:cNvCxnSpPr>
            <a:cxnSpLocks/>
            <a:endCxn id="76" idx="3"/>
          </p:cNvCxnSpPr>
          <p:nvPr/>
        </p:nvCxnSpPr>
        <p:spPr>
          <a:xfrm flipV="1">
            <a:off x="3697682" y="2394889"/>
            <a:ext cx="2367961" cy="1451571"/>
          </a:xfrm>
          <a:prstGeom prst="bentConnector3">
            <a:avLst>
              <a:gd name="adj1" fmla="val 10482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肘形连接符 97">
            <a:extLst>
              <a:ext uri="{FF2B5EF4-FFF2-40B4-BE49-F238E27FC236}">
                <a16:creationId xmlns:a16="http://schemas.microsoft.com/office/drawing/2014/main" id="{6B69BDC0-D66E-4E36-AC98-A288DE1FDD17}"/>
              </a:ext>
            </a:extLst>
          </p:cNvPr>
          <p:cNvCxnSpPr>
            <a:cxnSpLocks/>
            <a:endCxn id="95" idx="1"/>
          </p:cNvCxnSpPr>
          <p:nvPr/>
        </p:nvCxnSpPr>
        <p:spPr>
          <a:xfrm>
            <a:off x="3685341" y="4032369"/>
            <a:ext cx="1040771" cy="181265"/>
          </a:xfrm>
          <a:prstGeom prst="bentConnector3">
            <a:avLst>
              <a:gd name="adj1" fmla="val 10464"/>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肘形连接符 98">
            <a:extLst>
              <a:ext uri="{FF2B5EF4-FFF2-40B4-BE49-F238E27FC236}">
                <a16:creationId xmlns:a16="http://schemas.microsoft.com/office/drawing/2014/main" id="{19A2C2A0-F60A-3083-F96C-0E9D106FA122}"/>
              </a:ext>
            </a:extLst>
          </p:cNvPr>
          <p:cNvCxnSpPr>
            <a:cxnSpLocks/>
          </p:cNvCxnSpPr>
          <p:nvPr/>
        </p:nvCxnSpPr>
        <p:spPr>
          <a:xfrm rot="10800000">
            <a:off x="3551545" y="4088155"/>
            <a:ext cx="1137811" cy="213804"/>
          </a:xfrm>
          <a:prstGeom prst="bentConnector3">
            <a:avLst>
              <a:gd name="adj1" fmla="val 100228"/>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690E9E47-D554-9AAE-9C72-5551F359E3CC}"/>
              </a:ext>
            </a:extLst>
          </p:cNvPr>
          <p:cNvSpPr txBox="1"/>
          <p:nvPr/>
        </p:nvSpPr>
        <p:spPr>
          <a:xfrm>
            <a:off x="3603767" y="4260747"/>
            <a:ext cx="1201231"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⑨ </a:t>
            </a:r>
            <a:r>
              <a:rPr kumimoji="1" lang="en-US" altLang="zh-CN" sz="1200" dirty="0" err="1">
                <a:latin typeface="Times New Roman" panose="02020603050405020304" pitchFamily="18" charset="0"/>
                <a:cs typeface="Times New Roman" panose="02020603050405020304" pitchFamily="18" charset="0"/>
              </a:rPr>
              <a:t>vm_entry</a:t>
            </a:r>
            <a:endParaRPr kumimoji="1" lang="zh-CN" altLang="en-US" sz="1200" dirty="0">
              <a:latin typeface="Times New Roman" panose="02020603050405020304" pitchFamily="18" charset="0"/>
              <a:cs typeface="Times New Roman" panose="02020603050405020304" pitchFamily="18" charset="0"/>
            </a:endParaRPr>
          </a:p>
        </p:txBody>
      </p:sp>
      <p:sp>
        <p:nvSpPr>
          <p:cNvPr id="101" name="文本框 100">
            <a:extLst>
              <a:ext uri="{FF2B5EF4-FFF2-40B4-BE49-F238E27FC236}">
                <a16:creationId xmlns:a16="http://schemas.microsoft.com/office/drawing/2014/main" id="{ACA49842-AFD2-53FF-8F20-13A660C90873}"/>
              </a:ext>
            </a:extLst>
          </p:cNvPr>
          <p:cNvSpPr txBox="1"/>
          <p:nvPr/>
        </p:nvSpPr>
        <p:spPr>
          <a:xfrm>
            <a:off x="3546329" y="3576559"/>
            <a:ext cx="1201231"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⑤ </a:t>
            </a:r>
            <a:r>
              <a:rPr kumimoji="1" lang="en-US" altLang="zh-CN" sz="1200" dirty="0" err="1">
                <a:latin typeface="Times New Roman" panose="02020603050405020304" pitchFamily="18" charset="0"/>
                <a:cs typeface="Times New Roman" panose="02020603050405020304" pitchFamily="18" charset="0"/>
              </a:rPr>
              <a:t>iret</a:t>
            </a:r>
            <a:endParaRPr kumimoji="1" lang="zh-CN" altLang="en-US" sz="1200" dirty="0">
              <a:latin typeface="Times New Roman" panose="02020603050405020304" pitchFamily="18" charset="0"/>
              <a:cs typeface="Times New Roman" panose="02020603050405020304" pitchFamily="18" charset="0"/>
            </a:endParaRPr>
          </a:p>
        </p:txBody>
      </p:sp>
      <p:sp>
        <p:nvSpPr>
          <p:cNvPr id="102" name="文本框 101">
            <a:extLst>
              <a:ext uri="{FF2B5EF4-FFF2-40B4-BE49-F238E27FC236}">
                <a16:creationId xmlns:a16="http://schemas.microsoft.com/office/drawing/2014/main" id="{C249A296-D417-2E61-674C-4AED96433766}"/>
              </a:ext>
            </a:extLst>
          </p:cNvPr>
          <p:cNvSpPr txBox="1"/>
          <p:nvPr/>
        </p:nvSpPr>
        <p:spPr>
          <a:xfrm>
            <a:off x="5472567" y="3609048"/>
            <a:ext cx="676626" cy="276999"/>
          </a:xfrm>
          <a:prstGeom prst="rect">
            <a:avLst/>
          </a:prstGeom>
          <a:noFill/>
        </p:spPr>
        <p:txBody>
          <a:bodyPr wrap="square" rtlCol="0">
            <a:spAutoFit/>
          </a:bodyPr>
          <a:lstStyle/>
          <a:p>
            <a:r>
              <a:rPr kumimoji="1" lang="zh-CN" altLang="en-US" sz="1200" dirty="0">
                <a:latin typeface="Times New Roman" panose="02020603050405020304" pitchFamily="18" charset="0"/>
                <a:cs typeface="Times New Roman" panose="02020603050405020304" pitchFamily="18" charset="0"/>
              </a:rPr>
              <a:t>⑩ </a:t>
            </a:r>
            <a:r>
              <a:rPr kumimoji="1" lang="en-US" altLang="zh-CN" sz="1200" dirty="0" err="1">
                <a:latin typeface="Times New Roman" panose="02020603050405020304" pitchFamily="18" charset="0"/>
                <a:cs typeface="Times New Roman" panose="02020603050405020304" pitchFamily="18" charset="0"/>
              </a:rPr>
              <a:t>iret</a:t>
            </a:r>
            <a:endParaRPr kumimoji="1" lang="zh-CN" altLang="en-US" sz="1200" dirty="0">
              <a:latin typeface="Times New Roman" panose="02020603050405020304" pitchFamily="18" charset="0"/>
              <a:cs typeface="Times New Roman" panose="02020603050405020304" pitchFamily="18" charset="0"/>
            </a:endParaRPr>
          </a:p>
        </p:txBody>
      </p:sp>
      <p:sp>
        <p:nvSpPr>
          <p:cNvPr id="103" name="矩形 102">
            <a:extLst>
              <a:ext uri="{FF2B5EF4-FFF2-40B4-BE49-F238E27FC236}">
                <a16:creationId xmlns:a16="http://schemas.microsoft.com/office/drawing/2014/main" id="{3147E15F-1779-8C4C-53DD-71FA1DE361B1}"/>
              </a:ext>
            </a:extLst>
          </p:cNvPr>
          <p:cNvSpPr/>
          <p:nvPr/>
        </p:nvSpPr>
        <p:spPr>
          <a:xfrm>
            <a:off x="3911016" y="4850333"/>
            <a:ext cx="2380712" cy="706872"/>
          </a:xfrm>
          <a:prstGeom prst="rect">
            <a:avLst/>
          </a:prstGeom>
          <a:solidFill>
            <a:schemeClr val="bg1"/>
          </a:solidFill>
          <a:ln w="19050">
            <a:solidFill>
              <a:schemeClr val="tx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Times New Roman" panose="02020603050405020304" pitchFamily="18" charset="0"/>
              <a:cs typeface="Times New Roman" panose="02020603050405020304" pitchFamily="18" charset="0"/>
            </a:endParaRPr>
          </a:p>
        </p:txBody>
      </p:sp>
      <p:sp>
        <p:nvSpPr>
          <p:cNvPr id="104" name="矩形 103">
            <a:extLst>
              <a:ext uri="{FF2B5EF4-FFF2-40B4-BE49-F238E27FC236}">
                <a16:creationId xmlns:a16="http://schemas.microsoft.com/office/drawing/2014/main" id="{43611551-88D3-C6A9-E062-0C6C3FA0DFD3}"/>
              </a:ext>
            </a:extLst>
          </p:cNvPr>
          <p:cNvSpPr/>
          <p:nvPr/>
        </p:nvSpPr>
        <p:spPr>
          <a:xfrm>
            <a:off x="4784005" y="4930569"/>
            <a:ext cx="607595" cy="478972"/>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105" name="直线连接符 104">
            <a:extLst>
              <a:ext uri="{FF2B5EF4-FFF2-40B4-BE49-F238E27FC236}">
                <a16:creationId xmlns:a16="http://schemas.microsoft.com/office/drawing/2014/main" id="{B25B4F0B-3446-F42C-0AA3-5C3437DC7521}"/>
              </a:ext>
            </a:extLst>
          </p:cNvPr>
          <p:cNvCxnSpPr/>
          <p:nvPr/>
        </p:nvCxnSpPr>
        <p:spPr>
          <a:xfrm>
            <a:off x="4784003" y="5095631"/>
            <a:ext cx="607595" cy="0"/>
          </a:xfrm>
          <a:prstGeom prst="line">
            <a:avLst/>
          </a:prstGeom>
          <a:ln w="1905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06" name="直线连接符 105">
            <a:extLst>
              <a:ext uri="{FF2B5EF4-FFF2-40B4-BE49-F238E27FC236}">
                <a16:creationId xmlns:a16="http://schemas.microsoft.com/office/drawing/2014/main" id="{9F8DC503-B161-27C8-5435-227BB06AAE18}"/>
              </a:ext>
            </a:extLst>
          </p:cNvPr>
          <p:cNvCxnSpPr/>
          <p:nvPr/>
        </p:nvCxnSpPr>
        <p:spPr>
          <a:xfrm>
            <a:off x="4790929" y="5248031"/>
            <a:ext cx="607595" cy="0"/>
          </a:xfrm>
          <a:prstGeom prst="line">
            <a:avLst/>
          </a:prstGeom>
          <a:ln w="1905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07" name="文本框 106">
            <a:extLst>
              <a:ext uri="{FF2B5EF4-FFF2-40B4-BE49-F238E27FC236}">
                <a16:creationId xmlns:a16="http://schemas.microsoft.com/office/drawing/2014/main" id="{8D2EC41C-744B-BE82-1B38-9DDC41580F99}"/>
              </a:ext>
            </a:extLst>
          </p:cNvPr>
          <p:cNvSpPr txBox="1"/>
          <p:nvPr/>
        </p:nvSpPr>
        <p:spPr>
          <a:xfrm>
            <a:off x="3922598" y="4655650"/>
            <a:ext cx="2365200" cy="276999"/>
          </a:xfrm>
          <a:prstGeom prst="rect">
            <a:avLst/>
          </a:prstGeom>
          <a:solidFill>
            <a:schemeClr val="bg1"/>
          </a:solidFill>
        </p:spPr>
        <p:txBody>
          <a:bodyPr wrap="square" rtlCol="0">
            <a:spAutoFit/>
          </a:bodyPr>
          <a:lstStyle/>
          <a:p>
            <a:pPr algn="ctr"/>
            <a:endParaRPr kumimoji="1" lang="zh-CN" altLang="en-US" sz="1200" dirty="0">
              <a:latin typeface="Times New Roman" panose="02020603050405020304" pitchFamily="18" charset="0"/>
              <a:cs typeface="Times New Roman" panose="02020603050405020304" pitchFamily="18" charset="0"/>
            </a:endParaRPr>
          </a:p>
        </p:txBody>
      </p:sp>
      <p:cxnSp>
        <p:nvCxnSpPr>
          <p:cNvPr id="108" name="肘形连接符 107">
            <a:extLst>
              <a:ext uri="{FF2B5EF4-FFF2-40B4-BE49-F238E27FC236}">
                <a16:creationId xmlns:a16="http://schemas.microsoft.com/office/drawing/2014/main" id="{C09B45A1-5DB1-9527-EF4A-8D21967AEEFB}"/>
              </a:ext>
            </a:extLst>
          </p:cNvPr>
          <p:cNvCxnSpPr>
            <a:cxnSpLocks/>
          </p:cNvCxnSpPr>
          <p:nvPr/>
        </p:nvCxnSpPr>
        <p:spPr>
          <a:xfrm>
            <a:off x="2619517" y="4598090"/>
            <a:ext cx="2170540" cy="415966"/>
          </a:xfrm>
          <a:prstGeom prst="bentConnector3">
            <a:avLst>
              <a:gd name="adj1" fmla="val 6771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文本框 108">
            <a:extLst>
              <a:ext uri="{FF2B5EF4-FFF2-40B4-BE49-F238E27FC236}">
                <a16:creationId xmlns:a16="http://schemas.microsoft.com/office/drawing/2014/main" id="{7A328EE0-DDB0-F8AF-8C8F-D647A3608613}"/>
              </a:ext>
            </a:extLst>
          </p:cNvPr>
          <p:cNvSpPr txBox="1"/>
          <p:nvPr/>
        </p:nvSpPr>
        <p:spPr>
          <a:xfrm>
            <a:off x="3574144" y="4580514"/>
            <a:ext cx="627452" cy="276999"/>
          </a:xfrm>
          <a:prstGeom prst="rect">
            <a:avLst/>
          </a:prstGeom>
          <a:noFill/>
        </p:spPr>
        <p:txBody>
          <a:bodyPr wrap="square" rtlCol="0">
            <a:spAutoFit/>
          </a:bodyPr>
          <a:lstStyle/>
          <a:p>
            <a:r>
              <a:rPr kumimoji="1" lang="en-US" altLang="zh-CN" sz="1200" dirty="0">
                <a:latin typeface="Times New Roman" panose="02020603050405020304" pitchFamily="18" charset="0"/>
                <a:cs typeface="Times New Roman" panose="02020603050405020304" pitchFamily="18" charset="0"/>
              </a:rPr>
              <a:t>❸ fix</a:t>
            </a:r>
            <a:endParaRPr kumimoji="1" lang="zh-CN" altLang="en-US" sz="1200" dirty="0">
              <a:latin typeface="Times New Roman" panose="02020603050405020304" pitchFamily="18" charset="0"/>
              <a:cs typeface="Times New Roman" panose="02020603050405020304" pitchFamily="18" charset="0"/>
            </a:endParaRPr>
          </a:p>
        </p:txBody>
      </p:sp>
      <p:cxnSp>
        <p:nvCxnSpPr>
          <p:cNvPr id="110" name="肘形连接符 109">
            <a:extLst>
              <a:ext uri="{FF2B5EF4-FFF2-40B4-BE49-F238E27FC236}">
                <a16:creationId xmlns:a16="http://schemas.microsoft.com/office/drawing/2014/main" id="{3444349D-5978-137A-16AE-1A74275FA6C6}"/>
              </a:ext>
            </a:extLst>
          </p:cNvPr>
          <p:cNvCxnSpPr>
            <a:cxnSpLocks/>
          </p:cNvCxnSpPr>
          <p:nvPr/>
        </p:nvCxnSpPr>
        <p:spPr>
          <a:xfrm rot="5400000" flipH="1" flipV="1">
            <a:off x="2453163" y="2904833"/>
            <a:ext cx="1487784" cy="27909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肘形连接符 110">
            <a:extLst>
              <a:ext uri="{FF2B5EF4-FFF2-40B4-BE49-F238E27FC236}">
                <a16:creationId xmlns:a16="http://schemas.microsoft.com/office/drawing/2014/main" id="{7A7F5DDD-24FA-A861-175B-4638F3E1283C}"/>
              </a:ext>
            </a:extLst>
          </p:cNvPr>
          <p:cNvCxnSpPr>
            <a:cxnSpLocks/>
            <a:endCxn id="104" idx="3"/>
          </p:cNvCxnSpPr>
          <p:nvPr/>
        </p:nvCxnSpPr>
        <p:spPr>
          <a:xfrm rot="5400000">
            <a:off x="5161756" y="4629091"/>
            <a:ext cx="770809" cy="311119"/>
          </a:xfrm>
          <a:prstGeom prst="bentConnector2">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2" name="文本框 111">
            <a:extLst>
              <a:ext uri="{FF2B5EF4-FFF2-40B4-BE49-F238E27FC236}">
                <a16:creationId xmlns:a16="http://schemas.microsoft.com/office/drawing/2014/main" id="{53C8F874-4D59-DFC5-F6B9-CACA02A3917C}"/>
              </a:ext>
            </a:extLst>
          </p:cNvPr>
          <p:cNvSpPr txBox="1"/>
          <p:nvPr/>
        </p:nvSpPr>
        <p:spPr>
          <a:xfrm>
            <a:off x="5663514" y="4354103"/>
            <a:ext cx="676626" cy="276999"/>
          </a:xfrm>
          <a:prstGeom prst="rect">
            <a:avLst/>
          </a:prstGeom>
          <a:noFill/>
        </p:spPr>
        <p:txBody>
          <a:bodyPr wrap="square" rtlCol="0">
            <a:spAutoFit/>
          </a:bodyPr>
          <a:lstStyle/>
          <a:p>
            <a:r>
              <a:rPr kumimoji="1" lang="en-US" altLang="zh-CN" sz="1200" dirty="0" err="1">
                <a:latin typeface="Times New Roman" panose="02020603050405020304" pitchFamily="18" charset="0"/>
                <a:cs typeface="Times New Roman" panose="02020603050405020304" pitchFamily="18" charset="0"/>
              </a:rPr>
              <a:t>prefault</a:t>
            </a:r>
            <a:endParaRPr kumimoji="1" lang="zh-CN" altLang="en-US" sz="1200" dirty="0">
              <a:latin typeface="Times New Roman" panose="02020603050405020304" pitchFamily="18" charset="0"/>
              <a:cs typeface="Times New Roman" panose="02020603050405020304" pitchFamily="18" charset="0"/>
            </a:endParaRPr>
          </a:p>
        </p:txBody>
      </p:sp>
      <p:sp>
        <p:nvSpPr>
          <p:cNvPr id="113" name="文本框 112">
            <a:extLst>
              <a:ext uri="{FF2B5EF4-FFF2-40B4-BE49-F238E27FC236}">
                <a16:creationId xmlns:a16="http://schemas.microsoft.com/office/drawing/2014/main" id="{8F12A53B-1935-EDEF-5055-CCC91277CCBD}"/>
              </a:ext>
            </a:extLst>
          </p:cNvPr>
          <p:cNvSpPr txBox="1"/>
          <p:nvPr/>
        </p:nvSpPr>
        <p:spPr>
          <a:xfrm>
            <a:off x="4790603" y="4691675"/>
            <a:ext cx="607595" cy="276999"/>
          </a:xfrm>
          <a:prstGeom prst="rect">
            <a:avLst/>
          </a:prstGeom>
          <a:noFill/>
        </p:spPr>
        <p:txBody>
          <a:bodyPr wrap="square">
            <a:spAutoFit/>
          </a:bodyPr>
          <a:lstStyle/>
          <a:p>
            <a:pPr algn="ctr"/>
            <a:r>
              <a:rPr kumimoji="1" lang="en-US" altLang="zh-CN" sz="1200" dirty="0">
                <a:latin typeface="Times New Roman" panose="02020603050405020304" pitchFamily="18" charset="0"/>
                <a:cs typeface="Times New Roman" panose="02020603050405020304" pitchFamily="18" charset="0"/>
              </a:rPr>
              <a:t>SPT12</a:t>
            </a:r>
            <a:endParaRPr kumimoji="1" lang="zh-CN" altLang="en-US" sz="1200" dirty="0">
              <a:latin typeface="Times New Roman" panose="02020603050405020304" pitchFamily="18" charset="0"/>
              <a:cs typeface="Times New Roman" panose="02020603050405020304" pitchFamily="18" charset="0"/>
            </a:endParaRPr>
          </a:p>
        </p:txBody>
      </p:sp>
      <p:sp>
        <p:nvSpPr>
          <p:cNvPr id="114" name="矩形 113">
            <a:extLst>
              <a:ext uri="{FF2B5EF4-FFF2-40B4-BE49-F238E27FC236}">
                <a16:creationId xmlns:a16="http://schemas.microsoft.com/office/drawing/2014/main" id="{2B808760-D502-75B2-F323-462D384AC2FB}"/>
              </a:ext>
            </a:extLst>
          </p:cNvPr>
          <p:cNvSpPr/>
          <p:nvPr/>
        </p:nvSpPr>
        <p:spPr>
          <a:xfrm>
            <a:off x="5362102" y="2832910"/>
            <a:ext cx="607595" cy="478972"/>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115" name="直线连接符 114">
            <a:extLst>
              <a:ext uri="{FF2B5EF4-FFF2-40B4-BE49-F238E27FC236}">
                <a16:creationId xmlns:a16="http://schemas.microsoft.com/office/drawing/2014/main" id="{75DD122E-594E-3440-6776-A690EFE5314C}"/>
              </a:ext>
            </a:extLst>
          </p:cNvPr>
          <p:cNvCxnSpPr/>
          <p:nvPr/>
        </p:nvCxnSpPr>
        <p:spPr>
          <a:xfrm>
            <a:off x="5362100" y="2997972"/>
            <a:ext cx="607595" cy="0"/>
          </a:xfrm>
          <a:prstGeom prst="line">
            <a:avLst/>
          </a:prstGeom>
          <a:ln w="1905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6" name="直线连接符 115">
            <a:extLst>
              <a:ext uri="{FF2B5EF4-FFF2-40B4-BE49-F238E27FC236}">
                <a16:creationId xmlns:a16="http://schemas.microsoft.com/office/drawing/2014/main" id="{66EE1D68-22D3-0497-DA08-56525A291A96}"/>
              </a:ext>
            </a:extLst>
          </p:cNvPr>
          <p:cNvCxnSpPr/>
          <p:nvPr/>
        </p:nvCxnSpPr>
        <p:spPr>
          <a:xfrm>
            <a:off x="5369026" y="3150372"/>
            <a:ext cx="607595" cy="0"/>
          </a:xfrm>
          <a:prstGeom prst="line">
            <a:avLst/>
          </a:prstGeom>
          <a:ln w="1905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117" name="文本框 116">
            <a:extLst>
              <a:ext uri="{FF2B5EF4-FFF2-40B4-BE49-F238E27FC236}">
                <a16:creationId xmlns:a16="http://schemas.microsoft.com/office/drawing/2014/main" id="{FD46A808-B254-69F1-AB93-9475BCCF5437}"/>
              </a:ext>
            </a:extLst>
          </p:cNvPr>
          <p:cNvSpPr txBox="1"/>
          <p:nvPr/>
        </p:nvSpPr>
        <p:spPr>
          <a:xfrm>
            <a:off x="5223362" y="2608037"/>
            <a:ext cx="891500" cy="276999"/>
          </a:xfrm>
          <a:prstGeom prst="rect">
            <a:avLst/>
          </a:prstGeom>
          <a:noFill/>
        </p:spPr>
        <p:txBody>
          <a:bodyPr wrap="square">
            <a:spAutoFit/>
          </a:bodyPr>
          <a:lstStyle/>
          <a:p>
            <a:pPr algn="ctr"/>
            <a:r>
              <a:rPr kumimoji="1" lang="en-US" altLang="zh-CN" sz="1200" dirty="0">
                <a:latin typeface="Times New Roman" panose="02020603050405020304" pitchFamily="18" charset="0"/>
                <a:cs typeface="Times New Roman" panose="02020603050405020304" pitchFamily="18" charset="0"/>
              </a:rPr>
              <a:t>GPT2</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(RO)</a:t>
            </a:r>
            <a:endParaRPr kumimoji="1" lang="zh-CN" altLang="en-US" sz="1200" dirty="0">
              <a:latin typeface="Times New Roman" panose="02020603050405020304" pitchFamily="18" charset="0"/>
              <a:cs typeface="Times New Roman" panose="02020603050405020304" pitchFamily="18" charset="0"/>
            </a:endParaRPr>
          </a:p>
        </p:txBody>
      </p:sp>
      <p:cxnSp>
        <p:nvCxnSpPr>
          <p:cNvPr id="118" name="肘形连接符 117">
            <a:extLst>
              <a:ext uri="{FF2B5EF4-FFF2-40B4-BE49-F238E27FC236}">
                <a16:creationId xmlns:a16="http://schemas.microsoft.com/office/drawing/2014/main" id="{563E90F4-8BAA-20C9-FAED-29E8A0734ECF}"/>
              </a:ext>
            </a:extLst>
          </p:cNvPr>
          <p:cNvCxnSpPr>
            <a:cxnSpLocks/>
            <a:stCxn id="80" idx="3"/>
            <a:endCxn id="114" idx="1"/>
          </p:cNvCxnSpPr>
          <p:nvPr/>
        </p:nvCxnSpPr>
        <p:spPr>
          <a:xfrm>
            <a:off x="4939826" y="2902149"/>
            <a:ext cx="422276" cy="170247"/>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文本框 118">
            <a:extLst>
              <a:ext uri="{FF2B5EF4-FFF2-40B4-BE49-F238E27FC236}">
                <a16:creationId xmlns:a16="http://schemas.microsoft.com/office/drawing/2014/main" id="{23C9EF88-B3DA-C8F3-9684-34F265F7E2D7}"/>
              </a:ext>
            </a:extLst>
          </p:cNvPr>
          <p:cNvSpPr txBox="1"/>
          <p:nvPr/>
        </p:nvSpPr>
        <p:spPr>
          <a:xfrm>
            <a:off x="4219487" y="2671427"/>
            <a:ext cx="1201231" cy="276999"/>
          </a:xfrm>
          <a:prstGeom prst="rect">
            <a:avLst/>
          </a:prstGeom>
          <a:noFill/>
        </p:spPr>
        <p:txBody>
          <a:bodyPr wrap="square" rtlCol="0">
            <a:spAutoFit/>
          </a:bodyPr>
          <a:lstStyle/>
          <a:p>
            <a:pPr algn="r"/>
            <a:r>
              <a:rPr kumimoji="1" lang="en-US" altLang="zh-CN" sz="1200" dirty="0">
                <a:latin typeface="Times New Roman" panose="02020603050405020304" pitchFamily="18" charset="0"/>
                <a:cs typeface="Times New Roman" panose="02020603050405020304" pitchFamily="18" charset="0"/>
              </a:rPr>
              <a:t>⑥</a:t>
            </a:r>
            <a:r>
              <a:rPr kumimoji="1" lang="zh-CN" altLang="en-US" sz="1200" dirty="0">
                <a:latin typeface="Times New Roman" panose="02020603050405020304" pitchFamily="18" charset="0"/>
                <a:cs typeface="Times New Roman" panose="02020603050405020304" pitchFamily="18" charset="0"/>
              </a:rPr>
              <a:t> </a:t>
            </a:r>
            <a:r>
              <a:rPr kumimoji="1" lang="en-US" altLang="zh-CN" sz="1200" dirty="0">
                <a:latin typeface="Times New Roman" panose="02020603050405020304" pitchFamily="18" charset="0"/>
                <a:cs typeface="Times New Roman" panose="02020603050405020304" pitchFamily="18" charset="0"/>
              </a:rPr>
              <a:t>fix</a:t>
            </a:r>
          </a:p>
        </p:txBody>
      </p:sp>
      <p:sp>
        <p:nvSpPr>
          <p:cNvPr id="120" name="文本框 119">
            <a:extLst>
              <a:ext uri="{FF2B5EF4-FFF2-40B4-BE49-F238E27FC236}">
                <a16:creationId xmlns:a16="http://schemas.microsoft.com/office/drawing/2014/main" id="{E71FA5A1-FA2B-7255-3F57-7650765A2B16}"/>
              </a:ext>
            </a:extLst>
          </p:cNvPr>
          <p:cNvSpPr txBox="1"/>
          <p:nvPr/>
        </p:nvSpPr>
        <p:spPr>
          <a:xfrm>
            <a:off x="1914745" y="3578675"/>
            <a:ext cx="1201231" cy="276999"/>
          </a:xfrm>
          <a:prstGeom prst="rect">
            <a:avLst/>
          </a:prstGeom>
          <a:noFill/>
        </p:spPr>
        <p:txBody>
          <a:bodyPr wrap="square" rtlCol="0">
            <a:spAutoFit/>
          </a:bodyPr>
          <a:lstStyle/>
          <a:p>
            <a:pPr algn="r"/>
            <a:r>
              <a:rPr kumimoji="1" lang="en-US" altLang="zh-CN" sz="1200" dirty="0" err="1">
                <a:latin typeface="Times New Roman" panose="02020603050405020304" pitchFamily="18" charset="0"/>
                <a:cs typeface="Times New Roman" panose="02020603050405020304" pitchFamily="18" charset="0"/>
              </a:rPr>
              <a:t>iret</a:t>
            </a:r>
            <a:r>
              <a:rPr kumimoji="1" lang="en-US" altLang="zh-CN" sz="1200" dirty="0">
                <a:latin typeface="Times New Roman" panose="02020603050405020304" pitchFamily="18" charset="0"/>
                <a:cs typeface="Times New Roman" panose="02020603050405020304" pitchFamily="18" charset="0"/>
              </a:rPr>
              <a:t> ❺</a:t>
            </a:r>
            <a:endParaRPr kumimoji="1" lang="zh-CN" altLang="en-US" sz="1200" dirty="0">
              <a:latin typeface="Times New Roman" panose="02020603050405020304" pitchFamily="18" charset="0"/>
              <a:cs typeface="Times New Roman" panose="02020603050405020304" pitchFamily="18" charset="0"/>
            </a:endParaRPr>
          </a:p>
        </p:txBody>
      </p:sp>
      <p:sp>
        <p:nvSpPr>
          <p:cNvPr id="121" name="文本框 120">
            <a:extLst>
              <a:ext uri="{FF2B5EF4-FFF2-40B4-BE49-F238E27FC236}">
                <a16:creationId xmlns:a16="http://schemas.microsoft.com/office/drawing/2014/main" id="{3AEBCC09-C1EF-44B4-76B8-CF8317A08C40}"/>
              </a:ext>
            </a:extLst>
          </p:cNvPr>
          <p:cNvSpPr txBox="1"/>
          <p:nvPr/>
        </p:nvSpPr>
        <p:spPr>
          <a:xfrm>
            <a:off x="390230" y="1038767"/>
            <a:ext cx="8559800" cy="769441"/>
          </a:xfrm>
          <a:prstGeom prst="rect">
            <a:avLst/>
          </a:prstGeom>
          <a:noFill/>
        </p:spPr>
        <p:txBody>
          <a:bodyPr wrap="square" rtlCol="0">
            <a:spAutoFit/>
          </a:bodyPr>
          <a:lstStyle/>
          <a:p>
            <a:r>
              <a:rPr kumimoji="1" lang="en-US" altLang="zh-CN" sz="2200" dirty="0">
                <a:latin typeface="Times New Roman" panose="02020603050405020304" pitchFamily="18" charset="0"/>
                <a:cs typeface="Times New Roman" panose="02020603050405020304" pitchFamily="18" charset="0"/>
              </a:rPr>
              <a:t>PVM-on-EPT: exclusively handles of 𝐿2 page faults within 𝐿1, requires no modifications to </a:t>
            </a:r>
            <a:r>
              <a:rPr kumimoji="1" lang="en-US" altLang="zh-CN" sz="2200" i="1" dirty="0">
                <a:latin typeface="Times New Roman" panose="02020603050405020304" pitchFamily="18" charset="0"/>
                <a:cs typeface="Times New Roman" panose="02020603050405020304" pitchFamily="18" charset="0"/>
              </a:rPr>
              <a:t>L</a:t>
            </a:r>
            <a:r>
              <a:rPr kumimoji="1" lang="en-US" altLang="zh-CN" sz="2200" dirty="0">
                <a:latin typeface="Times New Roman" panose="02020603050405020304" pitchFamily="18" charset="0"/>
                <a:cs typeface="Times New Roman" panose="02020603050405020304" pitchFamily="18" charset="0"/>
              </a:rPr>
              <a:t>0 hypervisor.</a:t>
            </a:r>
            <a:endParaRPr kumimoji="1" lang="zh-CN" altLang="en-US" sz="2200" dirty="0">
              <a:latin typeface="Times New Roman" panose="02020603050405020304" pitchFamily="18" charset="0"/>
              <a:cs typeface="Times New Roman" panose="02020603050405020304" pitchFamily="18" charset="0"/>
            </a:endParaRPr>
          </a:p>
        </p:txBody>
      </p:sp>
      <p:sp>
        <p:nvSpPr>
          <p:cNvPr id="122" name="文本框 121">
            <a:extLst>
              <a:ext uri="{FF2B5EF4-FFF2-40B4-BE49-F238E27FC236}">
                <a16:creationId xmlns:a16="http://schemas.microsoft.com/office/drawing/2014/main" id="{5EDE4370-8448-8DC1-5C8C-762DF9BE31DF}"/>
              </a:ext>
            </a:extLst>
          </p:cNvPr>
          <p:cNvSpPr txBox="1"/>
          <p:nvPr/>
        </p:nvSpPr>
        <p:spPr>
          <a:xfrm>
            <a:off x="6414097" y="3293705"/>
            <a:ext cx="2528180" cy="1477328"/>
          </a:xfrm>
          <a:prstGeom prst="rect">
            <a:avLst/>
          </a:prstGeom>
          <a:noFill/>
        </p:spPr>
        <p:txBody>
          <a:bodyPr wrap="square" rtlCol="0">
            <a:spAutoFit/>
          </a:bodyPr>
          <a:lstStyle/>
          <a:p>
            <a:r>
              <a:rPr lang="en" altLang="zh-CN" sz="2200" b="0" i="0" dirty="0">
                <a:solidFill>
                  <a:srgbClr val="002060"/>
                </a:solidFill>
                <a:effectLst/>
                <a:latin typeface="Times New Roman" panose="02020603050405020304" pitchFamily="18" charset="0"/>
                <a:cs typeface="Times New Roman" panose="02020603050405020304" pitchFamily="18" charset="0"/>
              </a:rPr>
              <a:t>𝐿2 page fault only lead to </a:t>
            </a:r>
            <a:r>
              <a:rPr lang="en" altLang="zh-CN" sz="2200" b="1" i="0" dirty="0">
                <a:solidFill>
                  <a:srgbClr val="002060"/>
                </a:solidFill>
                <a:effectLst/>
                <a:latin typeface="Times New Roman" panose="02020603050405020304" pitchFamily="18" charset="0"/>
                <a:cs typeface="Times New Roman" panose="02020603050405020304" pitchFamily="18" charset="0"/>
              </a:rPr>
              <a:t>2n</a:t>
            </a:r>
            <a:r>
              <a:rPr lang="en" altLang="zh-CN" sz="2200" b="0" i="0" dirty="0">
                <a:solidFill>
                  <a:srgbClr val="002060"/>
                </a:solidFill>
                <a:effectLst/>
                <a:latin typeface="Times New Roman" panose="02020603050405020304" pitchFamily="18" charset="0"/>
                <a:cs typeface="Times New Roman" panose="02020603050405020304" pitchFamily="18" charset="0"/>
              </a:rPr>
              <a:t> + </a:t>
            </a:r>
            <a:r>
              <a:rPr lang="en" altLang="zh-CN" sz="2200" b="1" dirty="0">
                <a:solidFill>
                  <a:srgbClr val="002060"/>
                </a:solidFill>
                <a:latin typeface="Times New Roman" panose="02020603050405020304" pitchFamily="18" charset="0"/>
                <a:cs typeface="Times New Roman" panose="02020603050405020304" pitchFamily="18" charset="0"/>
              </a:rPr>
              <a:t>4</a:t>
            </a:r>
            <a:r>
              <a:rPr lang="en" altLang="zh-CN" sz="2200" b="0" i="0" dirty="0">
                <a:solidFill>
                  <a:srgbClr val="002060"/>
                </a:solidFill>
                <a:effectLst/>
                <a:latin typeface="Times New Roman" panose="02020603050405020304" pitchFamily="18" charset="0"/>
                <a:cs typeface="Times New Roman" panose="02020603050405020304" pitchFamily="18" charset="0"/>
              </a:rPr>
              <a:t> world switches and n + 3 exits to 𝐿1 (</a:t>
            </a:r>
            <a:r>
              <a:rPr lang="en-US" altLang="zh-CN" sz="2200" dirty="0">
                <a:solidFill>
                  <a:srgbClr val="002060"/>
                </a:solidFill>
                <a:latin typeface="Times New Roman" panose="02020603050405020304" pitchFamily="18" charset="0"/>
                <a:cs typeface="Times New Roman" panose="02020603050405020304" pitchFamily="18" charset="0"/>
              </a:rPr>
              <a:t>0</a:t>
            </a:r>
            <a:r>
              <a:rPr lang="el-GR" altLang="zh-CN" sz="2200" b="0" i="0" dirty="0">
                <a:solidFill>
                  <a:srgbClr val="002060"/>
                </a:solidFill>
                <a:effectLst/>
                <a:latin typeface="Times New Roman" panose="02020603050405020304" pitchFamily="18" charset="0"/>
                <a:cs typeface="Times New Roman" panose="02020603050405020304" pitchFamily="18" charset="0"/>
              </a:rPr>
              <a:t>.</a:t>
            </a:r>
            <a:r>
              <a:rPr lang="en-US" altLang="zh-CN" sz="2200" b="0" i="0" dirty="0">
                <a:solidFill>
                  <a:srgbClr val="002060"/>
                </a:solidFill>
                <a:effectLst/>
                <a:latin typeface="Times New Roman" panose="02020603050405020304" pitchFamily="18" charset="0"/>
                <a:cs typeface="Times New Roman" panose="02020603050405020304" pitchFamily="18" charset="0"/>
              </a:rPr>
              <a:t>179</a:t>
            </a:r>
            <a:r>
              <a:rPr lang="el-GR" altLang="zh-CN" sz="2200" b="0" i="0" dirty="0">
                <a:solidFill>
                  <a:srgbClr val="002060"/>
                </a:solidFill>
                <a:effectLst/>
                <a:latin typeface="Times New Roman" panose="02020603050405020304" pitchFamily="18" charset="0"/>
                <a:cs typeface="Times New Roman" panose="02020603050405020304" pitchFamily="18" charset="0"/>
              </a:rPr>
              <a:t> μ</a:t>
            </a:r>
            <a:r>
              <a:rPr lang="en" altLang="zh-CN" sz="2200" b="0" i="0" dirty="0">
                <a:solidFill>
                  <a:srgbClr val="002060"/>
                </a:solidFill>
                <a:effectLst/>
                <a:latin typeface="Times New Roman" panose="02020603050405020304" pitchFamily="18" charset="0"/>
                <a:cs typeface="Times New Roman" panose="02020603050405020304" pitchFamily="18" charset="0"/>
              </a:rPr>
              <a:t>s)</a:t>
            </a:r>
            <a:endParaRPr kumimoji="1" lang="zh-CN" altLang="en-US" sz="22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3055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6" grpId="0"/>
      <p:bldP spid="88" grpId="0"/>
      <p:bldP spid="91" grpId="0"/>
      <p:bldP spid="93" grpId="0"/>
      <p:bldP spid="96" grpId="0"/>
      <p:bldP spid="100" grpId="0"/>
      <p:bldP spid="101" grpId="0"/>
      <p:bldP spid="102" grpId="0"/>
      <p:bldP spid="112" grpId="0"/>
      <p:bldP spid="119" grpId="0"/>
      <p:bldP spid="1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618870-723F-9EEB-EA59-2793D616EC41}"/>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PVM – Memory Virtualization</a:t>
            </a:r>
            <a:endParaRPr kumimoji="1" lang="en-US" altLang="zh-CN" sz="3600" b="1"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135D8E86-C394-DA76-18FD-F734242863FF}"/>
              </a:ext>
            </a:extLst>
          </p:cNvPr>
          <p:cNvSpPr txBox="1"/>
          <p:nvPr/>
        </p:nvSpPr>
        <p:spPr>
          <a:xfrm>
            <a:off x="431816" y="1240308"/>
            <a:ext cx="8712183" cy="460196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PCID mapping : eliminates TLB flushes</a:t>
            </a:r>
          </a:p>
          <a:p>
            <a:pPr marL="800100" lvl="1"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hypervisor leverages unused PCID (32-63) for guest</a:t>
            </a:r>
            <a:endParaRPr kumimoji="1" lang="en" altLang="zh-CN" sz="22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kumimoji="1" lang="en" altLang="zh-CN" sz="2200" dirty="0" err="1">
                <a:latin typeface="Times New Roman" panose="02020603050405020304" pitchFamily="18" charset="0"/>
                <a:cs typeface="Times New Roman" panose="02020603050405020304" pitchFamily="18" charset="0"/>
              </a:rPr>
              <a:t>percpu</a:t>
            </a:r>
            <a:r>
              <a:rPr kumimoji="1" lang="en" altLang="zh-CN" sz="2200" dirty="0">
                <a:latin typeface="Times New Roman" panose="02020603050405020304" pitchFamily="18" charset="0"/>
                <a:cs typeface="Times New Roman" panose="02020603050405020304" pitchFamily="18" charset="0"/>
              </a:rPr>
              <a:t> PCID allocator manages the maps of g</a:t>
            </a:r>
            <a:r>
              <a:rPr kumimoji="1" lang="en-US" altLang="zh-CN" sz="2200" dirty="0">
                <a:latin typeface="Times New Roman" panose="02020603050405020304" pitchFamily="18" charset="0"/>
                <a:cs typeface="Times New Roman" panose="02020603050405020304" pitchFamily="18" charset="0"/>
              </a:rPr>
              <a:t>PCID </a:t>
            </a:r>
          </a:p>
          <a:p>
            <a:pPr lvl="1">
              <a:lnSpc>
                <a:spcPct val="150000"/>
              </a:lnSpc>
            </a:pPr>
            <a:r>
              <a:rPr kumimoji="1" lang="en-US" altLang="zh-CN" sz="2200" dirty="0">
                <a:latin typeface="Times New Roman" panose="02020603050405020304" pitchFamily="18" charset="0"/>
                <a:cs typeface="Times New Roman" panose="02020603050405020304" pitchFamily="18" charset="0"/>
              </a:rPr>
              <a:t>	and </a:t>
            </a:r>
            <a:r>
              <a:rPr kumimoji="1" lang="en-US" altLang="zh-CN" sz="2200" b="1" dirty="0" err="1">
                <a:solidFill>
                  <a:srgbClr val="002060"/>
                </a:solidFill>
                <a:latin typeface="Times New Roman" panose="02020603050405020304" pitchFamily="18" charset="0"/>
                <a:cs typeface="Times New Roman" panose="02020603050405020304" pitchFamily="18" charset="0"/>
              </a:rPr>
              <a:t>hPCID</a:t>
            </a:r>
            <a:r>
              <a:rPr kumimoji="1" lang="en-US" altLang="zh-CN" sz="2200" b="1" dirty="0">
                <a:solidFill>
                  <a:srgbClr val="002060"/>
                </a:solidFill>
                <a:latin typeface="Times New Roman" panose="02020603050405020304" pitchFamily="18" charset="0"/>
                <a:cs typeface="Times New Roman" panose="02020603050405020304" pitchFamily="18" charset="0"/>
              </a:rPr>
              <a:t> (</a:t>
            </a:r>
            <a:r>
              <a:rPr lang="en" altLang="zh-CN" sz="2200" b="1" dirty="0">
                <a:solidFill>
                  <a:srgbClr val="002060"/>
                </a:solidFill>
                <a:latin typeface="Times New Roman" panose="02020603050405020304" pitchFamily="18" charset="0"/>
                <a:cs typeface="Times New Roman" panose="02020603050405020304" pitchFamily="18" charset="0"/>
              </a:rPr>
              <a:t>encoded into hardware CR3</a:t>
            </a:r>
            <a:r>
              <a:rPr kumimoji="1" lang="en-US" altLang="zh-CN" sz="2200" b="1" dirty="0">
                <a:solidFill>
                  <a:srgbClr val="002060"/>
                </a:solidFill>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Fine-grained locking mechanism: fast SPT updates</a:t>
            </a:r>
          </a:p>
          <a:p>
            <a:pPr marL="800100" lvl="1"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reducing the sequential execution time caused by “</a:t>
            </a:r>
            <a:r>
              <a:rPr kumimoji="1" lang="en-US" altLang="zh-CN" sz="2200" dirty="0" err="1">
                <a:latin typeface="Times New Roman" panose="02020603050405020304" pitchFamily="18" charset="0"/>
                <a:cs typeface="Times New Roman" panose="02020603050405020304" pitchFamily="18" charset="0"/>
              </a:rPr>
              <a:t>mmu_lock</a:t>
            </a:r>
            <a:r>
              <a:rPr kumimoji="1" lang="en-US" altLang="zh-CN" sz="22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Category SPT related data into three sub-groups (inter-shadow </a:t>
            </a:r>
          </a:p>
          <a:p>
            <a:pPr lvl="1">
              <a:lnSpc>
                <a:spcPct val="150000"/>
              </a:lnSpc>
            </a:pPr>
            <a:r>
              <a:rPr kumimoji="1" lang="en-US" altLang="zh-CN" sz="2200" dirty="0">
                <a:latin typeface="Times New Roman" panose="02020603050405020304" pitchFamily="18" charset="0"/>
                <a:cs typeface="Times New Roman" panose="02020603050405020304" pitchFamily="18" charset="0"/>
              </a:rPr>
              <a:t>	pages , intra-shadow pages, reverse mappings), and use </a:t>
            </a:r>
          </a:p>
          <a:p>
            <a:pPr lvl="1">
              <a:lnSpc>
                <a:spcPct val="150000"/>
              </a:lnSpc>
            </a:pPr>
            <a:r>
              <a:rPr kumimoji="1" lang="en-US" altLang="zh-CN" sz="2200" dirty="0">
                <a:latin typeface="Times New Roman" panose="02020603050405020304" pitchFamily="18" charset="0"/>
                <a:cs typeface="Times New Roman" panose="02020603050405020304" pitchFamily="18" charset="0"/>
              </a:rPr>
              <a:t>	separate locks </a:t>
            </a:r>
          </a:p>
        </p:txBody>
      </p:sp>
    </p:spTree>
    <p:extLst>
      <p:ext uri="{BB962C8B-B14F-4D97-AF65-F5344CB8AC3E}">
        <p14:creationId xmlns:p14="http://schemas.microsoft.com/office/powerpoint/2010/main" val="3083896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618870-723F-9EEB-EA59-2793D616EC41}"/>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PVM – Interrupt Virtualization</a:t>
            </a:r>
            <a:endParaRPr kumimoji="1" lang="en-US" altLang="zh-CN" sz="3600" b="1"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135D8E86-C394-DA76-18FD-F734242863FF}"/>
              </a:ext>
            </a:extLst>
          </p:cNvPr>
          <p:cNvSpPr txBox="1"/>
          <p:nvPr/>
        </p:nvSpPr>
        <p:spPr>
          <a:xfrm>
            <a:off x="259693" y="1391827"/>
            <a:ext cx="8624613" cy="539315"/>
          </a:xfrm>
          <a:prstGeom prst="rect">
            <a:avLst/>
          </a:prstGeom>
          <a:noFill/>
        </p:spPr>
        <p:txBody>
          <a:bodyPr wrap="square" rtlCol="0">
            <a:spAutoFit/>
          </a:bodyPr>
          <a:lstStyle/>
          <a:p>
            <a:pPr marL="342900" indent="-342900">
              <a:lnSpc>
                <a:spcPct val="150000"/>
              </a:lnSpc>
              <a:buFont typeface="Arial" panose="020B0604020202020204" pitchFamily="34" charset="0"/>
              <a:buChar char="•"/>
            </a:pPr>
            <a:endParaRPr kumimoji="1" lang="en-US" altLang="zh-CN" sz="22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DCDE3BED-DD6E-2481-1022-803603CE76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9825" y="3641718"/>
            <a:ext cx="4635764" cy="2745869"/>
          </a:xfrm>
          <a:prstGeom prst="rect">
            <a:avLst/>
          </a:prstGeom>
        </p:spPr>
      </p:pic>
      <p:sp>
        <p:nvSpPr>
          <p:cNvPr id="4" name="文本框 3">
            <a:extLst>
              <a:ext uri="{FF2B5EF4-FFF2-40B4-BE49-F238E27FC236}">
                <a16:creationId xmlns:a16="http://schemas.microsoft.com/office/drawing/2014/main" id="{738D7947-8792-8858-E654-D9120AF5AFB9}"/>
              </a:ext>
            </a:extLst>
          </p:cNvPr>
          <p:cNvSpPr txBox="1"/>
          <p:nvPr/>
        </p:nvSpPr>
        <p:spPr>
          <a:xfrm>
            <a:off x="438411" y="1052186"/>
            <a:ext cx="8743167" cy="358630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2200" dirty="0">
                <a:latin typeface="Times New Roman" panose="02020603050405020304" pitchFamily="18" charset="0"/>
                <a:cs typeface="Times New Roman" panose="02020603050405020304" pitchFamily="18" charset="0"/>
              </a:rPr>
              <a:t>IOAPIC/LAPIC</a:t>
            </a:r>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emulation based on KVM</a:t>
            </a:r>
          </a:p>
          <a:p>
            <a:pPr marL="285750" indent="-28575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Guest Interrupt capturing:</a:t>
            </a:r>
          </a:p>
          <a:p>
            <a:pPr marL="742950" lvl="1" indent="-28575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Always enable hardware interrupts during guest runtime</a:t>
            </a:r>
          </a:p>
          <a:p>
            <a:pPr marL="742950" lvl="1" indent="-285750">
              <a:lnSpc>
                <a:spcPct val="150000"/>
              </a:lnSpc>
              <a:buFont typeface="Arial" panose="020B0604020202020204" pitchFamily="34" charset="0"/>
              <a:buChar char="•"/>
            </a:pPr>
            <a:r>
              <a:rPr lang="en" altLang="zh-CN" sz="2200" b="0" i="0" dirty="0">
                <a:effectLst/>
                <a:latin typeface="Times New Roman" panose="02020603050405020304" pitchFamily="18" charset="0"/>
                <a:cs typeface="Times New Roman" panose="02020603050405020304" pitchFamily="18" charset="0"/>
              </a:rPr>
              <a:t>Introduce an 8-byte shared data structure between an guest and the hypervisor to virtualize RFLAGS.</a:t>
            </a:r>
            <a:endParaRPr lang="en-US" altLang="zh-CN" sz="2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Interrupt handling:</a:t>
            </a:r>
          </a:p>
          <a:p>
            <a:pPr marL="742950" lvl="1" indent="-285750">
              <a:lnSpc>
                <a:spcPct val="150000"/>
              </a:lnSpc>
              <a:buFont typeface="Arial" panose="020B0604020202020204" pitchFamily="34" charset="0"/>
              <a:buChar char="•"/>
            </a:pPr>
            <a:r>
              <a:rPr kumimoji="1" lang="en-US" altLang="zh-CN" sz="2200" dirty="0">
                <a:latin typeface="Times New Roman" panose="02020603050405020304" pitchFamily="18" charset="0"/>
                <a:cs typeface="Times New Roman" panose="02020603050405020304" pitchFamily="18" charset="0"/>
              </a:rPr>
              <a:t>Customized IDT entries.</a:t>
            </a:r>
          </a:p>
        </p:txBody>
      </p:sp>
    </p:spTree>
    <p:extLst>
      <p:ext uri="{BB962C8B-B14F-4D97-AF65-F5344CB8AC3E}">
        <p14:creationId xmlns:p14="http://schemas.microsoft.com/office/powerpoint/2010/main" val="2708514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CFC6190-E876-DEA3-88E0-2584EFB37900}"/>
              </a:ext>
            </a:extLst>
          </p:cNvPr>
          <p:cNvSpPr txBox="1"/>
          <p:nvPr/>
        </p:nvSpPr>
        <p:spPr>
          <a:xfrm>
            <a:off x="707537" y="1038340"/>
            <a:ext cx="2813539" cy="430887"/>
          </a:xfrm>
          <a:prstGeom prst="rect">
            <a:avLst/>
          </a:prstGeom>
          <a:noFill/>
        </p:spPr>
        <p:txBody>
          <a:bodyPr wrap="square" rtlCol="0">
            <a:spAutoFit/>
          </a:bodyPr>
          <a:lstStyle/>
          <a:p>
            <a:r>
              <a:rPr lang="en-US" altLang="zh-CN" sz="2200" dirty="0">
                <a:latin typeface="Times New Roman" panose="02020603050405020304" pitchFamily="18" charset="0"/>
                <a:cs typeface="Times New Roman" panose="02020603050405020304" pitchFamily="18" charset="0"/>
              </a:rPr>
              <a:t>Experimental Settings</a:t>
            </a:r>
            <a:endParaRPr lang="zh-CN" altLang="en-US" sz="2200" dirty="0">
              <a:latin typeface="Times New Roman" panose="02020603050405020304" pitchFamily="18" charset="0"/>
              <a:cs typeface="Times New Roman" panose="02020603050405020304" pitchFamily="18" charset="0"/>
            </a:endParaRPr>
          </a:p>
        </p:txBody>
      </p:sp>
      <p:graphicFrame>
        <p:nvGraphicFramePr>
          <p:cNvPr id="8" name="表格 7">
            <a:extLst>
              <a:ext uri="{FF2B5EF4-FFF2-40B4-BE49-F238E27FC236}">
                <a16:creationId xmlns:a16="http://schemas.microsoft.com/office/drawing/2014/main" id="{54C863CF-242D-DD31-43DB-5A4CE9ACF8E8}"/>
              </a:ext>
            </a:extLst>
          </p:cNvPr>
          <p:cNvGraphicFramePr>
            <a:graphicFrameLocks noGrp="1"/>
          </p:cNvGraphicFramePr>
          <p:nvPr>
            <p:extLst>
              <p:ext uri="{D42A27DB-BD31-4B8C-83A1-F6EECF244321}">
                <p14:modId xmlns:p14="http://schemas.microsoft.com/office/powerpoint/2010/main" val="1062612148"/>
              </p:ext>
            </p:extLst>
          </p:nvPr>
        </p:nvGraphicFramePr>
        <p:xfrm>
          <a:off x="707537" y="1799682"/>
          <a:ext cx="7264156" cy="3916680"/>
        </p:xfrm>
        <a:graphic>
          <a:graphicData uri="http://schemas.openxmlformats.org/drawingml/2006/table">
            <a:tbl>
              <a:tblPr firstRow="1" bandRow="1">
                <a:tableStyleId>{5C22544A-7EE6-4342-B048-85BDC9FD1C3A}</a:tableStyleId>
              </a:tblPr>
              <a:tblGrid>
                <a:gridCol w="1816039">
                  <a:extLst>
                    <a:ext uri="{9D8B030D-6E8A-4147-A177-3AD203B41FA5}">
                      <a16:colId xmlns:a16="http://schemas.microsoft.com/office/drawing/2014/main" val="3940108172"/>
                    </a:ext>
                  </a:extLst>
                </a:gridCol>
                <a:gridCol w="5448117">
                  <a:extLst>
                    <a:ext uri="{9D8B030D-6E8A-4147-A177-3AD203B41FA5}">
                      <a16:colId xmlns:a16="http://schemas.microsoft.com/office/drawing/2014/main" val="646252936"/>
                    </a:ext>
                  </a:extLst>
                </a:gridCol>
              </a:tblGrid>
              <a:tr h="370840">
                <a:tc gridSpan="2">
                  <a:txBody>
                    <a:bodyPr/>
                    <a:lstStyle/>
                    <a:p>
                      <a:pPr algn="ctr"/>
                      <a:r>
                        <a:rPr lang="en-US" altLang="zh-CN" sz="1800" dirty="0">
                          <a:solidFill>
                            <a:schemeClr val="tx1"/>
                          </a:solidFill>
                          <a:latin typeface="Times New Roman" panose="02020603050405020304" pitchFamily="18" charset="0"/>
                          <a:cs typeface="Times New Roman" panose="02020603050405020304" pitchFamily="18" charset="0"/>
                        </a:rPr>
                        <a:t>Hardware</a:t>
                      </a:r>
                      <a:endParaRPr lang="zh-CN" altLang="en-US" sz="1800" dirty="0">
                        <a:solidFill>
                          <a:schemeClr val="tx1"/>
                        </a:solidFill>
                        <a:latin typeface="Times New Roman" panose="02020603050405020304" pitchFamily="18" charset="0"/>
                        <a:cs typeface="Times New Roman" panose="02020603050405020304" pitchFamily="18" charset="0"/>
                      </a:endParaRPr>
                    </a:p>
                  </a:txBody>
                  <a:tcPr>
                    <a:solidFill>
                      <a:schemeClr val="bg1">
                        <a:lumMod val="85000"/>
                      </a:schemeClr>
                    </a:solidFill>
                  </a:tcPr>
                </a:tc>
                <a:tc hMerge="1">
                  <a:txBody>
                    <a:bodyPr/>
                    <a:lstStyle/>
                    <a:p>
                      <a:pPr algn="ctr"/>
                      <a:endParaRPr lang="zh-CN" altLang="en-US" dirty="0">
                        <a:solidFill>
                          <a:schemeClr val="tx1"/>
                        </a:solidFill>
                      </a:endParaRPr>
                    </a:p>
                  </a:txBody>
                  <a:tcPr>
                    <a:solidFill>
                      <a:schemeClr val="bg1">
                        <a:lumMod val="85000"/>
                      </a:schemeClr>
                    </a:solidFill>
                  </a:tcPr>
                </a:tc>
                <a:extLst>
                  <a:ext uri="{0D108BD9-81ED-4DB2-BD59-A6C34878D82A}">
                    <a16:rowId xmlns:a16="http://schemas.microsoft.com/office/drawing/2014/main" val="2759849694"/>
                  </a:ext>
                </a:extLst>
              </a:tr>
              <a:tr h="370840">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Server</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0" i="0" u="none" strike="noStrike" kern="1200" baseline="0" dirty="0">
                          <a:solidFill>
                            <a:schemeClr val="tx1"/>
                          </a:solidFill>
                          <a:latin typeface="Times New Roman" panose="02020603050405020304" pitchFamily="18" charset="0"/>
                          <a:ea typeface="+mn-ea"/>
                          <a:cs typeface="Times New Roman" panose="02020603050405020304" pitchFamily="18" charset="0"/>
                        </a:rPr>
                        <a:t>ecs.ebmg6.26xlarge and ecs.g6.26xlarge</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1796698471"/>
                  </a:ext>
                </a:extLst>
              </a:tr>
              <a:tr h="370840">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CPU</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two Intel Xeon Platinum CPUs (i.e., model 8269CY with 26 cores at 2.50GHz and hyperthreading enabled)</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341360332"/>
                  </a:ext>
                </a:extLst>
              </a:tr>
              <a:tr h="370840">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RAM</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altLang="zh-CN"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385GB</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2067706143"/>
                  </a:ext>
                </a:extLst>
              </a:tr>
              <a:tr h="370840">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Storage</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altLang="zh-CN"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500 GB SATA SSD</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1453990034"/>
                  </a:ext>
                </a:extLst>
              </a:tr>
              <a:tr h="370840">
                <a:tc gridSpan="2">
                  <a:txBody>
                    <a:bodyPr/>
                    <a:lstStyle/>
                    <a:p>
                      <a:pPr algn="ctr"/>
                      <a:r>
                        <a:rPr lang="en-US" altLang="zh-C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Software</a:t>
                      </a:r>
                      <a:endParaRPr lang="zh-CN" altLang="en-US" sz="1800" b="1" dirty="0">
                        <a:solidFill>
                          <a:schemeClr val="tx1"/>
                        </a:solidFill>
                        <a:latin typeface="Times New Roman" panose="02020603050405020304" pitchFamily="18" charset="0"/>
                        <a:cs typeface="Times New Roman" panose="02020603050405020304" pitchFamily="18" charset="0"/>
                      </a:endParaRPr>
                    </a:p>
                  </a:txBody>
                  <a:tcPr>
                    <a:solidFill>
                      <a:srgbClr val="D9D9D9"/>
                    </a:solidFill>
                  </a:tcPr>
                </a:tc>
                <a:tc hMerge="1">
                  <a:txBody>
                    <a:bodyPr/>
                    <a:lstStyle/>
                    <a:p>
                      <a:pPr algn="ctr"/>
                      <a:endParaRPr lang="zh-CN" altLang="en-US" dirty="0">
                        <a:solidFill>
                          <a:schemeClr val="tx1"/>
                        </a:solidFill>
                      </a:endParaRPr>
                    </a:p>
                  </a:txBody>
                  <a:tcPr>
                    <a:solidFill>
                      <a:srgbClr val="D9D9D9"/>
                    </a:solidFill>
                  </a:tcPr>
                </a:tc>
                <a:extLst>
                  <a:ext uri="{0D108BD9-81ED-4DB2-BD59-A6C34878D82A}">
                    <a16:rowId xmlns:a16="http://schemas.microsoft.com/office/drawing/2014/main" val="1354692281"/>
                  </a:ext>
                </a:extLst>
              </a:tr>
              <a:tr h="370840">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System</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altLang="zh-CN"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Anolis OS 7.9</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923982655"/>
                  </a:ext>
                </a:extLst>
              </a:tr>
              <a:tr h="370840">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Host/Guest Kernel</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4.19.91</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3868552205"/>
                  </a:ext>
                </a:extLst>
              </a:tr>
              <a:tr h="370840">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Runtime</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algn="ctr"/>
                      <a:r>
                        <a:rPr lang="en-US" altLang="zh-CN" sz="16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Rund</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4096286646"/>
                  </a:ext>
                </a:extLst>
              </a:tr>
              <a:tr h="370840">
                <a:tc>
                  <a:txBody>
                    <a:bodyPr/>
                    <a:lstStyle/>
                    <a:p>
                      <a:pPr algn="ctr"/>
                      <a:r>
                        <a:rPr lang="en-US" altLang="zh-CN" sz="1600" dirty="0">
                          <a:solidFill>
                            <a:schemeClr val="tx1"/>
                          </a:solidFill>
                          <a:latin typeface="Times New Roman" panose="02020603050405020304" pitchFamily="18" charset="0"/>
                          <a:cs typeface="Times New Roman" panose="02020603050405020304" pitchFamily="18" charset="0"/>
                        </a:rPr>
                        <a:t>Benchmarks</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LMbench</a:t>
                      </a:r>
                      <a:r>
                        <a:rPr lang="en-US" altLang="zh-CN" sz="1350" b="0" i="0" u="none" strike="noStrike" kern="1200" baseline="0" dirty="0">
                          <a:solidFill>
                            <a:schemeClr val="dk1"/>
                          </a:solidFill>
                          <a:latin typeface="Times New Roman" panose="02020603050405020304" pitchFamily="18" charset="0"/>
                          <a:ea typeface="+mn-ea"/>
                          <a:cs typeface="Times New Roman" panose="02020603050405020304" pitchFamily="18" charset="0"/>
                        </a:rPr>
                        <a:t>, PECjbb2005, </a:t>
                      </a:r>
                      <a:r>
                        <a:rPr lang="en-US" altLang="zh-CN" sz="135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Kbuild</a:t>
                      </a:r>
                      <a:r>
                        <a:rPr lang="en-US" altLang="zh-CN" sz="1350" b="0" i="0" u="none" strike="noStrike" kern="1200" baseline="0" dirty="0">
                          <a:solidFill>
                            <a:schemeClr val="dk1"/>
                          </a:solidFill>
                          <a:latin typeface="Times New Roman" panose="02020603050405020304" pitchFamily="18" charset="0"/>
                          <a:ea typeface="+mn-ea"/>
                          <a:cs typeface="Times New Roman" panose="02020603050405020304" pitchFamily="18" charset="0"/>
                        </a:rPr>
                        <a:t>, Parsec 3.0, Cloud Bench Suit</a:t>
                      </a:r>
                      <a:endParaRPr lang="zh-CN" altLang="en-US" sz="1600" dirty="0">
                        <a:solidFill>
                          <a:schemeClr val="tx1"/>
                        </a:solidFill>
                        <a:latin typeface="Times New Roman" panose="02020603050405020304" pitchFamily="18" charset="0"/>
                        <a:cs typeface="Times New Roman" panose="02020603050405020304" pitchFamily="18" charset="0"/>
                      </a:endParaRPr>
                    </a:p>
                  </a:txBody>
                  <a:tcPr>
                    <a:solidFill>
                      <a:schemeClr val="bg1">
                        <a:lumMod val="95000"/>
                      </a:schemeClr>
                    </a:solidFill>
                  </a:tcPr>
                </a:tc>
                <a:extLst>
                  <a:ext uri="{0D108BD9-81ED-4DB2-BD59-A6C34878D82A}">
                    <a16:rowId xmlns:a16="http://schemas.microsoft.com/office/drawing/2014/main" val="501052496"/>
                  </a:ext>
                </a:extLst>
              </a:tr>
            </a:tbl>
          </a:graphicData>
        </a:graphic>
      </p:graphicFrame>
      <p:sp>
        <p:nvSpPr>
          <p:cNvPr id="9" name="文本框 8">
            <a:extLst>
              <a:ext uri="{FF2B5EF4-FFF2-40B4-BE49-F238E27FC236}">
                <a16:creationId xmlns:a16="http://schemas.microsoft.com/office/drawing/2014/main" id="{D01C32A0-354D-44C2-A854-CFAB608B572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Evaluation</a:t>
            </a:r>
          </a:p>
        </p:txBody>
      </p:sp>
    </p:spTree>
    <p:extLst>
      <p:ext uri="{BB962C8B-B14F-4D97-AF65-F5344CB8AC3E}">
        <p14:creationId xmlns:p14="http://schemas.microsoft.com/office/powerpoint/2010/main" val="703539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01C32A0-354D-44C2-A854-CFAB608B572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Results on VM-Entry/Exit</a:t>
            </a:r>
          </a:p>
        </p:txBody>
      </p:sp>
      <p:sp>
        <p:nvSpPr>
          <p:cNvPr id="2" name="文本框 1">
            <a:extLst>
              <a:ext uri="{FF2B5EF4-FFF2-40B4-BE49-F238E27FC236}">
                <a16:creationId xmlns:a16="http://schemas.microsoft.com/office/drawing/2014/main" id="{5161365C-B17A-2CE2-D4E3-259E25F0B464}"/>
              </a:ext>
            </a:extLst>
          </p:cNvPr>
          <p:cNvSpPr txBox="1"/>
          <p:nvPr/>
        </p:nvSpPr>
        <p:spPr>
          <a:xfrm>
            <a:off x="296884" y="1270660"/>
            <a:ext cx="8847116" cy="430887"/>
          </a:xfrm>
          <a:prstGeom prst="rect">
            <a:avLst/>
          </a:prstGeom>
          <a:noFill/>
        </p:spPr>
        <p:txBody>
          <a:bodyPr wrap="square" rtlCol="0">
            <a:spAutoFit/>
          </a:bodyPr>
          <a:lstStyle/>
          <a:p>
            <a:r>
              <a:rPr lang="en" altLang="zh-CN" sz="2200" b="0" i="0" dirty="0">
                <a:effectLst/>
                <a:latin typeface="Times New Roman" panose="02020603050405020304" pitchFamily="18" charset="0"/>
                <a:cs typeface="Times New Roman" panose="02020603050405020304" pitchFamily="18" charset="0"/>
              </a:rPr>
              <a:t>The round-trip latency (</a:t>
            </a:r>
            <a:r>
              <a:rPr lang="el-GR" altLang="zh-CN" sz="2200" b="0" i="0" dirty="0">
                <a:effectLst/>
                <a:latin typeface="Times New Roman" panose="02020603050405020304" pitchFamily="18" charset="0"/>
                <a:cs typeface="Times New Roman" panose="02020603050405020304" pitchFamily="18" charset="0"/>
              </a:rPr>
              <a:t>μ</a:t>
            </a:r>
            <a:r>
              <a:rPr lang="en" altLang="zh-CN" sz="2200" b="0" i="0" dirty="0">
                <a:effectLst/>
                <a:latin typeface="Times New Roman" panose="02020603050405020304" pitchFamily="18" charset="0"/>
                <a:cs typeface="Times New Roman" panose="02020603050405020304" pitchFamily="18" charset="0"/>
              </a:rPr>
              <a:t>s) of VM exits/entries with KPTI enabled/disabled:  </a:t>
            </a:r>
            <a:endParaRPr kumimoji="1" lang="zh-CN" altLang="en-US" sz="2200" dirty="0">
              <a:latin typeface="Times New Roman" panose="02020603050405020304" pitchFamily="18" charset="0"/>
              <a:cs typeface="Times New Roman" panose="02020603050405020304" pitchFamily="18" charset="0"/>
            </a:endParaRPr>
          </a:p>
        </p:txBody>
      </p:sp>
      <p:graphicFrame>
        <p:nvGraphicFramePr>
          <p:cNvPr id="3" name="表格 3">
            <a:extLst>
              <a:ext uri="{FF2B5EF4-FFF2-40B4-BE49-F238E27FC236}">
                <a16:creationId xmlns:a16="http://schemas.microsoft.com/office/drawing/2014/main" id="{E495947F-6F99-62D9-7E52-7D96980C1DB2}"/>
              </a:ext>
            </a:extLst>
          </p:cNvPr>
          <p:cNvGraphicFramePr>
            <a:graphicFrameLocks noGrp="1"/>
          </p:cNvGraphicFramePr>
          <p:nvPr>
            <p:extLst>
              <p:ext uri="{D42A27DB-BD31-4B8C-83A1-F6EECF244321}">
                <p14:modId xmlns:p14="http://schemas.microsoft.com/office/powerpoint/2010/main" val="1724765915"/>
              </p:ext>
            </p:extLst>
          </p:nvPr>
        </p:nvGraphicFramePr>
        <p:xfrm>
          <a:off x="575954" y="1968420"/>
          <a:ext cx="7849590" cy="2225040"/>
        </p:xfrm>
        <a:graphic>
          <a:graphicData uri="http://schemas.openxmlformats.org/drawingml/2006/table">
            <a:tbl>
              <a:tblPr firstRow="1" bandRow="1">
                <a:tableStyleId>{EB344D84-9AFB-497E-A393-DC336BA19D2E}</a:tableStyleId>
              </a:tblPr>
              <a:tblGrid>
                <a:gridCol w="1569918">
                  <a:extLst>
                    <a:ext uri="{9D8B030D-6E8A-4147-A177-3AD203B41FA5}">
                      <a16:colId xmlns:a16="http://schemas.microsoft.com/office/drawing/2014/main" val="3654113958"/>
                    </a:ext>
                  </a:extLst>
                </a:gridCol>
                <a:gridCol w="1569918">
                  <a:extLst>
                    <a:ext uri="{9D8B030D-6E8A-4147-A177-3AD203B41FA5}">
                      <a16:colId xmlns:a16="http://schemas.microsoft.com/office/drawing/2014/main" val="2625532368"/>
                    </a:ext>
                  </a:extLst>
                </a:gridCol>
                <a:gridCol w="1569918">
                  <a:extLst>
                    <a:ext uri="{9D8B030D-6E8A-4147-A177-3AD203B41FA5}">
                      <a16:colId xmlns:a16="http://schemas.microsoft.com/office/drawing/2014/main" val="336635422"/>
                    </a:ext>
                  </a:extLst>
                </a:gridCol>
                <a:gridCol w="1569918">
                  <a:extLst>
                    <a:ext uri="{9D8B030D-6E8A-4147-A177-3AD203B41FA5}">
                      <a16:colId xmlns:a16="http://schemas.microsoft.com/office/drawing/2014/main" val="1023044924"/>
                    </a:ext>
                  </a:extLst>
                </a:gridCol>
                <a:gridCol w="1569918">
                  <a:extLst>
                    <a:ext uri="{9D8B030D-6E8A-4147-A177-3AD203B41FA5}">
                      <a16:colId xmlns:a16="http://schemas.microsoft.com/office/drawing/2014/main" val="2128028967"/>
                    </a:ext>
                  </a:extLst>
                </a:gridCol>
              </a:tblGrid>
              <a:tr h="370840">
                <a:tc>
                  <a:txBody>
                    <a:bodyPr/>
                    <a:lstStyle/>
                    <a:p>
                      <a:r>
                        <a:rPr lang="en-US" altLang="zh-CN" dirty="0"/>
                        <a:t>Configurations</a:t>
                      </a:r>
                      <a:endParaRPr lang="zh-CN" altLang="en-US" dirty="0"/>
                    </a:p>
                  </a:txBody>
                  <a:tcPr/>
                </a:tc>
                <a:tc>
                  <a:txBody>
                    <a:bodyPr/>
                    <a:lstStyle/>
                    <a:p>
                      <a:r>
                        <a:rPr lang="en-US" altLang="zh-CN" dirty="0" err="1"/>
                        <a:t>kvm</a:t>
                      </a:r>
                      <a:r>
                        <a:rPr lang="en-US" altLang="zh-CN" dirty="0"/>
                        <a:t> (BM)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pvm</a:t>
                      </a:r>
                      <a:r>
                        <a:rPr lang="en-US" altLang="zh-CN" dirty="0"/>
                        <a:t> (BM)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kvm</a:t>
                      </a:r>
                      <a:r>
                        <a:rPr lang="en-US" altLang="zh-CN" dirty="0"/>
                        <a:t> (NST)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pvm</a:t>
                      </a:r>
                      <a:r>
                        <a:rPr lang="en-US" altLang="zh-CN" dirty="0"/>
                        <a:t> (BM)</a:t>
                      </a:r>
                    </a:p>
                  </a:txBody>
                  <a:tcPr/>
                </a:tc>
                <a:extLst>
                  <a:ext uri="{0D108BD9-81ED-4DB2-BD59-A6C34878D82A}">
                    <a16:rowId xmlns:a16="http://schemas.microsoft.com/office/drawing/2014/main" val="176218347"/>
                  </a:ext>
                </a:extLst>
              </a:tr>
              <a:tr h="370840">
                <a:tc>
                  <a:txBody>
                    <a:bodyPr/>
                    <a:lstStyle/>
                    <a:p>
                      <a:r>
                        <a:rPr lang="en-US" altLang="zh-CN" dirty="0" err="1"/>
                        <a:t>Hypercall</a:t>
                      </a:r>
                      <a:endParaRPr lang="zh-CN" altLang="en-US" dirty="0"/>
                    </a:p>
                  </a:txBody>
                  <a:tcPr/>
                </a:tc>
                <a:tc>
                  <a:txBody>
                    <a:bodyPr/>
                    <a:lstStyle/>
                    <a:p>
                      <a:r>
                        <a:rPr lang="en-US" altLang="zh-CN" sz="1800" b="0" i="0" kern="1200" dirty="0">
                          <a:solidFill>
                            <a:schemeClr val="dk1"/>
                          </a:solidFill>
                          <a:effectLst/>
                          <a:latin typeface="+mn-lt"/>
                          <a:ea typeface="+mn-ea"/>
                          <a:cs typeface="+mn-cs"/>
                        </a:rPr>
                        <a:t>0.46/0.46</a:t>
                      </a:r>
                      <a:endParaRPr lang="zh-CN" altLang="en-US" dirty="0"/>
                    </a:p>
                  </a:txBody>
                  <a:tcPr/>
                </a:tc>
                <a:tc>
                  <a:txBody>
                    <a:bodyPr/>
                    <a:lstStyle/>
                    <a:p>
                      <a:r>
                        <a:rPr lang="en-US" altLang="zh-CN" dirty="0"/>
                        <a:t>0.54/0.54</a:t>
                      </a:r>
                      <a:endParaRPr lang="zh-CN" altLang="en-US" dirty="0"/>
                    </a:p>
                  </a:txBody>
                  <a:tcPr/>
                </a:tc>
                <a:tc>
                  <a:txBody>
                    <a:bodyPr/>
                    <a:lstStyle/>
                    <a:p>
                      <a:r>
                        <a:rPr lang="en-US" altLang="zh-CN" dirty="0"/>
                        <a:t>7.43/7.87</a:t>
                      </a:r>
                      <a:endParaRPr lang="zh-CN" altLang="en-US" dirty="0"/>
                    </a:p>
                  </a:txBody>
                  <a:tcPr/>
                </a:tc>
                <a:tc>
                  <a:txBody>
                    <a:bodyPr/>
                    <a:lstStyle/>
                    <a:p>
                      <a:r>
                        <a:rPr lang="en-US" altLang="zh-CN" dirty="0"/>
                        <a:t>0.48/0.48</a:t>
                      </a:r>
                      <a:endParaRPr lang="zh-CN" altLang="en-US" dirty="0"/>
                    </a:p>
                  </a:txBody>
                  <a:tcPr/>
                </a:tc>
                <a:extLst>
                  <a:ext uri="{0D108BD9-81ED-4DB2-BD59-A6C34878D82A}">
                    <a16:rowId xmlns:a16="http://schemas.microsoft.com/office/drawing/2014/main" val="3934275038"/>
                  </a:ext>
                </a:extLst>
              </a:tr>
              <a:tr h="370840">
                <a:tc>
                  <a:txBody>
                    <a:bodyPr/>
                    <a:lstStyle/>
                    <a:p>
                      <a:r>
                        <a:rPr lang="en-US" altLang="zh-CN" dirty="0"/>
                        <a:t>Exception</a:t>
                      </a:r>
                      <a:endParaRPr lang="zh-CN" altLang="en-US" dirty="0"/>
                    </a:p>
                  </a:txBody>
                  <a:tcPr/>
                </a:tc>
                <a:tc>
                  <a:txBody>
                    <a:bodyPr/>
                    <a:lstStyle/>
                    <a:p>
                      <a:r>
                        <a:rPr lang="en-US" altLang="zh-CN" dirty="0"/>
                        <a:t>1.66/1.65</a:t>
                      </a:r>
                      <a:endParaRPr lang="zh-CN" altLang="en-US" dirty="0"/>
                    </a:p>
                  </a:txBody>
                  <a:tcPr/>
                </a:tc>
                <a:tc>
                  <a:txBody>
                    <a:bodyPr/>
                    <a:lstStyle/>
                    <a:p>
                      <a:r>
                        <a:rPr lang="en-US" altLang="zh-CN" dirty="0"/>
                        <a:t>1.67/1.65</a:t>
                      </a:r>
                      <a:endParaRPr lang="zh-CN" altLang="en-US" dirty="0"/>
                    </a:p>
                  </a:txBody>
                  <a:tcPr/>
                </a:tc>
                <a:tc>
                  <a:txBody>
                    <a:bodyPr/>
                    <a:lstStyle/>
                    <a:p>
                      <a:r>
                        <a:rPr lang="en-US" altLang="zh-CN" dirty="0"/>
                        <a:t>9.20/9.01</a:t>
                      </a:r>
                      <a:endParaRPr lang="zh-CN" altLang="en-US" dirty="0"/>
                    </a:p>
                  </a:txBody>
                  <a:tcPr/>
                </a:tc>
                <a:tc>
                  <a:txBody>
                    <a:bodyPr/>
                    <a:lstStyle/>
                    <a:p>
                      <a:r>
                        <a:rPr lang="en-US" altLang="zh-CN" dirty="0"/>
                        <a:t>2.21/2.2</a:t>
                      </a:r>
                      <a:endParaRPr lang="zh-CN" altLang="en-US" dirty="0"/>
                    </a:p>
                  </a:txBody>
                  <a:tcPr/>
                </a:tc>
                <a:extLst>
                  <a:ext uri="{0D108BD9-81ED-4DB2-BD59-A6C34878D82A}">
                    <a16:rowId xmlns:a16="http://schemas.microsoft.com/office/drawing/2014/main" val="1731497543"/>
                  </a:ext>
                </a:extLst>
              </a:tr>
              <a:tr h="370840">
                <a:tc>
                  <a:txBody>
                    <a:bodyPr/>
                    <a:lstStyle/>
                    <a:p>
                      <a:r>
                        <a:rPr lang="en-US" altLang="zh-CN" dirty="0"/>
                        <a:t>MSR access</a:t>
                      </a:r>
                    </a:p>
                  </a:txBody>
                  <a:tcPr/>
                </a:tc>
                <a:tc>
                  <a:txBody>
                    <a:bodyPr/>
                    <a:lstStyle/>
                    <a:p>
                      <a:r>
                        <a:rPr lang="en-US" altLang="zh-CN" dirty="0"/>
                        <a:t>0.87/0.87</a:t>
                      </a:r>
                      <a:endParaRPr lang="zh-CN" altLang="en-US" dirty="0"/>
                    </a:p>
                  </a:txBody>
                  <a:tcPr/>
                </a:tc>
                <a:tc>
                  <a:txBody>
                    <a:bodyPr/>
                    <a:lstStyle/>
                    <a:p>
                      <a:r>
                        <a:rPr lang="en-US" altLang="zh-CN" dirty="0"/>
                        <a:t>2.53/2.51</a:t>
                      </a:r>
                      <a:endParaRPr lang="zh-CN" altLang="en-US" dirty="0"/>
                    </a:p>
                  </a:txBody>
                  <a:tcPr/>
                </a:tc>
                <a:tc>
                  <a:txBody>
                    <a:bodyPr/>
                    <a:lstStyle/>
                    <a:p>
                      <a:r>
                        <a:rPr lang="en-US" altLang="zh-CN" dirty="0"/>
                        <a:t>8.18/8.47</a:t>
                      </a:r>
                      <a:endParaRPr lang="zh-CN" altLang="en-US" dirty="0"/>
                    </a:p>
                  </a:txBody>
                  <a:tcPr/>
                </a:tc>
                <a:tc>
                  <a:txBody>
                    <a:bodyPr/>
                    <a:lstStyle/>
                    <a:p>
                      <a:r>
                        <a:rPr lang="en-US" altLang="zh-CN" dirty="0"/>
                        <a:t>2.88/2.86</a:t>
                      </a:r>
                      <a:endParaRPr lang="zh-CN" altLang="en-US" dirty="0"/>
                    </a:p>
                  </a:txBody>
                  <a:tcPr/>
                </a:tc>
                <a:extLst>
                  <a:ext uri="{0D108BD9-81ED-4DB2-BD59-A6C34878D82A}">
                    <a16:rowId xmlns:a16="http://schemas.microsoft.com/office/drawing/2014/main" val="952914422"/>
                  </a:ext>
                </a:extLst>
              </a:tr>
              <a:tr h="370840">
                <a:tc>
                  <a:txBody>
                    <a:bodyPr/>
                    <a:lstStyle/>
                    <a:p>
                      <a:r>
                        <a:rPr lang="en-US" altLang="zh-CN" dirty="0"/>
                        <a:t>CPUID</a:t>
                      </a:r>
                      <a:endParaRPr lang="zh-CN" altLang="en-US" dirty="0"/>
                    </a:p>
                  </a:txBody>
                  <a:tcPr/>
                </a:tc>
                <a:tc>
                  <a:txBody>
                    <a:bodyPr/>
                    <a:lstStyle/>
                    <a:p>
                      <a:r>
                        <a:rPr lang="en-US" altLang="zh-CN" dirty="0"/>
                        <a:t>0.54/0.54</a:t>
                      </a:r>
                      <a:endParaRPr lang="zh-CN" altLang="en-US" dirty="0"/>
                    </a:p>
                  </a:txBody>
                  <a:tcPr/>
                </a:tc>
                <a:tc>
                  <a:txBody>
                    <a:bodyPr/>
                    <a:lstStyle/>
                    <a:p>
                      <a:r>
                        <a:rPr lang="en-US" altLang="zh-CN" dirty="0"/>
                        <a:t>0.6/0.59</a:t>
                      </a:r>
                      <a:endParaRPr lang="zh-CN" altLang="en-US" dirty="0"/>
                    </a:p>
                  </a:txBody>
                  <a:tcPr/>
                </a:tc>
                <a:tc>
                  <a:txBody>
                    <a:bodyPr/>
                    <a:lstStyle/>
                    <a:p>
                      <a:r>
                        <a:rPr lang="en-US" altLang="zh-CN" dirty="0"/>
                        <a:t>7.1/7.16</a:t>
                      </a:r>
                      <a:endParaRPr lang="zh-CN" altLang="en-US" dirty="0"/>
                    </a:p>
                  </a:txBody>
                  <a:tcPr/>
                </a:tc>
                <a:tc>
                  <a:txBody>
                    <a:bodyPr/>
                    <a:lstStyle/>
                    <a:p>
                      <a:r>
                        <a:rPr lang="en-US" altLang="zh-CN" dirty="0"/>
                        <a:t>0.51/0.51</a:t>
                      </a:r>
                      <a:endParaRPr lang="zh-CN" altLang="en-US" dirty="0"/>
                    </a:p>
                  </a:txBody>
                  <a:tcPr/>
                </a:tc>
                <a:extLst>
                  <a:ext uri="{0D108BD9-81ED-4DB2-BD59-A6C34878D82A}">
                    <a16:rowId xmlns:a16="http://schemas.microsoft.com/office/drawing/2014/main" val="616034241"/>
                  </a:ext>
                </a:extLst>
              </a:tr>
              <a:tr h="370840">
                <a:tc>
                  <a:txBody>
                    <a:bodyPr/>
                    <a:lstStyle/>
                    <a:p>
                      <a:r>
                        <a:rPr lang="en-US" altLang="zh-CN" dirty="0"/>
                        <a:t>PIO</a:t>
                      </a:r>
                      <a:endParaRPr lang="zh-CN" altLang="en-US" dirty="0"/>
                    </a:p>
                  </a:txBody>
                  <a:tcPr/>
                </a:tc>
                <a:tc>
                  <a:txBody>
                    <a:bodyPr/>
                    <a:lstStyle/>
                    <a:p>
                      <a:r>
                        <a:rPr lang="en-US" altLang="zh-CN" dirty="0"/>
                        <a:t>3.79/3.39</a:t>
                      </a:r>
                      <a:endParaRPr lang="zh-CN" altLang="en-US" dirty="0"/>
                    </a:p>
                  </a:txBody>
                  <a:tcPr/>
                </a:tc>
                <a:tc>
                  <a:txBody>
                    <a:bodyPr/>
                    <a:lstStyle/>
                    <a:p>
                      <a:r>
                        <a:rPr lang="en-US" altLang="zh-CN" dirty="0"/>
                        <a:t>4.91/4.54</a:t>
                      </a:r>
                      <a:endParaRPr lang="zh-CN" altLang="en-US" dirty="0"/>
                    </a:p>
                  </a:txBody>
                  <a:tcPr/>
                </a:tc>
                <a:tc>
                  <a:txBody>
                    <a:bodyPr/>
                    <a:lstStyle/>
                    <a:p>
                      <a:r>
                        <a:rPr lang="en-US" altLang="zh-CN" dirty="0"/>
                        <a:t>29.34/28.27</a:t>
                      </a:r>
                      <a:endParaRPr lang="zh-CN" altLang="en-US" dirty="0"/>
                    </a:p>
                  </a:txBody>
                  <a:tcPr/>
                </a:tc>
                <a:tc>
                  <a:txBody>
                    <a:bodyPr/>
                    <a:lstStyle/>
                    <a:p>
                      <a:r>
                        <a:rPr lang="en-US" altLang="zh-CN" dirty="0"/>
                        <a:t>12.94/12.03</a:t>
                      </a:r>
                      <a:endParaRPr lang="zh-CN" altLang="en-US" dirty="0"/>
                    </a:p>
                  </a:txBody>
                  <a:tcPr/>
                </a:tc>
                <a:extLst>
                  <a:ext uri="{0D108BD9-81ED-4DB2-BD59-A6C34878D82A}">
                    <a16:rowId xmlns:a16="http://schemas.microsoft.com/office/drawing/2014/main" val="669967782"/>
                  </a:ext>
                </a:extLst>
              </a:tr>
            </a:tbl>
          </a:graphicData>
        </a:graphic>
      </p:graphicFrame>
      <p:sp>
        <p:nvSpPr>
          <p:cNvPr id="5" name="文本框 4">
            <a:extLst>
              <a:ext uri="{FF2B5EF4-FFF2-40B4-BE49-F238E27FC236}">
                <a16:creationId xmlns:a16="http://schemas.microsoft.com/office/drawing/2014/main" id="{5DF6E135-F982-94B8-D8A6-D73E187354F9}"/>
              </a:ext>
            </a:extLst>
          </p:cNvPr>
          <p:cNvSpPr txBox="1"/>
          <p:nvPr/>
        </p:nvSpPr>
        <p:spPr>
          <a:xfrm>
            <a:off x="890648" y="4479344"/>
            <a:ext cx="7362703" cy="1107996"/>
          </a:xfrm>
          <a:prstGeom prst="rect">
            <a:avLst/>
          </a:prstGeom>
          <a:noFill/>
        </p:spPr>
        <p:txBody>
          <a:bodyPr wrap="square">
            <a:spAutoFit/>
          </a:bodyPr>
          <a:lstStyle/>
          <a:p>
            <a:pPr algn="ctr"/>
            <a:r>
              <a:rPr lang="en" altLang="zh-CN" sz="2200" b="0" i="0" dirty="0">
                <a:solidFill>
                  <a:srgbClr val="002060"/>
                </a:solidFill>
                <a:effectLst/>
                <a:latin typeface="Times New Roman" panose="02020603050405020304" pitchFamily="18" charset="0"/>
                <a:cs typeface="Times New Roman" panose="02020603050405020304" pitchFamily="18" charset="0"/>
              </a:rPr>
              <a:t>KVM (NST) triggered two expensive exits to the 𝐿0 hypervisor for each privileged 𝐿2 guest operation, while PVM needed one and less expensive VM exit to the 𝐿1 guest hypervisor</a:t>
            </a:r>
            <a:endParaRPr lang="zh-CN" altLang="en-US" sz="2200" dirty="0">
              <a:solidFill>
                <a:srgbClr val="002060"/>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D9C0D774-F08B-8F2D-9085-005A14D4E294}"/>
              </a:ext>
            </a:extLst>
          </p:cNvPr>
          <p:cNvSpPr/>
          <p:nvPr/>
        </p:nvSpPr>
        <p:spPr>
          <a:xfrm>
            <a:off x="296884" y="3077736"/>
            <a:ext cx="8490277" cy="395868"/>
          </a:xfrm>
          <a:prstGeom prst="rect">
            <a:avLst/>
          </a:prstGeom>
          <a:noFill/>
          <a:ln w="2540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89387ADE-2D30-2864-BB88-92D408605916}"/>
              </a:ext>
            </a:extLst>
          </p:cNvPr>
          <p:cNvSpPr/>
          <p:nvPr/>
        </p:nvSpPr>
        <p:spPr>
          <a:xfrm>
            <a:off x="6872338" y="1891020"/>
            <a:ext cx="1381013" cy="2373431"/>
          </a:xfrm>
          <a:prstGeom prst="rect">
            <a:avLst/>
          </a:prstGeom>
          <a:noFill/>
          <a:ln w="2540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 name="矩形 6">
            <a:extLst>
              <a:ext uri="{FF2B5EF4-FFF2-40B4-BE49-F238E27FC236}">
                <a16:creationId xmlns:a16="http://schemas.microsoft.com/office/drawing/2014/main" id="{E5715DE1-217E-7820-1E8C-56960F594E17}"/>
              </a:ext>
            </a:extLst>
          </p:cNvPr>
          <p:cNvSpPr/>
          <p:nvPr/>
        </p:nvSpPr>
        <p:spPr>
          <a:xfrm>
            <a:off x="5149766" y="1891019"/>
            <a:ext cx="1381013" cy="2373431"/>
          </a:xfrm>
          <a:prstGeom prst="rect">
            <a:avLst/>
          </a:prstGeom>
          <a:noFill/>
          <a:ln w="2540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407041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01C32A0-354D-44C2-A854-CFAB608B572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Results on System Calls</a:t>
            </a:r>
          </a:p>
        </p:txBody>
      </p:sp>
      <p:sp>
        <p:nvSpPr>
          <p:cNvPr id="2" name="文本框 1">
            <a:extLst>
              <a:ext uri="{FF2B5EF4-FFF2-40B4-BE49-F238E27FC236}">
                <a16:creationId xmlns:a16="http://schemas.microsoft.com/office/drawing/2014/main" id="{5161365C-B17A-2CE2-D4E3-259E25F0B464}"/>
              </a:ext>
            </a:extLst>
          </p:cNvPr>
          <p:cNvSpPr txBox="1"/>
          <p:nvPr/>
        </p:nvSpPr>
        <p:spPr>
          <a:xfrm>
            <a:off x="296884" y="1270660"/>
            <a:ext cx="8562108" cy="430887"/>
          </a:xfrm>
          <a:prstGeom prst="rect">
            <a:avLst/>
          </a:prstGeom>
          <a:noFill/>
        </p:spPr>
        <p:txBody>
          <a:bodyPr wrap="square" rtlCol="0">
            <a:spAutoFit/>
          </a:bodyPr>
          <a:lstStyle/>
          <a:p>
            <a:r>
              <a:rPr lang="en" altLang="zh-CN" sz="2200" b="0" i="0" dirty="0">
                <a:effectLst/>
                <a:latin typeface="Times New Roman" panose="02020603050405020304" pitchFamily="18" charset="0"/>
                <a:cs typeface="Times New Roman" panose="02020603050405020304" pitchFamily="18" charset="0"/>
              </a:rPr>
              <a:t>The Execution time (</a:t>
            </a:r>
            <a:r>
              <a:rPr lang="el-GR" altLang="zh-CN" sz="2200" b="0" i="0" dirty="0">
                <a:effectLst/>
                <a:latin typeface="Times New Roman" panose="02020603050405020304" pitchFamily="18" charset="0"/>
                <a:cs typeface="Times New Roman" panose="02020603050405020304" pitchFamily="18" charset="0"/>
              </a:rPr>
              <a:t>μ</a:t>
            </a:r>
            <a:r>
              <a:rPr lang="en" altLang="zh-CN" sz="2200" b="0" i="0" dirty="0">
                <a:effectLst/>
                <a:latin typeface="Times New Roman" panose="02020603050405020304" pitchFamily="18" charset="0"/>
                <a:cs typeface="Times New Roman" panose="02020603050405020304" pitchFamily="18" charset="0"/>
              </a:rPr>
              <a:t>s) of </a:t>
            </a:r>
            <a:r>
              <a:rPr lang="en" altLang="zh-CN" sz="2200" b="0" i="0" dirty="0" err="1">
                <a:effectLst/>
                <a:latin typeface="Times New Roman" panose="02020603050405020304" pitchFamily="18" charset="0"/>
                <a:cs typeface="Times New Roman" panose="02020603050405020304" pitchFamily="18" charset="0"/>
              </a:rPr>
              <a:t>syscall</a:t>
            </a:r>
            <a:r>
              <a:rPr lang="en" altLang="zh-CN" sz="2200" b="0" i="0" dirty="0">
                <a:effectLst/>
                <a:latin typeface="Times New Roman" panose="02020603050405020304" pitchFamily="18" charset="0"/>
                <a:cs typeface="Times New Roman" panose="02020603050405020304" pitchFamily="18" charset="0"/>
              </a:rPr>
              <a:t> </a:t>
            </a:r>
            <a:r>
              <a:rPr lang="en" altLang="zh-CN" sz="2200" b="0" i="0" dirty="0" err="1">
                <a:effectLst/>
                <a:latin typeface="Times New Roman" panose="02020603050405020304" pitchFamily="18" charset="0"/>
                <a:cs typeface="Times New Roman" panose="02020603050405020304" pitchFamily="18" charset="0"/>
              </a:rPr>
              <a:t>get_pid</a:t>
            </a:r>
            <a:r>
              <a:rPr lang="en" altLang="zh-CN" sz="2200" b="0" i="0" dirty="0">
                <a:effectLst/>
                <a:latin typeface="Times New Roman" panose="02020603050405020304" pitchFamily="18" charset="0"/>
                <a:cs typeface="Times New Roman" panose="02020603050405020304" pitchFamily="18" charset="0"/>
              </a:rPr>
              <a:t> with KPTI enabled/disabled:  </a:t>
            </a:r>
            <a:endParaRPr kumimoji="1" lang="zh-CN" altLang="en-US" sz="2200" dirty="0">
              <a:latin typeface="Times New Roman" panose="02020603050405020304" pitchFamily="18" charset="0"/>
              <a:cs typeface="Times New Roman" panose="02020603050405020304" pitchFamily="18" charset="0"/>
            </a:endParaRPr>
          </a:p>
        </p:txBody>
      </p:sp>
      <p:graphicFrame>
        <p:nvGraphicFramePr>
          <p:cNvPr id="3" name="表格 3">
            <a:extLst>
              <a:ext uri="{FF2B5EF4-FFF2-40B4-BE49-F238E27FC236}">
                <a16:creationId xmlns:a16="http://schemas.microsoft.com/office/drawing/2014/main" id="{E495947F-6F99-62D9-7E52-7D96980C1DB2}"/>
              </a:ext>
            </a:extLst>
          </p:cNvPr>
          <p:cNvGraphicFramePr>
            <a:graphicFrameLocks noGrp="1"/>
          </p:cNvGraphicFramePr>
          <p:nvPr>
            <p:extLst>
              <p:ext uri="{D42A27DB-BD31-4B8C-83A1-F6EECF244321}">
                <p14:modId xmlns:p14="http://schemas.microsoft.com/office/powerpoint/2010/main" val="629935377"/>
              </p:ext>
            </p:extLst>
          </p:nvPr>
        </p:nvGraphicFramePr>
        <p:xfrm>
          <a:off x="1116277" y="1966272"/>
          <a:ext cx="6163296" cy="2980600"/>
        </p:xfrm>
        <a:graphic>
          <a:graphicData uri="http://schemas.openxmlformats.org/drawingml/2006/table">
            <a:tbl>
              <a:tblPr firstRow="1" bandRow="1">
                <a:tableStyleId>{EB344D84-9AFB-497E-A393-DC336BA19D2E}</a:tableStyleId>
              </a:tblPr>
              <a:tblGrid>
                <a:gridCol w="2054432">
                  <a:extLst>
                    <a:ext uri="{9D8B030D-6E8A-4147-A177-3AD203B41FA5}">
                      <a16:colId xmlns:a16="http://schemas.microsoft.com/office/drawing/2014/main" val="3654113958"/>
                    </a:ext>
                  </a:extLst>
                </a:gridCol>
                <a:gridCol w="2054432">
                  <a:extLst>
                    <a:ext uri="{9D8B030D-6E8A-4147-A177-3AD203B41FA5}">
                      <a16:colId xmlns:a16="http://schemas.microsoft.com/office/drawing/2014/main" val="2625532368"/>
                    </a:ext>
                  </a:extLst>
                </a:gridCol>
                <a:gridCol w="2054432">
                  <a:extLst>
                    <a:ext uri="{9D8B030D-6E8A-4147-A177-3AD203B41FA5}">
                      <a16:colId xmlns:a16="http://schemas.microsoft.com/office/drawing/2014/main" val="336635422"/>
                    </a:ext>
                  </a:extLst>
                </a:gridCol>
              </a:tblGrid>
              <a:tr h="372575">
                <a:tc>
                  <a:txBody>
                    <a:bodyPr/>
                    <a:lstStyle/>
                    <a:p>
                      <a:r>
                        <a:rPr lang="en-US" altLang="zh-CN" dirty="0"/>
                        <a:t>Configurations</a:t>
                      </a:r>
                      <a:endParaRPr lang="zh-CN" altLang="en-US" dirty="0"/>
                    </a:p>
                  </a:txBody>
                  <a:tcPr/>
                </a:tc>
                <a:tc>
                  <a:txBody>
                    <a:bodyPr/>
                    <a:lstStyle/>
                    <a:p>
                      <a:r>
                        <a:rPr lang="en-US" altLang="zh-CN" dirty="0"/>
                        <a:t>Optimization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Syscall</a:t>
                      </a:r>
                      <a:r>
                        <a:rPr lang="en-US" altLang="zh-CN" dirty="0"/>
                        <a:t> (</a:t>
                      </a:r>
                      <a:r>
                        <a:rPr lang="el-GR" altLang="zh-CN" sz="1800" b="0" i="0" dirty="0">
                          <a:effectLst/>
                          <a:latin typeface="Times New Roman" panose="02020603050405020304" pitchFamily="18" charset="0"/>
                          <a:cs typeface="Times New Roman" panose="02020603050405020304" pitchFamily="18" charset="0"/>
                        </a:rPr>
                        <a:t>μ</a:t>
                      </a:r>
                      <a:r>
                        <a:rPr lang="en" altLang="zh-CN" sz="1800" b="0" i="0" dirty="0">
                          <a:effectLst/>
                          <a:latin typeface="Times New Roman" panose="02020603050405020304" pitchFamily="18" charset="0"/>
                          <a:cs typeface="Times New Roman" panose="02020603050405020304" pitchFamily="18" charset="0"/>
                        </a:rPr>
                        <a:t>s</a:t>
                      </a:r>
                      <a:r>
                        <a:rPr lang="en-US" altLang="zh-CN" dirty="0"/>
                        <a:t>)</a:t>
                      </a:r>
                    </a:p>
                  </a:txBody>
                  <a:tcPr/>
                </a:tc>
                <a:extLst>
                  <a:ext uri="{0D108BD9-81ED-4DB2-BD59-A6C34878D82A}">
                    <a16:rowId xmlns:a16="http://schemas.microsoft.com/office/drawing/2014/main" val="176218347"/>
                  </a:ext>
                </a:extLst>
              </a:tr>
              <a:tr h="372575">
                <a:tc>
                  <a:txBody>
                    <a:bodyPr/>
                    <a:lstStyle/>
                    <a:p>
                      <a:r>
                        <a:rPr lang="en-US" altLang="zh-CN" dirty="0" err="1"/>
                        <a:t>kvm-ept</a:t>
                      </a:r>
                      <a:r>
                        <a:rPr lang="en-US" altLang="zh-CN" dirty="0"/>
                        <a:t> (BM)</a:t>
                      </a:r>
                      <a:endParaRPr lang="zh-CN" altLang="en-US" dirty="0"/>
                    </a:p>
                  </a:txBody>
                  <a:tcPr/>
                </a:tc>
                <a:tc>
                  <a:txBody>
                    <a:bodyPr/>
                    <a:lstStyle/>
                    <a:p>
                      <a:endParaRPr lang="zh-CN" altLang="en-US" dirty="0"/>
                    </a:p>
                  </a:txBody>
                  <a:tcPr/>
                </a:tc>
                <a:tc>
                  <a:txBody>
                    <a:bodyPr/>
                    <a:lstStyle/>
                    <a:p>
                      <a:r>
                        <a:rPr lang="en-US" altLang="zh-CN" dirty="0"/>
                        <a:t>0.22/0.06</a:t>
                      </a:r>
                      <a:endParaRPr lang="zh-CN" altLang="en-US" dirty="0"/>
                    </a:p>
                  </a:txBody>
                  <a:tcPr/>
                </a:tc>
                <a:extLst>
                  <a:ext uri="{0D108BD9-81ED-4DB2-BD59-A6C34878D82A}">
                    <a16:rowId xmlns:a16="http://schemas.microsoft.com/office/drawing/2014/main" val="3934275038"/>
                  </a:ext>
                </a:extLst>
              </a:tr>
              <a:tr h="372575">
                <a:tc>
                  <a:txBody>
                    <a:bodyPr/>
                    <a:lstStyle/>
                    <a:p>
                      <a:r>
                        <a:rPr lang="en-US" altLang="zh-CN" dirty="0" err="1"/>
                        <a:t>kvm-spt</a:t>
                      </a:r>
                      <a:r>
                        <a:rPr lang="en-US" altLang="zh-CN" dirty="0"/>
                        <a:t> (BM)</a:t>
                      </a:r>
                      <a:endParaRPr lang="zh-CN" altLang="en-US" dirty="0"/>
                    </a:p>
                  </a:txBody>
                  <a:tcPr/>
                </a:tc>
                <a:tc>
                  <a:txBody>
                    <a:bodyPr/>
                    <a:lstStyle/>
                    <a:p>
                      <a:endParaRPr lang="zh-CN" altLang="en-US" dirty="0"/>
                    </a:p>
                  </a:txBody>
                  <a:tcPr/>
                </a:tc>
                <a:tc>
                  <a:txBody>
                    <a:bodyPr/>
                    <a:lstStyle/>
                    <a:p>
                      <a:r>
                        <a:rPr lang="en-US" altLang="zh-CN" dirty="0"/>
                        <a:t>2.09/0.06</a:t>
                      </a:r>
                      <a:endParaRPr lang="zh-CN" altLang="en-US" dirty="0"/>
                    </a:p>
                  </a:txBody>
                  <a:tcPr/>
                </a:tc>
                <a:extLst>
                  <a:ext uri="{0D108BD9-81ED-4DB2-BD59-A6C34878D82A}">
                    <a16:rowId xmlns:a16="http://schemas.microsoft.com/office/drawing/2014/main" val="1731497543"/>
                  </a:ext>
                </a:extLst>
              </a:tr>
              <a:tr h="372575">
                <a:tc>
                  <a:txBody>
                    <a:bodyPr/>
                    <a:lstStyle/>
                    <a:p>
                      <a:r>
                        <a:rPr lang="en-US" altLang="zh-CN" dirty="0" err="1"/>
                        <a:t>pvm</a:t>
                      </a:r>
                      <a:r>
                        <a:rPr lang="en-US" altLang="zh-CN" dirty="0"/>
                        <a:t> (BM)</a:t>
                      </a:r>
                    </a:p>
                  </a:txBody>
                  <a:tcPr/>
                </a:tc>
                <a:tc>
                  <a:txBody>
                    <a:bodyPr/>
                    <a:lstStyle/>
                    <a:p>
                      <a:r>
                        <a:rPr lang="en-US" altLang="zh-CN" dirty="0"/>
                        <a:t>none</a:t>
                      </a:r>
                      <a:endParaRPr lang="zh-CN" altLang="en-US" dirty="0"/>
                    </a:p>
                  </a:txBody>
                  <a:tcPr/>
                </a:tc>
                <a:tc>
                  <a:txBody>
                    <a:bodyPr/>
                    <a:lstStyle/>
                    <a:p>
                      <a:r>
                        <a:rPr lang="en-US" altLang="zh-CN" dirty="0"/>
                        <a:t>1.91/1.91</a:t>
                      </a:r>
                      <a:endParaRPr lang="zh-CN" altLang="en-US" dirty="0"/>
                    </a:p>
                  </a:txBody>
                  <a:tcPr/>
                </a:tc>
                <a:extLst>
                  <a:ext uri="{0D108BD9-81ED-4DB2-BD59-A6C34878D82A}">
                    <a16:rowId xmlns:a16="http://schemas.microsoft.com/office/drawing/2014/main" val="952914422"/>
                  </a:ext>
                </a:extLst>
              </a:tr>
              <a:tr h="372575">
                <a:tc>
                  <a:txBody>
                    <a:bodyPr/>
                    <a:lstStyle/>
                    <a:p>
                      <a:endParaRPr lang="zh-CN" altLang="en-US" dirty="0"/>
                    </a:p>
                  </a:txBody>
                  <a:tcPr/>
                </a:tc>
                <a:tc>
                  <a:txBody>
                    <a:bodyPr/>
                    <a:lstStyle/>
                    <a:p>
                      <a:r>
                        <a:rPr lang="en-US" altLang="zh-CN" dirty="0"/>
                        <a:t>direct-switch</a:t>
                      </a:r>
                      <a:endParaRPr lang="zh-CN" altLang="en-US" dirty="0"/>
                    </a:p>
                  </a:txBody>
                  <a:tcPr/>
                </a:tc>
                <a:tc>
                  <a:txBody>
                    <a:bodyPr/>
                    <a:lstStyle/>
                    <a:p>
                      <a:r>
                        <a:rPr lang="en-US" altLang="zh-CN" dirty="0"/>
                        <a:t>0.29/0.29</a:t>
                      </a:r>
                      <a:endParaRPr lang="zh-CN" altLang="en-US" dirty="0"/>
                    </a:p>
                  </a:txBody>
                  <a:tcPr/>
                </a:tc>
                <a:extLst>
                  <a:ext uri="{0D108BD9-81ED-4DB2-BD59-A6C34878D82A}">
                    <a16:rowId xmlns:a16="http://schemas.microsoft.com/office/drawing/2014/main" val="616034241"/>
                  </a:ext>
                </a:extLst>
              </a:tr>
              <a:tr h="372575">
                <a:tc>
                  <a:txBody>
                    <a:bodyPr/>
                    <a:lstStyle/>
                    <a:p>
                      <a:r>
                        <a:rPr lang="en-US" altLang="zh-CN" dirty="0" err="1"/>
                        <a:t>kvm</a:t>
                      </a:r>
                      <a:r>
                        <a:rPr lang="en-US" altLang="zh-CN" dirty="0"/>
                        <a:t> (NST)</a:t>
                      </a:r>
                      <a:endParaRPr lang="zh-CN" altLang="en-US" dirty="0"/>
                    </a:p>
                  </a:txBody>
                  <a:tcPr/>
                </a:tc>
                <a:tc>
                  <a:txBody>
                    <a:bodyPr/>
                    <a:lstStyle/>
                    <a:p>
                      <a:endParaRPr lang="zh-CN" altLang="en-US" dirty="0"/>
                    </a:p>
                  </a:txBody>
                  <a:tcPr/>
                </a:tc>
                <a:tc>
                  <a:txBody>
                    <a:bodyPr/>
                    <a:lstStyle/>
                    <a:p>
                      <a:r>
                        <a:rPr lang="en-US" altLang="zh-CN" dirty="0"/>
                        <a:t>0.23/0.06</a:t>
                      </a:r>
                      <a:endParaRPr lang="zh-CN" altLang="en-US" dirty="0"/>
                    </a:p>
                  </a:txBody>
                  <a:tcPr/>
                </a:tc>
                <a:extLst>
                  <a:ext uri="{0D108BD9-81ED-4DB2-BD59-A6C34878D82A}">
                    <a16:rowId xmlns:a16="http://schemas.microsoft.com/office/drawing/2014/main" val="669967782"/>
                  </a:ext>
                </a:extLst>
              </a:tr>
              <a:tr h="372575">
                <a:tc>
                  <a:txBody>
                    <a:bodyPr/>
                    <a:lstStyle/>
                    <a:p>
                      <a:r>
                        <a:rPr lang="en-US" altLang="zh-CN" dirty="0" err="1"/>
                        <a:t>pvm</a:t>
                      </a:r>
                      <a:r>
                        <a:rPr lang="en-US" altLang="zh-CN" dirty="0"/>
                        <a:t> (NST)</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none</a:t>
                      </a:r>
                      <a:endParaRPr lang="zh-CN" altLang="en-US" dirty="0"/>
                    </a:p>
                  </a:txBody>
                  <a:tcPr/>
                </a:tc>
                <a:tc>
                  <a:txBody>
                    <a:bodyPr/>
                    <a:lstStyle/>
                    <a:p>
                      <a:r>
                        <a:rPr lang="en-US" altLang="zh-CN" dirty="0"/>
                        <a:t>1.93/1.93</a:t>
                      </a:r>
                      <a:endParaRPr lang="zh-CN" altLang="en-US" dirty="0"/>
                    </a:p>
                  </a:txBody>
                  <a:tcPr/>
                </a:tc>
                <a:extLst>
                  <a:ext uri="{0D108BD9-81ED-4DB2-BD59-A6C34878D82A}">
                    <a16:rowId xmlns:a16="http://schemas.microsoft.com/office/drawing/2014/main" val="2354851312"/>
                  </a:ext>
                </a:extLst>
              </a:tr>
              <a:tr h="372575">
                <a:tc>
                  <a:txBody>
                    <a:bodyPr/>
                    <a:lstStyle/>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direct-switch</a:t>
                      </a:r>
                      <a:endParaRPr lang="zh-CN" altLang="en-US" dirty="0"/>
                    </a:p>
                  </a:txBody>
                  <a:tcPr/>
                </a:tc>
                <a:tc>
                  <a:txBody>
                    <a:bodyPr/>
                    <a:lstStyle/>
                    <a:p>
                      <a:r>
                        <a:rPr lang="en-US" altLang="zh-CN" dirty="0"/>
                        <a:t>0.3/0.3</a:t>
                      </a:r>
                      <a:endParaRPr lang="zh-CN" altLang="en-US" dirty="0"/>
                    </a:p>
                  </a:txBody>
                  <a:tcPr/>
                </a:tc>
                <a:extLst>
                  <a:ext uri="{0D108BD9-81ED-4DB2-BD59-A6C34878D82A}">
                    <a16:rowId xmlns:a16="http://schemas.microsoft.com/office/drawing/2014/main" val="3825353849"/>
                  </a:ext>
                </a:extLst>
              </a:tr>
            </a:tbl>
          </a:graphicData>
        </a:graphic>
      </p:graphicFrame>
      <p:sp>
        <p:nvSpPr>
          <p:cNvPr id="6" name="文本框 5">
            <a:extLst>
              <a:ext uri="{FF2B5EF4-FFF2-40B4-BE49-F238E27FC236}">
                <a16:creationId xmlns:a16="http://schemas.microsoft.com/office/drawing/2014/main" id="{313AC230-5BAF-0F33-E661-79EC286DC4F4}"/>
              </a:ext>
            </a:extLst>
          </p:cNvPr>
          <p:cNvSpPr txBox="1"/>
          <p:nvPr/>
        </p:nvSpPr>
        <p:spPr>
          <a:xfrm>
            <a:off x="733299" y="5211597"/>
            <a:ext cx="7190510" cy="769441"/>
          </a:xfrm>
          <a:prstGeom prst="rect">
            <a:avLst/>
          </a:prstGeom>
          <a:noFill/>
        </p:spPr>
        <p:txBody>
          <a:bodyPr wrap="square">
            <a:spAutoFit/>
          </a:bodyPr>
          <a:lstStyle/>
          <a:p>
            <a:pPr algn="ctr"/>
            <a:r>
              <a:rPr lang="en" altLang="zh-CN" sz="2200" b="0" i="0" dirty="0">
                <a:solidFill>
                  <a:srgbClr val="002060"/>
                </a:solidFill>
                <a:effectLst/>
                <a:latin typeface="Times New Roman" panose="02020603050405020304" pitchFamily="18" charset="0"/>
                <a:cs typeface="Times New Roman" panose="02020603050405020304" pitchFamily="18" charset="0"/>
              </a:rPr>
              <a:t>The direct-switch can reduce PVM’s overhead, narrowing the </a:t>
            </a:r>
            <a:r>
              <a:rPr lang="en" altLang="zh-CN" sz="2200" b="0" i="0" dirty="0" err="1">
                <a:solidFill>
                  <a:srgbClr val="002060"/>
                </a:solidFill>
                <a:effectLst/>
                <a:latin typeface="Times New Roman" panose="02020603050405020304" pitchFamily="18" charset="0"/>
                <a:cs typeface="Times New Roman" panose="02020603050405020304" pitchFamily="18" charset="0"/>
              </a:rPr>
              <a:t>syscall</a:t>
            </a:r>
            <a:r>
              <a:rPr lang="en" altLang="zh-CN" sz="2200" b="0" i="0" dirty="0">
                <a:solidFill>
                  <a:srgbClr val="002060"/>
                </a:solidFill>
                <a:effectLst/>
                <a:latin typeface="Times New Roman" panose="02020603050405020304" pitchFamily="18" charset="0"/>
                <a:cs typeface="Times New Roman" panose="02020603050405020304" pitchFamily="18" charset="0"/>
              </a:rPr>
              <a:t> execution time gap between PVM and KVM.</a:t>
            </a:r>
            <a:endParaRPr lang="zh-CN" altLang="en-US" sz="2200" dirty="0">
              <a:solidFill>
                <a:srgbClr val="002060"/>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DC3831C2-9BC1-438F-230E-6E2A6D3A3A9E}"/>
              </a:ext>
            </a:extLst>
          </p:cNvPr>
          <p:cNvSpPr/>
          <p:nvPr/>
        </p:nvSpPr>
        <p:spPr>
          <a:xfrm>
            <a:off x="3036318" y="3055573"/>
            <a:ext cx="3877438" cy="835451"/>
          </a:xfrm>
          <a:prstGeom prst="rect">
            <a:avLst/>
          </a:prstGeom>
          <a:noFill/>
          <a:ln w="2540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矩形 4">
            <a:extLst>
              <a:ext uri="{FF2B5EF4-FFF2-40B4-BE49-F238E27FC236}">
                <a16:creationId xmlns:a16="http://schemas.microsoft.com/office/drawing/2014/main" id="{A62F70EB-02D7-BAE4-6018-9B6F26E630E3}"/>
              </a:ext>
            </a:extLst>
          </p:cNvPr>
          <p:cNvSpPr/>
          <p:nvPr/>
        </p:nvSpPr>
        <p:spPr>
          <a:xfrm>
            <a:off x="5151863" y="3928969"/>
            <a:ext cx="1381158" cy="947314"/>
          </a:xfrm>
          <a:prstGeom prst="rect">
            <a:avLst/>
          </a:prstGeom>
          <a:noFill/>
          <a:ln w="25400">
            <a:solidFill>
              <a:srgbClr val="C0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17488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01C32A0-354D-44C2-A854-CFAB608B572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Results on Page Faults</a:t>
            </a:r>
          </a:p>
        </p:txBody>
      </p:sp>
      <p:sp>
        <p:nvSpPr>
          <p:cNvPr id="2" name="文本框 1">
            <a:extLst>
              <a:ext uri="{FF2B5EF4-FFF2-40B4-BE49-F238E27FC236}">
                <a16:creationId xmlns:a16="http://schemas.microsoft.com/office/drawing/2014/main" id="{5161365C-B17A-2CE2-D4E3-259E25F0B464}"/>
              </a:ext>
            </a:extLst>
          </p:cNvPr>
          <p:cNvSpPr txBox="1"/>
          <p:nvPr/>
        </p:nvSpPr>
        <p:spPr>
          <a:xfrm>
            <a:off x="276101" y="1033799"/>
            <a:ext cx="8591797" cy="1107996"/>
          </a:xfrm>
          <a:prstGeom prst="rect">
            <a:avLst/>
          </a:prstGeom>
          <a:noFill/>
        </p:spPr>
        <p:txBody>
          <a:bodyPr wrap="square" rtlCol="0">
            <a:spAutoFit/>
          </a:bodyPr>
          <a:lstStyle/>
          <a:p>
            <a:r>
              <a:rPr lang="en" altLang="zh-CN" sz="2200" b="0" i="0" dirty="0">
                <a:effectLst/>
                <a:latin typeface="Times New Roman" panose="02020603050405020304" pitchFamily="18" charset="0"/>
                <a:cs typeface="Times New Roman" panose="02020603050405020304" pitchFamily="18" charset="0"/>
              </a:rPr>
              <a:t>We used a micro-benchmark to repeatedly allocate and release 1MB of memory in a guest’s virtual address space and access the allocated data at page granularity to stress-tested memory virtualization</a:t>
            </a:r>
            <a:endParaRPr kumimoji="1" lang="zh-CN" altLang="en-US" sz="22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2BAC0C50-D06A-D9DF-3FCA-AEF6FCCCC9C9}"/>
              </a:ext>
            </a:extLst>
          </p:cNvPr>
          <p:cNvPicPr>
            <a:picLocks noChangeAspect="1"/>
          </p:cNvPicPr>
          <p:nvPr/>
        </p:nvPicPr>
        <p:blipFill>
          <a:blip r:embed="rId3"/>
          <a:stretch>
            <a:fillRect/>
          </a:stretch>
        </p:blipFill>
        <p:spPr>
          <a:xfrm>
            <a:off x="490022" y="2379302"/>
            <a:ext cx="7430819" cy="4308925"/>
          </a:xfrm>
          <a:prstGeom prst="rect">
            <a:avLst/>
          </a:prstGeom>
        </p:spPr>
      </p:pic>
      <p:sp>
        <p:nvSpPr>
          <p:cNvPr id="3" name="矩形 2">
            <a:extLst>
              <a:ext uri="{FF2B5EF4-FFF2-40B4-BE49-F238E27FC236}">
                <a16:creationId xmlns:a16="http://schemas.microsoft.com/office/drawing/2014/main" id="{3E6E6E6B-D7DD-0E36-A30E-403DB5ACE8A6}"/>
              </a:ext>
            </a:extLst>
          </p:cNvPr>
          <p:cNvSpPr/>
          <p:nvPr/>
        </p:nvSpPr>
        <p:spPr>
          <a:xfrm>
            <a:off x="6891453" y="2379302"/>
            <a:ext cx="847493" cy="3240913"/>
          </a:xfrm>
          <a:prstGeom prst="rect">
            <a:avLst/>
          </a:prstGeom>
          <a:noFill/>
          <a:ln w="2540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49389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01C32A0-354D-44C2-A854-CFAB608B572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Results on Real-world Application</a:t>
            </a:r>
          </a:p>
        </p:txBody>
      </p:sp>
      <p:sp>
        <p:nvSpPr>
          <p:cNvPr id="2" name="文本框 1">
            <a:extLst>
              <a:ext uri="{FF2B5EF4-FFF2-40B4-BE49-F238E27FC236}">
                <a16:creationId xmlns:a16="http://schemas.microsoft.com/office/drawing/2014/main" id="{5161365C-B17A-2CE2-D4E3-259E25F0B464}"/>
              </a:ext>
            </a:extLst>
          </p:cNvPr>
          <p:cNvSpPr txBox="1"/>
          <p:nvPr/>
        </p:nvSpPr>
        <p:spPr>
          <a:xfrm>
            <a:off x="276101" y="1015663"/>
            <a:ext cx="8591797" cy="769441"/>
          </a:xfrm>
          <a:prstGeom prst="rect">
            <a:avLst/>
          </a:prstGeom>
          <a:noFill/>
        </p:spPr>
        <p:txBody>
          <a:bodyPr wrap="square" rtlCol="0">
            <a:spAutoFit/>
          </a:bodyPr>
          <a:lstStyle/>
          <a:p>
            <a:r>
              <a:rPr lang="en" altLang="zh-CN" sz="2200" b="0" i="0" dirty="0">
                <a:effectLst/>
                <a:latin typeface="Times New Roman" panose="02020603050405020304" pitchFamily="18" charset="0"/>
                <a:cs typeface="Times New Roman" panose="02020603050405020304" pitchFamily="18" charset="0"/>
              </a:rPr>
              <a:t>We ran multiple instances of the same real-world applications , each in a separate secure container, and varied the concurrency level from 1 to 16.</a:t>
            </a:r>
          </a:p>
        </p:txBody>
      </p:sp>
      <p:pic>
        <p:nvPicPr>
          <p:cNvPr id="4" name="图片 3">
            <a:extLst>
              <a:ext uri="{FF2B5EF4-FFF2-40B4-BE49-F238E27FC236}">
                <a16:creationId xmlns:a16="http://schemas.microsoft.com/office/drawing/2014/main" id="{B3756573-4565-CA66-6E6A-9EEDCB5D77CB}"/>
              </a:ext>
            </a:extLst>
          </p:cNvPr>
          <p:cNvPicPr>
            <a:picLocks noChangeAspect="1"/>
          </p:cNvPicPr>
          <p:nvPr/>
        </p:nvPicPr>
        <p:blipFill>
          <a:blip r:embed="rId3"/>
          <a:stretch>
            <a:fillRect/>
          </a:stretch>
        </p:blipFill>
        <p:spPr>
          <a:xfrm>
            <a:off x="934126" y="1785105"/>
            <a:ext cx="2631600" cy="2158661"/>
          </a:xfrm>
          <a:prstGeom prst="rect">
            <a:avLst/>
          </a:prstGeom>
        </p:spPr>
      </p:pic>
      <p:pic>
        <p:nvPicPr>
          <p:cNvPr id="7" name="图片 6">
            <a:extLst>
              <a:ext uri="{FF2B5EF4-FFF2-40B4-BE49-F238E27FC236}">
                <a16:creationId xmlns:a16="http://schemas.microsoft.com/office/drawing/2014/main" id="{C10F2712-4923-C18E-4FFD-F0277823D1BE}"/>
              </a:ext>
            </a:extLst>
          </p:cNvPr>
          <p:cNvPicPr>
            <a:picLocks noChangeAspect="1"/>
          </p:cNvPicPr>
          <p:nvPr/>
        </p:nvPicPr>
        <p:blipFill>
          <a:blip r:embed="rId4"/>
          <a:stretch>
            <a:fillRect/>
          </a:stretch>
        </p:blipFill>
        <p:spPr>
          <a:xfrm>
            <a:off x="4746284" y="1785104"/>
            <a:ext cx="2670716" cy="2160000"/>
          </a:xfrm>
          <a:prstGeom prst="rect">
            <a:avLst/>
          </a:prstGeom>
        </p:spPr>
      </p:pic>
      <p:pic>
        <p:nvPicPr>
          <p:cNvPr id="10" name="图片 9">
            <a:extLst>
              <a:ext uri="{FF2B5EF4-FFF2-40B4-BE49-F238E27FC236}">
                <a16:creationId xmlns:a16="http://schemas.microsoft.com/office/drawing/2014/main" id="{4A0ACD57-9861-F96C-37D9-C17F78004598}"/>
              </a:ext>
            </a:extLst>
          </p:cNvPr>
          <p:cNvPicPr>
            <a:picLocks noChangeAspect="1"/>
          </p:cNvPicPr>
          <p:nvPr/>
        </p:nvPicPr>
        <p:blipFill>
          <a:blip r:embed="rId5"/>
          <a:stretch>
            <a:fillRect/>
          </a:stretch>
        </p:blipFill>
        <p:spPr>
          <a:xfrm>
            <a:off x="974663" y="4333556"/>
            <a:ext cx="2591063" cy="2160000"/>
          </a:xfrm>
          <a:prstGeom prst="rect">
            <a:avLst/>
          </a:prstGeom>
        </p:spPr>
      </p:pic>
      <p:pic>
        <p:nvPicPr>
          <p:cNvPr id="12" name="图片 11">
            <a:extLst>
              <a:ext uri="{FF2B5EF4-FFF2-40B4-BE49-F238E27FC236}">
                <a16:creationId xmlns:a16="http://schemas.microsoft.com/office/drawing/2014/main" id="{36271887-419D-8E63-2C51-40BC5554C123}"/>
              </a:ext>
            </a:extLst>
          </p:cNvPr>
          <p:cNvPicPr>
            <a:picLocks noChangeAspect="1"/>
          </p:cNvPicPr>
          <p:nvPr/>
        </p:nvPicPr>
        <p:blipFill>
          <a:blip r:embed="rId6"/>
          <a:stretch>
            <a:fillRect/>
          </a:stretch>
        </p:blipFill>
        <p:spPr>
          <a:xfrm>
            <a:off x="4746284" y="4333556"/>
            <a:ext cx="2672941" cy="2160000"/>
          </a:xfrm>
          <a:prstGeom prst="rect">
            <a:avLst/>
          </a:prstGeom>
        </p:spPr>
      </p:pic>
      <p:sp>
        <p:nvSpPr>
          <p:cNvPr id="13" name="文本框 12">
            <a:extLst>
              <a:ext uri="{FF2B5EF4-FFF2-40B4-BE49-F238E27FC236}">
                <a16:creationId xmlns:a16="http://schemas.microsoft.com/office/drawing/2014/main" id="{C9414D61-5C82-0605-D3F0-03BE8C6ABDE2}"/>
              </a:ext>
            </a:extLst>
          </p:cNvPr>
          <p:cNvSpPr txBox="1"/>
          <p:nvPr/>
        </p:nvSpPr>
        <p:spPr>
          <a:xfrm>
            <a:off x="2029125" y="3943766"/>
            <a:ext cx="932964" cy="338554"/>
          </a:xfrm>
          <a:prstGeom prst="rect">
            <a:avLst/>
          </a:prstGeom>
          <a:noFill/>
        </p:spPr>
        <p:txBody>
          <a:bodyPr wrap="square" rtlCol="0">
            <a:spAutoFit/>
          </a:bodyPr>
          <a:lstStyle/>
          <a:p>
            <a:r>
              <a:rPr kumimoji="1" lang="en-US" altLang="zh-CN" sz="1600" dirty="0" err="1">
                <a:latin typeface="Times New Roman" panose="02020603050405020304" pitchFamily="18" charset="0"/>
                <a:cs typeface="Times New Roman" panose="02020603050405020304" pitchFamily="18" charset="0"/>
              </a:rPr>
              <a:t>Kbuild</a:t>
            </a:r>
            <a:endParaRPr kumimoji="1" lang="zh-CN" altLang="en-US" sz="1600" dirty="0">
              <a:latin typeface="Times New Roman" panose="02020603050405020304" pitchFamily="18" charset="0"/>
              <a:cs typeface="Times New Roman" panose="02020603050405020304" pitchFamily="18" charset="0"/>
            </a:endParaRPr>
          </a:p>
        </p:txBody>
      </p:sp>
      <p:sp>
        <p:nvSpPr>
          <p:cNvPr id="14" name="文本框 13">
            <a:extLst>
              <a:ext uri="{FF2B5EF4-FFF2-40B4-BE49-F238E27FC236}">
                <a16:creationId xmlns:a16="http://schemas.microsoft.com/office/drawing/2014/main" id="{EE80E256-7304-92B0-70B8-7373DAE6C3D6}"/>
              </a:ext>
            </a:extLst>
          </p:cNvPr>
          <p:cNvSpPr txBox="1"/>
          <p:nvPr/>
        </p:nvSpPr>
        <p:spPr>
          <a:xfrm>
            <a:off x="5778611" y="3943766"/>
            <a:ext cx="1098064" cy="338554"/>
          </a:xfrm>
          <a:prstGeom prst="rect">
            <a:avLst/>
          </a:prstGeom>
          <a:noFill/>
        </p:spPr>
        <p:txBody>
          <a:bodyPr wrap="square" rtlCol="0">
            <a:spAutoFit/>
          </a:bodyPr>
          <a:lstStyle/>
          <a:p>
            <a:r>
              <a:rPr kumimoji="1" lang="en-US" altLang="zh-CN" sz="1600" dirty="0" err="1">
                <a:latin typeface="Times New Roman" panose="02020603050405020304" pitchFamily="18" charset="0"/>
                <a:cs typeface="Times New Roman" panose="02020603050405020304" pitchFamily="18" charset="0"/>
              </a:rPr>
              <a:t>Blogbench</a:t>
            </a:r>
            <a:endParaRPr kumimoji="1" lang="zh-CN" altLang="en-US" sz="1600" dirty="0">
              <a:latin typeface="Times New Roman" panose="02020603050405020304" pitchFamily="18" charset="0"/>
              <a:cs typeface="Times New Roman" panose="02020603050405020304" pitchFamily="18" charset="0"/>
            </a:endParaRPr>
          </a:p>
        </p:txBody>
      </p:sp>
      <p:sp>
        <p:nvSpPr>
          <p:cNvPr id="15" name="文本框 14">
            <a:extLst>
              <a:ext uri="{FF2B5EF4-FFF2-40B4-BE49-F238E27FC236}">
                <a16:creationId xmlns:a16="http://schemas.microsoft.com/office/drawing/2014/main" id="{1EEE8C0E-BC97-6E11-A9F3-AFD5B41F53B3}"/>
              </a:ext>
            </a:extLst>
          </p:cNvPr>
          <p:cNvSpPr txBox="1"/>
          <p:nvPr/>
        </p:nvSpPr>
        <p:spPr>
          <a:xfrm>
            <a:off x="1864025" y="6472012"/>
            <a:ext cx="1263164" cy="338554"/>
          </a:xfrm>
          <a:prstGeom prst="rect">
            <a:avLst/>
          </a:prstGeom>
          <a:noFill/>
        </p:spPr>
        <p:txBody>
          <a:bodyPr wrap="square" rtlCol="0">
            <a:spAutoFit/>
          </a:bodyPr>
          <a:lstStyle/>
          <a:p>
            <a:r>
              <a:rPr kumimoji="1" lang="en-US" altLang="zh-CN" sz="1600" dirty="0">
                <a:latin typeface="Times New Roman" panose="02020603050405020304" pitchFamily="18" charset="0"/>
                <a:cs typeface="Times New Roman" panose="02020603050405020304" pitchFamily="18" charset="0"/>
              </a:rPr>
              <a:t>specjbb2005</a:t>
            </a:r>
            <a:endParaRPr kumimoji="1" lang="zh-CN" altLang="en-US" sz="160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484EA981-50EA-9E2F-7284-2AC3BEE2C284}"/>
              </a:ext>
            </a:extLst>
          </p:cNvPr>
          <p:cNvSpPr txBox="1"/>
          <p:nvPr/>
        </p:nvSpPr>
        <p:spPr>
          <a:xfrm>
            <a:off x="5861161" y="6472012"/>
            <a:ext cx="1371114" cy="338554"/>
          </a:xfrm>
          <a:prstGeom prst="rect">
            <a:avLst/>
          </a:prstGeom>
          <a:noFill/>
        </p:spPr>
        <p:txBody>
          <a:bodyPr wrap="square" rtlCol="0">
            <a:spAutoFit/>
          </a:bodyPr>
          <a:lstStyle/>
          <a:p>
            <a:r>
              <a:rPr kumimoji="1" lang="en-US" altLang="zh-CN" sz="1600" dirty="0" err="1">
                <a:latin typeface="Times New Roman" panose="02020603050405020304" pitchFamily="18" charset="0"/>
                <a:cs typeface="Times New Roman" panose="02020603050405020304" pitchFamily="18" charset="0"/>
              </a:rPr>
              <a:t>fluidanimate</a:t>
            </a:r>
            <a:endParaRPr kumimoji="1" lang="zh-CN" altLang="en-US" sz="1600" dirty="0">
              <a:latin typeface="Times New Roman" panose="02020603050405020304" pitchFamily="18" charset="0"/>
              <a:cs typeface="Times New Roman" panose="02020603050405020304" pitchFamily="18" charset="0"/>
            </a:endParaRPr>
          </a:p>
        </p:txBody>
      </p:sp>
      <p:cxnSp>
        <p:nvCxnSpPr>
          <p:cNvPr id="11" name="直线箭头连接符 10">
            <a:extLst>
              <a:ext uri="{FF2B5EF4-FFF2-40B4-BE49-F238E27FC236}">
                <a16:creationId xmlns:a16="http://schemas.microsoft.com/office/drawing/2014/main" id="{B97EE13D-0B3B-3580-997B-D32A9B5131FF}"/>
              </a:ext>
            </a:extLst>
          </p:cNvPr>
          <p:cNvCxnSpPr>
            <a:cxnSpLocks/>
          </p:cNvCxnSpPr>
          <p:nvPr/>
        </p:nvCxnSpPr>
        <p:spPr>
          <a:xfrm>
            <a:off x="3459046" y="1905000"/>
            <a:ext cx="0" cy="928956"/>
          </a:xfrm>
          <a:prstGeom prst="straightConnector1">
            <a:avLst/>
          </a:prstGeom>
          <a:ln w="3175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87608ED7-1C3A-DFC9-760A-38BAD5C189C1}"/>
              </a:ext>
            </a:extLst>
          </p:cNvPr>
          <p:cNvSpPr txBox="1"/>
          <p:nvPr/>
        </p:nvSpPr>
        <p:spPr>
          <a:xfrm>
            <a:off x="3542791" y="2185213"/>
            <a:ext cx="1007604" cy="369332"/>
          </a:xfrm>
          <a:prstGeom prst="rect">
            <a:avLst/>
          </a:prstGeom>
          <a:noFill/>
        </p:spPr>
        <p:txBody>
          <a:bodyPr wrap="square" rtlCol="0">
            <a:spAutoFit/>
          </a:bodyPr>
          <a:lstStyle/>
          <a:p>
            <a:r>
              <a:rPr kumimoji="1" lang="en-US" altLang="zh-CN" dirty="0">
                <a:solidFill>
                  <a:srgbClr val="002060"/>
                </a:solidFill>
                <a:latin typeface="Times New Roman" panose="02020603050405020304" pitchFamily="18" charset="0"/>
                <a:cs typeface="Times New Roman" panose="02020603050405020304" pitchFamily="18" charset="0"/>
              </a:rPr>
              <a:t>↓ 74%</a:t>
            </a:r>
            <a:endParaRPr kumimoji="1" lang="zh-CN" altLang="en-US" dirty="0">
              <a:solidFill>
                <a:srgbClr val="002060"/>
              </a:solidFill>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88F64611-A72D-8DB1-B27D-5547ABECAE17}"/>
              </a:ext>
            </a:extLst>
          </p:cNvPr>
          <p:cNvSpPr/>
          <p:nvPr/>
        </p:nvSpPr>
        <p:spPr>
          <a:xfrm>
            <a:off x="5074024" y="5235388"/>
            <a:ext cx="878542" cy="562994"/>
          </a:xfrm>
          <a:prstGeom prst="rect">
            <a:avLst/>
          </a:prstGeom>
          <a:noFill/>
          <a:ln w="25400">
            <a:solidFill>
              <a:srgbClr val="00206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7806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01C32A0-354D-44C2-A854-CFAB608B572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Cloud Adoption</a:t>
            </a:r>
          </a:p>
        </p:txBody>
      </p:sp>
      <p:sp>
        <p:nvSpPr>
          <p:cNvPr id="2" name="文本框 1">
            <a:extLst>
              <a:ext uri="{FF2B5EF4-FFF2-40B4-BE49-F238E27FC236}">
                <a16:creationId xmlns:a16="http://schemas.microsoft.com/office/drawing/2014/main" id="{5161365C-B17A-2CE2-D4E3-259E25F0B464}"/>
              </a:ext>
            </a:extLst>
          </p:cNvPr>
          <p:cNvSpPr txBox="1"/>
          <p:nvPr/>
        </p:nvSpPr>
        <p:spPr>
          <a:xfrm>
            <a:off x="276101" y="1104563"/>
            <a:ext cx="8591797" cy="5509200"/>
          </a:xfrm>
          <a:prstGeom prst="rect">
            <a:avLst/>
          </a:prstGeom>
          <a:noFill/>
        </p:spPr>
        <p:txBody>
          <a:bodyPr wrap="square" rtlCol="0">
            <a:spAutoFit/>
          </a:bodyPr>
          <a:lstStyle/>
          <a:p>
            <a:r>
              <a:rPr lang="en" altLang="zh-CN" sz="2200" b="0" i="0" dirty="0">
                <a:effectLst/>
                <a:latin typeface="Times New Roman" panose="02020603050405020304" pitchFamily="18" charset="0"/>
                <a:cs typeface="Times New Roman" panose="02020603050405020304" pitchFamily="18" charset="0"/>
              </a:rPr>
              <a:t>PVM has been adopted by Alibaba Cloud, a major IaaS cloud provider, as an alternative to bare-metal instances for hosting secure container.</a:t>
            </a:r>
          </a:p>
          <a:p>
            <a:endParaRPr lang="en" altLang="zh-CN" sz="2200" b="0" i="0" dirty="0">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 altLang="zh-CN" sz="2200" dirty="0">
                <a:latin typeface="Times New Roman" panose="02020603050405020304" pitchFamily="18" charset="0"/>
                <a:cs typeface="Times New Roman" panose="02020603050405020304" pitchFamily="18" charset="0"/>
              </a:rPr>
              <a:t>Deployment:</a:t>
            </a:r>
          </a:p>
          <a:p>
            <a:pPr marL="800100" lvl="1" indent="-342900">
              <a:buFont typeface="Arial" panose="020B0604020202020204" pitchFamily="34" charset="0"/>
              <a:buChar char="•"/>
            </a:pPr>
            <a:r>
              <a:rPr lang="en" altLang="zh-CN" sz="2200" b="0" i="0" dirty="0">
                <a:effectLst/>
                <a:latin typeface="Times New Roman" panose="02020603050405020304" pitchFamily="18" charset="0"/>
                <a:cs typeface="Times New Roman" panose="02020603050405020304" pitchFamily="18" charset="0"/>
              </a:rPr>
              <a:t>operates more than 100K secure containers with over 400K vCPUs on a daily.</a:t>
            </a:r>
          </a:p>
          <a:p>
            <a:pPr marL="342900" indent="-342900">
              <a:buFont typeface="Arial" panose="020B0604020202020204" pitchFamily="34" charset="0"/>
              <a:buChar char="•"/>
            </a:pPr>
            <a:endParaRPr lang="en" altLang="zh-C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 altLang="zh-CN" sz="2200" dirty="0">
                <a:latin typeface="Times New Roman" panose="02020603050405020304" pitchFamily="18" charset="0"/>
                <a:cs typeface="Times New Roman" panose="02020603050405020304" pitchFamily="18" charset="0"/>
              </a:rPr>
              <a:t>Adoption:</a:t>
            </a:r>
          </a:p>
          <a:p>
            <a:pPr marL="800100" lvl="1" indent="-342900">
              <a:buFont typeface="Arial" panose="020B0604020202020204" pitchFamily="34" charset="0"/>
              <a:buChar char="•"/>
            </a:pPr>
            <a:r>
              <a:rPr lang="en" altLang="zh-CN" sz="2200" dirty="0">
                <a:latin typeface="Times New Roman" panose="02020603050405020304" pitchFamily="18" charset="0"/>
                <a:cs typeface="Times New Roman" panose="02020603050405020304" pitchFamily="18" charset="0"/>
              </a:rPr>
              <a:t>led to a 36% user shift from bare-metal instances to general-purpose instances for secure container hosting and substantial cost-savings for cloud tenants.</a:t>
            </a:r>
          </a:p>
          <a:p>
            <a:pPr marL="800100" lvl="1" indent="-342900">
              <a:buFont typeface="Arial" panose="020B0604020202020204" pitchFamily="34" charset="0"/>
              <a:buChar char="•"/>
            </a:pPr>
            <a:endParaRPr lang="en" altLang="zh-C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 altLang="zh-CN" sz="2200" dirty="0">
                <a:latin typeface="Times New Roman" panose="02020603050405020304" pitchFamily="18" charset="0"/>
                <a:cs typeface="Times New Roman" panose="02020603050405020304" pitchFamily="18" charset="0"/>
              </a:rPr>
              <a:t>Performance:</a:t>
            </a:r>
          </a:p>
          <a:p>
            <a:pPr marL="800100" lvl="1" indent="-342900">
              <a:buFont typeface="Arial" panose="020B0604020202020204" pitchFamily="34" charset="0"/>
              <a:buChar char="•"/>
            </a:pPr>
            <a:r>
              <a:rPr lang="en" altLang="zh-CN" sz="2200" dirty="0">
                <a:latin typeface="Times New Roman" panose="02020603050405020304" pitchFamily="18" charset="0"/>
                <a:cs typeface="Times New Roman" panose="02020603050405020304" pitchFamily="18" charset="0"/>
              </a:rPr>
              <a:t>an average performance boost of 22.6% for Spark workloads compared to bare-metal servers (PVM servers are quipped with newer generation processors).</a:t>
            </a:r>
          </a:p>
        </p:txBody>
      </p:sp>
    </p:spTree>
    <p:extLst>
      <p:ext uri="{BB962C8B-B14F-4D97-AF65-F5344CB8AC3E}">
        <p14:creationId xmlns:p14="http://schemas.microsoft.com/office/powerpoint/2010/main" val="3288603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01C32A0-354D-44C2-A854-CFAB608B5724}"/>
              </a:ext>
            </a:extLst>
          </p:cNvPr>
          <p:cNvSpPr txBox="1"/>
          <p:nvPr/>
        </p:nvSpPr>
        <p:spPr>
          <a:xfrm>
            <a:off x="1" y="0"/>
            <a:ext cx="9144000" cy="1015663"/>
          </a:xfrm>
          <a:prstGeom prst="rect">
            <a:avLst/>
          </a:prstGeom>
          <a:noFill/>
        </p:spPr>
        <p:txBody>
          <a:bodyPr wrap="square" rtlCol="0">
            <a:spAutoFit/>
          </a:bodyPr>
          <a:lstStyle/>
          <a:p>
            <a:pPr algn="ctr"/>
            <a:endParaRPr lang="en" altLang="zh-CN" sz="2400" b="0" i="0" dirty="0">
              <a:effectLst/>
              <a:latin typeface="Times New Roman" panose="02020603050405020304" pitchFamily="18" charset="0"/>
              <a:cs typeface="Times New Roman" panose="02020603050405020304" pitchFamily="18" charset="0"/>
            </a:endParaRPr>
          </a:p>
          <a:p>
            <a:pPr algn="ctr"/>
            <a:r>
              <a:rPr lang="en" altLang="zh-CN" sz="3600" dirty="0">
                <a:latin typeface="Times New Roman" panose="02020603050405020304" pitchFamily="18" charset="0"/>
                <a:cs typeface="Times New Roman" panose="02020603050405020304" pitchFamily="18" charset="0"/>
              </a:rPr>
              <a:t>Conclusion</a:t>
            </a:r>
          </a:p>
        </p:txBody>
      </p:sp>
      <p:sp>
        <p:nvSpPr>
          <p:cNvPr id="3" name="文本框 2">
            <a:extLst>
              <a:ext uri="{FF2B5EF4-FFF2-40B4-BE49-F238E27FC236}">
                <a16:creationId xmlns:a16="http://schemas.microsoft.com/office/drawing/2014/main" id="{A6665107-A11A-E600-7BF2-6AFCC929DB29}"/>
              </a:ext>
            </a:extLst>
          </p:cNvPr>
          <p:cNvSpPr txBox="1"/>
          <p:nvPr/>
        </p:nvSpPr>
        <p:spPr>
          <a:xfrm>
            <a:off x="641350" y="1651000"/>
            <a:ext cx="7861300" cy="2800767"/>
          </a:xfrm>
          <a:prstGeom prst="rect">
            <a:avLst/>
          </a:prstGeom>
          <a:noFill/>
        </p:spPr>
        <p:txBody>
          <a:bodyPr wrap="square" rtlCol="0">
            <a:spAutoFit/>
          </a:bodyPr>
          <a:lstStyle/>
          <a:p>
            <a:pPr marL="342900" indent="-342900">
              <a:buFont typeface="Arial" panose="020B0604020202020204" pitchFamily="34" charset="0"/>
              <a:buChar char="•"/>
            </a:pPr>
            <a:r>
              <a:rPr kumimoji="1" lang="en" altLang="zh-CN" sz="2200" dirty="0">
                <a:latin typeface="Times New Roman" panose="02020603050405020304" pitchFamily="18" charset="0"/>
                <a:cs typeface="Times New Roman" panose="02020603050405020304" pitchFamily="18" charset="0"/>
              </a:rPr>
              <a:t>A comprehensive analysis of state-of-the-art nested virtualization that reveals the drawbacks of hardware-assisted approaches.</a:t>
            </a:r>
          </a:p>
          <a:p>
            <a:pPr marL="342900" indent="-342900">
              <a:buFont typeface="Arial" panose="020B0604020202020204" pitchFamily="34" charset="0"/>
              <a:buChar char="•"/>
            </a:pPr>
            <a:endParaRPr kumimoji="1" lang="en" altLang="zh-C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kumimoji="1" lang="en" altLang="zh-CN" sz="2200" dirty="0">
                <a:latin typeface="Times New Roman" panose="02020603050405020304" pitchFamily="18" charset="0"/>
                <a:cs typeface="Times New Roman" panose="02020603050405020304" pitchFamily="18" charset="0"/>
              </a:rPr>
              <a:t>The design and implementation of </a:t>
            </a:r>
            <a:r>
              <a:rPr kumimoji="1" lang="en" altLang="zh-CN" sz="2200" dirty="0" err="1">
                <a:latin typeface="Times New Roman" panose="02020603050405020304" pitchFamily="18" charset="0"/>
                <a:cs typeface="Times New Roman" panose="02020603050405020304" pitchFamily="18" charset="0"/>
              </a:rPr>
              <a:t>pvm</a:t>
            </a:r>
            <a:r>
              <a:rPr kumimoji="1" lang="en" altLang="zh-CN" sz="2200" dirty="0">
                <a:latin typeface="Times New Roman" panose="02020603050405020304" pitchFamily="18" charset="0"/>
                <a:cs typeface="Times New Roman" panose="02020603050405020304" pitchFamily="18" charset="0"/>
              </a:rPr>
              <a:t>, a guest hypervisor, and a general framework for nested virtualization. </a:t>
            </a:r>
          </a:p>
          <a:p>
            <a:pPr marL="342900" indent="-342900">
              <a:buFont typeface="Arial" panose="020B0604020202020204" pitchFamily="34" charset="0"/>
              <a:buChar char="•"/>
            </a:pPr>
            <a:endParaRPr kumimoji="1" lang="en" altLang="zh-C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kumimoji="1" lang="en" altLang="zh-CN" sz="2200" dirty="0">
                <a:latin typeface="Times New Roman" panose="02020603050405020304" pitchFamily="18" charset="0"/>
                <a:cs typeface="Times New Roman" panose="02020603050405020304" pitchFamily="18" charset="0"/>
              </a:rPr>
              <a:t>Optimizations for world switches, concurrent shadow page table updates, and guest page fault handling</a:t>
            </a:r>
            <a:endParaRPr kumimoji="1" lang="zh-CN"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7073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D01C32A0-354D-44C2-A854-CFAB608B5724}"/>
              </a:ext>
            </a:extLst>
          </p:cNvPr>
          <p:cNvSpPr txBox="1"/>
          <p:nvPr/>
        </p:nvSpPr>
        <p:spPr>
          <a:xfrm>
            <a:off x="0" y="2413337"/>
            <a:ext cx="9144000" cy="646331"/>
          </a:xfrm>
          <a:prstGeom prst="rect">
            <a:avLst/>
          </a:prstGeom>
          <a:noFill/>
        </p:spPr>
        <p:txBody>
          <a:bodyPr wrap="square" rtlCol="0">
            <a:spAutoFit/>
          </a:bodyPr>
          <a:lstStyle/>
          <a:p>
            <a:pPr algn="ctr"/>
            <a:r>
              <a:rPr lang="en" altLang="zh-CN" sz="3600" dirty="0">
                <a:latin typeface="Times New Roman" panose="02020603050405020304" pitchFamily="18" charset="0"/>
                <a:cs typeface="Times New Roman" panose="02020603050405020304" pitchFamily="18" charset="0"/>
              </a:rPr>
              <a:t>Thanks!</a:t>
            </a:r>
          </a:p>
        </p:txBody>
      </p:sp>
    </p:spTree>
    <p:extLst>
      <p:ext uri="{BB962C8B-B14F-4D97-AF65-F5344CB8AC3E}">
        <p14:creationId xmlns:p14="http://schemas.microsoft.com/office/powerpoint/2010/main" val="2975338363"/>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75000"/>
          </a:schemeClr>
        </a:solidFill>
        <a:ln>
          <a:solidFill>
            <a:schemeClr val="tx1"/>
          </a:solid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7123</TotalTime>
  <Words>7018</Words>
  <Application>Microsoft Macintosh PowerPoint</Application>
  <PresentationFormat>全屏显示(4:3)</PresentationFormat>
  <Paragraphs>489</Paragraphs>
  <Slides>26</Slides>
  <Notes>25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等线</vt:lpstr>
      <vt:lpstr>PingFangSC-Regular</vt:lpstr>
      <vt:lpstr>Arial</vt:lpstr>
      <vt:lpstr>Calibri</vt:lpstr>
      <vt:lpstr>Calibri Light</vt:lpstr>
      <vt:lpstr>Courier New</vt:lpstr>
      <vt:lpstr>Lato</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huanghang</cp:lastModifiedBy>
  <cp:revision>559</cp:revision>
  <dcterms:created xsi:type="dcterms:W3CDTF">2023-08-05T13:08:51Z</dcterms:created>
  <dcterms:modified xsi:type="dcterms:W3CDTF">2025-09-28T11:57:39Z</dcterms:modified>
</cp:coreProperties>
</file>